
<file path=[Content_Types].xml><?xml version="1.0" encoding="utf-8"?>
<Types xmlns="http://schemas.openxmlformats.org/package/2006/content-types">
  <Default Extension="bin" ContentType="application/vnd.openxmlformats-officedocument.oleObject"/>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80" r:id="rId20"/>
    <p:sldId id="285" r:id="rId21"/>
    <p:sldId id="286" r:id="rId22"/>
    <p:sldId id="287" r:id="rId23"/>
    <p:sldId id="282" r:id="rId24"/>
    <p:sldId id="283" r:id="rId25"/>
    <p:sldId id="284" r:id="rId26"/>
  </p:sldIdLst>
  <p:sldSz cx="18288000" cy="10287000"/>
  <p:notesSz cx="6858000" cy="9144000"/>
  <p:embeddedFontLst>
    <p:embeddedFont>
      <p:font typeface="Tahoma" panose="020B0604030504040204" pitchFamily="34" charset="0"/>
      <p:regular r:id="rId28"/>
      <p:bold r:id="rId29"/>
    </p:embeddedFont>
    <p:embeddedFont>
      <p:font typeface="Tahoma Bold" panose="020B0804030504040204" pitchFamily="34" charset="0"/>
      <p:bold r:id="rId30"/>
    </p:embeddedFont>
    <p:embeddedFont>
      <p:font typeface="Times New Roman Bold" panose="02020803070505020304" pitchFamily="18" charset="0"/>
      <p:bold r:id="rId31"/>
    </p:embeddedFont>
  </p:embeddedFontLst>
  <p:defaultText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52" d="100"/>
          <a:sy n="52" d="100"/>
        </p:scale>
        <p:origin x="850" y="6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554377668"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1950081047" name="Date Placeholder 2"/>
          <p:cNvSpPr>
            <a:spLocks noGrp="1"/>
          </p:cNvSpPr>
          <p:nvPr>
            <p:ph type="dt" idx="2"/>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1243051932" name="Date Placeholder 2"/>
          <p:cNvSpPr>
            <a:spLocks noGrp="1"/>
          </p:cNvSpPr>
          <p:nvPr>
            <p:ph type="dt" idx="3"/>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522758930" name="Notes Placeholder 4"/>
          <p:cNvSpPr>
            <a:spLocks noGrp="1"/>
          </p:cNvSpPr>
          <p:nvPr>
            <p:ph type="body" sz="quarter" idx="1"/>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1406304503"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278240541" name="Slide Number Placeholder 6"/>
          <p:cNvSpPr>
            <a:spLocks noGrp="1"/>
          </p:cNvSpPr>
          <p:nvPr>
            <p:ph type="sldNum" sz="quarter" idx="1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816156297" name="Slide Image Placeholder 1"/>
          <p:cNvSpPr>
            <a:spLocks noGrp="1" noRot="1" noChangeAspect="1"/>
          </p:cNvSpPr>
          <p:nvPr>
            <p:ph type="sldImg"/>
          </p:nvPr>
        </p:nvSpPr>
        <p:spPr bwMode="auto"/>
      </p:sp>
      <p:sp>
        <p:nvSpPr>
          <p:cNvPr id="2086608062" name="Notes Placeholder 2"/>
          <p:cNvSpPr>
            <a:spLocks noGrp="1"/>
          </p:cNvSpPr>
          <p:nvPr>
            <p:ph type="body" idx="1"/>
          </p:nvPr>
        </p:nvSpPr>
        <p:spPr bwMode="auto"/>
        <p:txBody>
          <a:bodyPr/>
          <a:lstStyle/>
          <a:p>
            <a:pPr>
              <a:defRPr/>
            </a:pPr>
            <a:endParaRPr/>
          </a:p>
        </p:txBody>
      </p:sp>
      <p:sp>
        <p:nvSpPr>
          <p:cNvPr id="1263243455" name="Slide Number Placeholder 3"/>
          <p:cNvSpPr>
            <a:spLocks noGrp="1"/>
          </p:cNvSpPr>
          <p:nvPr>
            <p:ph type="sldNum" sz="quarter" idx="10"/>
          </p:nvPr>
        </p:nvSpPr>
        <p:spPr bwMode="auto"/>
        <p:txBody>
          <a:bodyPr/>
          <a:lstStyle/>
          <a:p>
            <a:pPr>
              <a:defRPr/>
            </a:pPr>
            <a:fld id="{8C7D0786-6386-2551-F768-3C916BDC3B29}" type="slidenum">
              <a:rP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257636407" name="Slide Image Placeholder 1"/>
          <p:cNvSpPr>
            <a:spLocks noGrp="1" noRot="1" noChangeAspect="1"/>
          </p:cNvSpPr>
          <p:nvPr>
            <p:ph type="sldImg"/>
          </p:nvPr>
        </p:nvSpPr>
        <p:spPr bwMode="auto"/>
      </p:sp>
      <p:sp>
        <p:nvSpPr>
          <p:cNvPr id="1583252496" name="Notes Placeholder 2"/>
          <p:cNvSpPr>
            <a:spLocks noGrp="1"/>
          </p:cNvSpPr>
          <p:nvPr>
            <p:ph type="body" idx="1"/>
          </p:nvPr>
        </p:nvSpPr>
        <p:spPr bwMode="auto"/>
        <p:txBody>
          <a:bodyPr/>
          <a:lstStyle/>
          <a:p>
            <a:pPr>
              <a:defRPr/>
            </a:pPr>
            <a:endParaRPr/>
          </a:p>
        </p:txBody>
      </p:sp>
      <p:sp>
        <p:nvSpPr>
          <p:cNvPr id="408776971" name="Slide Number Placeholder 3"/>
          <p:cNvSpPr>
            <a:spLocks noGrp="1"/>
          </p:cNvSpPr>
          <p:nvPr>
            <p:ph type="sldNum" sz="quarter" idx="10"/>
          </p:nvPr>
        </p:nvSpPr>
        <p:spPr bwMode="auto"/>
        <p:txBody>
          <a:bodyPr/>
          <a:lstStyle/>
          <a:p>
            <a:pPr>
              <a:defRPr/>
            </a:pPr>
            <a:fld id="{48532EAE-0260-C9FC-64AC-BF5D9CA17938}" type="slidenum">
              <a:rP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38377070" name="Slide Image Placeholder 1"/>
          <p:cNvSpPr>
            <a:spLocks noGrp="1" noRot="1" noChangeAspect="1"/>
          </p:cNvSpPr>
          <p:nvPr>
            <p:ph type="sldImg"/>
          </p:nvPr>
        </p:nvSpPr>
        <p:spPr bwMode="auto"/>
      </p:sp>
      <p:sp>
        <p:nvSpPr>
          <p:cNvPr id="853652310" name="Notes Placeholder 2"/>
          <p:cNvSpPr>
            <a:spLocks noGrp="1"/>
          </p:cNvSpPr>
          <p:nvPr>
            <p:ph type="body" idx="1"/>
          </p:nvPr>
        </p:nvSpPr>
        <p:spPr bwMode="auto"/>
        <p:txBody>
          <a:bodyPr/>
          <a:lstStyle/>
          <a:p>
            <a:pPr>
              <a:defRPr/>
            </a:pPr>
            <a:endParaRPr/>
          </a:p>
        </p:txBody>
      </p:sp>
      <p:sp>
        <p:nvSpPr>
          <p:cNvPr id="1514245800" name="Slide Number Placeholder 3"/>
          <p:cNvSpPr>
            <a:spLocks noGrp="1"/>
          </p:cNvSpPr>
          <p:nvPr>
            <p:ph type="sldNum" sz="quarter" idx="10"/>
          </p:nvPr>
        </p:nvSpPr>
        <p:spPr bwMode="auto"/>
        <p:txBody>
          <a:bodyPr/>
          <a:lstStyle/>
          <a:p>
            <a:pPr>
              <a:defRPr/>
            </a:pPr>
            <a:fld id="{CA3B1820-FEF8-39AD-2AEB-7B26FD716653}" type="slidenum">
              <a:rPr/>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734031965" name="Slide Image Placeholder 1"/>
          <p:cNvSpPr>
            <a:spLocks noGrp="1" noRot="1" noChangeAspect="1"/>
          </p:cNvSpPr>
          <p:nvPr>
            <p:ph type="sldImg"/>
          </p:nvPr>
        </p:nvSpPr>
        <p:spPr bwMode="auto"/>
      </p:sp>
      <p:sp>
        <p:nvSpPr>
          <p:cNvPr id="472525464" name="Notes Placeholder 2"/>
          <p:cNvSpPr>
            <a:spLocks noGrp="1"/>
          </p:cNvSpPr>
          <p:nvPr>
            <p:ph type="body" idx="1"/>
          </p:nvPr>
        </p:nvSpPr>
        <p:spPr bwMode="auto"/>
        <p:txBody>
          <a:bodyPr/>
          <a:lstStyle/>
          <a:p>
            <a:pPr>
              <a:defRPr/>
            </a:pPr>
            <a:endParaRPr/>
          </a:p>
        </p:txBody>
      </p:sp>
      <p:sp>
        <p:nvSpPr>
          <p:cNvPr id="552832648" name="Slide Number Placeholder 3"/>
          <p:cNvSpPr>
            <a:spLocks noGrp="1"/>
          </p:cNvSpPr>
          <p:nvPr>
            <p:ph type="sldNum" sz="quarter" idx="10"/>
          </p:nvPr>
        </p:nvSpPr>
        <p:spPr bwMode="auto"/>
        <p:txBody>
          <a:bodyPr/>
          <a:lstStyle/>
          <a:p>
            <a:pPr>
              <a:defRPr/>
            </a:pPr>
            <a:fld id="{94A1B92E-8A54-D704-03A3-9362224A2625}" type="slidenum">
              <a:rP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65499711" name="Slide Image Placeholder 1"/>
          <p:cNvSpPr>
            <a:spLocks noGrp="1" noRot="1" noChangeAspect="1"/>
          </p:cNvSpPr>
          <p:nvPr>
            <p:ph type="sldImg"/>
          </p:nvPr>
        </p:nvSpPr>
        <p:spPr bwMode="auto"/>
      </p:sp>
      <p:sp>
        <p:nvSpPr>
          <p:cNvPr id="1484683385" name="Notes Placeholder 2"/>
          <p:cNvSpPr>
            <a:spLocks noGrp="1"/>
          </p:cNvSpPr>
          <p:nvPr>
            <p:ph type="body" idx="1"/>
          </p:nvPr>
        </p:nvSpPr>
        <p:spPr bwMode="auto"/>
        <p:txBody>
          <a:bodyPr/>
          <a:lstStyle/>
          <a:p>
            <a:pPr>
              <a:defRPr/>
            </a:pPr>
            <a:endParaRPr/>
          </a:p>
        </p:txBody>
      </p:sp>
      <p:sp>
        <p:nvSpPr>
          <p:cNvPr id="1713132120" name="Slide Number Placeholder 3"/>
          <p:cNvSpPr>
            <a:spLocks noGrp="1"/>
          </p:cNvSpPr>
          <p:nvPr>
            <p:ph type="sldNum" sz="quarter" idx="10"/>
          </p:nvPr>
        </p:nvSpPr>
        <p:spPr bwMode="auto"/>
        <p:txBody>
          <a:bodyPr/>
          <a:lstStyle/>
          <a:p>
            <a:pPr>
              <a:defRPr/>
            </a:pPr>
            <a:fld id="{1011814C-A6D2-5B33-38BE-EA74B77BC53A}" type="slidenum">
              <a:rPr/>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338183801" name="Slide Image Placeholder 1"/>
          <p:cNvSpPr>
            <a:spLocks noGrp="1" noRot="1" noChangeAspect="1"/>
          </p:cNvSpPr>
          <p:nvPr>
            <p:ph type="sldImg"/>
          </p:nvPr>
        </p:nvSpPr>
        <p:spPr bwMode="auto"/>
      </p:sp>
      <p:sp>
        <p:nvSpPr>
          <p:cNvPr id="1188145882" name="Notes Placeholder 2"/>
          <p:cNvSpPr>
            <a:spLocks noGrp="1"/>
          </p:cNvSpPr>
          <p:nvPr>
            <p:ph type="body" idx="1"/>
          </p:nvPr>
        </p:nvSpPr>
        <p:spPr bwMode="auto"/>
        <p:txBody>
          <a:bodyPr/>
          <a:lstStyle/>
          <a:p>
            <a:pPr>
              <a:defRPr/>
            </a:pPr>
            <a:endParaRPr/>
          </a:p>
        </p:txBody>
      </p:sp>
      <p:sp>
        <p:nvSpPr>
          <p:cNvPr id="1715000725" name="Slide Number Placeholder 3"/>
          <p:cNvSpPr>
            <a:spLocks noGrp="1"/>
          </p:cNvSpPr>
          <p:nvPr>
            <p:ph type="sldNum" sz="quarter" idx="10"/>
          </p:nvPr>
        </p:nvSpPr>
        <p:spPr bwMode="auto"/>
        <p:txBody>
          <a:bodyPr/>
          <a:lstStyle/>
          <a:p>
            <a:pPr>
              <a:defRPr/>
            </a:pPr>
            <a:fld id="{AA3244C0-A494-D845-B64D-022DAAB2FB44}" type="slidenum">
              <a:rPr/>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65312397" name="Slide Image Placeholder 1"/>
          <p:cNvSpPr>
            <a:spLocks noGrp="1" noRot="1" noChangeAspect="1"/>
          </p:cNvSpPr>
          <p:nvPr>
            <p:ph type="sldImg"/>
          </p:nvPr>
        </p:nvSpPr>
        <p:spPr bwMode="auto"/>
      </p:sp>
      <p:sp>
        <p:nvSpPr>
          <p:cNvPr id="914597783" name="Notes Placeholder 2"/>
          <p:cNvSpPr>
            <a:spLocks noGrp="1"/>
          </p:cNvSpPr>
          <p:nvPr>
            <p:ph type="body" idx="1"/>
          </p:nvPr>
        </p:nvSpPr>
        <p:spPr bwMode="auto"/>
        <p:txBody>
          <a:bodyPr/>
          <a:lstStyle/>
          <a:p>
            <a:pPr>
              <a:defRPr/>
            </a:pPr>
            <a:endParaRPr/>
          </a:p>
        </p:txBody>
      </p:sp>
      <p:sp>
        <p:nvSpPr>
          <p:cNvPr id="2011359665" name="Slide Number Placeholder 3"/>
          <p:cNvSpPr>
            <a:spLocks noGrp="1"/>
          </p:cNvSpPr>
          <p:nvPr>
            <p:ph type="sldNum" sz="quarter" idx="10"/>
          </p:nvPr>
        </p:nvSpPr>
        <p:spPr bwMode="auto"/>
        <p:txBody>
          <a:bodyPr/>
          <a:lstStyle/>
          <a:p>
            <a:pPr>
              <a:defRPr/>
            </a:pPr>
            <a:fld id="{6D07C5AE-093F-E4C3-3404-354214320FC0}" type="slidenum">
              <a:rPr/>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521393915" name="Slide Image Placeholder 1"/>
          <p:cNvSpPr>
            <a:spLocks noGrp="1" noRot="1" noChangeAspect="1"/>
          </p:cNvSpPr>
          <p:nvPr>
            <p:ph type="sldImg"/>
          </p:nvPr>
        </p:nvSpPr>
        <p:spPr bwMode="auto"/>
      </p:sp>
      <p:sp>
        <p:nvSpPr>
          <p:cNvPr id="848620740" name="Notes Placeholder 2"/>
          <p:cNvSpPr>
            <a:spLocks noGrp="1"/>
          </p:cNvSpPr>
          <p:nvPr>
            <p:ph type="body" idx="1"/>
          </p:nvPr>
        </p:nvSpPr>
        <p:spPr bwMode="auto"/>
        <p:txBody>
          <a:bodyPr/>
          <a:lstStyle/>
          <a:p>
            <a:pPr>
              <a:defRPr/>
            </a:pPr>
            <a:endParaRPr/>
          </a:p>
        </p:txBody>
      </p:sp>
      <p:sp>
        <p:nvSpPr>
          <p:cNvPr id="1118160102" name="Slide Number Placeholder 3"/>
          <p:cNvSpPr>
            <a:spLocks noGrp="1"/>
          </p:cNvSpPr>
          <p:nvPr>
            <p:ph type="sldNum" sz="quarter" idx="10"/>
          </p:nvPr>
        </p:nvSpPr>
        <p:spPr bwMode="auto"/>
        <p:txBody>
          <a:bodyPr/>
          <a:lstStyle/>
          <a:p>
            <a:pPr>
              <a:defRPr/>
            </a:pPr>
            <a:fld id="{09555F37-7AA5-3B8F-3562-AF3836CD620A}" type="slidenum">
              <a:rPr/>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848704391" name="Slide Image Placeholder 1"/>
          <p:cNvSpPr>
            <a:spLocks noGrp="1" noRot="1" noChangeAspect="1"/>
          </p:cNvSpPr>
          <p:nvPr>
            <p:ph type="sldImg"/>
          </p:nvPr>
        </p:nvSpPr>
        <p:spPr bwMode="auto"/>
      </p:sp>
      <p:sp>
        <p:nvSpPr>
          <p:cNvPr id="1151860897" name="Notes Placeholder 2"/>
          <p:cNvSpPr>
            <a:spLocks noGrp="1"/>
          </p:cNvSpPr>
          <p:nvPr>
            <p:ph type="body" idx="1"/>
          </p:nvPr>
        </p:nvSpPr>
        <p:spPr bwMode="auto"/>
        <p:txBody>
          <a:bodyPr/>
          <a:lstStyle/>
          <a:p>
            <a:pPr>
              <a:defRPr/>
            </a:pPr>
            <a:endParaRPr/>
          </a:p>
        </p:txBody>
      </p:sp>
      <p:sp>
        <p:nvSpPr>
          <p:cNvPr id="425589087" name="Slide Number Placeholder 3"/>
          <p:cNvSpPr>
            <a:spLocks noGrp="1"/>
          </p:cNvSpPr>
          <p:nvPr>
            <p:ph type="sldNum" sz="quarter" idx="10"/>
          </p:nvPr>
        </p:nvSpPr>
        <p:spPr bwMode="auto"/>
        <p:txBody>
          <a:bodyPr/>
          <a:lstStyle/>
          <a:p>
            <a:pPr>
              <a:defRPr/>
            </a:pPr>
            <a:fld id="{46050345-1A2C-AA7D-B864-D59F03822E43}" type="slidenum">
              <a:rPr/>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811755166" name="Slide Image Placeholder 1"/>
          <p:cNvSpPr>
            <a:spLocks noGrp="1" noRot="1" noChangeAspect="1"/>
          </p:cNvSpPr>
          <p:nvPr>
            <p:ph type="sldImg"/>
          </p:nvPr>
        </p:nvSpPr>
        <p:spPr bwMode="auto"/>
      </p:sp>
      <p:sp>
        <p:nvSpPr>
          <p:cNvPr id="1405375638" name="Notes Placeholder 2"/>
          <p:cNvSpPr>
            <a:spLocks noGrp="1"/>
          </p:cNvSpPr>
          <p:nvPr>
            <p:ph type="body" idx="1"/>
          </p:nvPr>
        </p:nvSpPr>
        <p:spPr bwMode="auto"/>
        <p:txBody>
          <a:bodyPr/>
          <a:lstStyle/>
          <a:p>
            <a:pPr>
              <a:defRPr/>
            </a:pPr>
            <a:endParaRPr/>
          </a:p>
        </p:txBody>
      </p:sp>
      <p:sp>
        <p:nvSpPr>
          <p:cNvPr id="186400833" name="Slide Number Placeholder 3"/>
          <p:cNvSpPr>
            <a:spLocks noGrp="1"/>
          </p:cNvSpPr>
          <p:nvPr>
            <p:ph type="sldNum" sz="quarter" idx="10"/>
          </p:nvPr>
        </p:nvSpPr>
        <p:spPr bwMode="auto"/>
        <p:txBody>
          <a:bodyPr/>
          <a:lstStyle/>
          <a:p>
            <a:pPr>
              <a:defRPr/>
            </a:pPr>
            <a:fld id="{9F21E5C6-F231-D1AC-FC0D-ECEC94A36D65}" type="slidenum">
              <a:rPr/>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083240392" name="Slide Image Placeholder 1"/>
          <p:cNvSpPr>
            <a:spLocks noGrp="1" noRot="1" noChangeAspect="1"/>
          </p:cNvSpPr>
          <p:nvPr>
            <p:ph type="sldImg"/>
          </p:nvPr>
        </p:nvSpPr>
        <p:spPr bwMode="auto"/>
      </p:sp>
      <p:sp>
        <p:nvSpPr>
          <p:cNvPr id="1096141368" name="Notes Placeholder 2"/>
          <p:cNvSpPr>
            <a:spLocks noGrp="1"/>
          </p:cNvSpPr>
          <p:nvPr>
            <p:ph type="body" idx="1"/>
          </p:nvPr>
        </p:nvSpPr>
        <p:spPr bwMode="auto"/>
        <p:txBody>
          <a:bodyPr/>
          <a:lstStyle/>
          <a:p>
            <a:pPr>
              <a:defRPr/>
            </a:pPr>
            <a:endParaRPr/>
          </a:p>
        </p:txBody>
      </p:sp>
      <p:sp>
        <p:nvSpPr>
          <p:cNvPr id="1150301931" name="Slide Number Placeholder 3"/>
          <p:cNvSpPr>
            <a:spLocks noGrp="1"/>
          </p:cNvSpPr>
          <p:nvPr>
            <p:ph type="sldNum" sz="quarter" idx="10"/>
          </p:nvPr>
        </p:nvSpPr>
        <p:spPr bwMode="auto"/>
        <p:txBody>
          <a:bodyPr/>
          <a:lstStyle/>
          <a:p>
            <a:pPr>
              <a:defRPr/>
            </a:pPr>
            <a:fld id="{67E698BE-FE71-5379-62D1-AD6639DDC536}" type="slidenum">
              <a:rPr/>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195149431" name="Slide Image Placeholder 1"/>
          <p:cNvSpPr>
            <a:spLocks noGrp="1" noRot="1" noChangeAspect="1"/>
          </p:cNvSpPr>
          <p:nvPr>
            <p:ph type="sldImg"/>
          </p:nvPr>
        </p:nvSpPr>
        <p:spPr bwMode="auto"/>
      </p:sp>
      <p:sp>
        <p:nvSpPr>
          <p:cNvPr id="1911611372" name="Notes Placeholder 2"/>
          <p:cNvSpPr>
            <a:spLocks noGrp="1"/>
          </p:cNvSpPr>
          <p:nvPr>
            <p:ph type="body" idx="1"/>
          </p:nvPr>
        </p:nvSpPr>
        <p:spPr bwMode="auto"/>
        <p:txBody>
          <a:bodyPr/>
          <a:lstStyle/>
          <a:p>
            <a:pPr>
              <a:defRPr/>
            </a:pPr>
            <a:endParaRPr/>
          </a:p>
        </p:txBody>
      </p:sp>
      <p:sp>
        <p:nvSpPr>
          <p:cNvPr id="1055552416" name="Slide Number Placeholder 3"/>
          <p:cNvSpPr>
            <a:spLocks noGrp="1"/>
          </p:cNvSpPr>
          <p:nvPr>
            <p:ph type="sldNum" sz="quarter" idx="10"/>
          </p:nvPr>
        </p:nvSpPr>
        <p:spPr bwMode="auto"/>
        <p:txBody>
          <a:bodyPr/>
          <a:lstStyle/>
          <a:p>
            <a:pPr>
              <a:defRPr/>
            </a:pPr>
            <a:fld id="{36408976-5EB6-05D5-F585-DCB09EE80367}" type="slidenum">
              <a:rPr/>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74257737" name="Slide Image Placeholder 1"/>
          <p:cNvSpPr>
            <a:spLocks noGrp="1" noRot="1" noChangeAspect="1"/>
          </p:cNvSpPr>
          <p:nvPr>
            <p:ph type="sldImg"/>
          </p:nvPr>
        </p:nvSpPr>
        <p:spPr bwMode="auto"/>
      </p:sp>
      <p:sp>
        <p:nvSpPr>
          <p:cNvPr id="1974434018" name="Notes Placeholder 2"/>
          <p:cNvSpPr>
            <a:spLocks noGrp="1"/>
          </p:cNvSpPr>
          <p:nvPr>
            <p:ph type="body" idx="1"/>
          </p:nvPr>
        </p:nvSpPr>
        <p:spPr bwMode="auto"/>
        <p:txBody>
          <a:bodyPr/>
          <a:lstStyle/>
          <a:p>
            <a:pPr>
              <a:defRPr/>
            </a:pPr>
            <a:endParaRPr/>
          </a:p>
        </p:txBody>
      </p:sp>
      <p:sp>
        <p:nvSpPr>
          <p:cNvPr id="514663322" name="Slide Number Placeholder 3"/>
          <p:cNvSpPr>
            <a:spLocks noGrp="1"/>
          </p:cNvSpPr>
          <p:nvPr>
            <p:ph type="sldNum" sz="quarter" idx="10"/>
          </p:nvPr>
        </p:nvSpPr>
        <p:spPr bwMode="auto"/>
        <p:txBody>
          <a:bodyPr/>
          <a:lstStyle/>
          <a:p>
            <a:pPr>
              <a:defRPr/>
            </a:pPr>
            <a:fld id="{FFD33580-2949-2F4E-312C-A75451DA15EA}" type="slidenum">
              <a:rPr/>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044297681" name="Slide Image Placeholder 1"/>
          <p:cNvSpPr>
            <a:spLocks noGrp="1" noRot="1" noChangeAspect="1"/>
          </p:cNvSpPr>
          <p:nvPr>
            <p:ph type="sldImg"/>
          </p:nvPr>
        </p:nvSpPr>
        <p:spPr bwMode="auto"/>
      </p:sp>
      <p:sp>
        <p:nvSpPr>
          <p:cNvPr id="1222250254" name="Notes Placeholder 2"/>
          <p:cNvSpPr>
            <a:spLocks noGrp="1"/>
          </p:cNvSpPr>
          <p:nvPr>
            <p:ph type="body" idx="1"/>
          </p:nvPr>
        </p:nvSpPr>
        <p:spPr bwMode="auto"/>
        <p:txBody>
          <a:bodyPr/>
          <a:lstStyle/>
          <a:p>
            <a:pPr>
              <a:defRPr/>
            </a:pPr>
            <a:endParaRPr/>
          </a:p>
        </p:txBody>
      </p:sp>
      <p:sp>
        <p:nvSpPr>
          <p:cNvPr id="1797831234" name="Slide Number Placeholder 3"/>
          <p:cNvSpPr>
            <a:spLocks noGrp="1"/>
          </p:cNvSpPr>
          <p:nvPr>
            <p:ph type="sldNum" sz="quarter" idx="10"/>
          </p:nvPr>
        </p:nvSpPr>
        <p:spPr bwMode="auto"/>
        <p:txBody>
          <a:bodyPr/>
          <a:lstStyle/>
          <a:p>
            <a:pPr>
              <a:defRPr/>
            </a:pPr>
            <a:fld id="{02D750AF-8613-4142-141A-8DF50F7BD18A}" type="slidenum">
              <a:rPr/>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807713411" name="Slide Image Placeholder 1"/>
          <p:cNvSpPr>
            <a:spLocks noGrp="1" noRot="1" noChangeAspect="1"/>
          </p:cNvSpPr>
          <p:nvPr>
            <p:ph type="sldImg"/>
          </p:nvPr>
        </p:nvSpPr>
        <p:spPr bwMode="auto"/>
      </p:sp>
      <p:sp>
        <p:nvSpPr>
          <p:cNvPr id="201248735" name="Notes Placeholder 2"/>
          <p:cNvSpPr>
            <a:spLocks noGrp="1"/>
          </p:cNvSpPr>
          <p:nvPr>
            <p:ph type="body" idx="1"/>
          </p:nvPr>
        </p:nvSpPr>
        <p:spPr bwMode="auto"/>
        <p:txBody>
          <a:bodyPr/>
          <a:lstStyle/>
          <a:p>
            <a:pPr>
              <a:defRPr/>
            </a:pPr>
            <a:endParaRPr/>
          </a:p>
        </p:txBody>
      </p:sp>
      <p:sp>
        <p:nvSpPr>
          <p:cNvPr id="1058285222" name="Slide Number Placeholder 3"/>
          <p:cNvSpPr>
            <a:spLocks noGrp="1"/>
          </p:cNvSpPr>
          <p:nvPr>
            <p:ph type="sldNum" sz="quarter" idx="10"/>
          </p:nvPr>
        </p:nvSpPr>
        <p:spPr bwMode="auto"/>
        <p:txBody>
          <a:bodyPr/>
          <a:lstStyle/>
          <a:p>
            <a:pPr>
              <a:defRPr/>
            </a:pPr>
            <a:fld id="{12C53EDD-778B-D19C-5F0A-4A3240C9E3BB}" type="slidenum">
              <a:rPr/>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600898388" name="Slide Image Placeholder 1"/>
          <p:cNvSpPr>
            <a:spLocks noGrp="1" noRot="1" noChangeAspect="1"/>
          </p:cNvSpPr>
          <p:nvPr>
            <p:ph type="sldImg"/>
          </p:nvPr>
        </p:nvSpPr>
        <p:spPr bwMode="auto"/>
      </p:sp>
      <p:sp>
        <p:nvSpPr>
          <p:cNvPr id="113668161" name="Notes Placeholder 2"/>
          <p:cNvSpPr>
            <a:spLocks noGrp="1"/>
          </p:cNvSpPr>
          <p:nvPr>
            <p:ph type="body" idx="1"/>
          </p:nvPr>
        </p:nvSpPr>
        <p:spPr bwMode="auto"/>
        <p:txBody>
          <a:bodyPr/>
          <a:lstStyle/>
          <a:p>
            <a:pPr>
              <a:defRPr/>
            </a:pPr>
            <a:endParaRPr/>
          </a:p>
        </p:txBody>
      </p:sp>
      <p:sp>
        <p:nvSpPr>
          <p:cNvPr id="1681298163" name="Slide Number Placeholder 3"/>
          <p:cNvSpPr>
            <a:spLocks noGrp="1"/>
          </p:cNvSpPr>
          <p:nvPr>
            <p:ph type="sldNum" sz="quarter" idx="10"/>
          </p:nvPr>
        </p:nvSpPr>
        <p:spPr bwMode="auto"/>
        <p:txBody>
          <a:bodyPr/>
          <a:lstStyle/>
          <a:p>
            <a:pPr>
              <a:defRPr/>
            </a:pPr>
            <a:fld id="{7BD2D8E7-DD8F-8336-A7BA-38DA5998BB84}" type="slidenum">
              <a:rPr/>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27048674" name="Slide Image Placeholder 1"/>
          <p:cNvSpPr>
            <a:spLocks noGrp="1" noRot="1" noChangeAspect="1"/>
          </p:cNvSpPr>
          <p:nvPr>
            <p:ph type="sldImg"/>
          </p:nvPr>
        </p:nvSpPr>
        <p:spPr bwMode="auto"/>
      </p:sp>
      <p:sp>
        <p:nvSpPr>
          <p:cNvPr id="310668698" name="Notes Placeholder 2"/>
          <p:cNvSpPr>
            <a:spLocks noGrp="1"/>
          </p:cNvSpPr>
          <p:nvPr>
            <p:ph type="body" idx="1"/>
          </p:nvPr>
        </p:nvSpPr>
        <p:spPr bwMode="auto"/>
        <p:txBody>
          <a:bodyPr/>
          <a:lstStyle/>
          <a:p>
            <a:pPr>
              <a:defRPr/>
            </a:pPr>
            <a:endParaRPr/>
          </a:p>
        </p:txBody>
      </p:sp>
      <p:sp>
        <p:nvSpPr>
          <p:cNvPr id="245348309" name="Slide Number Placeholder 3"/>
          <p:cNvSpPr>
            <a:spLocks noGrp="1"/>
          </p:cNvSpPr>
          <p:nvPr>
            <p:ph type="sldNum" sz="quarter" idx="10"/>
          </p:nvPr>
        </p:nvSpPr>
        <p:spPr bwMode="auto"/>
        <p:txBody>
          <a:bodyPr/>
          <a:lstStyle/>
          <a:p>
            <a:pPr>
              <a:defRPr/>
            </a:pPr>
            <a:fld id="{B0DCC7F1-9C79-CC4D-C023-920F14AF4941}" type="slidenum">
              <a:rPr/>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263230400" name="Slide Image Placeholder 1"/>
          <p:cNvSpPr>
            <a:spLocks noGrp="1" noRot="1" noChangeAspect="1"/>
          </p:cNvSpPr>
          <p:nvPr>
            <p:ph type="sldImg"/>
          </p:nvPr>
        </p:nvSpPr>
        <p:spPr bwMode="auto"/>
      </p:sp>
      <p:sp>
        <p:nvSpPr>
          <p:cNvPr id="942126406" name="Notes Placeholder 2"/>
          <p:cNvSpPr>
            <a:spLocks noGrp="1"/>
          </p:cNvSpPr>
          <p:nvPr>
            <p:ph type="body" idx="1"/>
          </p:nvPr>
        </p:nvSpPr>
        <p:spPr bwMode="auto"/>
        <p:txBody>
          <a:bodyPr/>
          <a:lstStyle/>
          <a:p>
            <a:pPr>
              <a:defRPr/>
            </a:pPr>
            <a:endParaRPr/>
          </a:p>
        </p:txBody>
      </p:sp>
      <p:sp>
        <p:nvSpPr>
          <p:cNvPr id="755321918" name="Slide Number Placeholder 3"/>
          <p:cNvSpPr>
            <a:spLocks noGrp="1"/>
          </p:cNvSpPr>
          <p:nvPr>
            <p:ph type="sldNum" sz="quarter" idx="10"/>
          </p:nvPr>
        </p:nvSpPr>
        <p:spPr bwMode="auto"/>
        <p:txBody>
          <a:bodyPr/>
          <a:lstStyle/>
          <a:p>
            <a:pPr>
              <a:defRPr/>
            </a:pPr>
            <a:fld id="{3675F44C-9235-EBFB-528B-738A532C53EA}" type="slidenum">
              <a:rPr/>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31897257" name="Slide Image Placeholder 1"/>
          <p:cNvSpPr>
            <a:spLocks noGrp="1" noRot="1" noChangeAspect="1"/>
          </p:cNvSpPr>
          <p:nvPr>
            <p:ph type="sldImg"/>
          </p:nvPr>
        </p:nvSpPr>
        <p:spPr bwMode="auto"/>
      </p:sp>
      <p:sp>
        <p:nvSpPr>
          <p:cNvPr id="317351567" name="Notes Placeholder 2"/>
          <p:cNvSpPr>
            <a:spLocks noGrp="1"/>
          </p:cNvSpPr>
          <p:nvPr>
            <p:ph type="body" idx="1"/>
          </p:nvPr>
        </p:nvSpPr>
        <p:spPr bwMode="auto"/>
        <p:txBody>
          <a:bodyPr/>
          <a:lstStyle/>
          <a:p>
            <a:pPr>
              <a:defRPr/>
            </a:pPr>
            <a:endParaRPr/>
          </a:p>
        </p:txBody>
      </p:sp>
      <p:sp>
        <p:nvSpPr>
          <p:cNvPr id="1628426971" name="Slide Number Placeholder 3"/>
          <p:cNvSpPr>
            <a:spLocks noGrp="1"/>
          </p:cNvSpPr>
          <p:nvPr>
            <p:ph type="sldNum" sz="quarter" idx="10"/>
          </p:nvPr>
        </p:nvSpPr>
        <p:spPr bwMode="auto"/>
        <p:txBody>
          <a:bodyPr/>
          <a:lstStyle/>
          <a:p>
            <a:pPr>
              <a:defRPr/>
            </a:pPr>
            <a:fld id="{28257A07-F70A-25D8-51C6-4272CAF13A1F}" type="slidenum">
              <a:rPr/>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A9CF40-3EC7-52A0-FC65-AF0C007D6185}"/>
            </a:ext>
          </a:extLst>
        </p:cNvPr>
        <p:cNvGrpSpPr/>
        <p:nvPr/>
      </p:nvGrpSpPr>
      <p:grpSpPr bwMode="auto">
        <a:xfrm>
          <a:off x="0" y="0"/>
          <a:ext cx="0" cy="0"/>
          <a:chOff x="0" y="0"/>
          <a:chExt cx="0" cy="0"/>
        </a:xfrm>
      </p:grpSpPr>
      <p:sp>
        <p:nvSpPr>
          <p:cNvPr id="631897257" name="Slide Image Placeholder 1">
            <a:extLst>
              <a:ext uri="{FF2B5EF4-FFF2-40B4-BE49-F238E27FC236}">
                <a16:creationId xmlns:a16="http://schemas.microsoft.com/office/drawing/2014/main" id="{02A2E2FD-9A4E-D434-2931-5D4661D528CC}"/>
              </a:ext>
            </a:extLst>
          </p:cNvPr>
          <p:cNvSpPr>
            <a:spLocks noGrp="1" noRot="1" noChangeAspect="1"/>
          </p:cNvSpPr>
          <p:nvPr>
            <p:ph type="sldImg"/>
          </p:nvPr>
        </p:nvSpPr>
        <p:spPr bwMode="auto"/>
      </p:sp>
      <p:sp>
        <p:nvSpPr>
          <p:cNvPr id="317351567" name="Notes Placeholder 2">
            <a:extLst>
              <a:ext uri="{FF2B5EF4-FFF2-40B4-BE49-F238E27FC236}">
                <a16:creationId xmlns:a16="http://schemas.microsoft.com/office/drawing/2014/main" id="{45E3B9E8-9333-F52E-E87C-07CF40B97D2C}"/>
              </a:ext>
            </a:extLst>
          </p:cNvPr>
          <p:cNvSpPr>
            <a:spLocks noGrp="1"/>
          </p:cNvSpPr>
          <p:nvPr>
            <p:ph type="body" idx="1"/>
          </p:nvPr>
        </p:nvSpPr>
        <p:spPr bwMode="auto"/>
        <p:txBody>
          <a:bodyPr/>
          <a:lstStyle/>
          <a:p>
            <a:pPr>
              <a:defRPr/>
            </a:pPr>
            <a:endParaRPr/>
          </a:p>
        </p:txBody>
      </p:sp>
      <p:sp>
        <p:nvSpPr>
          <p:cNvPr id="1628426971" name="Slide Number Placeholder 3">
            <a:extLst>
              <a:ext uri="{FF2B5EF4-FFF2-40B4-BE49-F238E27FC236}">
                <a16:creationId xmlns:a16="http://schemas.microsoft.com/office/drawing/2014/main" id="{13DE5D1B-5C00-3CE9-7806-93B9CA1671D5}"/>
              </a:ext>
            </a:extLst>
          </p:cNvPr>
          <p:cNvSpPr>
            <a:spLocks noGrp="1"/>
          </p:cNvSpPr>
          <p:nvPr>
            <p:ph type="sldNum" sz="quarter" idx="10"/>
          </p:nvPr>
        </p:nvSpPr>
        <p:spPr bwMode="auto"/>
        <p:txBody>
          <a:bodyPr/>
          <a:lstStyle/>
          <a:p>
            <a:pPr>
              <a:defRPr/>
            </a:pPr>
            <a:fld id="{28257A07-F70A-25D8-51C6-4272CAF13A1F}" type="slidenum">
              <a:rPr/>
              <a:t>20</a:t>
            </a:fld>
            <a:endParaRPr/>
          </a:p>
        </p:txBody>
      </p:sp>
    </p:spTree>
    <p:extLst>
      <p:ext uri="{BB962C8B-B14F-4D97-AF65-F5344CB8AC3E}">
        <p14:creationId xmlns:p14="http://schemas.microsoft.com/office/powerpoint/2010/main" val="2256740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B5723-5BF7-BE84-2895-A618862F59D4}"/>
            </a:ext>
          </a:extLst>
        </p:cNvPr>
        <p:cNvGrpSpPr/>
        <p:nvPr/>
      </p:nvGrpSpPr>
      <p:grpSpPr bwMode="auto">
        <a:xfrm>
          <a:off x="0" y="0"/>
          <a:ext cx="0" cy="0"/>
          <a:chOff x="0" y="0"/>
          <a:chExt cx="0" cy="0"/>
        </a:xfrm>
      </p:grpSpPr>
      <p:sp>
        <p:nvSpPr>
          <p:cNvPr id="631897257" name="Slide Image Placeholder 1">
            <a:extLst>
              <a:ext uri="{FF2B5EF4-FFF2-40B4-BE49-F238E27FC236}">
                <a16:creationId xmlns:a16="http://schemas.microsoft.com/office/drawing/2014/main" id="{13A82671-F441-761F-EF35-F3F11718EB1D}"/>
              </a:ext>
            </a:extLst>
          </p:cNvPr>
          <p:cNvSpPr>
            <a:spLocks noGrp="1" noRot="1" noChangeAspect="1"/>
          </p:cNvSpPr>
          <p:nvPr>
            <p:ph type="sldImg"/>
          </p:nvPr>
        </p:nvSpPr>
        <p:spPr bwMode="auto"/>
      </p:sp>
      <p:sp>
        <p:nvSpPr>
          <p:cNvPr id="317351567" name="Notes Placeholder 2">
            <a:extLst>
              <a:ext uri="{FF2B5EF4-FFF2-40B4-BE49-F238E27FC236}">
                <a16:creationId xmlns:a16="http://schemas.microsoft.com/office/drawing/2014/main" id="{6076EAA9-E14A-131B-2910-E3E5DA1F1FBF}"/>
              </a:ext>
            </a:extLst>
          </p:cNvPr>
          <p:cNvSpPr>
            <a:spLocks noGrp="1"/>
          </p:cNvSpPr>
          <p:nvPr>
            <p:ph type="body" idx="1"/>
          </p:nvPr>
        </p:nvSpPr>
        <p:spPr bwMode="auto"/>
        <p:txBody>
          <a:bodyPr/>
          <a:lstStyle/>
          <a:p>
            <a:pPr>
              <a:defRPr/>
            </a:pPr>
            <a:endParaRPr/>
          </a:p>
        </p:txBody>
      </p:sp>
      <p:sp>
        <p:nvSpPr>
          <p:cNvPr id="1628426971" name="Slide Number Placeholder 3">
            <a:extLst>
              <a:ext uri="{FF2B5EF4-FFF2-40B4-BE49-F238E27FC236}">
                <a16:creationId xmlns:a16="http://schemas.microsoft.com/office/drawing/2014/main" id="{7C54A874-84AD-9364-39DA-56EC6C711DDF}"/>
              </a:ext>
            </a:extLst>
          </p:cNvPr>
          <p:cNvSpPr>
            <a:spLocks noGrp="1"/>
          </p:cNvSpPr>
          <p:nvPr>
            <p:ph type="sldNum" sz="quarter" idx="10"/>
          </p:nvPr>
        </p:nvSpPr>
        <p:spPr bwMode="auto"/>
        <p:txBody>
          <a:bodyPr/>
          <a:lstStyle/>
          <a:p>
            <a:pPr>
              <a:defRPr/>
            </a:pPr>
            <a:fld id="{28257A07-F70A-25D8-51C6-4272CAF13A1F}" type="slidenum">
              <a:rPr/>
              <a:t>21</a:t>
            </a:fld>
            <a:endParaRPr/>
          </a:p>
        </p:txBody>
      </p:sp>
    </p:spTree>
    <p:extLst>
      <p:ext uri="{BB962C8B-B14F-4D97-AF65-F5344CB8AC3E}">
        <p14:creationId xmlns:p14="http://schemas.microsoft.com/office/powerpoint/2010/main" val="162853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750986-9D94-8F06-57A8-80F9774704A7}"/>
            </a:ext>
          </a:extLst>
        </p:cNvPr>
        <p:cNvGrpSpPr/>
        <p:nvPr/>
      </p:nvGrpSpPr>
      <p:grpSpPr bwMode="auto">
        <a:xfrm>
          <a:off x="0" y="0"/>
          <a:ext cx="0" cy="0"/>
          <a:chOff x="0" y="0"/>
          <a:chExt cx="0" cy="0"/>
        </a:xfrm>
      </p:grpSpPr>
      <p:sp>
        <p:nvSpPr>
          <p:cNvPr id="631897257" name="Slide Image Placeholder 1">
            <a:extLst>
              <a:ext uri="{FF2B5EF4-FFF2-40B4-BE49-F238E27FC236}">
                <a16:creationId xmlns:a16="http://schemas.microsoft.com/office/drawing/2014/main" id="{2B2D529C-8F8C-4536-B744-8DDE2DAADF97}"/>
              </a:ext>
            </a:extLst>
          </p:cNvPr>
          <p:cNvSpPr>
            <a:spLocks noGrp="1" noRot="1" noChangeAspect="1"/>
          </p:cNvSpPr>
          <p:nvPr>
            <p:ph type="sldImg"/>
          </p:nvPr>
        </p:nvSpPr>
        <p:spPr bwMode="auto"/>
      </p:sp>
      <p:sp>
        <p:nvSpPr>
          <p:cNvPr id="317351567" name="Notes Placeholder 2">
            <a:extLst>
              <a:ext uri="{FF2B5EF4-FFF2-40B4-BE49-F238E27FC236}">
                <a16:creationId xmlns:a16="http://schemas.microsoft.com/office/drawing/2014/main" id="{B08019B8-FE7D-680C-854F-C5BE0AEB5812}"/>
              </a:ext>
            </a:extLst>
          </p:cNvPr>
          <p:cNvSpPr>
            <a:spLocks noGrp="1"/>
          </p:cNvSpPr>
          <p:nvPr>
            <p:ph type="body" idx="1"/>
          </p:nvPr>
        </p:nvSpPr>
        <p:spPr bwMode="auto"/>
        <p:txBody>
          <a:bodyPr/>
          <a:lstStyle/>
          <a:p>
            <a:pPr>
              <a:defRPr/>
            </a:pPr>
            <a:endParaRPr/>
          </a:p>
        </p:txBody>
      </p:sp>
      <p:sp>
        <p:nvSpPr>
          <p:cNvPr id="1628426971" name="Slide Number Placeholder 3">
            <a:extLst>
              <a:ext uri="{FF2B5EF4-FFF2-40B4-BE49-F238E27FC236}">
                <a16:creationId xmlns:a16="http://schemas.microsoft.com/office/drawing/2014/main" id="{E028BC65-0248-1B11-938B-FBAB1CD36F18}"/>
              </a:ext>
            </a:extLst>
          </p:cNvPr>
          <p:cNvSpPr>
            <a:spLocks noGrp="1"/>
          </p:cNvSpPr>
          <p:nvPr>
            <p:ph type="sldNum" sz="quarter" idx="10"/>
          </p:nvPr>
        </p:nvSpPr>
        <p:spPr bwMode="auto"/>
        <p:txBody>
          <a:bodyPr/>
          <a:lstStyle/>
          <a:p>
            <a:pPr>
              <a:defRPr/>
            </a:pPr>
            <a:fld id="{28257A07-F70A-25D8-51C6-4272CAF13A1F}" type="slidenum">
              <a:rPr/>
              <a:t>22</a:t>
            </a:fld>
            <a:endParaRPr/>
          </a:p>
        </p:txBody>
      </p:sp>
    </p:spTree>
    <p:extLst>
      <p:ext uri="{BB962C8B-B14F-4D97-AF65-F5344CB8AC3E}">
        <p14:creationId xmlns:p14="http://schemas.microsoft.com/office/powerpoint/2010/main" val="144988658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44087351" name="Slide Image Placeholder 1"/>
          <p:cNvSpPr>
            <a:spLocks noGrp="1" noRot="1" noChangeAspect="1"/>
          </p:cNvSpPr>
          <p:nvPr>
            <p:ph type="sldImg"/>
          </p:nvPr>
        </p:nvSpPr>
        <p:spPr bwMode="auto"/>
      </p:sp>
      <p:sp>
        <p:nvSpPr>
          <p:cNvPr id="1814900797" name="Notes Placeholder 2"/>
          <p:cNvSpPr>
            <a:spLocks noGrp="1"/>
          </p:cNvSpPr>
          <p:nvPr>
            <p:ph type="body" idx="1"/>
          </p:nvPr>
        </p:nvSpPr>
        <p:spPr bwMode="auto"/>
        <p:txBody>
          <a:bodyPr/>
          <a:lstStyle/>
          <a:p>
            <a:pPr>
              <a:defRPr/>
            </a:pPr>
            <a:endParaRPr/>
          </a:p>
        </p:txBody>
      </p:sp>
      <p:sp>
        <p:nvSpPr>
          <p:cNvPr id="1893199071" name="Slide Number Placeholder 3"/>
          <p:cNvSpPr>
            <a:spLocks noGrp="1"/>
          </p:cNvSpPr>
          <p:nvPr>
            <p:ph type="sldNum" sz="quarter" idx="10"/>
          </p:nvPr>
        </p:nvSpPr>
        <p:spPr bwMode="auto"/>
        <p:txBody>
          <a:bodyPr/>
          <a:lstStyle/>
          <a:p>
            <a:pPr>
              <a:defRPr/>
            </a:pPr>
            <a:fld id="{9B91F0B2-2FDA-EC3B-EF0E-EC3372D22792}" type="slidenum">
              <a:rPr/>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852286942" name="Slide Image Placeholder 1"/>
          <p:cNvSpPr>
            <a:spLocks noGrp="1" noRot="1" noChangeAspect="1"/>
          </p:cNvSpPr>
          <p:nvPr>
            <p:ph type="sldImg"/>
          </p:nvPr>
        </p:nvSpPr>
        <p:spPr bwMode="auto"/>
      </p:sp>
      <p:sp>
        <p:nvSpPr>
          <p:cNvPr id="1472689529" name="Notes Placeholder 2"/>
          <p:cNvSpPr>
            <a:spLocks noGrp="1"/>
          </p:cNvSpPr>
          <p:nvPr>
            <p:ph type="body" idx="1"/>
          </p:nvPr>
        </p:nvSpPr>
        <p:spPr bwMode="auto"/>
        <p:txBody>
          <a:bodyPr/>
          <a:lstStyle/>
          <a:p>
            <a:pPr>
              <a:defRPr/>
            </a:pPr>
            <a:endParaRPr/>
          </a:p>
        </p:txBody>
      </p:sp>
      <p:sp>
        <p:nvSpPr>
          <p:cNvPr id="980586797" name="Slide Number Placeholder 3"/>
          <p:cNvSpPr>
            <a:spLocks noGrp="1"/>
          </p:cNvSpPr>
          <p:nvPr>
            <p:ph type="sldNum" sz="quarter" idx="10"/>
          </p:nvPr>
        </p:nvSpPr>
        <p:spPr bwMode="auto"/>
        <p:txBody>
          <a:bodyPr/>
          <a:lstStyle/>
          <a:p>
            <a:pPr>
              <a:defRPr/>
            </a:pPr>
            <a:fld id="{6C7EB563-6DDD-C7FD-2D95-A9A9C14118F4}" type="slidenum">
              <a:rPr/>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350814423" name="Slide Image Placeholder 1"/>
          <p:cNvSpPr>
            <a:spLocks noGrp="1" noRot="1" noChangeAspect="1"/>
          </p:cNvSpPr>
          <p:nvPr>
            <p:ph type="sldImg"/>
          </p:nvPr>
        </p:nvSpPr>
        <p:spPr bwMode="auto"/>
      </p:sp>
      <p:sp>
        <p:nvSpPr>
          <p:cNvPr id="1335587510" name="Notes Placeholder 2"/>
          <p:cNvSpPr>
            <a:spLocks noGrp="1"/>
          </p:cNvSpPr>
          <p:nvPr>
            <p:ph type="body" idx="1"/>
          </p:nvPr>
        </p:nvSpPr>
        <p:spPr bwMode="auto"/>
        <p:txBody>
          <a:bodyPr/>
          <a:lstStyle/>
          <a:p>
            <a:pPr>
              <a:defRPr/>
            </a:pPr>
            <a:endParaRPr/>
          </a:p>
        </p:txBody>
      </p:sp>
      <p:sp>
        <p:nvSpPr>
          <p:cNvPr id="982414642" name="Slide Number Placeholder 3"/>
          <p:cNvSpPr>
            <a:spLocks noGrp="1"/>
          </p:cNvSpPr>
          <p:nvPr>
            <p:ph type="sldNum" sz="quarter" idx="10"/>
          </p:nvPr>
        </p:nvSpPr>
        <p:spPr bwMode="auto"/>
        <p:txBody>
          <a:bodyPr/>
          <a:lstStyle/>
          <a:p>
            <a:pPr>
              <a:defRPr/>
            </a:pPr>
            <a:fld id="{28AA8B66-F14B-FFCB-4AFC-9F8F0E089CBC}" type="slidenum">
              <a:rPr/>
              <a:t>25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preserve="1" userDrawn="1">
  <p:cSld name="Title Slide">
    <p:spTree>
      <p:nvGrpSpPr>
        <p:cNvPr id="1" name=""/>
        <p:cNvGrpSpPr/>
        <p:nvPr/>
      </p:nvGrpSpPr>
      <p:grpSpPr bwMode="auto">
        <a:xfrm>
          <a:off x="0" y="0"/>
          <a:ext cx="0" cy="0"/>
          <a:chOff x="0" y="0"/>
          <a:chExt cx="0" cy="0"/>
        </a:xfrm>
      </p:grpSpPr>
      <p:sp>
        <p:nvSpPr>
          <p:cNvPr id="1582851698" name="Title 1"/>
          <p:cNvSpPr>
            <a:spLocks noGrp="1"/>
          </p:cNvSpPr>
          <p:nvPr>
            <p:ph type="ctrTitle"/>
          </p:nvPr>
        </p:nvSpPr>
        <p:spPr bwMode="auto">
          <a:xfrm>
            <a:off x="685800" y="2130425"/>
            <a:ext cx="7772400" cy="1470025"/>
          </a:xfrm>
        </p:spPr>
        <p:txBody>
          <a:bodyPr/>
          <a:lstStyle/>
          <a:p>
            <a:pPr>
              <a:defRPr/>
            </a:pPr>
            <a:r>
              <a:rPr lang="en-US"/>
              <a:t>Click to edit Master title style</a:t>
            </a:r>
          </a:p>
        </p:txBody>
      </p:sp>
      <p:sp>
        <p:nvSpPr>
          <p:cNvPr id="139694768" name="Subtitle 2"/>
          <p:cNvSpPr>
            <a:spLocks noGrp="1"/>
          </p:cNvSpPr>
          <p:nvPr>
            <p:ph type="subTitle" idx="1"/>
          </p:nvPr>
        </p:nvSpPr>
        <p:spPr bwMode="auto">
          <a:xfrm>
            <a:off x="1371600" y="3886200"/>
            <a:ext cx="6400800" cy="1752599"/>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a:pPr>
            <a:r>
              <a:rPr lang="en-US"/>
              <a:t>Click to edit Master subtitle style</a:t>
            </a:r>
          </a:p>
        </p:txBody>
      </p:sp>
      <p:sp>
        <p:nvSpPr>
          <p:cNvPr id="1634839333" name="Date Placeholder 3"/>
          <p:cNvSpPr>
            <a:spLocks noGrp="1"/>
          </p:cNvSpPr>
          <p:nvPr>
            <p:ph type="dt" sz="half" idx="10"/>
          </p:nvPr>
        </p:nvSpPr>
        <p:spPr bwMode="auto"/>
        <p:txBody>
          <a:bodyPr/>
          <a:lstStyle/>
          <a:p>
            <a:pPr>
              <a:defRPr/>
            </a:pPr>
            <a:fld id="{1D8BD707-D9CF-40AE-B4C6-C98DA3205C09}" type="datetimeFigureOut">
              <a:rPr lang="en-US"/>
              <a:t>9/10/2026</a:t>
            </a:fld>
            <a:endParaRPr lang="en-US"/>
          </a:p>
        </p:txBody>
      </p:sp>
      <p:sp>
        <p:nvSpPr>
          <p:cNvPr id="748352524" name="Footer Placeholder 4"/>
          <p:cNvSpPr>
            <a:spLocks noGrp="1"/>
          </p:cNvSpPr>
          <p:nvPr>
            <p:ph type="ftr" sz="quarter" idx="11"/>
          </p:nvPr>
        </p:nvSpPr>
        <p:spPr bwMode="auto"/>
        <p:txBody>
          <a:bodyPr/>
          <a:lstStyle/>
          <a:p>
            <a:pPr>
              <a:defRPr/>
            </a:pPr>
            <a:endParaRPr lang="en-US"/>
          </a:p>
        </p:txBody>
      </p:sp>
      <p:sp>
        <p:nvSpPr>
          <p:cNvPr id="2030274227"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type="obj" preserve="1" userDrawn="1">
  <p:cSld name="Title and Content">
    <p:spTree>
      <p:nvGrpSpPr>
        <p:cNvPr id="1" name=""/>
        <p:cNvGrpSpPr/>
        <p:nvPr/>
      </p:nvGrpSpPr>
      <p:grpSpPr bwMode="auto">
        <a:xfrm>
          <a:off x="0" y="0"/>
          <a:ext cx="0" cy="0"/>
          <a:chOff x="0" y="0"/>
          <a:chExt cx="0" cy="0"/>
        </a:xfrm>
      </p:grpSpPr>
      <p:sp>
        <p:nvSpPr>
          <p:cNvPr id="593703944" name="Title 1"/>
          <p:cNvSpPr>
            <a:spLocks noGrp="1"/>
          </p:cNvSpPr>
          <p:nvPr>
            <p:ph type="title"/>
          </p:nvPr>
        </p:nvSpPr>
        <p:spPr bwMode="auto"/>
        <p:txBody>
          <a:bodyPr/>
          <a:lstStyle/>
          <a:p>
            <a:pPr>
              <a:defRPr/>
            </a:pPr>
            <a:r>
              <a:rPr lang="en-US"/>
              <a:t>Click to edit Master title style</a:t>
            </a:r>
          </a:p>
        </p:txBody>
      </p:sp>
      <p:sp>
        <p:nvSpPr>
          <p:cNvPr id="2016807091"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1652983721" name="Date Placeholder 3"/>
          <p:cNvSpPr>
            <a:spLocks noGrp="1"/>
          </p:cNvSpPr>
          <p:nvPr>
            <p:ph type="dt" sz="half" idx="10"/>
          </p:nvPr>
        </p:nvSpPr>
        <p:spPr bwMode="auto"/>
        <p:txBody>
          <a:bodyPr/>
          <a:lstStyle/>
          <a:p>
            <a:pPr>
              <a:defRPr/>
            </a:pPr>
            <a:fld id="{1D8BD707-D9CF-40AE-B4C6-C98DA3205C09}" type="datetimeFigureOut">
              <a:rPr lang="en-US"/>
              <a:t>9/10/2026</a:t>
            </a:fld>
            <a:endParaRPr lang="en-US"/>
          </a:p>
        </p:txBody>
      </p:sp>
      <p:sp>
        <p:nvSpPr>
          <p:cNvPr id="1580080563" name="Footer Placeholder 4"/>
          <p:cNvSpPr>
            <a:spLocks noGrp="1"/>
          </p:cNvSpPr>
          <p:nvPr>
            <p:ph type="ftr" sz="quarter" idx="11"/>
          </p:nvPr>
        </p:nvSpPr>
        <p:spPr bwMode="auto"/>
        <p:txBody>
          <a:bodyPr/>
          <a:lstStyle/>
          <a:p>
            <a:pPr>
              <a:defRPr/>
            </a:pPr>
            <a:endParaRPr lang="en-US"/>
          </a:p>
        </p:txBody>
      </p:sp>
      <p:sp>
        <p:nvSpPr>
          <p:cNvPr id="700399907"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type="secHead" preserve="1" userDrawn="1">
  <p:cSld name="Section Header">
    <p:spTree>
      <p:nvGrpSpPr>
        <p:cNvPr id="1" name=""/>
        <p:cNvGrpSpPr/>
        <p:nvPr/>
      </p:nvGrpSpPr>
      <p:grpSpPr bwMode="auto">
        <a:xfrm>
          <a:off x="0" y="0"/>
          <a:ext cx="0" cy="0"/>
          <a:chOff x="0" y="0"/>
          <a:chExt cx="0" cy="0"/>
        </a:xfrm>
      </p:grpSpPr>
      <p:sp>
        <p:nvSpPr>
          <p:cNvPr id="1786053271" name="Title 1"/>
          <p:cNvSpPr>
            <a:spLocks noGrp="1"/>
          </p:cNvSpPr>
          <p:nvPr>
            <p:ph type="title"/>
          </p:nvPr>
        </p:nvSpPr>
        <p:spPr bwMode="auto">
          <a:xfrm>
            <a:off x="722313" y="4406900"/>
            <a:ext cx="7772400" cy="1362075"/>
          </a:xfrm>
        </p:spPr>
        <p:txBody>
          <a:bodyPr anchor="t"/>
          <a:lstStyle>
            <a:lvl1pPr algn="l">
              <a:defRPr sz="4000" b="1" cap="all"/>
            </a:lvl1pPr>
          </a:lstStyle>
          <a:p>
            <a:pPr>
              <a:defRPr/>
            </a:pPr>
            <a:r>
              <a:rPr lang="en-US"/>
              <a:t>Click to edit Master title style</a:t>
            </a:r>
          </a:p>
        </p:txBody>
      </p:sp>
      <p:sp>
        <p:nvSpPr>
          <p:cNvPr id="71190021" name="Text Placeholder 2"/>
          <p:cNvSpPr>
            <a:spLocks noGrp="1"/>
          </p:cNvSpPr>
          <p:nvPr>
            <p:ph type="body" idx="1"/>
          </p:nvPr>
        </p:nvSpPr>
        <p:spPr bwMode="auto">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en-US"/>
              <a:t>Click to edit Master text styles</a:t>
            </a:r>
            <a:endParaRPr/>
          </a:p>
        </p:txBody>
      </p:sp>
      <p:sp>
        <p:nvSpPr>
          <p:cNvPr id="1970767985" name="Date Placeholder 3"/>
          <p:cNvSpPr>
            <a:spLocks noGrp="1"/>
          </p:cNvSpPr>
          <p:nvPr>
            <p:ph type="dt" sz="half" idx="10"/>
          </p:nvPr>
        </p:nvSpPr>
        <p:spPr bwMode="auto"/>
        <p:txBody>
          <a:bodyPr/>
          <a:lstStyle/>
          <a:p>
            <a:pPr>
              <a:defRPr/>
            </a:pPr>
            <a:fld id="{1D8BD707-D9CF-40AE-B4C6-C98DA3205C09}" type="datetimeFigureOut">
              <a:rPr lang="en-US"/>
              <a:t>9/10/2026</a:t>
            </a:fld>
            <a:endParaRPr lang="en-US"/>
          </a:p>
        </p:txBody>
      </p:sp>
      <p:sp>
        <p:nvSpPr>
          <p:cNvPr id="1826555783" name="Footer Placeholder 4"/>
          <p:cNvSpPr>
            <a:spLocks noGrp="1"/>
          </p:cNvSpPr>
          <p:nvPr>
            <p:ph type="ftr" sz="quarter" idx="11"/>
          </p:nvPr>
        </p:nvSpPr>
        <p:spPr bwMode="auto"/>
        <p:txBody>
          <a:bodyPr/>
          <a:lstStyle/>
          <a:p>
            <a:pPr>
              <a:defRPr/>
            </a:pPr>
            <a:endParaRPr lang="en-US"/>
          </a:p>
        </p:txBody>
      </p:sp>
      <p:sp>
        <p:nvSpPr>
          <p:cNvPr id="992753861"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type="twoObj" preserve="1" userDrawn="1">
  <p:cSld name="Two Content">
    <p:spTree>
      <p:nvGrpSpPr>
        <p:cNvPr id="1" name=""/>
        <p:cNvGrpSpPr/>
        <p:nvPr/>
      </p:nvGrpSpPr>
      <p:grpSpPr bwMode="auto">
        <a:xfrm>
          <a:off x="0" y="0"/>
          <a:ext cx="0" cy="0"/>
          <a:chOff x="0" y="0"/>
          <a:chExt cx="0" cy="0"/>
        </a:xfrm>
      </p:grpSpPr>
      <p:sp>
        <p:nvSpPr>
          <p:cNvPr id="937482044" name="Title 1"/>
          <p:cNvSpPr>
            <a:spLocks noGrp="1"/>
          </p:cNvSpPr>
          <p:nvPr>
            <p:ph type="title"/>
          </p:nvPr>
        </p:nvSpPr>
        <p:spPr bwMode="auto"/>
        <p:txBody>
          <a:bodyPr/>
          <a:lstStyle/>
          <a:p>
            <a:pPr>
              <a:defRPr/>
            </a:pPr>
            <a:r>
              <a:rPr lang="en-US"/>
              <a:t>Click to edit Master title style</a:t>
            </a:r>
          </a:p>
        </p:txBody>
      </p:sp>
      <p:sp>
        <p:nvSpPr>
          <p:cNvPr id="1265853050" name="Content Placeholder 2"/>
          <p:cNvSpPr>
            <a:spLocks noGrp="1"/>
          </p:cNvSpPr>
          <p:nvPr>
            <p:ph sz="half" idx="1"/>
          </p:nvPr>
        </p:nvSpPr>
        <p:spPr bwMode="auto">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1232933178" name="Content Placeholder 3"/>
          <p:cNvSpPr>
            <a:spLocks noGrp="1"/>
          </p:cNvSpPr>
          <p:nvPr>
            <p:ph sz="half" idx="2"/>
          </p:nvPr>
        </p:nvSpPr>
        <p:spPr bwMode="auto">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1495371953" name="Date Placeholder 4"/>
          <p:cNvSpPr>
            <a:spLocks noGrp="1"/>
          </p:cNvSpPr>
          <p:nvPr>
            <p:ph type="dt" sz="half" idx="10"/>
          </p:nvPr>
        </p:nvSpPr>
        <p:spPr bwMode="auto"/>
        <p:txBody>
          <a:bodyPr/>
          <a:lstStyle/>
          <a:p>
            <a:pPr>
              <a:defRPr/>
            </a:pPr>
            <a:fld id="{1D8BD707-D9CF-40AE-B4C6-C98DA3205C09}" type="datetimeFigureOut">
              <a:rPr lang="en-US"/>
              <a:t>9/10/2026</a:t>
            </a:fld>
            <a:endParaRPr lang="en-US"/>
          </a:p>
        </p:txBody>
      </p:sp>
      <p:sp>
        <p:nvSpPr>
          <p:cNvPr id="1837426023" name="Footer Placeholder 5"/>
          <p:cNvSpPr>
            <a:spLocks noGrp="1"/>
          </p:cNvSpPr>
          <p:nvPr>
            <p:ph type="ftr" sz="quarter" idx="11"/>
          </p:nvPr>
        </p:nvSpPr>
        <p:spPr bwMode="auto"/>
        <p:txBody>
          <a:bodyPr/>
          <a:lstStyle/>
          <a:p>
            <a:pPr>
              <a:defRPr/>
            </a:pPr>
            <a:endParaRPr lang="en-US"/>
          </a:p>
        </p:txBody>
      </p:sp>
      <p:sp>
        <p:nvSpPr>
          <p:cNvPr id="18366523" name="Slide Number Placeholder 6"/>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type="twoTxTwoObj" preserve="1" userDrawn="1">
  <p:cSld name="Comparison">
    <p:spTree>
      <p:nvGrpSpPr>
        <p:cNvPr id="1" name=""/>
        <p:cNvGrpSpPr/>
        <p:nvPr/>
      </p:nvGrpSpPr>
      <p:grpSpPr bwMode="auto">
        <a:xfrm>
          <a:off x="0" y="0"/>
          <a:ext cx="0" cy="0"/>
          <a:chOff x="0" y="0"/>
          <a:chExt cx="0" cy="0"/>
        </a:xfrm>
      </p:grpSpPr>
      <p:sp>
        <p:nvSpPr>
          <p:cNvPr id="1848014492" name="Title 1"/>
          <p:cNvSpPr>
            <a:spLocks noGrp="1"/>
          </p:cNvSpPr>
          <p:nvPr>
            <p:ph type="title"/>
          </p:nvPr>
        </p:nvSpPr>
        <p:spPr bwMode="auto"/>
        <p:txBody>
          <a:bodyPr/>
          <a:lstStyle>
            <a:lvl1pPr>
              <a:defRPr/>
            </a:lvl1pPr>
          </a:lstStyle>
          <a:p>
            <a:pPr>
              <a:defRPr/>
            </a:pPr>
            <a:r>
              <a:rPr lang="en-US"/>
              <a:t>Click to edit Master title style</a:t>
            </a:r>
          </a:p>
        </p:txBody>
      </p:sp>
      <p:sp>
        <p:nvSpPr>
          <p:cNvPr id="1783476345" name="Text Placeholder 2"/>
          <p:cNvSpPr>
            <a:spLocks noGrp="1"/>
          </p:cNvSpPr>
          <p:nvPr>
            <p:ph type="body" idx="1"/>
          </p:nvPr>
        </p:nvSpPr>
        <p:spPr bwMode="auto">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304206998" name="Content Placeholder 3"/>
          <p:cNvSpPr>
            <a:spLocks noGrp="1"/>
          </p:cNvSpPr>
          <p:nvPr>
            <p:ph sz="half" idx="2"/>
          </p:nvPr>
        </p:nvSpPr>
        <p:spPr bwMode="auto">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1335518200" name="Text Placeholder 4"/>
          <p:cNvSpPr>
            <a:spLocks noGrp="1"/>
          </p:cNvSpPr>
          <p:nvPr>
            <p:ph type="body" sz="quarter" idx="3"/>
          </p:nvPr>
        </p:nvSpPr>
        <p:spPr bwMode="auto">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592460352" name="Content Placeholder 5"/>
          <p:cNvSpPr>
            <a:spLocks noGrp="1"/>
          </p:cNvSpPr>
          <p:nvPr>
            <p:ph sz="quarter" idx="4"/>
          </p:nvPr>
        </p:nvSpPr>
        <p:spPr bwMode="auto">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1276946523" name="Date Placeholder 6"/>
          <p:cNvSpPr>
            <a:spLocks noGrp="1"/>
          </p:cNvSpPr>
          <p:nvPr>
            <p:ph type="dt" sz="half" idx="10"/>
          </p:nvPr>
        </p:nvSpPr>
        <p:spPr bwMode="auto"/>
        <p:txBody>
          <a:bodyPr/>
          <a:lstStyle/>
          <a:p>
            <a:pPr>
              <a:defRPr/>
            </a:pPr>
            <a:fld id="{1D8BD707-D9CF-40AE-B4C6-C98DA3205C09}" type="datetimeFigureOut">
              <a:rPr lang="en-US"/>
              <a:t>9/10/2026</a:t>
            </a:fld>
            <a:endParaRPr lang="en-US"/>
          </a:p>
        </p:txBody>
      </p:sp>
      <p:sp>
        <p:nvSpPr>
          <p:cNvPr id="506600156" name="Footer Placeholder 7"/>
          <p:cNvSpPr>
            <a:spLocks noGrp="1"/>
          </p:cNvSpPr>
          <p:nvPr>
            <p:ph type="ftr" sz="quarter" idx="11"/>
          </p:nvPr>
        </p:nvSpPr>
        <p:spPr bwMode="auto"/>
        <p:txBody>
          <a:bodyPr/>
          <a:lstStyle/>
          <a:p>
            <a:pPr>
              <a:defRPr/>
            </a:pPr>
            <a:endParaRPr lang="en-US"/>
          </a:p>
        </p:txBody>
      </p:sp>
      <p:sp>
        <p:nvSpPr>
          <p:cNvPr id="1649187633" name="Slide Number Placeholder 8"/>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type="titleOnly" preserve="1" userDrawn="1">
  <p:cSld name="Title Only">
    <p:spTree>
      <p:nvGrpSpPr>
        <p:cNvPr id="1" name=""/>
        <p:cNvGrpSpPr/>
        <p:nvPr/>
      </p:nvGrpSpPr>
      <p:grpSpPr bwMode="auto">
        <a:xfrm>
          <a:off x="0" y="0"/>
          <a:ext cx="0" cy="0"/>
          <a:chOff x="0" y="0"/>
          <a:chExt cx="0" cy="0"/>
        </a:xfrm>
      </p:grpSpPr>
      <p:sp>
        <p:nvSpPr>
          <p:cNvPr id="340583821" name="Title 1"/>
          <p:cNvSpPr>
            <a:spLocks noGrp="1"/>
          </p:cNvSpPr>
          <p:nvPr>
            <p:ph type="title"/>
          </p:nvPr>
        </p:nvSpPr>
        <p:spPr bwMode="auto"/>
        <p:txBody>
          <a:bodyPr/>
          <a:lstStyle/>
          <a:p>
            <a:pPr>
              <a:defRPr/>
            </a:pPr>
            <a:r>
              <a:rPr lang="en-US"/>
              <a:t>Click to edit Master title style</a:t>
            </a:r>
          </a:p>
        </p:txBody>
      </p:sp>
      <p:sp>
        <p:nvSpPr>
          <p:cNvPr id="2034737177" name="Date Placeholder 2"/>
          <p:cNvSpPr>
            <a:spLocks noGrp="1"/>
          </p:cNvSpPr>
          <p:nvPr>
            <p:ph type="dt" sz="half" idx="10"/>
          </p:nvPr>
        </p:nvSpPr>
        <p:spPr bwMode="auto"/>
        <p:txBody>
          <a:bodyPr/>
          <a:lstStyle/>
          <a:p>
            <a:pPr>
              <a:defRPr/>
            </a:pPr>
            <a:fld id="{1D8BD707-D9CF-40AE-B4C6-C98DA3205C09}" type="datetimeFigureOut">
              <a:rPr lang="en-US"/>
              <a:t>9/10/2026</a:t>
            </a:fld>
            <a:endParaRPr lang="en-US"/>
          </a:p>
        </p:txBody>
      </p:sp>
      <p:sp>
        <p:nvSpPr>
          <p:cNvPr id="680021110" name="Footer Placeholder 3"/>
          <p:cNvSpPr>
            <a:spLocks noGrp="1"/>
          </p:cNvSpPr>
          <p:nvPr>
            <p:ph type="ftr" sz="quarter" idx="11"/>
          </p:nvPr>
        </p:nvSpPr>
        <p:spPr bwMode="auto"/>
        <p:txBody>
          <a:bodyPr/>
          <a:lstStyle/>
          <a:p>
            <a:pPr>
              <a:defRPr/>
            </a:pPr>
            <a:endParaRPr lang="en-US"/>
          </a:p>
        </p:txBody>
      </p:sp>
      <p:sp>
        <p:nvSpPr>
          <p:cNvPr id="1656985356" name="Slide Number Placeholder 4"/>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type="blank" preserve="1" userDrawn="1">
  <p:cSld name="Blank">
    <p:spTree>
      <p:nvGrpSpPr>
        <p:cNvPr id="1" name=""/>
        <p:cNvGrpSpPr/>
        <p:nvPr/>
      </p:nvGrpSpPr>
      <p:grpSpPr bwMode="auto">
        <a:xfrm>
          <a:off x="0" y="0"/>
          <a:ext cx="0" cy="0"/>
          <a:chOff x="0" y="0"/>
          <a:chExt cx="0" cy="0"/>
        </a:xfrm>
      </p:grpSpPr>
      <p:sp>
        <p:nvSpPr>
          <p:cNvPr id="2023934048" name="Date Placeholder 1"/>
          <p:cNvSpPr>
            <a:spLocks noGrp="1"/>
          </p:cNvSpPr>
          <p:nvPr>
            <p:ph type="dt" sz="half" idx="10"/>
          </p:nvPr>
        </p:nvSpPr>
        <p:spPr bwMode="auto"/>
        <p:txBody>
          <a:bodyPr/>
          <a:lstStyle/>
          <a:p>
            <a:pPr>
              <a:defRPr/>
            </a:pPr>
            <a:fld id="{1D8BD707-D9CF-40AE-B4C6-C98DA3205C09}" type="datetimeFigureOut">
              <a:rPr lang="en-US"/>
              <a:t>9/10/2026</a:t>
            </a:fld>
            <a:endParaRPr lang="en-US"/>
          </a:p>
        </p:txBody>
      </p:sp>
      <p:sp>
        <p:nvSpPr>
          <p:cNvPr id="1707012435" name="Footer Placeholder 2"/>
          <p:cNvSpPr>
            <a:spLocks noGrp="1"/>
          </p:cNvSpPr>
          <p:nvPr>
            <p:ph type="ftr" sz="quarter" idx="11"/>
          </p:nvPr>
        </p:nvSpPr>
        <p:spPr bwMode="auto"/>
        <p:txBody>
          <a:bodyPr/>
          <a:lstStyle/>
          <a:p>
            <a:pPr>
              <a:defRPr/>
            </a:pPr>
            <a:endParaRPr lang="en-US"/>
          </a:p>
        </p:txBody>
      </p:sp>
      <p:sp>
        <p:nvSpPr>
          <p:cNvPr id="1706279500" name="Slide Number Placeholder 3"/>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type="objTx" preserve="1" userDrawn="1">
  <p:cSld name="Content with Caption">
    <p:spTree>
      <p:nvGrpSpPr>
        <p:cNvPr id="1" name=""/>
        <p:cNvGrpSpPr/>
        <p:nvPr/>
      </p:nvGrpSpPr>
      <p:grpSpPr bwMode="auto">
        <a:xfrm>
          <a:off x="0" y="0"/>
          <a:ext cx="0" cy="0"/>
          <a:chOff x="0" y="0"/>
          <a:chExt cx="0" cy="0"/>
        </a:xfrm>
      </p:grpSpPr>
      <p:sp>
        <p:nvSpPr>
          <p:cNvPr id="412961339" name="Title 1"/>
          <p:cNvSpPr>
            <a:spLocks noGrp="1"/>
          </p:cNvSpPr>
          <p:nvPr>
            <p:ph type="title"/>
          </p:nvPr>
        </p:nvSpPr>
        <p:spPr bwMode="auto">
          <a:xfrm>
            <a:off x="457200" y="273050"/>
            <a:ext cx="3008313" cy="1162050"/>
          </a:xfrm>
        </p:spPr>
        <p:txBody>
          <a:bodyPr anchor="b"/>
          <a:lstStyle>
            <a:lvl1pPr algn="l">
              <a:defRPr sz="2000" b="1"/>
            </a:lvl1pPr>
          </a:lstStyle>
          <a:p>
            <a:pPr>
              <a:defRPr/>
            </a:pPr>
            <a:r>
              <a:rPr lang="en-US"/>
              <a:t>Click to edit Master title style</a:t>
            </a:r>
          </a:p>
        </p:txBody>
      </p:sp>
      <p:sp>
        <p:nvSpPr>
          <p:cNvPr id="1788038723" name="Content Placeholder 2"/>
          <p:cNvSpPr>
            <a:spLocks noGrp="1"/>
          </p:cNvSpPr>
          <p:nvPr>
            <p:ph idx="1"/>
          </p:nvPr>
        </p:nvSpPr>
        <p:spPr bwMode="auto">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1226037185" name="Text Placeholder 3"/>
          <p:cNvSpPr>
            <a:spLocks noGrp="1"/>
          </p:cNvSpPr>
          <p:nvPr>
            <p:ph type="body" sz="half" idx="2"/>
          </p:nvPr>
        </p:nvSpPr>
        <p:spPr bwMode="auto">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1865519607" name="Date Placeholder 4"/>
          <p:cNvSpPr>
            <a:spLocks noGrp="1"/>
          </p:cNvSpPr>
          <p:nvPr>
            <p:ph type="dt" sz="half" idx="10"/>
          </p:nvPr>
        </p:nvSpPr>
        <p:spPr bwMode="auto"/>
        <p:txBody>
          <a:bodyPr/>
          <a:lstStyle/>
          <a:p>
            <a:pPr>
              <a:defRPr/>
            </a:pPr>
            <a:fld id="{1D8BD707-D9CF-40AE-B4C6-C98DA3205C09}" type="datetimeFigureOut">
              <a:rPr lang="en-US"/>
              <a:t>9/10/2026</a:t>
            </a:fld>
            <a:endParaRPr lang="en-US"/>
          </a:p>
        </p:txBody>
      </p:sp>
      <p:sp>
        <p:nvSpPr>
          <p:cNvPr id="1666065274" name="Footer Placeholder 5"/>
          <p:cNvSpPr>
            <a:spLocks noGrp="1"/>
          </p:cNvSpPr>
          <p:nvPr>
            <p:ph type="ftr" sz="quarter" idx="11"/>
          </p:nvPr>
        </p:nvSpPr>
        <p:spPr bwMode="auto"/>
        <p:txBody>
          <a:bodyPr/>
          <a:lstStyle/>
          <a:p>
            <a:pPr>
              <a:defRPr/>
            </a:pPr>
            <a:endParaRPr lang="en-US"/>
          </a:p>
        </p:txBody>
      </p:sp>
      <p:sp>
        <p:nvSpPr>
          <p:cNvPr id="791689356" name="Slide Number Placeholder 6"/>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type="picTx" preserve="1" userDrawn="1">
  <p:cSld name="Picture with Caption">
    <p:spTree>
      <p:nvGrpSpPr>
        <p:cNvPr id="1" name=""/>
        <p:cNvGrpSpPr/>
        <p:nvPr/>
      </p:nvGrpSpPr>
      <p:grpSpPr bwMode="auto">
        <a:xfrm>
          <a:off x="0" y="0"/>
          <a:ext cx="0" cy="0"/>
          <a:chOff x="0" y="0"/>
          <a:chExt cx="0" cy="0"/>
        </a:xfrm>
      </p:grpSpPr>
      <p:sp>
        <p:nvSpPr>
          <p:cNvPr id="1305816557" name="Title 1"/>
          <p:cNvSpPr>
            <a:spLocks noGrp="1"/>
          </p:cNvSpPr>
          <p:nvPr>
            <p:ph type="title"/>
          </p:nvPr>
        </p:nvSpPr>
        <p:spPr bwMode="auto">
          <a:xfrm>
            <a:off x="1792288" y="4800600"/>
            <a:ext cx="5486400" cy="566738"/>
          </a:xfrm>
        </p:spPr>
        <p:txBody>
          <a:bodyPr anchor="b"/>
          <a:lstStyle>
            <a:lvl1pPr algn="l">
              <a:defRPr sz="2000" b="1"/>
            </a:lvl1pPr>
          </a:lstStyle>
          <a:p>
            <a:pPr>
              <a:defRPr/>
            </a:pPr>
            <a:r>
              <a:rPr lang="en-US"/>
              <a:t>Click to edit Master title style</a:t>
            </a:r>
          </a:p>
        </p:txBody>
      </p:sp>
      <p:sp>
        <p:nvSpPr>
          <p:cNvPr id="1878326850" name="Picture Placeholder 2"/>
          <p:cNvSpPr>
            <a:spLocks noGrp="1"/>
          </p:cNvSpPr>
          <p:nvPr>
            <p:ph type="pic" idx="1"/>
          </p:nvPr>
        </p:nvSpPr>
        <p:spPr bwMode="auto">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en-US"/>
          </a:p>
        </p:txBody>
      </p:sp>
      <p:sp>
        <p:nvSpPr>
          <p:cNvPr id="77690693" name="Text Placeholder 3"/>
          <p:cNvSpPr>
            <a:spLocks noGrp="1"/>
          </p:cNvSpPr>
          <p:nvPr>
            <p:ph type="body" sz="half" idx="2"/>
          </p:nvPr>
        </p:nvSpPr>
        <p:spPr bwMode="auto">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1436388679" name="Date Placeholder 4"/>
          <p:cNvSpPr>
            <a:spLocks noGrp="1"/>
          </p:cNvSpPr>
          <p:nvPr>
            <p:ph type="dt" sz="half" idx="10"/>
          </p:nvPr>
        </p:nvSpPr>
        <p:spPr bwMode="auto"/>
        <p:txBody>
          <a:bodyPr/>
          <a:lstStyle/>
          <a:p>
            <a:pPr>
              <a:defRPr/>
            </a:pPr>
            <a:fld id="{1D8BD707-D9CF-40AE-B4C6-C98DA3205C09}" type="datetimeFigureOut">
              <a:rPr lang="en-US"/>
              <a:t>9/10/2026</a:t>
            </a:fld>
            <a:endParaRPr lang="en-US"/>
          </a:p>
        </p:txBody>
      </p:sp>
      <p:sp>
        <p:nvSpPr>
          <p:cNvPr id="217540648" name="Footer Placeholder 5"/>
          <p:cNvSpPr>
            <a:spLocks noGrp="1"/>
          </p:cNvSpPr>
          <p:nvPr>
            <p:ph type="ftr" sz="quarter" idx="11"/>
          </p:nvPr>
        </p:nvSpPr>
        <p:spPr bwMode="auto"/>
        <p:txBody>
          <a:bodyPr/>
          <a:lstStyle/>
          <a:p>
            <a:pPr>
              <a:defRPr/>
            </a:pPr>
            <a:endParaRPr lang="en-US"/>
          </a:p>
        </p:txBody>
      </p:sp>
      <p:sp>
        <p:nvSpPr>
          <p:cNvPr id="1602504352" name="Slide Number Placeholder 6"/>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type="vertTx" preserve="1" userDrawn="1">
  <p:cSld name="Title and Vertical Text">
    <p:spTree>
      <p:nvGrpSpPr>
        <p:cNvPr id="1" name=""/>
        <p:cNvGrpSpPr/>
        <p:nvPr/>
      </p:nvGrpSpPr>
      <p:grpSpPr bwMode="auto">
        <a:xfrm>
          <a:off x="0" y="0"/>
          <a:ext cx="0" cy="0"/>
          <a:chOff x="0" y="0"/>
          <a:chExt cx="0" cy="0"/>
        </a:xfrm>
      </p:grpSpPr>
      <p:sp>
        <p:nvSpPr>
          <p:cNvPr id="482520203" name="Title 1"/>
          <p:cNvSpPr>
            <a:spLocks noGrp="1"/>
          </p:cNvSpPr>
          <p:nvPr>
            <p:ph type="title"/>
          </p:nvPr>
        </p:nvSpPr>
        <p:spPr bwMode="auto"/>
        <p:txBody>
          <a:bodyPr/>
          <a:lstStyle/>
          <a:p>
            <a:pPr>
              <a:defRPr/>
            </a:pPr>
            <a:r>
              <a:rPr lang="en-US"/>
              <a:t>Click to edit Master title style</a:t>
            </a:r>
          </a:p>
        </p:txBody>
      </p:sp>
      <p:sp>
        <p:nvSpPr>
          <p:cNvPr id="595020936"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829497649" name="Date Placeholder 3"/>
          <p:cNvSpPr>
            <a:spLocks noGrp="1"/>
          </p:cNvSpPr>
          <p:nvPr>
            <p:ph type="dt" sz="half" idx="10"/>
          </p:nvPr>
        </p:nvSpPr>
        <p:spPr bwMode="auto"/>
        <p:txBody>
          <a:bodyPr/>
          <a:lstStyle/>
          <a:p>
            <a:pPr>
              <a:defRPr/>
            </a:pPr>
            <a:fld id="{1D8BD707-D9CF-40AE-B4C6-C98DA3205C09}" type="datetimeFigureOut">
              <a:rPr lang="en-US"/>
              <a:t>9/10/2026</a:t>
            </a:fld>
            <a:endParaRPr lang="en-US"/>
          </a:p>
        </p:txBody>
      </p:sp>
      <p:sp>
        <p:nvSpPr>
          <p:cNvPr id="1410164958" name="Footer Placeholder 4"/>
          <p:cNvSpPr>
            <a:spLocks noGrp="1"/>
          </p:cNvSpPr>
          <p:nvPr>
            <p:ph type="ftr" sz="quarter" idx="11"/>
          </p:nvPr>
        </p:nvSpPr>
        <p:spPr bwMode="auto"/>
        <p:txBody>
          <a:bodyPr/>
          <a:lstStyle/>
          <a:p>
            <a:pPr>
              <a:defRPr/>
            </a:pPr>
            <a:endParaRPr lang="en-US"/>
          </a:p>
        </p:txBody>
      </p:sp>
      <p:sp>
        <p:nvSpPr>
          <p:cNvPr id="529685802"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type="vertTitleAndTx" preserve="1" userDrawn="1">
  <p:cSld name="Vertical Title and Text">
    <p:spTree>
      <p:nvGrpSpPr>
        <p:cNvPr id="1" name=""/>
        <p:cNvGrpSpPr/>
        <p:nvPr/>
      </p:nvGrpSpPr>
      <p:grpSpPr bwMode="auto">
        <a:xfrm>
          <a:off x="0" y="0"/>
          <a:ext cx="0" cy="0"/>
          <a:chOff x="0" y="0"/>
          <a:chExt cx="0" cy="0"/>
        </a:xfrm>
      </p:grpSpPr>
      <p:sp>
        <p:nvSpPr>
          <p:cNvPr id="1145554406" name="Vertical Title 1"/>
          <p:cNvSpPr>
            <a:spLocks noGrp="1"/>
          </p:cNvSpPr>
          <p:nvPr>
            <p:ph type="title" orient="vert"/>
          </p:nvPr>
        </p:nvSpPr>
        <p:spPr bwMode="auto">
          <a:xfrm>
            <a:off x="6629400" y="274638"/>
            <a:ext cx="2057400" cy="5851525"/>
          </a:xfrm>
        </p:spPr>
        <p:txBody>
          <a:bodyPr vert="eaVert"/>
          <a:lstStyle/>
          <a:p>
            <a:pPr>
              <a:defRPr/>
            </a:pPr>
            <a:r>
              <a:rPr lang="en-US"/>
              <a:t>Click to edit Master title style</a:t>
            </a:r>
          </a:p>
        </p:txBody>
      </p:sp>
      <p:sp>
        <p:nvSpPr>
          <p:cNvPr id="1338402810" name="Vertical Text Placeholder 2"/>
          <p:cNvSpPr>
            <a:spLocks noGrp="1"/>
          </p:cNvSpPr>
          <p:nvPr>
            <p:ph type="body" orient="vert" idx="1"/>
          </p:nvPr>
        </p:nvSpPr>
        <p:spPr bwMode="auto">
          <a:xfrm>
            <a:off x="457200" y="274638"/>
            <a:ext cx="6019800" cy="5851525"/>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2059284394" name="Date Placeholder 3"/>
          <p:cNvSpPr>
            <a:spLocks noGrp="1"/>
          </p:cNvSpPr>
          <p:nvPr>
            <p:ph type="dt" sz="half" idx="10"/>
          </p:nvPr>
        </p:nvSpPr>
        <p:spPr bwMode="auto"/>
        <p:txBody>
          <a:bodyPr/>
          <a:lstStyle/>
          <a:p>
            <a:pPr>
              <a:defRPr/>
            </a:pPr>
            <a:fld id="{1D8BD707-D9CF-40AE-B4C6-C98DA3205C09}" type="datetimeFigureOut">
              <a:rPr lang="en-US"/>
              <a:t>9/10/2026</a:t>
            </a:fld>
            <a:endParaRPr lang="en-US"/>
          </a:p>
        </p:txBody>
      </p:sp>
      <p:sp>
        <p:nvSpPr>
          <p:cNvPr id="1449610739" name="Footer Placeholder 4"/>
          <p:cNvSpPr>
            <a:spLocks noGrp="1"/>
          </p:cNvSpPr>
          <p:nvPr>
            <p:ph type="ftr" sz="quarter" idx="11"/>
          </p:nvPr>
        </p:nvSpPr>
        <p:spPr bwMode="auto"/>
        <p:txBody>
          <a:bodyPr/>
          <a:lstStyle/>
          <a:p>
            <a:pPr>
              <a:defRPr/>
            </a:pPr>
            <a:endParaRPr lang="en-US"/>
          </a:p>
        </p:txBody>
      </p:sp>
      <p:sp>
        <p:nvSpPr>
          <p:cNvPr id="595213116"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1794307920" name="Title Placeholder 1"/>
          <p:cNvSpPr>
            <a:spLocks noGrp="1"/>
          </p:cNvSpPr>
          <p:nvPr>
            <p:ph type="title"/>
          </p:nvPr>
        </p:nvSpPr>
        <p:spPr bwMode="auto">
          <a:xfrm>
            <a:off x="457200" y="274638"/>
            <a:ext cx="8229600" cy="1143000"/>
          </a:xfrm>
          <a:prstGeom prst="rect">
            <a:avLst/>
          </a:prstGeom>
        </p:spPr>
        <p:txBody>
          <a:bodyPr vert="horz" lIns="91440" tIns="45720" rIns="91440" bIns="45720" rtlCol="0" anchor="ctr">
            <a:normAutofit/>
          </a:bodyPr>
          <a:lstStyle/>
          <a:p>
            <a:pPr>
              <a:defRPr/>
            </a:pPr>
            <a:r>
              <a:rPr lang="en-US"/>
              <a:t>Click to edit Master title style</a:t>
            </a:r>
          </a:p>
        </p:txBody>
      </p:sp>
      <p:sp>
        <p:nvSpPr>
          <p:cNvPr id="371837277" name="Text Placeholder 2"/>
          <p:cNvSpPr>
            <a:spLocks noGrp="1"/>
          </p:cNvSpPr>
          <p:nvPr>
            <p:ph type="body" idx="1"/>
          </p:nvPr>
        </p:nvSpPr>
        <p:spPr bwMode="auto">
          <a:xfrm>
            <a:off x="457200" y="1600200"/>
            <a:ext cx="8229600" cy="4525963"/>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1054770817" name="Date Placeholder 3"/>
          <p:cNvSpPr>
            <a:spLocks noGrp="1"/>
          </p:cNvSpPr>
          <p:nvPr>
            <p:ph type="dt" sz="half" idx="2"/>
          </p:nvPr>
        </p:nvSpPr>
        <p:spPr bwMode="auto">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1D8BD707-D9CF-40AE-B4C6-C98DA3205C09}" type="datetimeFigureOut">
              <a:rPr lang="en-US"/>
              <a:t>9/10/2026</a:t>
            </a:fld>
            <a:endParaRPr lang="en-US"/>
          </a:p>
        </p:txBody>
      </p:sp>
      <p:sp>
        <p:nvSpPr>
          <p:cNvPr id="617940955" name="Footer Placeholder 4"/>
          <p:cNvSpPr>
            <a:spLocks noGrp="1"/>
          </p:cNvSpPr>
          <p:nvPr>
            <p:ph type="ftr" sz="quarter" idx="3"/>
          </p:nvPr>
        </p:nvSpPr>
        <p:spPr bwMode="auto">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480009674" name="Slide Number Placeholder 5"/>
          <p:cNvSpPr>
            <a:spLocks noGrp="1"/>
          </p:cNvSpPr>
          <p:nvPr>
            <p:ph type="sldNum" sz="quarter" idx="4"/>
          </p:nvPr>
        </p:nvSpPr>
        <p:spPr bwMode="auto">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B6F15528-21DE-4FAA-801E-634DDDAF4B2B}"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a:spcBef>
          <a:spcPts val="0"/>
        </a:spcBef>
        <a:buNone/>
        <a:defRPr sz="4400">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oleObject" Target="../embeddings/oleObject1.bin"/><Relationship Id="rId4" Type="http://schemas.openxmlformats.org/officeDocument/2006/relationships/image" Target="../media/image3.jp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oleObject" Target="../embeddings/oleObject2.bin"/><Relationship Id="rId4" Type="http://schemas.openxmlformats.org/officeDocument/2006/relationships/image" Target="../media/image3.jp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982802421" name="Freeform 2"/>
          <p:cNvSpPr/>
          <p:nvPr/>
        </p:nvSpPr>
        <p:spPr bwMode="auto">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stretch>
              <a:fillRect/>
            </a:stretch>
          </a:blipFill>
        </p:spPr>
        <p:txBody>
          <a:bodyPr/>
          <a:lstStyle/>
          <a:p>
            <a:endParaRPr lang="en-US"/>
          </a:p>
        </p:txBody>
      </p:sp>
      <p:grpSp>
        <p:nvGrpSpPr>
          <p:cNvPr id="81426272" name="Group 3"/>
          <p:cNvGrpSpPr/>
          <p:nvPr/>
        </p:nvGrpSpPr>
        <p:grpSpPr bwMode="auto">
          <a:xfrm>
            <a:off x="666207" y="500005"/>
            <a:ext cx="3379527" cy="963035"/>
            <a:chOff x="0" y="0"/>
            <a:chExt cx="4506036" cy="1284046"/>
          </a:xfrm>
        </p:grpSpPr>
        <p:sp>
          <p:nvSpPr>
            <p:cNvPr id="4" name="Freeform 4" descr="White text on a black background  AI-generated content may be incorrect."/>
            <p:cNvSpPr/>
            <p:nvPr/>
          </p:nvSpPr>
          <p:spPr bwMode="auto">
            <a:xfrm>
              <a:off x="0" y="0"/>
              <a:ext cx="4506087" cy="1284097"/>
            </a:xfrm>
            <a:custGeom>
              <a:avLst/>
              <a:gdLst/>
              <a:ahLst/>
              <a:cxnLst/>
              <a:rect l="l" t="t" r="r" b="b"/>
              <a:pathLst>
                <a:path w="4506087" h="1284097" extrusionOk="0">
                  <a:moveTo>
                    <a:pt x="0" y="0"/>
                  </a:moveTo>
                  <a:lnTo>
                    <a:pt x="4506087" y="0"/>
                  </a:lnTo>
                  <a:lnTo>
                    <a:pt x="4506087" y="1284097"/>
                  </a:lnTo>
                  <a:lnTo>
                    <a:pt x="0" y="1284097"/>
                  </a:lnTo>
                  <a:lnTo>
                    <a:pt x="0" y="0"/>
                  </a:lnTo>
                  <a:close/>
                </a:path>
              </a:pathLst>
            </a:custGeom>
            <a:blipFill rotWithShape="1">
              <a:blip r:embed="rId4"/>
              <a:stretch>
                <a:fillRect t="-4" r="1" b="-1"/>
              </a:stretch>
            </a:blipFill>
          </p:spPr>
          <p:txBody>
            <a:bodyPr/>
            <a:lstStyle/>
            <a:p>
              <a:endParaRPr lang="en-US"/>
            </a:p>
          </p:txBody>
        </p:sp>
      </p:grpSp>
      <p:grpSp>
        <p:nvGrpSpPr>
          <p:cNvPr id="765439412" name="Group 5"/>
          <p:cNvGrpSpPr/>
          <p:nvPr/>
        </p:nvGrpSpPr>
        <p:grpSpPr bwMode="auto">
          <a:xfrm>
            <a:off x="2433714" y="1484698"/>
            <a:ext cx="13420573" cy="3537811"/>
            <a:chOff x="0" y="0"/>
            <a:chExt cx="17894097" cy="4717081"/>
          </a:xfrm>
        </p:grpSpPr>
        <p:sp>
          <p:nvSpPr>
            <p:cNvPr id="6" name="Freeform 6"/>
            <p:cNvSpPr/>
            <p:nvPr/>
          </p:nvSpPr>
          <p:spPr bwMode="auto">
            <a:xfrm>
              <a:off x="0" y="0"/>
              <a:ext cx="17894092" cy="4717081"/>
            </a:xfrm>
            <a:custGeom>
              <a:avLst/>
              <a:gdLst/>
              <a:ahLst/>
              <a:cxnLst/>
              <a:rect l="l" t="t" r="r" b="b"/>
              <a:pathLst>
                <a:path w="17894092" h="4717081" extrusionOk="0">
                  <a:moveTo>
                    <a:pt x="0" y="0"/>
                  </a:moveTo>
                  <a:lnTo>
                    <a:pt x="17894092" y="0"/>
                  </a:lnTo>
                  <a:lnTo>
                    <a:pt x="17894092" y="4717081"/>
                  </a:lnTo>
                  <a:lnTo>
                    <a:pt x="0" y="4717081"/>
                  </a:lnTo>
                  <a:close/>
                </a:path>
              </a:pathLst>
            </a:custGeom>
            <a:blipFill rotWithShape="1">
              <a:blip r:embed="rId5">
                <a:alphaModFix amt="0"/>
              </a:blip>
              <a:stretch>
                <a:fillRect t="-23299" b="-24531"/>
              </a:stretch>
            </a:blipFill>
          </p:spPr>
          <p:txBody>
            <a:bodyPr/>
            <a:lstStyle/>
            <a:p>
              <a:endParaRPr lang="en-US"/>
            </a:p>
          </p:txBody>
        </p:sp>
        <p:sp>
          <p:nvSpPr>
            <p:cNvPr id="7" name="TextBox 7"/>
            <p:cNvSpPr txBox="1"/>
            <p:nvPr/>
          </p:nvSpPr>
          <p:spPr bwMode="auto">
            <a:xfrm>
              <a:off x="0" y="-38100"/>
              <a:ext cx="17894097" cy="4755181"/>
            </a:xfrm>
            <a:prstGeom prst="rect">
              <a:avLst/>
            </a:prstGeom>
            <a:grpFill/>
          </p:spPr>
          <p:txBody>
            <a:bodyPr lIns="0" tIns="0" rIns="0" bIns="0" rtlCol="0" anchor="ctr"/>
            <a:lstStyle/>
            <a:p>
              <a:pPr algn="ctr">
                <a:lnSpc>
                  <a:spcPts val="7920"/>
                </a:lnSpc>
                <a:defRPr/>
              </a:pPr>
              <a:r>
                <a:rPr lang="en-US" sz="6600" b="1">
                  <a:solidFill>
                    <a:srgbClr val="FFFFFF"/>
                  </a:solidFill>
                  <a:latin typeface="Times New Roman Bold"/>
                  <a:ea typeface="Times New Roman Bold"/>
                  <a:cs typeface="Times New Roman Bold"/>
                </a:rPr>
                <a:t>ĐỀ TÀI: HỆ THỐNG KIOSK - SÀNG LỌC Y TẾ TỰ ĐỘNG</a:t>
              </a:r>
              <a:endParaRPr/>
            </a:p>
            <a:p>
              <a:pPr algn="ctr">
                <a:lnSpc>
                  <a:spcPts val="7920"/>
                </a:lnSpc>
                <a:defRPr/>
              </a:pPr>
              <a:endParaRPr lang="en-US" sz="6600" b="1">
                <a:solidFill>
                  <a:srgbClr val="FFFFFF"/>
                </a:solidFill>
                <a:latin typeface="Times New Roman Bold"/>
                <a:ea typeface="Times New Roman Bold"/>
                <a:cs typeface="Times New Roman Bold"/>
              </a:endParaRPr>
            </a:p>
          </p:txBody>
        </p:sp>
      </p:grpSp>
      <p:grpSp>
        <p:nvGrpSpPr>
          <p:cNvPr id="1536497475" name="Group 8"/>
          <p:cNvGrpSpPr/>
          <p:nvPr/>
        </p:nvGrpSpPr>
        <p:grpSpPr bwMode="auto">
          <a:xfrm>
            <a:off x="4337521" y="3740074"/>
            <a:ext cx="12921779" cy="1641366"/>
            <a:chOff x="-7437797" y="-7"/>
            <a:chExt cx="22694567" cy="2882737"/>
          </a:xfrm>
        </p:grpSpPr>
        <p:sp>
          <p:nvSpPr>
            <p:cNvPr id="9" name="Freeform 9"/>
            <p:cNvSpPr/>
            <p:nvPr/>
          </p:nvSpPr>
          <p:spPr bwMode="auto">
            <a:xfrm>
              <a:off x="0" y="0"/>
              <a:ext cx="15256770" cy="2882730"/>
            </a:xfrm>
            <a:custGeom>
              <a:avLst/>
              <a:gdLst/>
              <a:ahLst/>
              <a:cxnLst/>
              <a:rect l="l" t="t" r="r" b="b"/>
              <a:pathLst>
                <a:path w="15256770" h="2882730" extrusionOk="0">
                  <a:moveTo>
                    <a:pt x="0" y="0"/>
                  </a:moveTo>
                  <a:lnTo>
                    <a:pt x="15256770" y="0"/>
                  </a:lnTo>
                  <a:lnTo>
                    <a:pt x="15256770" y="2882730"/>
                  </a:lnTo>
                  <a:lnTo>
                    <a:pt x="0" y="2882730"/>
                  </a:lnTo>
                  <a:close/>
                </a:path>
              </a:pathLst>
            </a:custGeom>
            <a:blipFill rotWithShape="1">
              <a:blip r:embed="rId5">
                <a:alphaModFix amt="0"/>
              </a:blip>
              <a:stretch>
                <a:fillRect t="-51528" r="14087" b="-25661"/>
              </a:stretch>
            </a:blipFill>
          </p:spPr>
          <p:txBody>
            <a:bodyPr/>
            <a:lstStyle/>
            <a:p>
              <a:endParaRPr lang="en-US"/>
            </a:p>
          </p:txBody>
        </p:sp>
        <p:sp>
          <p:nvSpPr>
            <p:cNvPr id="10" name="TextBox 10"/>
            <p:cNvSpPr txBox="1"/>
            <p:nvPr/>
          </p:nvSpPr>
          <p:spPr bwMode="auto">
            <a:xfrm>
              <a:off x="-7437797" y="-7"/>
              <a:ext cx="15256771" cy="2863686"/>
            </a:xfrm>
            <a:prstGeom prst="rect">
              <a:avLst/>
            </a:prstGeom>
            <a:grpFill/>
          </p:spPr>
          <p:txBody>
            <a:bodyPr lIns="0" tIns="0" rIns="0" bIns="0" rtlCol="0" anchor="ctr"/>
            <a:lstStyle/>
            <a:p>
              <a:pPr algn="ctr">
                <a:lnSpc>
                  <a:spcPts val="3888"/>
                </a:lnSpc>
                <a:defRPr/>
              </a:pPr>
              <a:r>
                <a:rPr lang="en-US" sz="3600" b="1" dirty="0">
                  <a:solidFill>
                    <a:srgbClr val="FFFFFF"/>
                  </a:solidFill>
                  <a:latin typeface="Times New Roman Bold"/>
                  <a:ea typeface="Times New Roman Bold"/>
                  <a:cs typeface="Times New Roman Bold"/>
                </a:rPr>
                <a:t>MÔN HỌC: </a:t>
              </a:r>
              <a:endParaRPr dirty="0"/>
            </a:p>
            <a:p>
              <a:pPr algn="ctr">
                <a:lnSpc>
                  <a:spcPts val="4211"/>
                </a:lnSpc>
                <a:defRPr/>
              </a:pPr>
              <a:r>
                <a:rPr lang="en-US" sz="3900" b="1" dirty="0">
                  <a:solidFill>
                    <a:srgbClr val="FFFFFF"/>
                  </a:solidFill>
                  <a:latin typeface="Times New Roman Bold"/>
                  <a:ea typeface="Times New Roman Bold"/>
                  <a:cs typeface="Times New Roman Bold"/>
                </a:rPr>
                <a:t>DỰ ÁN KĨ THUẬT NÂNG CAO</a:t>
              </a:r>
              <a:endParaRPr dirty="0"/>
            </a:p>
          </p:txBody>
        </p:sp>
      </p:grpSp>
      <p:grpSp>
        <p:nvGrpSpPr>
          <p:cNvPr id="965363225" name="Group 11"/>
          <p:cNvGrpSpPr/>
          <p:nvPr/>
        </p:nvGrpSpPr>
        <p:grpSpPr bwMode="auto">
          <a:xfrm>
            <a:off x="5157230" y="6029167"/>
            <a:ext cx="11497255" cy="3468527"/>
            <a:chOff x="-5164141" y="0"/>
            <a:chExt cx="16849634" cy="5083250"/>
          </a:xfrm>
        </p:grpSpPr>
        <p:sp>
          <p:nvSpPr>
            <p:cNvPr id="12" name="Freeform 12"/>
            <p:cNvSpPr/>
            <p:nvPr/>
          </p:nvSpPr>
          <p:spPr bwMode="auto">
            <a:xfrm>
              <a:off x="0" y="0"/>
              <a:ext cx="11685493" cy="4910236"/>
            </a:xfrm>
            <a:custGeom>
              <a:avLst/>
              <a:gdLst/>
              <a:ahLst/>
              <a:cxnLst/>
              <a:rect l="l" t="t" r="r" b="b"/>
              <a:pathLst>
                <a:path w="11685494" h="4910236" extrusionOk="0">
                  <a:moveTo>
                    <a:pt x="0" y="0"/>
                  </a:moveTo>
                  <a:lnTo>
                    <a:pt x="11685494" y="0"/>
                  </a:lnTo>
                  <a:lnTo>
                    <a:pt x="11685494" y="4910236"/>
                  </a:lnTo>
                  <a:lnTo>
                    <a:pt x="0" y="4910236"/>
                  </a:lnTo>
                  <a:close/>
                </a:path>
              </a:pathLst>
            </a:custGeom>
            <a:blipFill rotWithShape="1">
              <a:blip r:embed="rId5">
                <a:alphaModFix amt="0"/>
              </a:blip>
              <a:stretch>
                <a:fillRect l="-2590" r="29870" b="32557"/>
              </a:stretch>
            </a:blipFill>
          </p:spPr>
          <p:txBody>
            <a:bodyPr/>
            <a:lstStyle/>
            <a:p>
              <a:endParaRPr lang="en-US"/>
            </a:p>
          </p:txBody>
        </p:sp>
        <p:sp>
          <p:nvSpPr>
            <p:cNvPr id="13" name="TextBox 13"/>
            <p:cNvSpPr txBox="1"/>
            <p:nvPr/>
          </p:nvSpPr>
          <p:spPr bwMode="auto">
            <a:xfrm>
              <a:off x="-5164141" y="49188"/>
              <a:ext cx="11685499" cy="5034062"/>
            </a:xfrm>
            <a:prstGeom prst="rect">
              <a:avLst/>
            </a:prstGeom>
            <a:grpFill/>
          </p:spPr>
          <p:txBody>
            <a:bodyPr lIns="228600" tIns="228600" rIns="228600" bIns="228600" rtlCol="0" anchor="ctr"/>
            <a:lstStyle/>
            <a:p>
              <a:pPr algn="ctr">
                <a:lnSpc>
                  <a:spcPts val="4848"/>
                </a:lnSpc>
                <a:defRPr/>
              </a:pPr>
              <a:r>
                <a:rPr lang="en-US" sz="3200" b="1" dirty="0" err="1">
                  <a:solidFill>
                    <a:srgbClr val="FFFFFF"/>
                  </a:solidFill>
                  <a:latin typeface="Times New Roman Bold"/>
                  <a:ea typeface="Times New Roman Bold"/>
                  <a:cs typeface="Times New Roman Bold"/>
                </a:rPr>
                <a:t>Thành</a:t>
              </a:r>
              <a:r>
                <a:rPr lang="en-US" sz="3200" b="1" dirty="0">
                  <a:solidFill>
                    <a:srgbClr val="FFFFFF"/>
                  </a:solidFill>
                  <a:latin typeface="Times New Roman Bold"/>
                  <a:ea typeface="Times New Roman Bold"/>
                  <a:cs typeface="Times New Roman Bold"/>
                </a:rPr>
                <a:t> </a:t>
              </a:r>
              <a:r>
                <a:rPr lang="en-US" sz="3200" b="1" dirty="0" err="1">
                  <a:solidFill>
                    <a:srgbClr val="FFFFFF"/>
                  </a:solidFill>
                  <a:latin typeface="Times New Roman Bold"/>
                  <a:ea typeface="Times New Roman Bold"/>
                  <a:cs typeface="Times New Roman Bold"/>
                </a:rPr>
                <a:t>viên</a:t>
              </a:r>
              <a:r>
                <a:rPr lang="en-US" sz="3200" b="1" dirty="0">
                  <a:solidFill>
                    <a:srgbClr val="FFFFFF"/>
                  </a:solidFill>
                  <a:latin typeface="Times New Roman Bold"/>
                  <a:ea typeface="Times New Roman Bold"/>
                  <a:cs typeface="Times New Roman Bold"/>
                </a:rPr>
                <a:t> </a:t>
              </a:r>
              <a:r>
                <a:rPr lang="en-US" sz="3200" b="1" dirty="0" err="1">
                  <a:solidFill>
                    <a:srgbClr val="FFFFFF"/>
                  </a:solidFill>
                  <a:latin typeface="Times New Roman Bold"/>
                  <a:ea typeface="Times New Roman Bold"/>
                  <a:cs typeface="Times New Roman Bold"/>
                </a:rPr>
                <a:t>nhóm</a:t>
              </a:r>
              <a:r>
                <a:rPr lang="en-US" sz="3200" b="1" dirty="0">
                  <a:solidFill>
                    <a:srgbClr val="FFFFFF"/>
                  </a:solidFill>
                  <a:latin typeface="Times New Roman Bold"/>
                  <a:ea typeface="Times New Roman Bold"/>
                  <a:cs typeface="Times New Roman Bold"/>
                </a:rPr>
                <a:t> 6: </a:t>
              </a:r>
              <a:endParaRPr dirty="0"/>
            </a:p>
            <a:p>
              <a:pPr algn="l">
                <a:lnSpc>
                  <a:spcPts val="4689"/>
                </a:lnSpc>
                <a:defRPr/>
              </a:pPr>
              <a:r>
                <a:rPr lang="en-US" sz="3200" b="1" dirty="0">
                  <a:solidFill>
                    <a:srgbClr val="FFFFFF"/>
                  </a:solidFill>
                  <a:latin typeface="Times New Roman Bold"/>
                  <a:ea typeface="Times New Roman Bold"/>
                  <a:cs typeface="Times New Roman Bold"/>
                </a:rPr>
                <a:t>Nguyễn Đức </a:t>
              </a:r>
              <a:r>
                <a:rPr lang="en-US" sz="3200" b="1" dirty="0" err="1">
                  <a:solidFill>
                    <a:srgbClr val="FFFFFF"/>
                  </a:solidFill>
                  <a:latin typeface="Times New Roman Bold"/>
                  <a:ea typeface="Times New Roman Bold"/>
                  <a:cs typeface="Times New Roman Bold"/>
                </a:rPr>
                <a:t>Đại</a:t>
              </a:r>
              <a:r>
                <a:rPr lang="en-US" sz="3200" b="1" dirty="0">
                  <a:solidFill>
                    <a:srgbClr val="FFFFFF"/>
                  </a:solidFill>
                  <a:latin typeface="Times New Roman Bold"/>
                  <a:ea typeface="Times New Roman Bold"/>
                  <a:cs typeface="Times New Roman Bold"/>
                </a:rPr>
                <a:t>                       23632531</a:t>
              </a:r>
              <a:endParaRPr dirty="0"/>
            </a:p>
            <a:p>
              <a:pPr algn="l">
                <a:lnSpc>
                  <a:spcPts val="4689"/>
                </a:lnSpc>
                <a:defRPr/>
              </a:pPr>
              <a:r>
                <a:rPr lang="en-US" sz="3200" b="1" dirty="0">
                  <a:solidFill>
                    <a:srgbClr val="FFFFFF"/>
                  </a:solidFill>
                  <a:latin typeface="Times New Roman Bold"/>
                  <a:ea typeface="Times New Roman Bold"/>
                  <a:cs typeface="Times New Roman Bold"/>
                </a:rPr>
                <a:t>Dương Lê Hoàng Phương       23637111</a:t>
              </a:r>
              <a:endParaRPr dirty="0"/>
            </a:p>
            <a:p>
              <a:pPr algn="l">
                <a:lnSpc>
                  <a:spcPts val="4689"/>
                </a:lnSpc>
                <a:defRPr/>
              </a:pPr>
              <a:r>
                <a:rPr lang="en-US" sz="3200" b="1" dirty="0">
                  <a:solidFill>
                    <a:srgbClr val="FFFFFF"/>
                  </a:solidFill>
                  <a:latin typeface="Times New Roman Bold"/>
                  <a:ea typeface="Times New Roman Bold"/>
                  <a:cs typeface="Times New Roman Bold"/>
                </a:rPr>
                <a:t>Trần Lê Tuấn Anh                  23652051</a:t>
              </a:r>
              <a:endParaRPr dirty="0"/>
            </a:p>
            <a:p>
              <a:pPr algn="l">
                <a:lnSpc>
                  <a:spcPts val="4689"/>
                </a:lnSpc>
                <a:defRPr/>
              </a:pPr>
              <a:r>
                <a:rPr lang="en-US" sz="3200" b="1" dirty="0" err="1">
                  <a:solidFill>
                    <a:srgbClr val="FFFFFF"/>
                  </a:solidFill>
                  <a:latin typeface="Times New Roman Bold"/>
                  <a:ea typeface="Times New Roman Bold"/>
                  <a:cs typeface="Times New Roman Bold"/>
                </a:rPr>
                <a:t>Vòng</a:t>
              </a:r>
              <a:r>
                <a:rPr lang="en-US" sz="3200" b="1" dirty="0">
                  <a:solidFill>
                    <a:srgbClr val="FFFFFF"/>
                  </a:solidFill>
                  <a:latin typeface="Times New Roman Bold"/>
                  <a:ea typeface="Times New Roman Bold"/>
                  <a:cs typeface="Times New Roman Bold"/>
                </a:rPr>
                <a:t> </a:t>
              </a:r>
              <a:r>
                <a:rPr lang="en-US" sz="3200" b="1" dirty="0" err="1">
                  <a:solidFill>
                    <a:srgbClr val="FFFFFF"/>
                  </a:solidFill>
                  <a:latin typeface="Times New Roman Bold"/>
                  <a:ea typeface="Times New Roman Bold"/>
                  <a:cs typeface="Times New Roman Bold"/>
                </a:rPr>
                <a:t>Thế</a:t>
              </a:r>
              <a:r>
                <a:rPr lang="en-US" sz="3200" b="1" dirty="0">
                  <a:solidFill>
                    <a:srgbClr val="FFFFFF"/>
                  </a:solidFill>
                  <a:latin typeface="Times New Roman Bold"/>
                  <a:ea typeface="Times New Roman Bold"/>
                  <a:cs typeface="Times New Roman Bold"/>
                </a:rPr>
                <a:t> Kiệt                          23727781</a:t>
              </a:r>
              <a:endParaRPr dirty="0"/>
            </a:p>
          </p:txBody>
        </p:sp>
      </p:grpSp>
      <p:sp>
        <p:nvSpPr>
          <p:cNvPr id="1741987808" name="TextBox 14"/>
          <p:cNvSpPr txBox="1"/>
          <p:nvPr/>
        </p:nvSpPr>
        <p:spPr bwMode="auto">
          <a:xfrm>
            <a:off x="4572000" y="5399862"/>
            <a:ext cx="10893292" cy="566474"/>
          </a:xfrm>
          <a:prstGeom prst="rect">
            <a:avLst/>
          </a:prstGeom>
        </p:spPr>
        <p:txBody>
          <a:bodyPr lIns="0" tIns="0" rIns="0" bIns="0" rtlCol="0" anchor="t">
            <a:spAutoFit/>
          </a:bodyPr>
          <a:lstStyle/>
          <a:p>
            <a:pPr algn="l">
              <a:lnSpc>
                <a:spcPts val="4477"/>
              </a:lnSpc>
              <a:defRPr/>
            </a:pPr>
            <a:r>
              <a:rPr lang="en-US" sz="3200" b="1" spc="204" dirty="0" err="1">
                <a:solidFill>
                  <a:srgbClr val="FFFFFF"/>
                </a:solidFill>
                <a:latin typeface="Times New Roman Bold"/>
                <a:ea typeface="Times New Roman Bold"/>
                <a:cs typeface="Times New Roman Bold"/>
              </a:rPr>
              <a:t>Giảng</a:t>
            </a:r>
            <a:r>
              <a:rPr lang="en-US" sz="3200" b="1" spc="204" dirty="0">
                <a:solidFill>
                  <a:srgbClr val="FFFFFF"/>
                </a:solidFill>
                <a:latin typeface="Times New Roman Bold"/>
                <a:ea typeface="Times New Roman Bold"/>
                <a:cs typeface="Times New Roman Bold"/>
              </a:rPr>
              <a:t> </a:t>
            </a:r>
            <a:r>
              <a:rPr lang="en-US" sz="3200" b="1" spc="204" dirty="0" err="1">
                <a:solidFill>
                  <a:srgbClr val="FFFFFF"/>
                </a:solidFill>
                <a:latin typeface="Times New Roman Bold"/>
                <a:ea typeface="Times New Roman Bold"/>
                <a:cs typeface="Times New Roman Bold"/>
              </a:rPr>
              <a:t>viên</a:t>
            </a:r>
            <a:r>
              <a:rPr lang="en-US" sz="3200" b="1" spc="204" dirty="0">
                <a:solidFill>
                  <a:srgbClr val="FFFFFF"/>
                </a:solidFill>
                <a:latin typeface="Times New Roman Bold"/>
                <a:ea typeface="Times New Roman Bold"/>
                <a:cs typeface="Times New Roman Bold"/>
              </a:rPr>
              <a:t> </a:t>
            </a:r>
            <a:r>
              <a:rPr lang="en-US" sz="3200" b="1" spc="204" dirty="0" err="1">
                <a:solidFill>
                  <a:srgbClr val="FFFFFF"/>
                </a:solidFill>
                <a:latin typeface="Times New Roman Bold"/>
                <a:ea typeface="Times New Roman Bold"/>
                <a:cs typeface="Times New Roman Bold"/>
              </a:rPr>
              <a:t>hướng</a:t>
            </a:r>
            <a:r>
              <a:rPr lang="en-US" sz="3200" b="1" spc="204" dirty="0">
                <a:solidFill>
                  <a:srgbClr val="FFFFFF"/>
                </a:solidFill>
                <a:latin typeface="Times New Roman Bold"/>
                <a:ea typeface="Times New Roman Bold"/>
                <a:cs typeface="Times New Roman Bold"/>
              </a:rPr>
              <a:t> </a:t>
            </a:r>
            <a:r>
              <a:rPr lang="en-US" sz="3200" b="1" spc="204" dirty="0" err="1">
                <a:solidFill>
                  <a:srgbClr val="FFFFFF"/>
                </a:solidFill>
                <a:latin typeface="Times New Roman Bold"/>
                <a:ea typeface="Times New Roman Bold"/>
                <a:cs typeface="Times New Roman Bold"/>
              </a:rPr>
              <a:t>dẫn</a:t>
            </a:r>
            <a:r>
              <a:rPr lang="en-US" sz="3200" b="1" spc="204" dirty="0">
                <a:solidFill>
                  <a:srgbClr val="FFFFFF"/>
                </a:solidFill>
                <a:latin typeface="Times New Roman Bold"/>
                <a:ea typeface="Times New Roman Bold"/>
                <a:cs typeface="Times New Roman Bold"/>
              </a:rPr>
              <a:t>: Nguyễn Anh Vinh</a:t>
            </a:r>
            <a:endParaRPr dirty="0"/>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grpSp>
        <p:nvGrpSpPr>
          <p:cNvPr id="376852638" name="Group 2"/>
          <p:cNvGrpSpPr/>
          <p:nvPr/>
        </p:nvGrpSpPr>
        <p:grpSpPr bwMode="auto">
          <a:xfrm>
            <a:off x="11649142" y="921287"/>
            <a:ext cx="5610158" cy="381495"/>
            <a:chOff x="0" y="0"/>
            <a:chExt cx="7175411" cy="487934"/>
          </a:xfrm>
        </p:grpSpPr>
        <p:sp>
          <p:nvSpPr>
            <p:cNvPr id="3" name="Freeform 3"/>
            <p:cNvSpPr/>
            <p:nvPr/>
          </p:nvSpPr>
          <p:spPr bwMode="auto">
            <a:xfrm flipV="1">
              <a:off x="0" y="0"/>
              <a:ext cx="7175373" cy="487934"/>
            </a:xfrm>
            <a:custGeom>
              <a:avLst/>
              <a:gdLst/>
              <a:ahLst/>
              <a:cxnLst/>
              <a:rect l="l" t="t" r="r" b="b"/>
              <a:pathLst>
                <a:path w="7175373" h="487934" extrusionOk="0">
                  <a:moveTo>
                    <a:pt x="0" y="487934"/>
                  </a:moveTo>
                  <a:lnTo>
                    <a:pt x="7175373" y="487934"/>
                  </a:lnTo>
                  <a:lnTo>
                    <a:pt x="7175373" y="0"/>
                  </a:lnTo>
                  <a:lnTo>
                    <a:pt x="0" y="0"/>
                  </a:lnTo>
                  <a:lnTo>
                    <a:pt x="0" y="487934"/>
                  </a:lnTo>
                  <a:close/>
                </a:path>
              </a:pathLst>
            </a:custGeom>
            <a:blipFill rotWithShape="1">
              <a:blip r:embed="rId3"/>
              <a:stretch>
                <a:fillRect b="-575"/>
              </a:stretch>
            </a:blipFill>
          </p:spPr>
          <p:txBody>
            <a:bodyPr/>
            <a:lstStyle/>
            <a:p>
              <a:endParaRPr lang="en-US"/>
            </a:p>
          </p:txBody>
        </p:sp>
      </p:grpSp>
      <p:grpSp>
        <p:nvGrpSpPr>
          <p:cNvPr id="1074594731" name="Group 4"/>
          <p:cNvGrpSpPr/>
          <p:nvPr/>
        </p:nvGrpSpPr>
        <p:grpSpPr bwMode="auto">
          <a:xfrm>
            <a:off x="-142218" y="151069"/>
            <a:ext cx="10990878" cy="1151713"/>
            <a:chOff x="0" y="0"/>
            <a:chExt cx="16851568" cy="1765844"/>
          </a:xfrm>
        </p:grpSpPr>
        <p:sp>
          <p:nvSpPr>
            <p:cNvPr id="5" name="Freeform 5"/>
            <p:cNvSpPr/>
            <p:nvPr/>
          </p:nvSpPr>
          <p:spPr bwMode="auto">
            <a:xfrm>
              <a:off x="0" y="0"/>
              <a:ext cx="16851568" cy="1765837"/>
            </a:xfrm>
            <a:custGeom>
              <a:avLst/>
              <a:gdLst/>
              <a:ahLst/>
              <a:cxnLst/>
              <a:rect l="l" t="t" r="r" b="b"/>
              <a:pathLst>
                <a:path w="16851568" h="1765837" extrusionOk="0">
                  <a:moveTo>
                    <a:pt x="0" y="0"/>
                  </a:moveTo>
                  <a:lnTo>
                    <a:pt x="16851568" y="0"/>
                  </a:lnTo>
                  <a:lnTo>
                    <a:pt x="16851568" y="1765837"/>
                  </a:lnTo>
                  <a:lnTo>
                    <a:pt x="0" y="1765837"/>
                  </a:lnTo>
                  <a:close/>
                </a:path>
              </a:pathLst>
            </a:custGeom>
            <a:blipFill rotWithShape="1">
              <a:blip r:embed="rId4">
                <a:alphaModFix amt="0"/>
              </a:blip>
              <a:stretch>
                <a:fillRect t="-183469" r="-24801" b="-180664"/>
              </a:stretch>
            </a:blipFill>
          </p:spPr>
          <p:txBody>
            <a:bodyPr/>
            <a:lstStyle/>
            <a:p>
              <a:endParaRPr lang="en-US"/>
            </a:p>
          </p:txBody>
        </p:sp>
        <p:sp>
          <p:nvSpPr>
            <p:cNvPr id="6" name="TextBox 6"/>
            <p:cNvSpPr txBox="1"/>
            <p:nvPr/>
          </p:nvSpPr>
          <p:spPr bwMode="auto">
            <a:xfrm>
              <a:off x="0" y="-85725"/>
              <a:ext cx="16851568" cy="1851569"/>
            </a:xfrm>
            <a:prstGeom prst="rect">
              <a:avLst/>
            </a:prstGeom>
            <a:grpFill/>
          </p:spPr>
          <p:txBody>
            <a:bodyPr lIns="0" tIns="0" rIns="0" bIns="0" rtlCol="0" anchor="ctr"/>
            <a:lstStyle/>
            <a:p>
              <a:pPr algn="ctr">
                <a:lnSpc>
                  <a:spcPts val="7451"/>
                </a:lnSpc>
                <a:defRPr/>
              </a:pPr>
              <a:r>
                <a:rPr lang="en-US" sz="5400" b="1">
                  <a:solidFill>
                    <a:srgbClr val="10439A"/>
                  </a:solidFill>
                  <a:latin typeface="Tahoma Bold"/>
                  <a:ea typeface="Tahoma Bold"/>
                  <a:cs typeface="Tahoma Bold"/>
                </a:rPr>
                <a:t>SƠ ĐỒ KHỐI HỆ THỐNG</a:t>
              </a:r>
              <a:endParaRPr/>
            </a:p>
          </p:txBody>
        </p:sp>
      </p:grpSp>
      <p:sp>
        <p:nvSpPr>
          <p:cNvPr id="767780834" name="Freeform 7"/>
          <p:cNvSpPr/>
          <p:nvPr/>
        </p:nvSpPr>
        <p:spPr bwMode="auto">
          <a:xfrm>
            <a:off x="3268798" y="1302782"/>
            <a:ext cx="11750404" cy="8699487"/>
          </a:xfrm>
          <a:custGeom>
            <a:avLst/>
            <a:gdLst/>
            <a:ahLst/>
            <a:cxnLst/>
            <a:rect l="l" t="t" r="r" b="b"/>
            <a:pathLst>
              <a:path w="11750404" h="8699487" extrusionOk="0">
                <a:moveTo>
                  <a:pt x="0" y="0"/>
                </a:moveTo>
                <a:lnTo>
                  <a:pt x="11750404" y="0"/>
                </a:lnTo>
                <a:lnTo>
                  <a:pt x="11750404" y="8699487"/>
                </a:lnTo>
                <a:lnTo>
                  <a:pt x="0" y="8699487"/>
                </a:lnTo>
                <a:lnTo>
                  <a:pt x="0" y="0"/>
                </a:lnTo>
                <a:close/>
              </a:path>
            </a:pathLst>
          </a:custGeom>
          <a:blipFill rotWithShape="1">
            <a:blip r:embed="rId5"/>
            <a:stretch>
              <a:fillRect t="-820" b="-819"/>
            </a:stretch>
          </a:blipFill>
        </p:spPr>
        <p:txBody>
          <a:bodyPr/>
          <a:lstStyle/>
          <a:p>
            <a:endParaRPr lang="en-US"/>
          </a:p>
        </p:txBody>
      </p:sp>
    </p:spTree>
  </p:cSld>
  <p:clrMapOvr>
    <a:masterClrMapping/>
  </p:clrMapOvr>
  <mc:AlternateContent xmlns:mc="http://schemas.openxmlformats.org/markup-compatibility/2006" xmlns:p159="http://schemas.microsoft.com/office/powerpoint/2015/09/main">
    <mc:Choice Requires="p159">
      <p:transition>
        <p:fade/>
      </p:transition>
    </mc:Choice>
    <mc:Fallback xmlns="" xmlns:m="http://schemas.openxmlformats.org/officeDocument/2006/math" xmlns:w="http://schemas.openxmlformats.org/wordprocessingml/2006/main">
      <p:transition spd="fast" advClick="1">
        <p:fade thruBlk="0"/>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grpSp>
        <p:nvGrpSpPr>
          <p:cNvPr id="758240372" name="Group 2"/>
          <p:cNvGrpSpPr/>
          <p:nvPr/>
        </p:nvGrpSpPr>
        <p:grpSpPr bwMode="auto">
          <a:xfrm>
            <a:off x="11649142" y="921287"/>
            <a:ext cx="5610158" cy="381495"/>
            <a:chOff x="0" y="0"/>
            <a:chExt cx="7175411" cy="487934"/>
          </a:xfrm>
        </p:grpSpPr>
        <p:sp>
          <p:nvSpPr>
            <p:cNvPr id="3" name="Freeform 3"/>
            <p:cNvSpPr/>
            <p:nvPr/>
          </p:nvSpPr>
          <p:spPr bwMode="auto">
            <a:xfrm flipV="1">
              <a:off x="0" y="0"/>
              <a:ext cx="7175373" cy="487934"/>
            </a:xfrm>
            <a:custGeom>
              <a:avLst/>
              <a:gdLst/>
              <a:ahLst/>
              <a:cxnLst/>
              <a:rect l="l" t="t" r="r" b="b"/>
              <a:pathLst>
                <a:path w="7175373" h="487934" extrusionOk="0">
                  <a:moveTo>
                    <a:pt x="0" y="487934"/>
                  </a:moveTo>
                  <a:lnTo>
                    <a:pt x="7175373" y="487934"/>
                  </a:lnTo>
                  <a:lnTo>
                    <a:pt x="7175373" y="0"/>
                  </a:lnTo>
                  <a:lnTo>
                    <a:pt x="0" y="0"/>
                  </a:lnTo>
                  <a:lnTo>
                    <a:pt x="0" y="487934"/>
                  </a:lnTo>
                  <a:close/>
                </a:path>
              </a:pathLst>
            </a:custGeom>
            <a:blipFill rotWithShape="1">
              <a:blip r:embed="rId3"/>
              <a:stretch>
                <a:fillRect b="-575"/>
              </a:stretch>
            </a:blipFill>
          </p:spPr>
          <p:txBody>
            <a:bodyPr/>
            <a:lstStyle/>
            <a:p>
              <a:endParaRPr lang="en-US"/>
            </a:p>
          </p:txBody>
        </p:sp>
      </p:grpSp>
      <p:sp>
        <p:nvSpPr>
          <p:cNvPr id="169759894" name="Freeform 7"/>
          <p:cNvSpPr/>
          <p:nvPr/>
        </p:nvSpPr>
        <p:spPr bwMode="auto">
          <a:xfrm>
            <a:off x="1061290" y="891631"/>
            <a:ext cx="6987910" cy="9174966"/>
          </a:xfrm>
          <a:custGeom>
            <a:avLst/>
            <a:gdLst/>
            <a:ahLst/>
            <a:cxnLst/>
            <a:rect l="l" t="t" r="r" b="b"/>
            <a:pathLst>
              <a:path w="6987910" h="9174966" extrusionOk="0">
                <a:moveTo>
                  <a:pt x="0" y="0"/>
                </a:moveTo>
                <a:lnTo>
                  <a:pt x="6987910" y="0"/>
                </a:lnTo>
                <a:lnTo>
                  <a:pt x="6987910" y="9174966"/>
                </a:lnTo>
                <a:lnTo>
                  <a:pt x="0" y="9174966"/>
                </a:lnTo>
                <a:lnTo>
                  <a:pt x="0" y="0"/>
                </a:lnTo>
                <a:close/>
              </a:path>
            </a:pathLst>
          </a:custGeom>
          <a:blipFill rotWithShape="1">
            <a:blip r:embed="rId4"/>
            <a:stretch>
              <a:fillRect/>
            </a:stretch>
          </a:blipFill>
        </p:spPr>
        <p:txBody>
          <a:bodyPr/>
          <a:lstStyle/>
          <a:p>
            <a:endParaRPr lang="en-US"/>
          </a:p>
        </p:txBody>
      </p:sp>
      <p:sp>
        <p:nvSpPr>
          <p:cNvPr id="1029366181" name="TextBox 8"/>
          <p:cNvSpPr txBox="1"/>
          <p:nvPr/>
        </p:nvSpPr>
        <p:spPr bwMode="auto">
          <a:xfrm>
            <a:off x="4869232" y="2359194"/>
            <a:ext cx="1432383" cy="360031"/>
          </a:xfrm>
          <a:prstGeom prst="rect">
            <a:avLst/>
          </a:prstGeom>
        </p:spPr>
        <p:txBody>
          <a:bodyPr lIns="0" tIns="0" rIns="0" bIns="0" rtlCol="0" anchor="t">
            <a:spAutoFit/>
          </a:bodyPr>
          <a:lstStyle/>
          <a:p>
            <a:pPr algn="ctr">
              <a:lnSpc>
                <a:spcPts val="2990"/>
              </a:lnSpc>
              <a:spcBef>
                <a:spcPts val="0"/>
              </a:spcBef>
              <a:defRPr/>
            </a:pPr>
            <a:r>
              <a:rPr lang="en-US" sz="2150">
                <a:solidFill>
                  <a:srgbClr val="000000"/>
                </a:solidFill>
                <a:latin typeface="Tahoma"/>
                <a:ea typeface="Tahoma"/>
                <a:cs typeface="Tahoma"/>
              </a:rPr>
              <a:t>S</a:t>
            </a:r>
            <a:endParaRPr/>
          </a:p>
        </p:txBody>
      </p:sp>
      <p:sp>
        <p:nvSpPr>
          <p:cNvPr id="1844711171" name="TextBox 9"/>
          <p:cNvSpPr txBox="1"/>
          <p:nvPr/>
        </p:nvSpPr>
        <p:spPr bwMode="auto">
          <a:xfrm>
            <a:off x="4755588" y="5763245"/>
            <a:ext cx="1432383" cy="360031"/>
          </a:xfrm>
          <a:prstGeom prst="rect">
            <a:avLst/>
          </a:prstGeom>
        </p:spPr>
        <p:txBody>
          <a:bodyPr lIns="0" tIns="0" rIns="0" bIns="0" rtlCol="0" anchor="t">
            <a:spAutoFit/>
          </a:bodyPr>
          <a:lstStyle/>
          <a:p>
            <a:pPr algn="ctr">
              <a:lnSpc>
                <a:spcPts val="2990"/>
              </a:lnSpc>
              <a:spcBef>
                <a:spcPts val="0"/>
              </a:spcBef>
              <a:defRPr/>
            </a:pPr>
            <a:r>
              <a:rPr lang="en-US" sz="2150">
                <a:solidFill>
                  <a:srgbClr val="000000"/>
                </a:solidFill>
                <a:latin typeface="Tahoma"/>
                <a:ea typeface="Tahoma"/>
                <a:cs typeface="Tahoma"/>
              </a:rPr>
              <a:t>S</a:t>
            </a:r>
            <a:endParaRPr/>
          </a:p>
        </p:txBody>
      </p:sp>
      <p:sp>
        <p:nvSpPr>
          <p:cNvPr id="1622813525" name="TextBox 10"/>
          <p:cNvSpPr txBox="1"/>
          <p:nvPr/>
        </p:nvSpPr>
        <p:spPr bwMode="auto">
          <a:xfrm>
            <a:off x="3577767" y="3546210"/>
            <a:ext cx="1432383" cy="360031"/>
          </a:xfrm>
          <a:prstGeom prst="rect">
            <a:avLst/>
          </a:prstGeom>
        </p:spPr>
        <p:txBody>
          <a:bodyPr lIns="0" tIns="0" rIns="0" bIns="0" rtlCol="0" anchor="t">
            <a:spAutoFit/>
          </a:bodyPr>
          <a:lstStyle/>
          <a:p>
            <a:pPr algn="ctr">
              <a:lnSpc>
                <a:spcPts val="2990"/>
              </a:lnSpc>
              <a:spcBef>
                <a:spcPts val="0"/>
              </a:spcBef>
              <a:defRPr/>
            </a:pPr>
            <a:r>
              <a:rPr lang="en-US" sz="2150">
                <a:solidFill>
                  <a:srgbClr val="000000"/>
                </a:solidFill>
                <a:latin typeface="Tahoma"/>
                <a:ea typeface="Tahoma"/>
                <a:cs typeface="Tahoma"/>
              </a:rPr>
              <a:t>Đ</a:t>
            </a:r>
            <a:endParaRPr/>
          </a:p>
        </p:txBody>
      </p:sp>
      <p:sp>
        <p:nvSpPr>
          <p:cNvPr id="1717745312" name="TextBox 11"/>
          <p:cNvSpPr txBox="1"/>
          <p:nvPr/>
        </p:nvSpPr>
        <p:spPr bwMode="auto">
          <a:xfrm>
            <a:off x="3577767" y="6790027"/>
            <a:ext cx="1432383" cy="360031"/>
          </a:xfrm>
          <a:prstGeom prst="rect">
            <a:avLst/>
          </a:prstGeom>
        </p:spPr>
        <p:txBody>
          <a:bodyPr lIns="0" tIns="0" rIns="0" bIns="0" rtlCol="0" anchor="t">
            <a:spAutoFit/>
          </a:bodyPr>
          <a:lstStyle/>
          <a:p>
            <a:pPr algn="ctr">
              <a:lnSpc>
                <a:spcPts val="2990"/>
              </a:lnSpc>
              <a:spcBef>
                <a:spcPts val="0"/>
              </a:spcBef>
              <a:defRPr/>
            </a:pPr>
            <a:r>
              <a:rPr lang="en-US" sz="2150">
                <a:solidFill>
                  <a:srgbClr val="000000"/>
                </a:solidFill>
                <a:latin typeface="Tahoma"/>
                <a:ea typeface="Tahoma"/>
                <a:cs typeface="Tahoma"/>
              </a:rPr>
              <a:t>Đ</a:t>
            </a:r>
            <a:endParaRPr/>
          </a:p>
        </p:txBody>
      </p:sp>
      <p:sp>
        <p:nvSpPr>
          <p:cNvPr id="617914653" name="Freeform 7"/>
          <p:cNvSpPr/>
          <p:nvPr/>
        </p:nvSpPr>
        <p:spPr bwMode="auto">
          <a:xfrm>
            <a:off x="9319478" y="946495"/>
            <a:ext cx="6801454" cy="9065238"/>
          </a:xfrm>
          <a:custGeom>
            <a:avLst/>
            <a:gdLst/>
            <a:ahLst/>
            <a:cxnLst/>
            <a:rect l="l" t="t" r="r" b="b"/>
            <a:pathLst>
              <a:path w="6801455" h="9065239" extrusionOk="0">
                <a:moveTo>
                  <a:pt x="0" y="0"/>
                </a:moveTo>
                <a:lnTo>
                  <a:pt x="6801455" y="0"/>
                </a:lnTo>
                <a:lnTo>
                  <a:pt x="6801455" y="9065239"/>
                </a:lnTo>
                <a:lnTo>
                  <a:pt x="0" y="9065239"/>
                </a:lnTo>
                <a:lnTo>
                  <a:pt x="0" y="0"/>
                </a:lnTo>
                <a:close/>
              </a:path>
            </a:pathLst>
          </a:custGeom>
          <a:blipFill rotWithShape="1">
            <a:blip r:embed="rId5"/>
            <a:stretch>
              <a:fillRect/>
            </a:stretch>
          </a:blipFill>
        </p:spPr>
        <p:txBody>
          <a:bodyPr/>
          <a:lstStyle/>
          <a:p>
            <a:endParaRPr lang="en-US"/>
          </a:p>
        </p:txBody>
      </p:sp>
      <p:sp>
        <p:nvSpPr>
          <p:cNvPr id="1689600423" name="TextBox 6"/>
          <p:cNvSpPr txBox="1"/>
          <p:nvPr/>
        </p:nvSpPr>
        <p:spPr bwMode="auto">
          <a:xfrm>
            <a:off x="-1021695" y="-76291"/>
            <a:ext cx="9640707" cy="631765"/>
          </a:xfrm>
          <a:prstGeom prst="rect">
            <a:avLst/>
          </a:prstGeom>
        </p:spPr>
        <p:txBody>
          <a:bodyPr lIns="0" tIns="0" rIns="0" bIns="0" rtlCol="0" anchor="ctr"/>
          <a:lstStyle/>
          <a:p>
            <a:pPr algn="ctr">
              <a:lnSpc>
                <a:spcPts val="7451"/>
              </a:lnSpc>
              <a:defRPr/>
            </a:pPr>
            <a:r>
              <a:rPr lang="en-US" sz="2800" b="1">
                <a:solidFill>
                  <a:srgbClr val="10439A"/>
                </a:solidFill>
                <a:latin typeface="Times New Roman"/>
                <a:ea typeface="Times New Roman"/>
                <a:cs typeface="Times New Roman"/>
              </a:rPr>
              <a:t>LƯU ĐỒ HOẠT ĐỘNG</a:t>
            </a:r>
            <a:endParaRPr sz="1200">
              <a:latin typeface="Times New Roman"/>
              <a:cs typeface="Times New Roman"/>
            </a:endParaRPr>
          </a:p>
        </p:txBody>
      </p:sp>
    </p:spTree>
  </p:cSld>
  <p:clrMapOvr>
    <a:masterClrMapping/>
  </p:clrMapOvr>
  <mc:AlternateContent xmlns:mc="http://schemas.openxmlformats.org/markup-compatibility/2006" xmlns:p159="http://schemas.microsoft.com/office/powerpoint/2015/09/main">
    <mc:Choice Requires="p159">
      <p:transition>
        <p:fade/>
      </p:transition>
    </mc:Choice>
    <mc:Fallback xmlns="" xmlns:m="http://schemas.openxmlformats.org/officeDocument/2006/math" xmlns:w="http://schemas.openxmlformats.org/wordprocessingml/2006/main">
      <p:transition spd="fast" advClick="1">
        <p:fade thruBlk="0"/>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grpSp>
        <p:nvGrpSpPr>
          <p:cNvPr id="2102904363" name="Group 2"/>
          <p:cNvGrpSpPr/>
          <p:nvPr/>
        </p:nvGrpSpPr>
        <p:grpSpPr bwMode="auto">
          <a:xfrm>
            <a:off x="11649142" y="921287"/>
            <a:ext cx="5610158" cy="381495"/>
            <a:chOff x="0" y="0"/>
            <a:chExt cx="7175411" cy="487934"/>
          </a:xfrm>
        </p:grpSpPr>
        <p:sp>
          <p:nvSpPr>
            <p:cNvPr id="3" name="Freeform 3"/>
            <p:cNvSpPr/>
            <p:nvPr/>
          </p:nvSpPr>
          <p:spPr bwMode="auto">
            <a:xfrm flipV="1">
              <a:off x="0" y="0"/>
              <a:ext cx="7175373" cy="487934"/>
            </a:xfrm>
            <a:custGeom>
              <a:avLst/>
              <a:gdLst/>
              <a:ahLst/>
              <a:cxnLst/>
              <a:rect l="l" t="t" r="r" b="b"/>
              <a:pathLst>
                <a:path w="7175373" h="487934" extrusionOk="0">
                  <a:moveTo>
                    <a:pt x="0" y="487934"/>
                  </a:moveTo>
                  <a:lnTo>
                    <a:pt x="7175373" y="487934"/>
                  </a:lnTo>
                  <a:lnTo>
                    <a:pt x="7175373" y="0"/>
                  </a:lnTo>
                  <a:lnTo>
                    <a:pt x="0" y="0"/>
                  </a:lnTo>
                  <a:lnTo>
                    <a:pt x="0" y="487934"/>
                  </a:lnTo>
                  <a:close/>
                </a:path>
              </a:pathLst>
            </a:custGeom>
            <a:blipFill rotWithShape="1">
              <a:blip r:embed="rId3"/>
              <a:stretch>
                <a:fillRect b="-575"/>
              </a:stretch>
            </a:blipFill>
          </p:spPr>
          <p:txBody>
            <a:bodyPr/>
            <a:lstStyle/>
            <a:p>
              <a:endParaRPr lang="en-US"/>
            </a:p>
          </p:txBody>
        </p:sp>
      </p:grpSp>
      <p:grpSp>
        <p:nvGrpSpPr>
          <p:cNvPr id="1749606164" name="Group 4"/>
          <p:cNvGrpSpPr/>
          <p:nvPr/>
        </p:nvGrpSpPr>
        <p:grpSpPr bwMode="auto">
          <a:xfrm>
            <a:off x="481177" y="173748"/>
            <a:ext cx="8243405" cy="1151713"/>
            <a:chOff x="0" y="0"/>
            <a:chExt cx="12639054" cy="1765844"/>
          </a:xfrm>
        </p:grpSpPr>
        <p:sp>
          <p:nvSpPr>
            <p:cNvPr id="5" name="Freeform 5"/>
            <p:cNvSpPr/>
            <p:nvPr/>
          </p:nvSpPr>
          <p:spPr bwMode="auto">
            <a:xfrm>
              <a:off x="0" y="0"/>
              <a:ext cx="12639054" cy="1765837"/>
            </a:xfrm>
            <a:custGeom>
              <a:avLst/>
              <a:gdLst/>
              <a:ahLst/>
              <a:cxnLst/>
              <a:rect l="l" t="t" r="r" b="b"/>
              <a:pathLst>
                <a:path w="12639054" h="1765837" extrusionOk="0">
                  <a:moveTo>
                    <a:pt x="0" y="0"/>
                  </a:moveTo>
                  <a:lnTo>
                    <a:pt x="12639054" y="0"/>
                  </a:lnTo>
                  <a:lnTo>
                    <a:pt x="12639054" y="1765837"/>
                  </a:lnTo>
                  <a:lnTo>
                    <a:pt x="0" y="1765837"/>
                  </a:lnTo>
                  <a:close/>
                </a:path>
              </a:pathLst>
            </a:custGeom>
            <a:blipFill rotWithShape="1">
              <a:blip r:embed="rId4">
                <a:alphaModFix amt="0"/>
              </a:blip>
              <a:stretch>
                <a:fillRect t="-183469" r="-66398" b="-180664"/>
              </a:stretch>
            </a:blipFill>
          </p:spPr>
          <p:txBody>
            <a:bodyPr/>
            <a:lstStyle/>
            <a:p>
              <a:endParaRPr lang="en-US"/>
            </a:p>
          </p:txBody>
        </p:sp>
        <p:sp>
          <p:nvSpPr>
            <p:cNvPr id="6" name="TextBox 6"/>
            <p:cNvSpPr txBox="1"/>
            <p:nvPr/>
          </p:nvSpPr>
          <p:spPr bwMode="auto">
            <a:xfrm>
              <a:off x="0" y="-85725"/>
              <a:ext cx="12639054" cy="1851569"/>
            </a:xfrm>
            <a:prstGeom prst="rect">
              <a:avLst/>
            </a:prstGeom>
            <a:grpFill/>
          </p:spPr>
          <p:txBody>
            <a:bodyPr lIns="0" tIns="0" rIns="0" bIns="0" rtlCol="0" anchor="ctr"/>
            <a:lstStyle/>
            <a:p>
              <a:pPr algn="ctr">
                <a:lnSpc>
                  <a:spcPts val="7451"/>
                </a:lnSpc>
                <a:defRPr/>
              </a:pPr>
              <a:r>
                <a:rPr lang="en-US" sz="5400" b="1">
                  <a:solidFill>
                    <a:srgbClr val="10439A"/>
                  </a:solidFill>
                  <a:latin typeface="Tahoma Bold"/>
                  <a:ea typeface="Tahoma Bold"/>
                  <a:cs typeface="Tahoma Bold"/>
                </a:rPr>
                <a:t>SƠ ĐỒ GANTT</a:t>
              </a:r>
              <a:endParaRPr/>
            </a:p>
          </p:txBody>
        </p:sp>
      </p:grpSp>
      <p:graphicFrame>
        <p:nvGraphicFramePr>
          <p:cNvPr id="720299997" name="Object 7"/>
          <p:cNvGraphicFramePr>
            <a:graphicFrameLocks noChangeAspect="1"/>
          </p:cNvGraphicFramePr>
          <p:nvPr/>
        </p:nvGraphicFramePr>
        <p:xfrm>
          <a:off x="-1407749" y="-742950"/>
          <a:ext cx="21450299" cy="10591799"/>
        </p:xfrm>
        <a:graphic>
          <a:graphicData uri="http://schemas.openxmlformats.org/presentationml/2006/ole">
            <mc:AlternateContent xmlns:mc="http://schemas.openxmlformats.org/markup-compatibility/2006">
              <mc:Choice xmlns:v="urn:schemas-microsoft-com:vml" Requires="v">
                <p:oleObj name="oleObj" r:id="rId5" imgW="21120100" imgH="8966200" progId="Excel.Sheet.12">
                  <p:embed/>
                </p:oleObj>
              </mc:Choice>
              <mc:Fallback>
                <p:oleObj name="oleObj" r:id="rId5" imgW="21120100" imgH="8966200" progId="Excel.Sheet.12">
                  <p:embed/>
                  <p:pic>
                    <p:nvPicPr>
                      <p:cNvPr id="720299997" name="Object 7"/>
                      <p:cNvPicPr/>
                      <p:nvPr/>
                    </p:nvPicPr>
                    <p:blipFill rotWithShape="1">
                      <a:blip r:embed="rId6"/>
                      <a:stretch/>
                    </p:blipFill>
                    <p:spPr bwMode="auto">
                      <a:xfrm>
                        <a:off x="-1407749" y="-742950"/>
                        <a:ext cx="21450299" cy="10591799"/>
                      </a:xfrm>
                      <a:prstGeom prst="rect">
                        <a:avLst/>
                      </a:prstGeom>
                    </p:spPr>
                  </p:pic>
                </p:oleObj>
              </mc:Fallback>
            </mc:AlternateContent>
          </a:graphicData>
        </a:graphic>
      </p:graphicFrame>
    </p:spTree>
  </p:cSld>
  <p:clrMapOvr>
    <a:masterClrMapping/>
  </p:clrMapOvr>
  <mc:AlternateContent xmlns:mc="http://schemas.openxmlformats.org/markup-compatibility/2006" xmlns:p159="http://schemas.microsoft.com/office/powerpoint/2015/09/main">
    <mc:Choice Requires="p159">
      <p:transition>
        <p:fade/>
      </p:transition>
    </mc:Choice>
    <mc:Fallback xmlns="" xmlns:m="http://schemas.openxmlformats.org/officeDocument/2006/math" xmlns:w="http://schemas.openxmlformats.org/wordprocessingml/2006/main">
      <p:transition spd="fast" advClick="1">
        <p:fade thruBlk="0"/>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grpSp>
        <p:nvGrpSpPr>
          <p:cNvPr id="1524760741" name="Group 2"/>
          <p:cNvGrpSpPr/>
          <p:nvPr/>
        </p:nvGrpSpPr>
        <p:grpSpPr bwMode="auto">
          <a:xfrm>
            <a:off x="11649142" y="921287"/>
            <a:ext cx="5610158" cy="381495"/>
            <a:chOff x="0" y="0"/>
            <a:chExt cx="7175411" cy="487934"/>
          </a:xfrm>
        </p:grpSpPr>
        <p:sp>
          <p:nvSpPr>
            <p:cNvPr id="3" name="Freeform 3"/>
            <p:cNvSpPr/>
            <p:nvPr/>
          </p:nvSpPr>
          <p:spPr bwMode="auto">
            <a:xfrm flipV="1">
              <a:off x="0" y="0"/>
              <a:ext cx="7175373" cy="487934"/>
            </a:xfrm>
            <a:custGeom>
              <a:avLst/>
              <a:gdLst/>
              <a:ahLst/>
              <a:cxnLst/>
              <a:rect l="l" t="t" r="r" b="b"/>
              <a:pathLst>
                <a:path w="7175373" h="487934" extrusionOk="0">
                  <a:moveTo>
                    <a:pt x="0" y="487934"/>
                  </a:moveTo>
                  <a:lnTo>
                    <a:pt x="7175373" y="487934"/>
                  </a:lnTo>
                  <a:lnTo>
                    <a:pt x="7175373" y="0"/>
                  </a:lnTo>
                  <a:lnTo>
                    <a:pt x="0" y="0"/>
                  </a:lnTo>
                  <a:lnTo>
                    <a:pt x="0" y="487934"/>
                  </a:lnTo>
                  <a:close/>
                </a:path>
              </a:pathLst>
            </a:custGeom>
            <a:blipFill rotWithShape="1">
              <a:blip r:embed="rId3"/>
              <a:stretch>
                <a:fillRect b="-575"/>
              </a:stretch>
            </a:blipFill>
          </p:spPr>
          <p:txBody>
            <a:bodyPr/>
            <a:lstStyle/>
            <a:p>
              <a:endParaRPr lang="en-US"/>
            </a:p>
          </p:txBody>
        </p:sp>
      </p:grpSp>
      <p:grpSp>
        <p:nvGrpSpPr>
          <p:cNvPr id="1042002013" name="Group 4"/>
          <p:cNvGrpSpPr/>
          <p:nvPr/>
        </p:nvGrpSpPr>
        <p:grpSpPr bwMode="auto">
          <a:xfrm>
            <a:off x="481177" y="173748"/>
            <a:ext cx="8243405" cy="1151713"/>
            <a:chOff x="0" y="0"/>
            <a:chExt cx="12639054" cy="1765844"/>
          </a:xfrm>
        </p:grpSpPr>
        <p:sp>
          <p:nvSpPr>
            <p:cNvPr id="5" name="Freeform 5"/>
            <p:cNvSpPr/>
            <p:nvPr/>
          </p:nvSpPr>
          <p:spPr bwMode="auto">
            <a:xfrm>
              <a:off x="0" y="0"/>
              <a:ext cx="12639054" cy="1765837"/>
            </a:xfrm>
            <a:custGeom>
              <a:avLst/>
              <a:gdLst/>
              <a:ahLst/>
              <a:cxnLst/>
              <a:rect l="l" t="t" r="r" b="b"/>
              <a:pathLst>
                <a:path w="12639054" h="1765837" extrusionOk="0">
                  <a:moveTo>
                    <a:pt x="0" y="0"/>
                  </a:moveTo>
                  <a:lnTo>
                    <a:pt x="12639054" y="0"/>
                  </a:lnTo>
                  <a:lnTo>
                    <a:pt x="12639054" y="1765837"/>
                  </a:lnTo>
                  <a:lnTo>
                    <a:pt x="0" y="1765837"/>
                  </a:lnTo>
                  <a:close/>
                </a:path>
              </a:pathLst>
            </a:custGeom>
            <a:blipFill rotWithShape="1">
              <a:blip r:embed="rId4">
                <a:alphaModFix amt="0"/>
              </a:blip>
              <a:stretch>
                <a:fillRect t="-183469" r="-66398" b="-180664"/>
              </a:stretch>
            </a:blipFill>
          </p:spPr>
          <p:txBody>
            <a:bodyPr/>
            <a:lstStyle/>
            <a:p>
              <a:endParaRPr lang="en-US"/>
            </a:p>
          </p:txBody>
        </p:sp>
        <p:sp>
          <p:nvSpPr>
            <p:cNvPr id="6" name="TextBox 6"/>
            <p:cNvSpPr txBox="1"/>
            <p:nvPr/>
          </p:nvSpPr>
          <p:spPr bwMode="auto">
            <a:xfrm>
              <a:off x="0" y="-85725"/>
              <a:ext cx="12639054" cy="1851569"/>
            </a:xfrm>
            <a:prstGeom prst="rect">
              <a:avLst/>
            </a:prstGeom>
            <a:grpFill/>
          </p:spPr>
          <p:txBody>
            <a:bodyPr lIns="0" tIns="0" rIns="0" bIns="0" rtlCol="0" anchor="ctr"/>
            <a:lstStyle/>
            <a:p>
              <a:pPr algn="ctr">
                <a:lnSpc>
                  <a:spcPts val="7451"/>
                </a:lnSpc>
                <a:defRPr/>
              </a:pPr>
              <a:r>
                <a:rPr lang="en-US" sz="5400" b="1">
                  <a:solidFill>
                    <a:srgbClr val="10439A"/>
                  </a:solidFill>
                  <a:latin typeface="Tahoma Bold"/>
                  <a:ea typeface="Tahoma Bold"/>
                  <a:cs typeface="Tahoma Bold"/>
                </a:rPr>
                <a:t>SƠ ĐỒ GANTT</a:t>
              </a:r>
              <a:endParaRPr/>
            </a:p>
          </p:txBody>
        </p:sp>
      </p:grpSp>
      <p:graphicFrame>
        <p:nvGraphicFramePr>
          <p:cNvPr id="1352977913" name="Object 7"/>
          <p:cNvGraphicFramePr>
            <a:graphicFrameLocks noChangeAspect="1"/>
          </p:cNvGraphicFramePr>
          <p:nvPr/>
        </p:nvGraphicFramePr>
        <p:xfrm>
          <a:off x="-1045799" y="228599"/>
          <a:ext cx="20821649" cy="12020549"/>
        </p:xfrm>
        <a:graphic>
          <a:graphicData uri="http://schemas.openxmlformats.org/presentationml/2006/ole">
            <mc:AlternateContent xmlns:mc="http://schemas.openxmlformats.org/markup-compatibility/2006">
              <mc:Choice xmlns:v="urn:schemas-microsoft-com:vml" Requires="v">
                <p:oleObj name="oleObj" r:id="rId5" imgW="21120100" imgH="13995400" progId="Excel.Sheet.12">
                  <p:embed/>
                </p:oleObj>
              </mc:Choice>
              <mc:Fallback>
                <p:oleObj name="oleObj" r:id="rId5" imgW="21120100" imgH="13995400" progId="Excel.Sheet.12">
                  <p:embed/>
                  <p:pic>
                    <p:nvPicPr>
                      <p:cNvPr id="1352977913" name="Object 7"/>
                      <p:cNvPicPr/>
                      <p:nvPr/>
                    </p:nvPicPr>
                    <p:blipFill rotWithShape="1">
                      <a:blip r:embed="rId6"/>
                      <a:stretch/>
                    </p:blipFill>
                    <p:spPr bwMode="auto">
                      <a:xfrm>
                        <a:off x="-1045799" y="228599"/>
                        <a:ext cx="20821649" cy="12020549"/>
                      </a:xfrm>
                      <a:prstGeom prst="rect">
                        <a:avLst/>
                      </a:prstGeom>
                    </p:spPr>
                  </p:pic>
                </p:oleObj>
              </mc:Fallback>
            </mc:AlternateContent>
          </a:graphicData>
        </a:graphic>
      </p:graphicFrame>
    </p:spTree>
  </p:cSld>
  <p:clrMapOvr>
    <a:masterClrMapping/>
  </p:clrMapOvr>
  <mc:AlternateContent xmlns:mc="http://schemas.openxmlformats.org/markup-compatibility/2006" xmlns:p159="http://schemas.microsoft.com/office/powerpoint/2015/09/main">
    <mc:Choice Requires="p159">
      <p:transition>
        <p:fade/>
      </p:transition>
    </mc:Choice>
    <mc:Fallback xmlns="" xmlns:m="http://schemas.openxmlformats.org/officeDocument/2006/math" xmlns:w="http://schemas.openxmlformats.org/wordprocessingml/2006/main">
      <p:transition spd="fast" advClick="1">
        <p:fade thruBlk="0"/>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grpSp>
        <p:nvGrpSpPr>
          <p:cNvPr id="1748949987" name="Group 2"/>
          <p:cNvGrpSpPr/>
          <p:nvPr/>
        </p:nvGrpSpPr>
        <p:grpSpPr bwMode="auto">
          <a:xfrm>
            <a:off x="11649142" y="921287"/>
            <a:ext cx="5610158" cy="381495"/>
            <a:chOff x="0" y="0"/>
            <a:chExt cx="7175411" cy="487934"/>
          </a:xfrm>
        </p:grpSpPr>
        <p:sp>
          <p:nvSpPr>
            <p:cNvPr id="3" name="Freeform 3"/>
            <p:cNvSpPr/>
            <p:nvPr/>
          </p:nvSpPr>
          <p:spPr bwMode="auto">
            <a:xfrm flipV="1">
              <a:off x="0" y="0"/>
              <a:ext cx="7175373" cy="487934"/>
            </a:xfrm>
            <a:custGeom>
              <a:avLst/>
              <a:gdLst/>
              <a:ahLst/>
              <a:cxnLst/>
              <a:rect l="l" t="t" r="r" b="b"/>
              <a:pathLst>
                <a:path w="7175373" h="487934" extrusionOk="0">
                  <a:moveTo>
                    <a:pt x="0" y="487934"/>
                  </a:moveTo>
                  <a:lnTo>
                    <a:pt x="7175373" y="487934"/>
                  </a:lnTo>
                  <a:lnTo>
                    <a:pt x="7175373" y="0"/>
                  </a:lnTo>
                  <a:lnTo>
                    <a:pt x="0" y="0"/>
                  </a:lnTo>
                  <a:lnTo>
                    <a:pt x="0" y="487934"/>
                  </a:lnTo>
                  <a:close/>
                </a:path>
              </a:pathLst>
            </a:custGeom>
            <a:blipFill rotWithShape="1">
              <a:blip r:embed="rId3"/>
              <a:stretch>
                <a:fillRect b="-575"/>
              </a:stretch>
            </a:blipFill>
          </p:spPr>
          <p:txBody>
            <a:bodyPr/>
            <a:lstStyle/>
            <a:p>
              <a:endParaRPr lang="en-US"/>
            </a:p>
          </p:txBody>
        </p:sp>
      </p:grpSp>
      <p:grpSp>
        <p:nvGrpSpPr>
          <p:cNvPr id="172515720" name="Group 4"/>
          <p:cNvGrpSpPr/>
          <p:nvPr/>
        </p:nvGrpSpPr>
        <p:grpSpPr bwMode="auto">
          <a:xfrm>
            <a:off x="129846" y="151069"/>
            <a:ext cx="12136163" cy="1151713"/>
            <a:chOff x="0" y="0"/>
            <a:chExt cx="18607556" cy="1765844"/>
          </a:xfrm>
        </p:grpSpPr>
        <p:sp>
          <p:nvSpPr>
            <p:cNvPr id="5" name="Freeform 5"/>
            <p:cNvSpPr/>
            <p:nvPr/>
          </p:nvSpPr>
          <p:spPr bwMode="auto">
            <a:xfrm>
              <a:off x="0" y="0"/>
              <a:ext cx="18607556" cy="1765837"/>
            </a:xfrm>
            <a:custGeom>
              <a:avLst/>
              <a:gdLst/>
              <a:ahLst/>
              <a:cxnLst/>
              <a:rect l="l" t="t" r="r" b="b"/>
              <a:pathLst>
                <a:path w="18607556" h="1765837" extrusionOk="0">
                  <a:moveTo>
                    <a:pt x="0" y="0"/>
                  </a:moveTo>
                  <a:lnTo>
                    <a:pt x="18607556" y="0"/>
                  </a:lnTo>
                  <a:lnTo>
                    <a:pt x="18607556" y="1765837"/>
                  </a:lnTo>
                  <a:lnTo>
                    <a:pt x="0" y="1765837"/>
                  </a:lnTo>
                  <a:close/>
                </a:path>
              </a:pathLst>
            </a:custGeom>
            <a:blipFill rotWithShape="1">
              <a:blip r:embed="rId4">
                <a:alphaModFix amt="0"/>
              </a:blip>
              <a:stretch>
                <a:fillRect t="-183469" r="-13025" b="-180664"/>
              </a:stretch>
            </a:blipFill>
          </p:spPr>
          <p:txBody>
            <a:bodyPr/>
            <a:lstStyle/>
            <a:p>
              <a:endParaRPr lang="en-US"/>
            </a:p>
          </p:txBody>
        </p:sp>
        <p:sp>
          <p:nvSpPr>
            <p:cNvPr id="6" name="TextBox 6"/>
            <p:cNvSpPr txBox="1"/>
            <p:nvPr/>
          </p:nvSpPr>
          <p:spPr bwMode="auto">
            <a:xfrm>
              <a:off x="0" y="-85725"/>
              <a:ext cx="18607556" cy="1851569"/>
            </a:xfrm>
            <a:prstGeom prst="rect">
              <a:avLst/>
            </a:prstGeom>
            <a:grpFill/>
          </p:spPr>
          <p:txBody>
            <a:bodyPr lIns="0" tIns="0" rIns="0" bIns="0" rtlCol="0" anchor="ctr"/>
            <a:lstStyle/>
            <a:p>
              <a:pPr algn="ctr">
                <a:lnSpc>
                  <a:spcPts val="7451"/>
                </a:lnSpc>
                <a:defRPr/>
              </a:pPr>
              <a:r>
                <a:rPr lang="en-US" sz="5400" b="1">
                  <a:solidFill>
                    <a:srgbClr val="10439A"/>
                  </a:solidFill>
                  <a:latin typeface="Tahoma Bold"/>
                  <a:ea typeface="Tahoma Bold"/>
                  <a:cs typeface="Tahoma Bold"/>
                </a:rPr>
                <a:t>CHIA NHIỆM VỤ THEO TODOLIST</a:t>
              </a:r>
              <a:endParaRPr/>
            </a:p>
          </p:txBody>
        </p:sp>
      </p:grpSp>
      <p:graphicFrame>
        <p:nvGraphicFramePr>
          <p:cNvPr id="2018153597" name="Table 2018153596"/>
          <p:cNvGraphicFramePr>
            <a:graphicFrameLocks/>
          </p:cNvGraphicFramePr>
          <p:nvPr/>
        </p:nvGraphicFramePr>
        <p:xfrm>
          <a:off x="97199" y="1314450"/>
          <a:ext cx="18059398" cy="8743946"/>
        </p:xfrm>
        <a:graphic>
          <a:graphicData uri="http://schemas.openxmlformats.org/drawingml/2006/table">
            <a:tbl>
              <a:tblPr firstRow="1" firstCol="1" bandRow="1"/>
              <a:tblGrid>
                <a:gridCol w="5805731">
                  <a:extLst>
                    <a:ext uri="{9D8B030D-6E8A-4147-A177-3AD203B41FA5}">
                      <a16:colId xmlns:a16="http://schemas.microsoft.com/office/drawing/2014/main" val="20000"/>
                    </a:ext>
                  </a:extLst>
                </a:gridCol>
                <a:gridCol w="6374080">
                  <a:extLst>
                    <a:ext uri="{9D8B030D-6E8A-4147-A177-3AD203B41FA5}">
                      <a16:colId xmlns:a16="http://schemas.microsoft.com/office/drawing/2014/main" val="20001"/>
                    </a:ext>
                  </a:extLst>
                </a:gridCol>
                <a:gridCol w="1701345">
                  <a:extLst>
                    <a:ext uri="{9D8B030D-6E8A-4147-A177-3AD203B41FA5}">
                      <a16:colId xmlns:a16="http://schemas.microsoft.com/office/drawing/2014/main" val="20002"/>
                    </a:ext>
                  </a:extLst>
                </a:gridCol>
                <a:gridCol w="4178242">
                  <a:extLst>
                    <a:ext uri="{9D8B030D-6E8A-4147-A177-3AD203B41FA5}">
                      <a16:colId xmlns:a16="http://schemas.microsoft.com/office/drawing/2014/main" val="20003"/>
                    </a:ext>
                  </a:extLst>
                </a:gridCol>
              </a:tblGrid>
              <a:tr h="586971">
                <a:tc>
                  <a:txBody>
                    <a:bodyPr/>
                    <a:lstStyle/>
                    <a:p>
                      <a:pPr>
                        <a:defRPr/>
                      </a:pPr>
                      <a:r>
                        <a:rPr sz="2400" b="1" i="0" u="none">
                          <a:solidFill>
                            <a:srgbClr val="000000"/>
                          </a:solidFill>
                          <a:latin typeface="Times New Roman"/>
                          <a:ea typeface="Times New Roman"/>
                          <a:cs typeface="Times New Roman"/>
                        </a:rPr>
                        <a:t>Nội dung</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D9D9D9"/>
                    </a:solidFill>
                  </a:tcPr>
                </a:tc>
                <a:tc>
                  <a:txBody>
                    <a:bodyPr/>
                    <a:lstStyle/>
                    <a:p>
                      <a:pPr>
                        <a:defRPr/>
                      </a:pPr>
                      <a:r>
                        <a:rPr sz="2400" b="1" i="0" u="none">
                          <a:solidFill>
                            <a:srgbClr val="000000"/>
                          </a:solidFill>
                          <a:latin typeface="Times New Roman"/>
                          <a:ea typeface="Times New Roman"/>
                          <a:cs typeface="Times New Roman"/>
                        </a:rPr>
                        <a:t>Mô tả nội dung</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D9D9D9"/>
                    </a:solidFill>
                  </a:tcPr>
                </a:tc>
                <a:tc>
                  <a:txBody>
                    <a:bodyPr/>
                    <a:lstStyle/>
                    <a:p>
                      <a:pPr>
                        <a:defRPr/>
                      </a:pPr>
                      <a:r>
                        <a:rPr sz="2400" b="1" i="0" u="none">
                          <a:solidFill>
                            <a:srgbClr val="000000"/>
                          </a:solidFill>
                          <a:latin typeface="Times New Roman"/>
                          <a:ea typeface="Times New Roman"/>
                          <a:cs typeface="Times New Roman"/>
                        </a:rPr>
                        <a:t>Tuần</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D9D9D9"/>
                    </a:solidFill>
                  </a:tcPr>
                </a:tc>
                <a:tc>
                  <a:txBody>
                    <a:bodyPr/>
                    <a:lstStyle/>
                    <a:p>
                      <a:pPr>
                        <a:defRPr/>
                      </a:pPr>
                      <a:r>
                        <a:rPr sz="2400" b="1" i="0" u="none">
                          <a:solidFill>
                            <a:srgbClr val="000000"/>
                          </a:solidFill>
                          <a:latin typeface="Times New Roman"/>
                          <a:ea typeface="Times New Roman"/>
                          <a:cs typeface="Times New Roman"/>
                        </a:rPr>
                        <a:t>Ngưởi đảm nhận</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D9D9D9"/>
                    </a:solidFill>
                  </a:tcPr>
                </a:tc>
                <a:extLst>
                  <a:ext uri="{0D108BD9-81ED-4DB2-BD59-A6C34878D82A}">
                    <a16:rowId xmlns:a16="http://schemas.microsoft.com/office/drawing/2014/main" val="10000"/>
                  </a:ext>
                </a:extLst>
              </a:tr>
              <a:tr h="852160">
                <a:tc>
                  <a:txBody>
                    <a:bodyPr/>
                    <a:lstStyle/>
                    <a:p>
                      <a:pPr>
                        <a:defRPr/>
                      </a:pPr>
                      <a:r>
                        <a:rPr sz="2400" b="0" i="0" u="none">
                          <a:solidFill>
                            <a:srgbClr val="000000"/>
                          </a:solidFill>
                          <a:latin typeface="Times New Roman"/>
                          <a:ea typeface="Times New Roman"/>
                          <a:cs typeface="Times New Roman"/>
                        </a:rPr>
                        <a:t>Giao tiếp I2C cảm biến nhiệt độ MLX90614</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FFFFF"/>
                    </a:solidFill>
                  </a:tcPr>
                </a:tc>
                <a:tc>
                  <a:txBody>
                    <a:bodyPr/>
                    <a:lstStyle/>
                    <a:p>
                      <a:pPr>
                        <a:defRPr/>
                      </a:pPr>
                      <a:r>
                        <a:rPr sz="2400" b="0" i="0" u="none">
                          <a:solidFill>
                            <a:srgbClr val="000000"/>
                          </a:solidFill>
                          <a:latin typeface="Times New Roman"/>
                          <a:ea typeface="Times New Roman"/>
                          <a:cs typeface="Times New Roman"/>
                        </a:rPr>
                        <a:t>Đọc dữ liệu nhiệt độ qua I2C, kiểm tra độ chính xác</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FFFFF"/>
                    </a:solidFill>
                  </a:tcPr>
                </a:tc>
                <a:tc>
                  <a:txBody>
                    <a:bodyPr/>
                    <a:lstStyle/>
                    <a:p>
                      <a:pPr>
                        <a:defRPr/>
                      </a:pPr>
                      <a:r>
                        <a:rPr sz="2400" b="0" i="0" u="none">
                          <a:solidFill>
                            <a:srgbClr val="000000"/>
                          </a:solidFill>
                          <a:latin typeface="Times New Roman"/>
                          <a:ea typeface="Times New Roman"/>
                          <a:cs typeface="Times New Roman"/>
                        </a:rPr>
                        <a:t>Tuần 2</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FFFFF"/>
                    </a:solidFill>
                  </a:tcPr>
                </a:tc>
                <a:tc>
                  <a:txBody>
                    <a:bodyPr/>
                    <a:lstStyle/>
                    <a:p>
                      <a:pPr>
                        <a:defRPr/>
                      </a:pPr>
                      <a:r>
                        <a:rPr sz="2400" b="0" i="0" u="none">
                          <a:solidFill>
                            <a:srgbClr val="000000"/>
                          </a:solidFill>
                          <a:latin typeface="Times New Roman"/>
                          <a:ea typeface="Times New Roman"/>
                          <a:cs typeface="Times New Roman"/>
                        </a:rPr>
                        <a:t>Dương Lê Hoàng Phương</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FFFFF"/>
                    </a:solidFill>
                  </a:tcPr>
                </a:tc>
                <a:extLst>
                  <a:ext uri="{0D108BD9-81ED-4DB2-BD59-A6C34878D82A}">
                    <a16:rowId xmlns:a16="http://schemas.microsoft.com/office/drawing/2014/main" val="10001"/>
                  </a:ext>
                </a:extLst>
              </a:tr>
              <a:tr h="852160">
                <a:tc>
                  <a:txBody>
                    <a:bodyPr/>
                    <a:lstStyle/>
                    <a:p>
                      <a:pPr>
                        <a:defRPr/>
                      </a:pPr>
                      <a:r>
                        <a:rPr sz="2400" b="0" i="0" u="none">
                          <a:solidFill>
                            <a:srgbClr val="000000"/>
                          </a:solidFill>
                          <a:latin typeface="Times New Roman"/>
                          <a:ea typeface="Times New Roman"/>
                          <a:cs typeface="Times New Roman"/>
                        </a:rPr>
                        <a:t>Giao tiếp I2C cảm biến nhịp tim MAX30102</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FFFFF"/>
                    </a:solidFill>
                  </a:tcPr>
                </a:tc>
                <a:tc>
                  <a:txBody>
                    <a:bodyPr/>
                    <a:lstStyle/>
                    <a:p>
                      <a:pPr>
                        <a:defRPr/>
                      </a:pPr>
                      <a:r>
                        <a:rPr sz="2400" b="0" i="0" u="none">
                          <a:solidFill>
                            <a:srgbClr val="000000"/>
                          </a:solidFill>
                          <a:latin typeface="Times New Roman"/>
                          <a:ea typeface="Times New Roman"/>
                          <a:cs typeface="Times New Roman"/>
                        </a:rPr>
                        <a:t>Đọc dữ liệu nhịp tim, lọc nhiễu cơ bản</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FFFFF"/>
                    </a:solidFill>
                  </a:tcPr>
                </a:tc>
                <a:tc>
                  <a:txBody>
                    <a:bodyPr/>
                    <a:lstStyle/>
                    <a:p>
                      <a:pPr>
                        <a:defRPr/>
                      </a:pPr>
                      <a:r>
                        <a:rPr sz="2400" b="0" i="0" u="none">
                          <a:solidFill>
                            <a:srgbClr val="000000"/>
                          </a:solidFill>
                          <a:latin typeface="Times New Roman"/>
                          <a:ea typeface="Times New Roman"/>
                          <a:cs typeface="Times New Roman"/>
                        </a:rPr>
                        <a:t>Tuần 3</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FFFFF"/>
                    </a:solidFill>
                  </a:tcPr>
                </a:tc>
                <a:tc>
                  <a:txBody>
                    <a:bodyPr/>
                    <a:lstStyle/>
                    <a:p>
                      <a:pPr>
                        <a:defRPr/>
                      </a:pPr>
                      <a:r>
                        <a:rPr sz="2400" b="0" i="0" u="none">
                          <a:solidFill>
                            <a:srgbClr val="000000"/>
                          </a:solidFill>
                          <a:latin typeface="Times New Roman"/>
                          <a:ea typeface="Times New Roman"/>
                          <a:cs typeface="Times New Roman"/>
                        </a:rPr>
                        <a:t>Dương Lê Hoàng Phương</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FFFFF"/>
                    </a:solidFill>
                  </a:tcPr>
                </a:tc>
                <a:extLst>
                  <a:ext uri="{0D108BD9-81ED-4DB2-BD59-A6C34878D82A}">
                    <a16:rowId xmlns:a16="http://schemas.microsoft.com/office/drawing/2014/main" val="10002"/>
                  </a:ext>
                </a:extLst>
              </a:tr>
              <a:tr h="717490">
                <a:tc>
                  <a:txBody>
                    <a:bodyPr/>
                    <a:lstStyle/>
                    <a:p>
                      <a:pPr>
                        <a:defRPr/>
                      </a:pPr>
                      <a:r>
                        <a:rPr sz="2400" b="0" i="0" u="none">
                          <a:solidFill>
                            <a:srgbClr val="000000"/>
                          </a:solidFill>
                          <a:latin typeface="Times New Roman"/>
                          <a:ea typeface="Times New Roman"/>
                          <a:cs typeface="Times New Roman"/>
                        </a:rPr>
                        <a:t>Hiển thị dữ liệu lên LCD</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FFFFF"/>
                    </a:solidFill>
                  </a:tcPr>
                </a:tc>
                <a:tc>
                  <a:txBody>
                    <a:bodyPr/>
                    <a:lstStyle/>
                    <a:p>
                      <a:pPr>
                        <a:defRPr/>
                      </a:pPr>
                      <a:r>
                        <a:rPr sz="2400" b="0" i="0" u="none">
                          <a:solidFill>
                            <a:srgbClr val="000000"/>
                          </a:solidFill>
                          <a:latin typeface="Times New Roman"/>
                          <a:ea typeface="Times New Roman"/>
                          <a:cs typeface="Times New Roman"/>
                        </a:rPr>
                        <a:t>Hiển thị kết quả đo trực tiếp trên kiosk</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FFFFF"/>
                    </a:solidFill>
                  </a:tcPr>
                </a:tc>
                <a:tc>
                  <a:txBody>
                    <a:bodyPr/>
                    <a:lstStyle/>
                    <a:p>
                      <a:pPr>
                        <a:defRPr/>
                      </a:pPr>
                      <a:r>
                        <a:rPr sz="2400" b="0" i="0" u="none">
                          <a:solidFill>
                            <a:srgbClr val="000000"/>
                          </a:solidFill>
                          <a:latin typeface="Times New Roman"/>
                          <a:ea typeface="Times New Roman"/>
                          <a:cs typeface="Times New Roman"/>
                        </a:rPr>
                        <a:t>Tuần 4</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FFFFF"/>
                    </a:solidFill>
                  </a:tcPr>
                </a:tc>
                <a:tc>
                  <a:txBody>
                    <a:bodyPr/>
                    <a:lstStyle/>
                    <a:p>
                      <a:pPr>
                        <a:defRPr/>
                      </a:pPr>
                      <a:r>
                        <a:rPr sz="2400" b="0" i="0" u="none">
                          <a:solidFill>
                            <a:srgbClr val="000000"/>
                          </a:solidFill>
                          <a:latin typeface="Times New Roman"/>
                          <a:ea typeface="Times New Roman"/>
                          <a:cs typeface="Times New Roman"/>
                        </a:rPr>
                        <a:t>Dương Lê Hoàng Phương</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FFFFF"/>
                    </a:solidFill>
                  </a:tcPr>
                </a:tc>
                <a:extLst>
                  <a:ext uri="{0D108BD9-81ED-4DB2-BD59-A6C34878D82A}">
                    <a16:rowId xmlns:a16="http://schemas.microsoft.com/office/drawing/2014/main" val="10003"/>
                  </a:ext>
                </a:extLst>
              </a:tr>
              <a:tr h="717490">
                <a:tc>
                  <a:txBody>
                    <a:bodyPr/>
                    <a:lstStyle/>
                    <a:p>
                      <a:pPr>
                        <a:defRPr/>
                      </a:pPr>
                      <a:r>
                        <a:rPr sz="2400" b="0" i="0" u="none">
                          <a:solidFill>
                            <a:srgbClr val="000000"/>
                          </a:solidFill>
                          <a:latin typeface="Times New Roman"/>
                          <a:ea typeface="Times New Roman"/>
                          <a:cs typeface="Times New Roman"/>
                        </a:rPr>
                        <a:t>In dữ liệu qua UART</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FFFFF"/>
                    </a:solidFill>
                  </a:tcPr>
                </a:tc>
                <a:tc>
                  <a:txBody>
                    <a:bodyPr/>
                    <a:lstStyle/>
                    <a:p>
                      <a:pPr>
                        <a:defRPr/>
                      </a:pPr>
                      <a:r>
                        <a:rPr sz="2400" b="0" i="0" u="none">
                          <a:solidFill>
                            <a:srgbClr val="000000"/>
                          </a:solidFill>
                          <a:latin typeface="Times New Roman"/>
                          <a:ea typeface="Times New Roman"/>
                          <a:cs typeface="Times New Roman"/>
                        </a:rPr>
                        <a:t>Debug/log dữ liệu qua UART</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FFFFF"/>
                    </a:solidFill>
                  </a:tcPr>
                </a:tc>
                <a:tc>
                  <a:txBody>
                    <a:bodyPr/>
                    <a:lstStyle/>
                    <a:p>
                      <a:pPr>
                        <a:defRPr/>
                      </a:pPr>
                      <a:r>
                        <a:rPr sz="2400" b="0" i="0" u="none">
                          <a:solidFill>
                            <a:srgbClr val="000000"/>
                          </a:solidFill>
                          <a:latin typeface="Times New Roman"/>
                          <a:ea typeface="Times New Roman"/>
                          <a:cs typeface="Times New Roman"/>
                        </a:rPr>
                        <a:t>Tuần 5</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FFFFF"/>
                    </a:solidFill>
                  </a:tcPr>
                </a:tc>
                <a:tc>
                  <a:txBody>
                    <a:bodyPr/>
                    <a:lstStyle/>
                    <a:p>
                      <a:pPr>
                        <a:defRPr/>
                      </a:pPr>
                      <a:r>
                        <a:rPr sz="2400" b="0" i="0" u="none">
                          <a:solidFill>
                            <a:srgbClr val="000000"/>
                          </a:solidFill>
                          <a:latin typeface="Times New Roman"/>
                          <a:ea typeface="Times New Roman"/>
                          <a:cs typeface="Times New Roman"/>
                        </a:rPr>
                        <a:t>Dương Lê Hoàng Phương</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FFFFF"/>
                    </a:solidFill>
                  </a:tcPr>
                </a:tc>
                <a:extLst>
                  <a:ext uri="{0D108BD9-81ED-4DB2-BD59-A6C34878D82A}">
                    <a16:rowId xmlns:a16="http://schemas.microsoft.com/office/drawing/2014/main" val="10004"/>
                  </a:ext>
                </a:extLst>
              </a:tr>
              <a:tr h="758251">
                <a:tc>
                  <a:txBody>
                    <a:bodyPr/>
                    <a:lstStyle/>
                    <a:p>
                      <a:pPr>
                        <a:defRPr/>
                      </a:pPr>
                      <a:r>
                        <a:rPr sz="2400" b="0" i="0" u="none">
                          <a:solidFill>
                            <a:srgbClr val="000000"/>
                          </a:solidFill>
                          <a:latin typeface="Times New Roman"/>
                          <a:ea typeface="Times New Roman"/>
                          <a:cs typeface="Times New Roman"/>
                        </a:rPr>
                        <a:t>Chốt schema dữ liệu cảm biến JSON</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FFFFF"/>
                    </a:solidFill>
                  </a:tcPr>
                </a:tc>
                <a:tc>
                  <a:txBody>
                    <a:bodyPr/>
                    <a:lstStyle/>
                    <a:p>
                      <a:pPr>
                        <a:defRPr/>
                      </a:pPr>
                      <a:r>
                        <a:rPr sz="2400" b="0" i="0" u="none">
                          <a:solidFill>
                            <a:srgbClr val="000000"/>
                          </a:solidFill>
                          <a:latin typeface="Times New Roman"/>
                          <a:ea typeface="Times New Roman"/>
                          <a:cs typeface="Times New Roman"/>
                        </a:rPr>
                        <a:t>Định dạng JSON chuẩn để B xây API lưu DB</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FFFFF"/>
                    </a:solidFill>
                  </a:tcPr>
                </a:tc>
                <a:tc>
                  <a:txBody>
                    <a:bodyPr/>
                    <a:lstStyle/>
                    <a:p>
                      <a:pPr>
                        <a:defRPr/>
                      </a:pPr>
                      <a:r>
                        <a:rPr sz="2400" b="0" i="0" u="none">
                          <a:solidFill>
                            <a:srgbClr val="000000"/>
                          </a:solidFill>
                          <a:latin typeface="Times New Roman"/>
                          <a:ea typeface="Times New Roman"/>
                          <a:cs typeface="Times New Roman"/>
                        </a:rPr>
                        <a:t>Tuần 4</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FFFFF"/>
                    </a:solidFill>
                  </a:tcPr>
                </a:tc>
                <a:tc>
                  <a:txBody>
                    <a:bodyPr/>
                    <a:lstStyle/>
                    <a:p>
                      <a:pPr>
                        <a:defRPr/>
                      </a:pPr>
                      <a:r>
                        <a:rPr sz="2400" b="0" i="0" u="none">
                          <a:solidFill>
                            <a:srgbClr val="000000"/>
                          </a:solidFill>
                          <a:latin typeface="Times New Roman"/>
                          <a:ea typeface="Times New Roman"/>
                          <a:cs typeface="Times New Roman"/>
                        </a:rPr>
                        <a:t>Dương Lê Hoàng Phương</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FFFFF"/>
                    </a:solidFill>
                  </a:tcPr>
                </a:tc>
                <a:extLst>
                  <a:ext uri="{0D108BD9-81ED-4DB2-BD59-A6C34878D82A}">
                    <a16:rowId xmlns:a16="http://schemas.microsoft.com/office/drawing/2014/main" val="10005"/>
                  </a:ext>
                </a:extLst>
              </a:tr>
              <a:tr h="852160">
                <a:tc>
                  <a:txBody>
                    <a:bodyPr/>
                    <a:lstStyle/>
                    <a:p>
                      <a:pPr>
                        <a:defRPr/>
                      </a:pPr>
                      <a:r>
                        <a:rPr sz="2400" b="0" i="0" u="none">
                          <a:solidFill>
                            <a:srgbClr val="000000"/>
                          </a:solidFill>
                          <a:latin typeface="Times New Roman"/>
                          <a:ea typeface="Times New Roman"/>
                          <a:cs typeface="Times New Roman"/>
                        </a:rPr>
                        <a:t>Dựng MQTT broker Mosquitto  </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FFFFF"/>
                    </a:solidFill>
                  </a:tcPr>
                </a:tc>
                <a:tc>
                  <a:txBody>
                    <a:bodyPr/>
                    <a:lstStyle/>
                    <a:p>
                      <a:pPr>
                        <a:defRPr/>
                      </a:pPr>
                      <a:r>
                        <a:rPr sz="2400" b="0" i="0" u="none">
                          <a:solidFill>
                            <a:srgbClr val="000000"/>
                          </a:solidFill>
                          <a:latin typeface="Times New Roman"/>
                          <a:ea typeface="Times New Roman"/>
                          <a:cs typeface="Times New Roman"/>
                        </a:rPr>
                        <a:t>Cấu hình broker, test publish/subscribe cơ bản</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FFFFF"/>
                    </a:solidFill>
                  </a:tcPr>
                </a:tc>
                <a:tc>
                  <a:txBody>
                    <a:bodyPr/>
                    <a:lstStyle/>
                    <a:p>
                      <a:pPr>
                        <a:defRPr/>
                      </a:pPr>
                      <a:r>
                        <a:rPr sz="2400" b="0" i="0" u="none">
                          <a:solidFill>
                            <a:srgbClr val="000000"/>
                          </a:solidFill>
                          <a:latin typeface="Times New Roman"/>
                          <a:ea typeface="Times New Roman"/>
                          <a:cs typeface="Times New Roman"/>
                        </a:rPr>
                        <a:t>Tuần 2</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FFFFF"/>
                    </a:solidFill>
                  </a:tcPr>
                </a:tc>
                <a:tc>
                  <a:txBody>
                    <a:bodyPr/>
                    <a:lstStyle/>
                    <a:p>
                      <a:pPr>
                        <a:defRPr/>
                      </a:pPr>
                      <a:r>
                        <a:rPr sz="2400" b="0" i="0" u="none">
                          <a:solidFill>
                            <a:srgbClr val="000000"/>
                          </a:solidFill>
                          <a:latin typeface="Times New Roman"/>
                          <a:ea typeface="Times New Roman"/>
                          <a:cs typeface="Times New Roman"/>
                        </a:rPr>
                        <a:t>Vòng Thế Kiệt </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FFFFF"/>
                    </a:solidFill>
                  </a:tcPr>
                </a:tc>
                <a:extLst>
                  <a:ext uri="{0D108BD9-81ED-4DB2-BD59-A6C34878D82A}">
                    <a16:rowId xmlns:a16="http://schemas.microsoft.com/office/drawing/2014/main" val="10006"/>
                  </a:ext>
                </a:extLst>
              </a:tr>
              <a:tr h="567648">
                <a:tc>
                  <a:txBody>
                    <a:bodyPr/>
                    <a:lstStyle/>
                    <a:p>
                      <a:pPr>
                        <a:defRPr/>
                      </a:pPr>
                      <a:r>
                        <a:rPr sz="2400" b="0" i="0" u="none">
                          <a:solidFill>
                            <a:srgbClr val="000000"/>
                          </a:solidFill>
                          <a:latin typeface="Times New Roman"/>
                          <a:ea typeface="Times New Roman"/>
                          <a:cs typeface="Times New Roman"/>
                        </a:rPr>
                        <a:t>Xây backend Node.js subscribe MQTT</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FFFFF"/>
                    </a:solidFill>
                  </a:tcPr>
                </a:tc>
                <a:tc>
                  <a:txBody>
                    <a:bodyPr/>
                    <a:lstStyle/>
                    <a:p>
                      <a:pPr>
                        <a:defRPr/>
                      </a:pPr>
                      <a:r>
                        <a:rPr sz="2400" b="0" i="0" u="none">
                          <a:solidFill>
                            <a:srgbClr val="000000"/>
                          </a:solidFill>
                          <a:latin typeface="Times New Roman"/>
                          <a:ea typeface="Times New Roman"/>
                          <a:cs typeface="Times New Roman"/>
                        </a:rPr>
                        <a:t>Nhận dữ liệu từ A, xử lý và chuẩn hóa</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FFFFF"/>
                    </a:solidFill>
                  </a:tcPr>
                </a:tc>
                <a:tc>
                  <a:txBody>
                    <a:bodyPr/>
                    <a:lstStyle/>
                    <a:p>
                      <a:pPr>
                        <a:defRPr/>
                      </a:pPr>
                      <a:r>
                        <a:rPr sz="2400" b="0" i="0" u="none">
                          <a:solidFill>
                            <a:srgbClr val="000000"/>
                          </a:solidFill>
                          <a:latin typeface="Times New Roman"/>
                          <a:ea typeface="Times New Roman"/>
                          <a:cs typeface="Times New Roman"/>
                        </a:rPr>
                        <a:t>Tuần 4</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FFFFF"/>
                    </a:solidFill>
                  </a:tcPr>
                </a:tc>
                <a:tc>
                  <a:txBody>
                    <a:bodyPr/>
                    <a:lstStyle/>
                    <a:p>
                      <a:pPr>
                        <a:defRPr/>
                      </a:pPr>
                      <a:r>
                        <a:rPr sz="2400" b="0" i="0" u="none">
                          <a:solidFill>
                            <a:srgbClr val="000000"/>
                          </a:solidFill>
                          <a:latin typeface="Times New Roman"/>
                          <a:ea typeface="Times New Roman"/>
                          <a:cs typeface="Times New Roman"/>
                        </a:rPr>
                        <a:t>Vòng Thế Kiệt </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FFFFF"/>
                    </a:solidFill>
                  </a:tcPr>
                </a:tc>
                <a:extLst>
                  <a:ext uri="{0D108BD9-81ED-4DB2-BD59-A6C34878D82A}">
                    <a16:rowId xmlns:a16="http://schemas.microsoft.com/office/drawing/2014/main" val="10007"/>
                  </a:ext>
                </a:extLst>
              </a:tr>
              <a:tr h="852160">
                <a:tc>
                  <a:txBody>
                    <a:bodyPr/>
                    <a:lstStyle/>
                    <a:p>
                      <a:pPr>
                        <a:defRPr/>
                      </a:pPr>
                      <a:r>
                        <a:rPr sz="2400" b="0" i="0" u="none">
                          <a:solidFill>
                            <a:srgbClr val="000000"/>
                          </a:solidFill>
                          <a:latin typeface="Times New Roman"/>
                          <a:ea typeface="Times New Roman"/>
                          <a:cs typeface="Times New Roman"/>
                        </a:rPr>
                        <a:t>Thiết kế và dựng database</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FFFFF"/>
                    </a:solidFill>
                  </a:tcPr>
                </a:tc>
                <a:tc>
                  <a:txBody>
                    <a:bodyPr/>
                    <a:lstStyle/>
                    <a:p>
                      <a:pPr>
                        <a:defRPr/>
                      </a:pPr>
                      <a:r>
                        <a:rPr sz="2400" b="0" i="0" u="none">
                          <a:solidFill>
                            <a:srgbClr val="000000"/>
                          </a:solidFill>
                          <a:latin typeface="Times New Roman"/>
                          <a:ea typeface="Times New Roman"/>
                          <a:cs typeface="Times New Roman"/>
                        </a:rPr>
                        <a:t>Schema lưu trữ dữ liệu bệnh nhân/đo lường</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FFFFF"/>
                    </a:solidFill>
                  </a:tcPr>
                </a:tc>
                <a:tc>
                  <a:txBody>
                    <a:bodyPr/>
                    <a:lstStyle/>
                    <a:p>
                      <a:pPr>
                        <a:defRPr/>
                      </a:pPr>
                      <a:r>
                        <a:rPr sz="2400" b="0" i="0" u="none">
                          <a:solidFill>
                            <a:srgbClr val="000000"/>
                          </a:solidFill>
                          <a:latin typeface="Times New Roman"/>
                          <a:ea typeface="Times New Roman"/>
                          <a:cs typeface="Times New Roman"/>
                        </a:rPr>
                        <a:t>Tuần 4</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FFFFF"/>
                    </a:solidFill>
                  </a:tcPr>
                </a:tc>
                <a:tc>
                  <a:txBody>
                    <a:bodyPr/>
                    <a:lstStyle/>
                    <a:p>
                      <a:pPr>
                        <a:defRPr/>
                      </a:pPr>
                      <a:r>
                        <a:rPr sz="2400" b="0" i="0" u="none">
                          <a:solidFill>
                            <a:srgbClr val="000000"/>
                          </a:solidFill>
                          <a:latin typeface="Times New Roman"/>
                          <a:ea typeface="Times New Roman"/>
                          <a:cs typeface="Times New Roman"/>
                        </a:rPr>
                        <a:t>Vòng Thế Kiệt </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FFFFF"/>
                    </a:solidFill>
                  </a:tcPr>
                </a:tc>
                <a:extLst>
                  <a:ext uri="{0D108BD9-81ED-4DB2-BD59-A6C34878D82A}">
                    <a16:rowId xmlns:a16="http://schemas.microsoft.com/office/drawing/2014/main" val="10008"/>
                  </a:ext>
                </a:extLst>
              </a:tr>
              <a:tr h="567648">
                <a:tc>
                  <a:txBody>
                    <a:bodyPr/>
                    <a:lstStyle/>
                    <a:p>
                      <a:pPr>
                        <a:defRPr/>
                      </a:pPr>
                      <a:r>
                        <a:rPr sz="2400" b="0" i="0" u="none">
                          <a:solidFill>
                            <a:srgbClr val="000000"/>
                          </a:solidFill>
                          <a:latin typeface="Times New Roman"/>
                          <a:ea typeface="Times New Roman"/>
                          <a:cs typeface="Times New Roman"/>
                        </a:rPr>
                        <a:t>Xây dashboard React/Vite cho bác sĩ</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FFFFF"/>
                    </a:solidFill>
                  </a:tcPr>
                </a:tc>
                <a:tc>
                  <a:txBody>
                    <a:bodyPr/>
                    <a:lstStyle/>
                    <a:p>
                      <a:pPr>
                        <a:defRPr/>
                      </a:pPr>
                      <a:r>
                        <a:rPr sz="2400" b="0" i="0" u="none">
                          <a:solidFill>
                            <a:srgbClr val="000000"/>
                          </a:solidFill>
                          <a:latin typeface="Times New Roman"/>
                          <a:ea typeface="Times New Roman"/>
                          <a:cs typeface="Times New Roman"/>
                        </a:rPr>
                        <a:t>Hiển thị dữ liệu real-time</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FFFFF"/>
                    </a:solidFill>
                  </a:tcPr>
                </a:tc>
                <a:tc>
                  <a:txBody>
                    <a:bodyPr/>
                    <a:lstStyle/>
                    <a:p>
                      <a:pPr>
                        <a:defRPr/>
                      </a:pPr>
                      <a:r>
                        <a:rPr sz="2400" b="0" i="0" u="none">
                          <a:solidFill>
                            <a:srgbClr val="000000"/>
                          </a:solidFill>
                          <a:latin typeface="Times New Roman"/>
                          <a:ea typeface="Times New Roman"/>
                          <a:cs typeface="Times New Roman"/>
                        </a:rPr>
                        <a:t>Tuần 7</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FFFFF"/>
                    </a:solidFill>
                  </a:tcPr>
                </a:tc>
                <a:tc>
                  <a:txBody>
                    <a:bodyPr/>
                    <a:lstStyle/>
                    <a:p>
                      <a:pPr>
                        <a:defRPr/>
                      </a:pPr>
                      <a:r>
                        <a:rPr sz="2400" b="0" i="0" u="none">
                          <a:solidFill>
                            <a:srgbClr val="000000"/>
                          </a:solidFill>
                          <a:latin typeface="Times New Roman"/>
                          <a:ea typeface="Times New Roman"/>
                          <a:cs typeface="Times New Roman"/>
                        </a:rPr>
                        <a:t>Vòng Thế Kiệt </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FFFFF"/>
                    </a:solidFill>
                  </a:tcPr>
                </a:tc>
                <a:extLst>
                  <a:ext uri="{0D108BD9-81ED-4DB2-BD59-A6C34878D82A}">
                    <a16:rowId xmlns:a16="http://schemas.microsoft.com/office/drawing/2014/main" val="10009"/>
                  </a:ext>
                </a:extLst>
              </a:tr>
              <a:tr h="852160">
                <a:tc>
                  <a:txBody>
                    <a:bodyPr/>
                    <a:lstStyle/>
                    <a:p>
                      <a:pPr>
                        <a:defRPr/>
                      </a:pPr>
                      <a:r>
                        <a:rPr sz="2400" b="0" i="0" u="none">
                          <a:solidFill>
                            <a:srgbClr val="000000"/>
                          </a:solidFill>
                          <a:latin typeface="Times New Roman"/>
                          <a:ea typeface="Times New Roman"/>
                          <a:cs typeface="Times New Roman"/>
                        </a:rPr>
                        <a:t>Xuất contract API cho Workstream D</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FFFFF"/>
                    </a:solidFill>
                  </a:tcPr>
                </a:tc>
                <a:tc>
                  <a:txBody>
                    <a:bodyPr/>
                    <a:lstStyle/>
                    <a:p>
                      <a:pPr>
                        <a:defRPr/>
                      </a:pPr>
                      <a:r>
                        <a:rPr sz="2400" b="0" i="0" u="none">
                          <a:solidFill>
                            <a:srgbClr val="000000"/>
                          </a:solidFill>
                          <a:latin typeface="Times New Roman"/>
                          <a:ea typeface="Times New Roman"/>
                          <a:cs typeface="Times New Roman"/>
                        </a:rPr>
                        <a:t>Định nghĩa endpoint/format dữ liệu cho Agent</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FFFFF"/>
                    </a:solidFill>
                  </a:tcPr>
                </a:tc>
                <a:tc>
                  <a:txBody>
                    <a:bodyPr/>
                    <a:lstStyle/>
                    <a:p>
                      <a:pPr>
                        <a:defRPr/>
                      </a:pPr>
                      <a:r>
                        <a:rPr sz="2400" b="0" i="0" u="none">
                          <a:solidFill>
                            <a:srgbClr val="000000"/>
                          </a:solidFill>
                          <a:latin typeface="Times New Roman"/>
                          <a:ea typeface="Times New Roman"/>
                          <a:cs typeface="Times New Roman"/>
                        </a:rPr>
                        <a:t>Tuần 6</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FFFFF"/>
                    </a:solidFill>
                  </a:tcPr>
                </a:tc>
                <a:tc>
                  <a:txBody>
                    <a:bodyPr/>
                    <a:lstStyle/>
                    <a:p>
                      <a:pPr>
                        <a:defRPr/>
                      </a:pPr>
                      <a:r>
                        <a:rPr sz="2400" b="0" i="0" u="none">
                          <a:solidFill>
                            <a:srgbClr val="000000"/>
                          </a:solidFill>
                          <a:latin typeface="Times New Roman"/>
                          <a:ea typeface="Times New Roman"/>
                          <a:cs typeface="Times New Roman"/>
                        </a:rPr>
                        <a:t>Vòng Thế Kiệt </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FFFFF"/>
                    </a:solidFill>
                  </a:tcPr>
                </a:tc>
                <a:extLst>
                  <a:ext uri="{0D108BD9-81ED-4DB2-BD59-A6C34878D82A}">
                    <a16:rowId xmlns:a16="http://schemas.microsoft.com/office/drawing/2014/main" val="10010"/>
                  </a:ext>
                </a:extLst>
              </a:tr>
              <a:tr h="567648">
                <a:tc>
                  <a:txBody>
                    <a:bodyPr/>
                    <a:lstStyle/>
                    <a:p>
                      <a:pPr>
                        <a:defRPr/>
                      </a:pPr>
                      <a:r>
                        <a:rPr sz="2400" b="0" i="0" u="none">
                          <a:solidFill>
                            <a:srgbClr val="000000"/>
                          </a:solidFill>
                          <a:latin typeface="Times New Roman"/>
                          <a:ea typeface="Times New Roman"/>
                          <a:cs typeface="Times New Roman"/>
                        </a:rPr>
                        <a:t>Tiền xử lý video OpenCV/NumPy</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FFFFF"/>
                    </a:solidFill>
                  </a:tcPr>
                </a:tc>
                <a:tc>
                  <a:txBody>
                    <a:bodyPr/>
                    <a:lstStyle/>
                    <a:p>
                      <a:pPr>
                        <a:defRPr/>
                      </a:pPr>
                      <a:r>
                        <a:rPr sz="2400" b="0" i="0" u="none">
                          <a:solidFill>
                            <a:srgbClr val="000000"/>
                          </a:solidFill>
                          <a:latin typeface="Times New Roman"/>
                          <a:ea typeface="Times New Roman"/>
                          <a:cs typeface="Times New Roman"/>
                        </a:rPr>
                        <a:t>Chuẩn hóa khung hình đầu vào cho YOLO</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FFFFF"/>
                    </a:solidFill>
                  </a:tcPr>
                </a:tc>
                <a:tc>
                  <a:txBody>
                    <a:bodyPr/>
                    <a:lstStyle/>
                    <a:p>
                      <a:pPr>
                        <a:defRPr/>
                      </a:pPr>
                      <a:r>
                        <a:rPr sz="2400" b="0" i="0" u="none">
                          <a:solidFill>
                            <a:srgbClr val="000000"/>
                          </a:solidFill>
                          <a:latin typeface="Times New Roman"/>
                          <a:ea typeface="Times New Roman"/>
                          <a:cs typeface="Times New Roman"/>
                        </a:rPr>
                        <a:t>Tuần 3</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FFFFF"/>
                    </a:solidFill>
                  </a:tcPr>
                </a:tc>
                <a:tc>
                  <a:txBody>
                    <a:bodyPr/>
                    <a:lstStyle/>
                    <a:p>
                      <a:pPr>
                        <a:defRPr/>
                      </a:pPr>
                      <a:r>
                        <a:rPr sz="2400" b="0" i="0" u="none">
                          <a:solidFill>
                            <a:srgbClr val="000000"/>
                          </a:solidFill>
                          <a:latin typeface="Times New Roman"/>
                          <a:ea typeface="Times New Roman"/>
                          <a:cs typeface="Times New Roman"/>
                        </a:rPr>
                        <a:t>Trần Lê Tuấn Anh </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FFFFF"/>
                    </a:solidFill>
                  </a:tcPr>
                </a:tc>
                <a:extLst>
                  <a:ext uri="{0D108BD9-81ED-4DB2-BD59-A6C34878D82A}">
                    <a16:rowId xmlns:a16="http://schemas.microsoft.com/office/drawing/2014/main" val="10011"/>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p:fade/>
      </p:transition>
    </mc:Choice>
    <mc:Fallback xmlns="" xmlns:m="http://schemas.openxmlformats.org/officeDocument/2006/math" xmlns:w="http://schemas.openxmlformats.org/wordprocessingml/2006/main">
      <p:transition spd="fast" advClick="1">
        <p:fade thruBlk="0"/>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grpSp>
        <p:nvGrpSpPr>
          <p:cNvPr id="191708231" name="Group 2"/>
          <p:cNvGrpSpPr/>
          <p:nvPr/>
        </p:nvGrpSpPr>
        <p:grpSpPr bwMode="auto">
          <a:xfrm>
            <a:off x="11649142" y="921287"/>
            <a:ext cx="5610158" cy="381495"/>
            <a:chOff x="0" y="0"/>
            <a:chExt cx="7175411" cy="487934"/>
          </a:xfrm>
        </p:grpSpPr>
        <p:sp>
          <p:nvSpPr>
            <p:cNvPr id="3" name="Freeform 3"/>
            <p:cNvSpPr/>
            <p:nvPr/>
          </p:nvSpPr>
          <p:spPr bwMode="auto">
            <a:xfrm flipV="1">
              <a:off x="0" y="0"/>
              <a:ext cx="7175373" cy="487934"/>
            </a:xfrm>
            <a:custGeom>
              <a:avLst/>
              <a:gdLst/>
              <a:ahLst/>
              <a:cxnLst/>
              <a:rect l="l" t="t" r="r" b="b"/>
              <a:pathLst>
                <a:path w="7175373" h="487934" extrusionOk="0">
                  <a:moveTo>
                    <a:pt x="0" y="487934"/>
                  </a:moveTo>
                  <a:lnTo>
                    <a:pt x="7175373" y="487934"/>
                  </a:lnTo>
                  <a:lnTo>
                    <a:pt x="7175373" y="0"/>
                  </a:lnTo>
                  <a:lnTo>
                    <a:pt x="0" y="0"/>
                  </a:lnTo>
                  <a:lnTo>
                    <a:pt x="0" y="487934"/>
                  </a:lnTo>
                  <a:close/>
                </a:path>
              </a:pathLst>
            </a:custGeom>
            <a:blipFill rotWithShape="1">
              <a:blip r:embed="rId3"/>
              <a:stretch>
                <a:fillRect b="-575"/>
              </a:stretch>
            </a:blipFill>
          </p:spPr>
          <p:txBody>
            <a:bodyPr/>
            <a:lstStyle/>
            <a:p>
              <a:endParaRPr lang="en-US"/>
            </a:p>
          </p:txBody>
        </p:sp>
      </p:grpSp>
      <p:grpSp>
        <p:nvGrpSpPr>
          <p:cNvPr id="1957120427" name="Group 4"/>
          <p:cNvGrpSpPr/>
          <p:nvPr/>
        </p:nvGrpSpPr>
        <p:grpSpPr bwMode="auto">
          <a:xfrm>
            <a:off x="199116" y="-156414"/>
            <a:ext cx="12711858" cy="1151713"/>
            <a:chOff x="0" y="0"/>
            <a:chExt cx="19490231" cy="1765844"/>
          </a:xfrm>
        </p:grpSpPr>
        <p:sp>
          <p:nvSpPr>
            <p:cNvPr id="5" name="Freeform 5"/>
            <p:cNvSpPr/>
            <p:nvPr/>
          </p:nvSpPr>
          <p:spPr bwMode="auto">
            <a:xfrm>
              <a:off x="0" y="0"/>
              <a:ext cx="19490230" cy="1765837"/>
            </a:xfrm>
            <a:custGeom>
              <a:avLst/>
              <a:gdLst/>
              <a:ahLst/>
              <a:cxnLst/>
              <a:rect l="l" t="t" r="r" b="b"/>
              <a:pathLst>
                <a:path w="19490230" h="1765837" extrusionOk="0">
                  <a:moveTo>
                    <a:pt x="0" y="0"/>
                  </a:moveTo>
                  <a:lnTo>
                    <a:pt x="19490230" y="0"/>
                  </a:lnTo>
                  <a:lnTo>
                    <a:pt x="19490230" y="1765837"/>
                  </a:lnTo>
                  <a:lnTo>
                    <a:pt x="0" y="1765837"/>
                  </a:lnTo>
                  <a:close/>
                </a:path>
              </a:pathLst>
            </a:custGeom>
            <a:blipFill rotWithShape="1">
              <a:blip r:embed="rId4">
                <a:alphaModFix amt="0"/>
              </a:blip>
              <a:stretch>
                <a:fillRect t="-183469" r="-7906" b="-180664"/>
              </a:stretch>
            </a:blipFill>
          </p:spPr>
          <p:txBody>
            <a:bodyPr/>
            <a:lstStyle/>
            <a:p>
              <a:endParaRPr lang="en-US"/>
            </a:p>
          </p:txBody>
        </p:sp>
        <p:sp>
          <p:nvSpPr>
            <p:cNvPr id="6" name="TextBox 6"/>
            <p:cNvSpPr txBox="1"/>
            <p:nvPr/>
          </p:nvSpPr>
          <p:spPr bwMode="auto">
            <a:xfrm>
              <a:off x="0" y="-85725"/>
              <a:ext cx="19490231" cy="1851569"/>
            </a:xfrm>
            <a:prstGeom prst="rect">
              <a:avLst/>
            </a:prstGeom>
            <a:grpFill/>
          </p:spPr>
          <p:txBody>
            <a:bodyPr lIns="0" tIns="0" rIns="0" bIns="0" rtlCol="0" anchor="ctr"/>
            <a:lstStyle/>
            <a:p>
              <a:pPr algn="ctr">
                <a:lnSpc>
                  <a:spcPts val="7451"/>
                </a:lnSpc>
                <a:defRPr/>
              </a:pPr>
              <a:r>
                <a:rPr lang="en-US" sz="5400" b="1">
                  <a:solidFill>
                    <a:srgbClr val="10439A"/>
                  </a:solidFill>
                  <a:latin typeface="Tahoma Bold"/>
                  <a:ea typeface="Tahoma Bold"/>
                  <a:cs typeface="Tahoma Bold"/>
                </a:rPr>
                <a:t>CHIA NHIỆM VỤ THEO TODOLIST</a:t>
              </a:r>
              <a:endParaRPr/>
            </a:p>
          </p:txBody>
        </p:sp>
      </p:grpSp>
      <p:graphicFrame>
        <p:nvGraphicFramePr>
          <p:cNvPr id="1004585256" name="Table 1004585255"/>
          <p:cNvGraphicFramePr>
            <a:graphicFrameLocks/>
          </p:cNvGraphicFramePr>
          <p:nvPr/>
        </p:nvGraphicFramePr>
        <p:xfrm>
          <a:off x="478199" y="1219199"/>
          <a:ext cx="3600000" cy="3600000"/>
        </p:xfrm>
        <a:graphic>
          <a:graphicData uri="http://schemas.openxmlformats.org/drawingml/2006/table">
            <a:tbl>
              <a:tblPr firstRow="1" firstCol="1" bandRow="1"/>
              <a:tblGrid>
                <a:gridCol w="5091457">
                  <a:extLst>
                    <a:ext uri="{9D8B030D-6E8A-4147-A177-3AD203B41FA5}">
                      <a16:colId xmlns:a16="http://schemas.microsoft.com/office/drawing/2014/main" val="20000"/>
                    </a:ext>
                  </a:extLst>
                </a:gridCol>
                <a:gridCol w="5500564">
                  <a:extLst>
                    <a:ext uri="{9D8B030D-6E8A-4147-A177-3AD203B41FA5}">
                      <a16:colId xmlns:a16="http://schemas.microsoft.com/office/drawing/2014/main" val="20001"/>
                    </a:ext>
                  </a:extLst>
                </a:gridCol>
                <a:gridCol w="2612647">
                  <a:extLst>
                    <a:ext uri="{9D8B030D-6E8A-4147-A177-3AD203B41FA5}">
                      <a16:colId xmlns:a16="http://schemas.microsoft.com/office/drawing/2014/main" val="20002"/>
                    </a:ext>
                  </a:extLst>
                </a:gridCol>
                <a:gridCol w="4321328">
                  <a:extLst>
                    <a:ext uri="{9D8B030D-6E8A-4147-A177-3AD203B41FA5}">
                      <a16:colId xmlns:a16="http://schemas.microsoft.com/office/drawing/2014/main" val="20003"/>
                    </a:ext>
                  </a:extLst>
                </a:gridCol>
              </a:tblGrid>
              <a:tr h="1216868">
                <a:tc>
                  <a:txBody>
                    <a:bodyPr/>
                    <a:lstStyle/>
                    <a:p>
                      <a:pPr>
                        <a:defRPr/>
                      </a:pPr>
                      <a:r>
                        <a:rPr sz="2400" b="0" i="0" u="none">
                          <a:solidFill>
                            <a:srgbClr val="000000"/>
                          </a:solidFill>
                          <a:latin typeface="Times New Roman"/>
                          <a:ea typeface="Times New Roman"/>
                          <a:cs typeface="Times New Roman"/>
                        </a:rPr>
                        <a:t>Huấn luyện/tinh chỉnh YOLOv11</a:t>
                      </a:r>
                      <a:endParaRPr/>
                    </a:p>
                  </a:txBody>
                  <a:tcPr marL="9524" marR="9524" marT="9524" marB="9524" anchor="ctr">
                    <a:lnL w="12667" algn="ctr">
                      <a:solidFill>
                        <a:srgbClr val="000000"/>
                      </a:solidFill>
                    </a:lnL>
                    <a:lnR w="12667" algn="ctr">
                      <a:solidFill>
                        <a:srgbClr val="000000"/>
                      </a:solidFill>
                    </a:lnR>
                    <a:lnT w="9524" algn="ctr">
                      <a:solidFill>
                        <a:srgbClr val="000000"/>
                      </a:solidFill>
                    </a:lnT>
                    <a:lnB w="12667" algn="ctr">
                      <a:solidFill>
                        <a:srgbClr val="000000"/>
                      </a:solidFill>
                    </a:lnB>
                    <a:solidFill>
                      <a:srgbClr val="FFFFFF"/>
                    </a:solidFill>
                  </a:tcPr>
                </a:tc>
                <a:tc>
                  <a:txBody>
                    <a:bodyPr/>
                    <a:lstStyle/>
                    <a:p>
                      <a:pPr>
                        <a:defRPr/>
                      </a:pPr>
                      <a:r>
                        <a:rPr sz="2400" b="0" i="0" u="none">
                          <a:solidFill>
                            <a:srgbClr val="000000"/>
                          </a:solidFill>
                          <a:latin typeface="Times New Roman"/>
                          <a:ea typeface="Times New Roman"/>
                          <a:cs typeface="Times New Roman"/>
                        </a:rPr>
                        <a:t>Nhận diện khuôn mặt/tư thế đúng vị trí</a:t>
                      </a:r>
                      <a:endParaRPr/>
                    </a:p>
                  </a:txBody>
                  <a:tcPr marL="9524" marR="9524" marT="9524" marB="9524" anchor="ctr">
                    <a:lnL w="12667" algn="ctr">
                      <a:solidFill>
                        <a:srgbClr val="000000"/>
                      </a:solidFill>
                    </a:lnL>
                    <a:lnR w="12667" algn="ctr">
                      <a:solidFill>
                        <a:srgbClr val="000000"/>
                      </a:solidFill>
                    </a:lnR>
                    <a:lnT w="9524" algn="ctr">
                      <a:solidFill>
                        <a:srgbClr val="000000"/>
                      </a:solidFill>
                    </a:lnT>
                    <a:lnB w="12667" algn="ctr">
                      <a:solidFill>
                        <a:srgbClr val="000000"/>
                      </a:solidFill>
                    </a:lnB>
                    <a:solidFill>
                      <a:srgbClr val="FFFFFF"/>
                    </a:solidFill>
                  </a:tcPr>
                </a:tc>
                <a:tc>
                  <a:txBody>
                    <a:bodyPr/>
                    <a:lstStyle/>
                    <a:p>
                      <a:pPr>
                        <a:defRPr/>
                      </a:pPr>
                      <a:r>
                        <a:rPr sz="2400" b="0" i="0" u="none">
                          <a:solidFill>
                            <a:srgbClr val="000000"/>
                          </a:solidFill>
                          <a:latin typeface="Times New Roman"/>
                          <a:ea typeface="Times New Roman"/>
                          <a:cs typeface="Times New Roman"/>
                        </a:rPr>
                        <a:t>Tuần 5</a:t>
                      </a:r>
                      <a:endParaRPr/>
                    </a:p>
                  </a:txBody>
                  <a:tcPr marL="9524" marR="9524" marT="9524" marB="9524" anchor="ctr">
                    <a:lnL w="12667" algn="ctr">
                      <a:solidFill>
                        <a:srgbClr val="000000"/>
                      </a:solidFill>
                    </a:lnL>
                    <a:lnR w="12667" algn="ctr">
                      <a:solidFill>
                        <a:srgbClr val="000000"/>
                      </a:solidFill>
                    </a:lnR>
                    <a:lnT w="9524" algn="ctr">
                      <a:solidFill>
                        <a:srgbClr val="000000"/>
                      </a:solidFill>
                    </a:lnT>
                    <a:lnB w="12667" algn="ctr">
                      <a:solidFill>
                        <a:srgbClr val="000000"/>
                      </a:solidFill>
                    </a:lnB>
                    <a:solidFill>
                      <a:srgbClr val="FFFFFF"/>
                    </a:solidFill>
                  </a:tcPr>
                </a:tc>
                <a:tc>
                  <a:txBody>
                    <a:bodyPr/>
                    <a:lstStyle/>
                    <a:p>
                      <a:pPr>
                        <a:defRPr/>
                      </a:pPr>
                      <a:r>
                        <a:rPr sz="2400" b="0" i="0" u="none">
                          <a:solidFill>
                            <a:srgbClr val="000000"/>
                          </a:solidFill>
                          <a:latin typeface="Times New Roman"/>
                          <a:ea typeface="Times New Roman"/>
                          <a:cs typeface="Times New Roman"/>
                        </a:rPr>
                        <a:t>Trần Lê Tuấn Anh </a:t>
                      </a:r>
                      <a:endParaRPr/>
                    </a:p>
                  </a:txBody>
                  <a:tcPr marL="9524" marR="9524" marT="9524" marB="9524" anchor="ctr">
                    <a:lnL w="12667" algn="ctr">
                      <a:solidFill>
                        <a:srgbClr val="000000"/>
                      </a:solidFill>
                    </a:lnL>
                    <a:lnR w="12667" algn="ctr">
                      <a:solidFill>
                        <a:srgbClr val="000000"/>
                      </a:solidFill>
                    </a:lnR>
                    <a:lnT w="9524" algn="ctr">
                      <a:solidFill>
                        <a:srgbClr val="000000"/>
                      </a:solidFill>
                    </a:lnT>
                    <a:lnB w="12667" algn="ctr">
                      <a:solidFill>
                        <a:srgbClr val="000000"/>
                      </a:solidFill>
                    </a:lnB>
                    <a:solidFill>
                      <a:srgbClr val="FFFFFF"/>
                    </a:solidFill>
                  </a:tcPr>
                </a:tc>
                <a:extLst>
                  <a:ext uri="{0D108BD9-81ED-4DB2-BD59-A6C34878D82A}">
                    <a16:rowId xmlns:a16="http://schemas.microsoft.com/office/drawing/2014/main" val="10000"/>
                  </a:ext>
                </a:extLst>
              </a:tr>
              <a:tr h="904615">
                <a:tc>
                  <a:txBody>
                    <a:bodyPr/>
                    <a:lstStyle/>
                    <a:p>
                      <a:pPr>
                        <a:defRPr/>
                      </a:pPr>
                      <a:r>
                        <a:rPr sz="2400" b="0" i="0" u="none">
                          <a:solidFill>
                            <a:srgbClr val="000000"/>
                          </a:solidFill>
                          <a:latin typeface="Times New Roman"/>
                          <a:ea typeface="Times New Roman"/>
                          <a:cs typeface="Times New Roman"/>
                        </a:rPr>
                        <a:t>Tích hợp OCR đọc CCCD</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FFFFF"/>
                    </a:solidFill>
                  </a:tcPr>
                </a:tc>
                <a:tc>
                  <a:txBody>
                    <a:bodyPr/>
                    <a:lstStyle/>
                    <a:p>
                      <a:pPr>
                        <a:defRPr/>
                      </a:pPr>
                      <a:r>
                        <a:rPr sz="2400" b="0" i="0" u="none">
                          <a:solidFill>
                            <a:srgbClr val="000000"/>
                          </a:solidFill>
                          <a:latin typeface="Times New Roman"/>
                          <a:ea typeface="Times New Roman"/>
                          <a:cs typeface="Times New Roman"/>
                        </a:rPr>
                        <a:t>Đọc thông tin CCCD tự động</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FFFFF"/>
                    </a:solidFill>
                  </a:tcPr>
                </a:tc>
                <a:tc>
                  <a:txBody>
                    <a:bodyPr/>
                    <a:lstStyle/>
                    <a:p>
                      <a:pPr>
                        <a:defRPr/>
                      </a:pPr>
                      <a:r>
                        <a:rPr sz="2400" b="0" i="0" u="none">
                          <a:solidFill>
                            <a:srgbClr val="000000"/>
                          </a:solidFill>
                          <a:latin typeface="Times New Roman"/>
                          <a:ea typeface="Times New Roman"/>
                          <a:cs typeface="Times New Roman"/>
                        </a:rPr>
                        <a:t>Tuần 6</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FFFFF"/>
                    </a:solidFill>
                  </a:tcPr>
                </a:tc>
                <a:tc>
                  <a:txBody>
                    <a:bodyPr/>
                    <a:lstStyle/>
                    <a:p>
                      <a:pPr>
                        <a:defRPr/>
                      </a:pPr>
                      <a:r>
                        <a:rPr sz="2400" b="0" i="0" u="none">
                          <a:solidFill>
                            <a:srgbClr val="000000"/>
                          </a:solidFill>
                          <a:latin typeface="Times New Roman"/>
                          <a:ea typeface="Times New Roman"/>
                          <a:cs typeface="Times New Roman"/>
                        </a:rPr>
                        <a:t>Trần Lê Tuấn Anh </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FFFFF"/>
                    </a:solidFill>
                  </a:tcPr>
                </a:tc>
                <a:extLst>
                  <a:ext uri="{0D108BD9-81ED-4DB2-BD59-A6C34878D82A}">
                    <a16:rowId xmlns:a16="http://schemas.microsoft.com/office/drawing/2014/main" val="10001"/>
                  </a:ext>
                </a:extLst>
              </a:tr>
              <a:tr h="1345443">
                <a:tc>
                  <a:txBody>
                    <a:bodyPr/>
                    <a:lstStyle/>
                    <a:p>
                      <a:pPr>
                        <a:defRPr/>
                      </a:pPr>
                      <a:r>
                        <a:rPr sz="2400" b="0" i="0" u="none">
                          <a:solidFill>
                            <a:srgbClr val="000000"/>
                          </a:solidFill>
                          <a:latin typeface="Times New Roman"/>
                          <a:ea typeface="Times New Roman"/>
                          <a:cs typeface="Times New Roman"/>
                        </a:rPr>
                        <a:t>Trigger đo không chạm qua MQTT</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FFFFF"/>
                    </a:solidFill>
                  </a:tcPr>
                </a:tc>
                <a:tc>
                  <a:txBody>
                    <a:bodyPr/>
                    <a:lstStyle/>
                    <a:p>
                      <a:pPr>
                        <a:defRPr/>
                      </a:pPr>
                      <a:r>
                        <a:rPr sz="2400" b="0" i="0" u="none">
                          <a:solidFill>
                            <a:srgbClr val="000000"/>
                          </a:solidFill>
                          <a:latin typeface="Times New Roman"/>
                          <a:ea typeface="Times New Roman"/>
                          <a:cs typeface="Times New Roman"/>
                        </a:rPr>
                        <a:t>Gửi tín hiệu bắt đầu đo khi CV xác nhận đúng vị trí</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FFFFF"/>
                    </a:solidFill>
                  </a:tcPr>
                </a:tc>
                <a:tc>
                  <a:txBody>
                    <a:bodyPr/>
                    <a:lstStyle/>
                    <a:p>
                      <a:pPr>
                        <a:defRPr/>
                      </a:pPr>
                      <a:r>
                        <a:rPr sz="2400" b="0" i="0" u="none">
                          <a:solidFill>
                            <a:srgbClr val="000000"/>
                          </a:solidFill>
                          <a:latin typeface="Times New Roman"/>
                          <a:ea typeface="Times New Roman"/>
                          <a:cs typeface="Times New Roman"/>
                        </a:rPr>
                        <a:t>Tuần 7</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FFFFF"/>
                    </a:solidFill>
                  </a:tcPr>
                </a:tc>
                <a:tc>
                  <a:txBody>
                    <a:bodyPr/>
                    <a:lstStyle/>
                    <a:p>
                      <a:pPr>
                        <a:defRPr/>
                      </a:pPr>
                      <a:r>
                        <a:rPr sz="2400" b="0" i="0" u="none">
                          <a:solidFill>
                            <a:srgbClr val="000000"/>
                          </a:solidFill>
                          <a:latin typeface="Times New Roman"/>
                          <a:ea typeface="Times New Roman"/>
                          <a:cs typeface="Times New Roman"/>
                        </a:rPr>
                        <a:t>Nguyễn Đức Đại </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FFFFF"/>
                    </a:solidFill>
                  </a:tcPr>
                </a:tc>
                <a:extLst>
                  <a:ext uri="{0D108BD9-81ED-4DB2-BD59-A6C34878D82A}">
                    <a16:rowId xmlns:a16="http://schemas.microsoft.com/office/drawing/2014/main" val="10002"/>
                  </a:ext>
                </a:extLst>
              </a:tr>
              <a:tr h="1345443">
                <a:tc>
                  <a:txBody>
                    <a:bodyPr/>
                    <a:lstStyle/>
                    <a:p>
                      <a:pPr>
                        <a:defRPr/>
                      </a:pPr>
                      <a:r>
                        <a:rPr sz="2400" b="0" i="0" u="none">
                          <a:solidFill>
                            <a:srgbClr val="000000"/>
                          </a:solidFill>
                          <a:latin typeface="Times New Roman"/>
                          <a:ea typeface="Times New Roman"/>
                          <a:cs typeface="Times New Roman"/>
                        </a:rPr>
                        <a:t>Xuất contract dữ liệu OCR cho Workstream D</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FFFFF"/>
                    </a:solidFill>
                  </a:tcPr>
                </a:tc>
                <a:tc>
                  <a:txBody>
                    <a:bodyPr/>
                    <a:lstStyle/>
                    <a:p>
                      <a:pPr>
                        <a:defRPr/>
                      </a:pPr>
                      <a:r>
                        <a:rPr sz="2400" b="0" i="0" u="none">
                          <a:solidFill>
                            <a:srgbClr val="000000"/>
                          </a:solidFill>
                          <a:latin typeface="Times New Roman"/>
                          <a:ea typeface="Times New Roman"/>
                          <a:cs typeface="Times New Roman"/>
                        </a:rPr>
                        <a:t>Định nghĩa format dữ liệu CCCD cho Agent</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FFFFF"/>
                    </a:solidFill>
                  </a:tcPr>
                </a:tc>
                <a:tc>
                  <a:txBody>
                    <a:bodyPr/>
                    <a:lstStyle/>
                    <a:p>
                      <a:pPr>
                        <a:defRPr/>
                      </a:pPr>
                      <a:r>
                        <a:rPr sz="2400" b="0" i="0" u="none">
                          <a:solidFill>
                            <a:srgbClr val="000000"/>
                          </a:solidFill>
                          <a:latin typeface="Times New Roman"/>
                          <a:ea typeface="Times New Roman"/>
                          <a:cs typeface="Times New Roman"/>
                        </a:rPr>
                        <a:t>Tuần 6</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FFFFF"/>
                    </a:solidFill>
                  </a:tcPr>
                </a:tc>
                <a:tc>
                  <a:txBody>
                    <a:bodyPr/>
                    <a:lstStyle/>
                    <a:p>
                      <a:pPr>
                        <a:defRPr/>
                      </a:pPr>
                      <a:r>
                        <a:rPr sz="2400" b="0" i="0" u="none">
                          <a:solidFill>
                            <a:srgbClr val="000000"/>
                          </a:solidFill>
                          <a:latin typeface="Times New Roman"/>
                          <a:ea typeface="Times New Roman"/>
                          <a:cs typeface="Times New Roman"/>
                        </a:rPr>
                        <a:t>Nguyễn Đức Đại </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FFFFF"/>
                    </a:solidFill>
                  </a:tcPr>
                </a:tc>
                <a:extLst>
                  <a:ext uri="{0D108BD9-81ED-4DB2-BD59-A6C34878D82A}">
                    <a16:rowId xmlns:a16="http://schemas.microsoft.com/office/drawing/2014/main" val="10003"/>
                  </a:ext>
                </a:extLst>
              </a:tr>
              <a:tr h="1345443">
                <a:tc>
                  <a:txBody>
                    <a:bodyPr/>
                    <a:lstStyle/>
                    <a:p>
                      <a:pPr>
                        <a:defRPr/>
                      </a:pPr>
                      <a:r>
                        <a:rPr sz="2400" b="0" i="0" u="none">
                          <a:solidFill>
                            <a:srgbClr val="000000"/>
                          </a:solidFill>
                          <a:latin typeface="Times New Roman"/>
                          <a:ea typeface="Times New Roman"/>
                          <a:cs typeface="Times New Roman"/>
                        </a:rPr>
                        <a:t>Dựng khung Agent + RAG trên mock data</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FFFFF"/>
                    </a:solidFill>
                  </a:tcPr>
                </a:tc>
                <a:tc>
                  <a:txBody>
                    <a:bodyPr/>
                    <a:lstStyle/>
                    <a:p>
                      <a:pPr>
                        <a:defRPr/>
                      </a:pPr>
                      <a:r>
                        <a:rPr sz="2400" b="0" i="0" u="none">
                          <a:solidFill>
                            <a:srgbClr val="000000"/>
                          </a:solidFill>
                          <a:latin typeface="Times New Roman"/>
                          <a:ea typeface="Times New Roman"/>
                          <a:cs typeface="Times New Roman"/>
                        </a:rPr>
                        <a:t>Khởi động phát triển song song không chờ B/C</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FFFFF"/>
                    </a:solidFill>
                  </a:tcPr>
                </a:tc>
                <a:tc>
                  <a:txBody>
                    <a:bodyPr/>
                    <a:lstStyle/>
                    <a:p>
                      <a:pPr>
                        <a:defRPr/>
                      </a:pPr>
                      <a:r>
                        <a:rPr sz="2400" b="0" i="0" u="none">
                          <a:solidFill>
                            <a:srgbClr val="000000"/>
                          </a:solidFill>
                          <a:latin typeface="Times New Roman"/>
                          <a:ea typeface="Times New Roman"/>
                          <a:cs typeface="Times New Roman"/>
                        </a:rPr>
                        <a:t>Tuần 3</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FFFFF"/>
                    </a:solidFill>
                  </a:tcPr>
                </a:tc>
                <a:tc>
                  <a:txBody>
                    <a:bodyPr/>
                    <a:lstStyle/>
                    <a:p>
                      <a:pPr>
                        <a:defRPr/>
                      </a:pPr>
                      <a:r>
                        <a:rPr sz="2400" b="0" i="0" u="none">
                          <a:solidFill>
                            <a:srgbClr val="000000"/>
                          </a:solidFill>
                          <a:latin typeface="Times New Roman"/>
                          <a:ea typeface="Times New Roman"/>
                          <a:cs typeface="Times New Roman"/>
                        </a:rPr>
                        <a:t>Nguyễn Đức Đại </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FFFFF"/>
                    </a:solidFill>
                  </a:tcPr>
                </a:tc>
                <a:extLst>
                  <a:ext uri="{0D108BD9-81ED-4DB2-BD59-A6C34878D82A}">
                    <a16:rowId xmlns:a16="http://schemas.microsoft.com/office/drawing/2014/main" val="10004"/>
                  </a:ext>
                </a:extLst>
              </a:tr>
              <a:tr h="1216868">
                <a:tc>
                  <a:txBody>
                    <a:bodyPr/>
                    <a:lstStyle/>
                    <a:p>
                      <a:pPr>
                        <a:defRPr/>
                      </a:pPr>
                      <a:r>
                        <a:rPr sz="2400" b="0" i="0" u="none">
                          <a:solidFill>
                            <a:srgbClr val="000000"/>
                          </a:solidFill>
                          <a:latin typeface="Times New Roman"/>
                          <a:ea typeface="Times New Roman"/>
                          <a:cs typeface="Times New Roman"/>
                        </a:rPr>
                        <a:t>Xây vector store cho sổ tay y tế nội bộ</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FFFFF"/>
                    </a:solidFill>
                  </a:tcPr>
                </a:tc>
                <a:tc>
                  <a:txBody>
                    <a:bodyPr/>
                    <a:lstStyle/>
                    <a:p>
                      <a:pPr>
                        <a:defRPr/>
                      </a:pPr>
                      <a:r>
                        <a:rPr sz="2400" b="0" i="0" u="none">
                          <a:solidFill>
                            <a:srgbClr val="000000"/>
                          </a:solidFill>
                          <a:latin typeface="Times New Roman"/>
                          <a:ea typeface="Times New Roman"/>
                          <a:cs typeface="Times New Roman"/>
                        </a:rPr>
                        <a:t>Chuẩn bị dữ liệu tra cứu RAG</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FFFFF"/>
                    </a:solidFill>
                  </a:tcPr>
                </a:tc>
                <a:tc>
                  <a:txBody>
                    <a:bodyPr/>
                    <a:lstStyle/>
                    <a:p>
                      <a:pPr>
                        <a:defRPr/>
                      </a:pPr>
                      <a:r>
                        <a:rPr sz="2400" b="0" i="0" u="none">
                          <a:solidFill>
                            <a:srgbClr val="000000"/>
                          </a:solidFill>
                          <a:latin typeface="Times New Roman"/>
                          <a:ea typeface="Times New Roman"/>
                          <a:cs typeface="Times New Roman"/>
                        </a:rPr>
                        <a:t>Tuần 5</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FFFFF"/>
                    </a:solidFill>
                  </a:tcPr>
                </a:tc>
                <a:tc>
                  <a:txBody>
                    <a:bodyPr/>
                    <a:lstStyle/>
                    <a:p>
                      <a:pPr>
                        <a:defRPr/>
                      </a:pPr>
                      <a:r>
                        <a:rPr sz="2400" b="0" i="0" u="none">
                          <a:solidFill>
                            <a:srgbClr val="000000"/>
                          </a:solidFill>
                          <a:latin typeface="Times New Roman"/>
                          <a:ea typeface="Times New Roman"/>
                          <a:cs typeface="Times New Roman"/>
                        </a:rPr>
                        <a:t>Nguyễn Đức Đại </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FFFFF"/>
                    </a:solidFill>
                  </a:tcPr>
                </a:tc>
                <a:extLst>
                  <a:ext uri="{0D108BD9-81ED-4DB2-BD59-A6C34878D82A}">
                    <a16:rowId xmlns:a16="http://schemas.microsoft.com/office/drawing/2014/main" val="10005"/>
                  </a:ext>
                </a:extLst>
              </a:tr>
              <a:tr h="1216868">
                <a:tc>
                  <a:txBody>
                    <a:bodyPr/>
                    <a:lstStyle/>
                    <a:p>
                      <a:pPr>
                        <a:defRPr/>
                      </a:pPr>
                      <a:r>
                        <a:rPr sz="2400" b="0" i="0" u="none">
                          <a:solidFill>
                            <a:srgbClr val="000000"/>
                          </a:solidFill>
                          <a:latin typeface="Times New Roman"/>
                          <a:ea typeface="Times New Roman"/>
                          <a:cs typeface="Times New Roman"/>
                        </a:rPr>
                        <a:t>Thiết kế Tool Calling phân khoa/ưu tiên</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FFFFF"/>
                    </a:solidFill>
                  </a:tcPr>
                </a:tc>
                <a:tc>
                  <a:txBody>
                    <a:bodyPr/>
                    <a:lstStyle/>
                    <a:p>
                      <a:pPr>
                        <a:defRPr/>
                      </a:pPr>
                      <a:r>
                        <a:rPr sz="2400" b="0" i="0" u="none">
                          <a:solidFill>
                            <a:srgbClr val="000000"/>
                          </a:solidFill>
                          <a:latin typeface="Times New Roman"/>
                          <a:ea typeface="Times New Roman"/>
                          <a:cs typeface="Times New Roman"/>
                        </a:rPr>
                        <a:t>Logic ra quyết định điều hướng bệnh nhân</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FFFFF"/>
                    </a:solidFill>
                  </a:tcPr>
                </a:tc>
                <a:tc>
                  <a:txBody>
                    <a:bodyPr/>
                    <a:lstStyle/>
                    <a:p>
                      <a:pPr>
                        <a:defRPr/>
                      </a:pPr>
                      <a:r>
                        <a:rPr sz="2400" b="0" i="0" u="none">
                          <a:solidFill>
                            <a:srgbClr val="000000"/>
                          </a:solidFill>
                          <a:latin typeface="Times New Roman"/>
                          <a:ea typeface="Times New Roman"/>
                          <a:cs typeface="Times New Roman"/>
                        </a:rPr>
                        <a:t>Tuần 6</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FFFFF"/>
                    </a:solidFill>
                  </a:tcPr>
                </a:tc>
                <a:tc>
                  <a:txBody>
                    <a:bodyPr/>
                    <a:lstStyle/>
                    <a:p>
                      <a:pPr>
                        <a:defRPr/>
                      </a:pPr>
                      <a:r>
                        <a:rPr sz="2400" b="0" i="0" u="none">
                          <a:solidFill>
                            <a:srgbClr val="000000"/>
                          </a:solidFill>
                          <a:latin typeface="Times New Roman"/>
                          <a:ea typeface="Times New Roman"/>
                          <a:cs typeface="Times New Roman"/>
                        </a:rPr>
                        <a:t>Nguyễn Đức Đại </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p:fade/>
      </p:transition>
    </mc:Choice>
    <mc:Fallback xmlns="" xmlns:m="http://schemas.openxmlformats.org/officeDocument/2006/math" xmlns:w="http://schemas.openxmlformats.org/wordprocessingml/2006/main">
      <p:transition spd="fast" advClick="1">
        <p:fade thruBlk="0"/>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grpSp>
        <p:nvGrpSpPr>
          <p:cNvPr id="1840846567" name="Group 2"/>
          <p:cNvGrpSpPr/>
          <p:nvPr/>
        </p:nvGrpSpPr>
        <p:grpSpPr bwMode="auto">
          <a:xfrm>
            <a:off x="11649142" y="921287"/>
            <a:ext cx="5610158" cy="381495"/>
            <a:chOff x="0" y="0"/>
            <a:chExt cx="7175411" cy="487934"/>
          </a:xfrm>
        </p:grpSpPr>
        <p:sp>
          <p:nvSpPr>
            <p:cNvPr id="3" name="Freeform 3"/>
            <p:cNvSpPr/>
            <p:nvPr/>
          </p:nvSpPr>
          <p:spPr bwMode="auto">
            <a:xfrm flipV="1">
              <a:off x="0" y="0"/>
              <a:ext cx="7175373" cy="487934"/>
            </a:xfrm>
            <a:custGeom>
              <a:avLst/>
              <a:gdLst/>
              <a:ahLst/>
              <a:cxnLst/>
              <a:rect l="l" t="t" r="r" b="b"/>
              <a:pathLst>
                <a:path w="7175373" h="487934" extrusionOk="0">
                  <a:moveTo>
                    <a:pt x="0" y="487934"/>
                  </a:moveTo>
                  <a:lnTo>
                    <a:pt x="7175373" y="487934"/>
                  </a:lnTo>
                  <a:lnTo>
                    <a:pt x="7175373" y="0"/>
                  </a:lnTo>
                  <a:lnTo>
                    <a:pt x="0" y="0"/>
                  </a:lnTo>
                  <a:lnTo>
                    <a:pt x="0" y="487934"/>
                  </a:lnTo>
                  <a:close/>
                </a:path>
              </a:pathLst>
            </a:custGeom>
            <a:blipFill rotWithShape="1">
              <a:blip r:embed="rId3"/>
              <a:stretch>
                <a:fillRect b="-575"/>
              </a:stretch>
            </a:blipFill>
          </p:spPr>
          <p:txBody>
            <a:bodyPr/>
            <a:lstStyle/>
            <a:p>
              <a:endParaRPr lang="en-US"/>
            </a:p>
          </p:txBody>
        </p:sp>
      </p:grpSp>
      <p:grpSp>
        <p:nvGrpSpPr>
          <p:cNvPr id="689047583" name="Group 4"/>
          <p:cNvGrpSpPr/>
          <p:nvPr/>
        </p:nvGrpSpPr>
        <p:grpSpPr bwMode="auto">
          <a:xfrm>
            <a:off x="199116" y="-156414"/>
            <a:ext cx="12711858" cy="1151713"/>
            <a:chOff x="0" y="0"/>
            <a:chExt cx="19490231" cy="1765844"/>
          </a:xfrm>
        </p:grpSpPr>
        <p:sp>
          <p:nvSpPr>
            <p:cNvPr id="5" name="Freeform 5"/>
            <p:cNvSpPr/>
            <p:nvPr/>
          </p:nvSpPr>
          <p:spPr bwMode="auto">
            <a:xfrm>
              <a:off x="0" y="0"/>
              <a:ext cx="19490230" cy="1765837"/>
            </a:xfrm>
            <a:custGeom>
              <a:avLst/>
              <a:gdLst/>
              <a:ahLst/>
              <a:cxnLst/>
              <a:rect l="l" t="t" r="r" b="b"/>
              <a:pathLst>
                <a:path w="19490230" h="1765837" extrusionOk="0">
                  <a:moveTo>
                    <a:pt x="0" y="0"/>
                  </a:moveTo>
                  <a:lnTo>
                    <a:pt x="19490230" y="0"/>
                  </a:lnTo>
                  <a:lnTo>
                    <a:pt x="19490230" y="1765837"/>
                  </a:lnTo>
                  <a:lnTo>
                    <a:pt x="0" y="1765837"/>
                  </a:lnTo>
                  <a:close/>
                </a:path>
              </a:pathLst>
            </a:custGeom>
            <a:blipFill rotWithShape="1">
              <a:blip r:embed="rId4">
                <a:alphaModFix amt="0"/>
              </a:blip>
              <a:stretch>
                <a:fillRect t="-183469" r="-7906" b="-180664"/>
              </a:stretch>
            </a:blipFill>
          </p:spPr>
          <p:txBody>
            <a:bodyPr/>
            <a:lstStyle/>
            <a:p>
              <a:endParaRPr lang="en-US"/>
            </a:p>
          </p:txBody>
        </p:sp>
        <p:sp>
          <p:nvSpPr>
            <p:cNvPr id="6" name="TextBox 6"/>
            <p:cNvSpPr txBox="1"/>
            <p:nvPr/>
          </p:nvSpPr>
          <p:spPr bwMode="auto">
            <a:xfrm>
              <a:off x="0" y="-85725"/>
              <a:ext cx="19490231" cy="1851569"/>
            </a:xfrm>
            <a:prstGeom prst="rect">
              <a:avLst/>
            </a:prstGeom>
            <a:grpFill/>
          </p:spPr>
          <p:txBody>
            <a:bodyPr lIns="0" tIns="0" rIns="0" bIns="0" rtlCol="0" anchor="ctr"/>
            <a:lstStyle/>
            <a:p>
              <a:pPr algn="ctr">
                <a:lnSpc>
                  <a:spcPts val="7451"/>
                </a:lnSpc>
                <a:defRPr/>
              </a:pPr>
              <a:r>
                <a:rPr lang="en-US" sz="5400" b="1">
                  <a:solidFill>
                    <a:srgbClr val="10439A"/>
                  </a:solidFill>
                  <a:latin typeface="Tahoma Bold"/>
                  <a:ea typeface="Tahoma Bold"/>
                  <a:cs typeface="Tahoma Bold"/>
                </a:rPr>
                <a:t>CHIA NHIỆM VỤ THEO TODOLIST</a:t>
              </a:r>
              <a:endParaRPr/>
            </a:p>
          </p:txBody>
        </p:sp>
      </p:grpSp>
      <p:graphicFrame>
        <p:nvGraphicFramePr>
          <p:cNvPr id="2102300846" name="Table 2102300845"/>
          <p:cNvGraphicFramePr>
            <a:graphicFrameLocks/>
          </p:cNvGraphicFramePr>
          <p:nvPr/>
        </p:nvGraphicFramePr>
        <p:xfrm>
          <a:off x="859199" y="1657349"/>
          <a:ext cx="16611598" cy="7439250"/>
        </p:xfrm>
        <a:graphic>
          <a:graphicData uri="http://schemas.openxmlformats.org/drawingml/2006/table">
            <a:tbl>
              <a:tblPr firstRow="1" firstCol="1" bandRow="1"/>
              <a:tblGrid>
                <a:gridCol w="5277953">
                  <a:extLst>
                    <a:ext uri="{9D8B030D-6E8A-4147-A177-3AD203B41FA5}">
                      <a16:colId xmlns:a16="http://schemas.microsoft.com/office/drawing/2014/main" val="20000"/>
                    </a:ext>
                  </a:extLst>
                </a:gridCol>
                <a:gridCol w="5007957">
                  <a:extLst>
                    <a:ext uri="{9D8B030D-6E8A-4147-A177-3AD203B41FA5}">
                      <a16:colId xmlns:a16="http://schemas.microsoft.com/office/drawing/2014/main" val="20001"/>
                    </a:ext>
                  </a:extLst>
                </a:gridCol>
                <a:gridCol w="2285307">
                  <a:extLst>
                    <a:ext uri="{9D8B030D-6E8A-4147-A177-3AD203B41FA5}">
                      <a16:colId xmlns:a16="http://schemas.microsoft.com/office/drawing/2014/main" val="20002"/>
                    </a:ext>
                  </a:extLst>
                </a:gridCol>
                <a:gridCol w="4040381">
                  <a:extLst>
                    <a:ext uri="{9D8B030D-6E8A-4147-A177-3AD203B41FA5}">
                      <a16:colId xmlns:a16="http://schemas.microsoft.com/office/drawing/2014/main" val="20003"/>
                    </a:ext>
                  </a:extLst>
                </a:gridCol>
              </a:tblGrid>
              <a:tr h="1239875">
                <a:tc>
                  <a:txBody>
                    <a:bodyPr/>
                    <a:lstStyle/>
                    <a:p>
                      <a:pPr>
                        <a:defRPr/>
                      </a:pPr>
                      <a:r>
                        <a:rPr sz="2400" b="0" i="0" u="none">
                          <a:solidFill>
                            <a:srgbClr val="000000"/>
                          </a:solidFill>
                          <a:latin typeface="Times New Roman"/>
                          <a:ea typeface="Times New Roman"/>
                          <a:cs typeface="Times New Roman"/>
                        </a:rPr>
                        <a:t>Nối dữ liệu thật từ B/C thay mock</a:t>
                      </a:r>
                      <a:endParaRPr/>
                    </a:p>
                  </a:txBody>
                  <a:tcPr marL="9524" marR="9524" marT="9524" marB="9524" anchor="ctr">
                    <a:lnL w="12667" algn="ctr">
                      <a:solidFill>
                        <a:srgbClr val="000000"/>
                      </a:solidFill>
                    </a:lnL>
                    <a:lnR w="12667" algn="ctr">
                      <a:solidFill>
                        <a:srgbClr val="000000"/>
                      </a:solidFill>
                    </a:lnR>
                    <a:lnT w="9524" algn="ctr">
                      <a:solidFill>
                        <a:srgbClr val="000000"/>
                      </a:solidFill>
                    </a:lnT>
                    <a:lnB w="12667" algn="ctr">
                      <a:solidFill>
                        <a:srgbClr val="000000"/>
                      </a:solidFill>
                    </a:lnB>
                    <a:solidFill>
                      <a:srgbClr val="FFFFFF"/>
                    </a:solidFill>
                  </a:tcPr>
                </a:tc>
                <a:tc>
                  <a:txBody>
                    <a:bodyPr/>
                    <a:lstStyle/>
                    <a:p>
                      <a:pPr>
                        <a:defRPr/>
                      </a:pPr>
                      <a:r>
                        <a:rPr sz="2400" b="0" i="0" u="none">
                          <a:solidFill>
                            <a:srgbClr val="000000"/>
                          </a:solidFill>
                          <a:latin typeface="Times New Roman"/>
                          <a:ea typeface="Times New Roman"/>
                          <a:cs typeface="Times New Roman"/>
                        </a:rPr>
                        <a:t>Chuyển adapter dữ liệu từ mock sang thật</a:t>
                      </a:r>
                      <a:endParaRPr/>
                    </a:p>
                  </a:txBody>
                  <a:tcPr marL="9524" marR="9524" marT="9524" marB="9524" anchor="ctr">
                    <a:lnL w="12667" algn="ctr">
                      <a:solidFill>
                        <a:srgbClr val="000000"/>
                      </a:solidFill>
                    </a:lnL>
                    <a:lnR w="12667" algn="ctr">
                      <a:solidFill>
                        <a:srgbClr val="000000"/>
                      </a:solidFill>
                    </a:lnR>
                    <a:lnT w="9524" algn="ctr">
                      <a:solidFill>
                        <a:srgbClr val="000000"/>
                      </a:solidFill>
                    </a:lnT>
                    <a:lnB w="12667" algn="ctr">
                      <a:solidFill>
                        <a:srgbClr val="000000"/>
                      </a:solidFill>
                    </a:lnB>
                    <a:solidFill>
                      <a:srgbClr val="FFFFFF"/>
                    </a:solidFill>
                  </a:tcPr>
                </a:tc>
                <a:tc>
                  <a:txBody>
                    <a:bodyPr/>
                    <a:lstStyle/>
                    <a:p>
                      <a:pPr>
                        <a:defRPr/>
                      </a:pPr>
                      <a:r>
                        <a:rPr sz="2400" b="0" i="0" u="none">
                          <a:solidFill>
                            <a:srgbClr val="000000"/>
                          </a:solidFill>
                          <a:latin typeface="Times New Roman"/>
                          <a:ea typeface="Times New Roman"/>
                          <a:cs typeface="Times New Roman"/>
                        </a:rPr>
                        <a:t>Tuần 7</a:t>
                      </a:r>
                      <a:endParaRPr/>
                    </a:p>
                  </a:txBody>
                  <a:tcPr marL="9524" marR="9524" marT="9524" marB="9524" anchor="ctr">
                    <a:lnL w="12667" algn="ctr">
                      <a:solidFill>
                        <a:srgbClr val="000000"/>
                      </a:solidFill>
                    </a:lnL>
                    <a:lnR w="12667" algn="ctr">
                      <a:solidFill>
                        <a:srgbClr val="000000"/>
                      </a:solidFill>
                    </a:lnR>
                    <a:lnT w="9524" algn="ctr">
                      <a:solidFill>
                        <a:srgbClr val="000000"/>
                      </a:solidFill>
                    </a:lnT>
                    <a:lnB w="12667" algn="ctr">
                      <a:solidFill>
                        <a:srgbClr val="000000"/>
                      </a:solidFill>
                    </a:lnB>
                    <a:solidFill>
                      <a:srgbClr val="FFFFFF"/>
                    </a:solidFill>
                  </a:tcPr>
                </a:tc>
                <a:tc>
                  <a:txBody>
                    <a:bodyPr/>
                    <a:lstStyle/>
                    <a:p>
                      <a:pPr>
                        <a:defRPr/>
                      </a:pPr>
                      <a:r>
                        <a:rPr sz="2400" b="0" i="0" u="none">
                          <a:solidFill>
                            <a:srgbClr val="000000"/>
                          </a:solidFill>
                          <a:latin typeface="Times New Roman"/>
                          <a:ea typeface="Times New Roman"/>
                          <a:cs typeface="Times New Roman"/>
                        </a:rPr>
                        <a:t>Nguyễn Đức Đại </a:t>
                      </a:r>
                      <a:endParaRPr/>
                    </a:p>
                  </a:txBody>
                  <a:tcPr marL="9524" marR="9524" marT="9524" marB="9524" anchor="ctr">
                    <a:lnL w="12667" algn="ctr">
                      <a:solidFill>
                        <a:srgbClr val="000000"/>
                      </a:solidFill>
                    </a:lnL>
                    <a:lnR w="12667" algn="ctr">
                      <a:solidFill>
                        <a:srgbClr val="000000"/>
                      </a:solidFill>
                    </a:lnR>
                    <a:lnT w="9524" algn="ctr">
                      <a:solidFill>
                        <a:srgbClr val="000000"/>
                      </a:solidFill>
                    </a:lnT>
                    <a:lnB w="12667" algn="ctr">
                      <a:solidFill>
                        <a:srgbClr val="000000"/>
                      </a:solidFill>
                    </a:lnB>
                    <a:solidFill>
                      <a:srgbClr val="FFFFFF"/>
                    </a:solidFill>
                  </a:tcPr>
                </a:tc>
                <a:extLst>
                  <a:ext uri="{0D108BD9-81ED-4DB2-BD59-A6C34878D82A}">
                    <a16:rowId xmlns:a16="http://schemas.microsoft.com/office/drawing/2014/main" val="10000"/>
                  </a:ext>
                </a:extLst>
              </a:tr>
              <a:tr h="1239875">
                <a:tc>
                  <a:txBody>
                    <a:bodyPr/>
                    <a:lstStyle/>
                    <a:p>
                      <a:pPr>
                        <a:defRPr/>
                      </a:pPr>
                      <a:r>
                        <a:rPr sz="2400" b="0" i="0" u="none">
                          <a:solidFill>
                            <a:srgbClr val="000000"/>
                          </a:solidFill>
                          <a:latin typeface="Times New Roman"/>
                          <a:ea typeface="Times New Roman"/>
                          <a:cs typeface="Times New Roman"/>
                        </a:rPr>
                        <a:t>Ẩn danh hóa PII trong pipeline Agent</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FFFFF"/>
                    </a:solidFill>
                  </a:tcPr>
                </a:tc>
                <a:tc>
                  <a:txBody>
                    <a:bodyPr/>
                    <a:lstStyle/>
                    <a:p>
                      <a:pPr>
                        <a:defRPr/>
                      </a:pPr>
                      <a:r>
                        <a:rPr sz="2400" b="0" i="0" u="none">
                          <a:solidFill>
                            <a:srgbClr val="000000"/>
                          </a:solidFill>
                          <a:latin typeface="Times New Roman"/>
                          <a:ea typeface="Times New Roman"/>
                          <a:cs typeface="Times New Roman"/>
                        </a:rPr>
                        <a:t>Đảm bảo dữ liệu cá nhân được ẩn danh trước xử lý</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FFFFF"/>
                    </a:solidFill>
                  </a:tcPr>
                </a:tc>
                <a:tc>
                  <a:txBody>
                    <a:bodyPr/>
                    <a:lstStyle/>
                    <a:p>
                      <a:pPr>
                        <a:defRPr/>
                      </a:pPr>
                      <a:r>
                        <a:rPr sz="2400" b="0" i="0" u="none">
                          <a:solidFill>
                            <a:srgbClr val="000000"/>
                          </a:solidFill>
                          <a:latin typeface="Times New Roman"/>
                          <a:ea typeface="Times New Roman"/>
                          <a:cs typeface="Times New Roman"/>
                        </a:rPr>
                        <a:t>Tuần 8</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FFFFF"/>
                    </a:solidFill>
                  </a:tcPr>
                </a:tc>
                <a:tc>
                  <a:txBody>
                    <a:bodyPr/>
                    <a:lstStyle/>
                    <a:p>
                      <a:pPr>
                        <a:defRPr/>
                      </a:pPr>
                      <a:r>
                        <a:rPr sz="2400" b="0" i="0" u="none">
                          <a:solidFill>
                            <a:srgbClr val="000000"/>
                          </a:solidFill>
                          <a:latin typeface="Times New Roman"/>
                          <a:ea typeface="Times New Roman"/>
                          <a:cs typeface="Times New Roman"/>
                        </a:rPr>
                        <a:t>Nguyễn Đức Đại </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FFFFF"/>
                    </a:solidFill>
                  </a:tcPr>
                </a:tc>
                <a:extLst>
                  <a:ext uri="{0D108BD9-81ED-4DB2-BD59-A6C34878D82A}">
                    <a16:rowId xmlns:a16="http://schemas.microsoft.com/office/drawing/2014/main" val="10001"/>
                  </a:ext>
                </a:extLst>
              </a:tr>
              <a:tr h="1239875">
                <a:tc>
                  <a:txBody>
                    <a:bodyPr/>
                    <a:lstStyle/>
                    <a:p>
                      <a:pPr>
                        <a:defRPr/>
                      </a:pPr>
                      <a:r>
                        <a:rPr sz="2400" b="0" i="0" u="none">
                          <a:solidFill>
                            <a:srgbClr val="000000"/>
                          </a:solidFill>
                          <a:latin typeface="Times New Roman"/>
                          <a:ea typeface="Times New Roman"/>
                          <a:cs typeface="Times New Roman"/>
                        </a:rPr>
                        <a:t>Thống nhất contract API giữa B và D</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2F2F2"/>
                    </a:solidFill>
                  </a:tcPr>
                </a:tc>
                <a:tc>
                  <a:txBody>
                    <a:bodyPr/>
                    <a:lstStyle/>
                    <a:p>
                      <a:pPr>
                        <a:defRPr/>
                      </a:pPr>
                      <a:r>
                        <a:rPr sz="2400" b="0" i="0" u="none">
                          <a:solidFill>
                            <a:srgbClr val="000000"/>
                          </a:solidFill>
                          <a:latin typeface="Times New Roman"/>
                          <a:ea typeface="Times New Roman"/>
                          <a:cs typeface="Times New Roman"/>
                        </a:rPr>
                        <a:t>Chốt định dạng/tần suất dữ liệu chuyển giao</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2F2F2"/>
                    </a:solidFill>
                  </a:tcPr>
                </a:tc>
                <a:tc>
                  <a:txBody>
                    <a:bodyPr/>
                    <a:lstStyle/>
                    <a:p>
                      <a:pPr>
                        <a:defRPr/>
                      </a:pPr>
                      <a:r>
                        <a:rPr sz="2400" b="0" i="0" u="none">
                          <a:solidFill>
                            <a:srgbClr val="000000"/>
                          </a:solidFill>
                          <a:latin typeface="Times New Roman"/>
                          <a:ea typeface="Times New Roman"/>
                          <a:cs typeface="Times New Roman"/>
                        </a:rPr>
                        <a:t>Tuần 6</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2F2F2"/>
                    </a:solidFill>
                  </a:tcPr>
                </a:tc>
                <a:tc>
                  <a:txBody>
                    <a:bodyPr/>
                    <a:lstStyle/>
                    <a:p>
                      <a:pPr>
                        <a:defRPr/>
                      </a:pPr>
                      <a:r>
                        <a:rPr sz="2400" b="0" i="0" u="none">
                          <a:solidFill>
                            <a:srgbClr val="000000"/>
                          </a:solidFill>
                          <a:latin typeface="Times New Roman"/>
                          <a:ea typeface="Times New Roman"/>
                          <a:cs typeface="Times New Roman"/>
                        </a:rPr>
                        <a:t>Cả nhóm</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2F2F2"/>
                    </a:solidFill>
                  </a:tcPr>
                </a:tc>
                <a:extLst>
                  <a:ext uri="{0D108BD9-81ED-4DB2-BD59-A6C34878D82A}">
                    <a16:rowId xmlns:a16="http://schemas.microsoft.com/office/drawing/2014/main" val="10002"/>
                  </a:ext>
                </a:extLst>
              </a:tr>
              <a:tr h="1239875">
                <a:tc>
                  <a:txBody>
                    <a:bodyPr/>
                    <a:lstStyle/>
                    <a:p>
                      <a:pPr>
                        <a:defRPr/>
                      </a:pPr>
                      <a:r>
                        <a:rPr sz="2400" b="0" i="0" u="none">
                          <a:solidFill>
                            <a:srgbClr val="000000"/>
                          </a:solidFill>
                          <a:latin typeface="Times New Roman"/>
                          <a:ea typeface="Times New Roman"/>
                          <a:cs typeface="Times New Roman"/>
                        </a:rPr>
                        <a:t>Bàn giao mock data cho Workstream D</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2F2F2"/>
                    </a:solidFill>
                  </a:tcPr>
                </a:tc>
                <a:tc>
                  <a:txBody>
                    <a:bodyPr/>
                    <a:lstStyle/>
                    <a:p>
                      <a:pPr>
                        <a:defRPr/>
                      </a:pPr>
                      <a:r>
                        <a:rPr sz="2400" b="0" i="0" u="none">
                          <a:solidFill>
                            <a:srgbClr val="000000"/>
                          </a:solidFill>
                          <a:latin typeface="Times New Roman"/>
                          <a:ea typeface="Times New Roman"/>
                          <a:cs typeface="Times New Roman"/>
                        </a:rPr>
                        <a:t>B cung cấp mock JSON để D phát triển song song từ đầu</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2F2F2"/>
                    </a:solidFill>
                  </a:tcPr>
                </a:tc>
                <a:tc>
                  <a:txBody>
                    <a:bodyPr/>
                    <a:lstStyle/>
                    <a:p>
                      <a:pPr>
                        <a:defRPr/>
                      </a:pPr>
                      <a:r>
                        <a:rPr sz="2400" b="0" i="0" u="none">
                          <a:solidFill>
                            <a:srgbClr val="000000"/>
                          </a:solidFill>
                          <a:latin typeface="Times New Roman"/>
                          <a:ea typeface="Times New Roman"/>
                          <a:cs typeface="Times New Roman"/>
                        </a:rPr>
                        <a:t>Tuần 1</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2F2F2"/>
                    </a:solidFill>
                  </a:tcPr>
                </a:tc>
                <a:tc>
                  <a:txBody>
                    <a:bodyPr/>
                    <a:lstStyle/>
                    <a:p>
                      <a:pPr>
                        <a:defRPr/>
                      </a:pPr>
                      <a:r>
                        <a:rPr sz="2400" b="0" i="0" u="none">
                          <a:solidFill>
                            <a:srgbClr val="000000"/>
                          </a:solidFill>
                          <a:latin typeface="Times New Roman"/>
                          <a:ea typeface="Times New Roman"/>
                          <a:cs typeface="Times New Roman"/>
                        </a:rPr>
                        <a:t>Cả nhóm</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2F2F2"/>
                    </a:solidFill>
                  </a:tcPr>
                </a:tc>
                <a:extLst>
                  <a:ext uri="{0D108BD9-81ED-4DB2-BD59-A6C34878D82A}">
                    <a16:rowId xmlns:a16="http://schemas.microsoft.com/office/drawing/2014/main" val="10003"/>
                  </a:ext>
                </a:extLst>
              </a:tr>
              <a:tr h="1239875">
                <a:tc>
                  <a:txBody>
                    <a:bodyPr/>
                    <a:lstStyle/>
                    <a:p>
                      <a:pPr>
                        <a:defRPr/>
                      </a:pPr>
                      <a:r>
                        <a:rPr sz="2400" b="0" i="0" u="none">
                          <a:solidFill>
                            <a:srgbClr val="000000"/>
                          </a:solidFill>
                          <a:latin typeface="Times New Roman"/>
                          <a:ea typeface="Times New Roman"/>
                          <a:cs typeface="Times New Roman"/>
                        </a:rPr>
                        <a:t>Bàn giao mock data OCR cho Workstream D</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2F2F2"/>
                    </a:solidFill>
                  </a:tcPr>
                </a:tc>
                <a:tc>
                  <a:txBody>
                    <a:bodyPr/>
                    <a:lstStyle/>
                    <a:p>
                      <a:pPr>
                        <a:defRPr/>
                      </a:pPr>
                      <a:r>
                        <a:rPr sz="2400" b="0" i="0" u="none">
                          <a:solidFill>
                            <a:srgbClr val="000000"/>
                          </a:solidFill>
                          <a:latin typeface="Times New Roman"/>
                          <a:ea typeface="Times New Roman"/>
                          <a:cs typeface="Times New Roman"/>
                        </a:rPr>
                        <a:t>C cung cấp mock dữ liệu CCCD để D phát triển song song</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2F2F2"/>
                    </a:solidFill>
                  </a:tcPr>
                </a:tc>
                <a:tc>
                  <a:txBody>
                    <a:bodyPr/>
                    <a:lstStyle/>
                    <a:p>
                      <a:pPr>
                        <a:defRPr/>
                      </a:pPr>
                      <a:r>
                        <a:rPr sz="2400" b="0" i="0" u="none">
                          <a:solidFill>
                            <a:srgbClr val="000000"/>
                          </a:solidFill>
                          <a:latin typeface="Times New Roman"/>
                          <a:ea typeface="Times New Roman"/>
                          <a:cs typeface="Times New Roman"/>
                        </a:rPr>
                        <a:t>Tuần 1</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2F2F2"/>
                    </a:solidFill>
                  </a:tcPr>
                </a:tc>
                <a:tc>
                  <a:txBody>
                    <a:bodyPr/>
                    <a:lstStyle/>
                    <a:p>
                      <a:pPr>
                        <a:defRPr/>
                      </a:pPr>
                      <a:r>
                        <a:rPr sz="2400" b="0" i="0" u="none">
                          <a:solidFill>
                            <a:srgbClr val="000000"/>
                          </a:solidFill>
                          <a:latin typeface="Times New Roman"/>
                          <a:ea typeface="Times New Roman"/>
                          <a:cs typeface="Times New Roman"/>
                        </a:rPr>
                        <a:t>Cả nhóm</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2F2F2"/>
                    </a:solidFill>
                  </a:tcPr>
                </a:tc>
                <a:extLst>
                  <a:ext uri="{0D108BD9-81ED-4DB2-BD59-A6C34878D82A}">
                    <a16:rowId xmlns:a16="http://schemas.microsoft.com/office/drawing/2014/main" val="10004"/>
                  </a:ext>
                </a:extLst>
              </a:tr>
              <a:tr h="1239875">
                <a:tc>
                  <a:txBody>
                    <a:bodyPr/>
                    <a:lstStyle/>
                    <a:p>
                      <a:pPr>
                        <a:defRPr/>
                      </a:pPr>
                      <a:r>
                        <a:rPr sz="2400" b="0" i="0" u="none">
                          <a:solidFill>
                            <a:srgbClr val="000000"/>
                          </a:solidFill>
                          <a:latin typeface="Times New Roman"/>
                          <a:ea typeface="Times New Roman"/>
                          <a:cs typeface="Times New Roman"/>
                        </a:rPr>
                        <a:t>Test end-to-end toàn hệ thống</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2F2F2"/>
                    </a:solidFill>
                  </a:tcPr>
                </a:tc>
                <a:tc>
                  <a:txBody>
                    <a:bodyPr/>
                    <a:lstStyle/>
                    <a:p>
                      <a:pPr>
                        <a:defRPr/>
                      </a:pPr>
                      <a:r>
                        <a:rPr sz="2400" b="0" i="0" u="none">
                          <a:solidFill>
                            <a:srgbClr val="000000"/>
                          </a:solidFill>
                          <a:latin typeface="Times New Roman"/>
                          <a:ea typeface="Times New Roman"/>
                          <a:cs typeface="Times New Roman"/>
                        </a:rPr>
                        <a:t>Chạy thử toàn bộ luồng bệnh nhân từ đầu đến cuối</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2F2F2"/>
                    </a:solidFill>
                  </a:tcPr>
                </a:tc>
                <a:tc>
                  <a:txBody>
                    <a:bodyPr/>
                    <a:lstStyle/>
                    <a:p>
                      <a:pPr>
                        <a:defRPr/>
                      </a:pPr>
                      <a:r>
                        <a:rPr sz="2400" b="0" i="0" u="none">
                          <a:solidFill>
                            <a:srgbClr val="000000"/>
                          </a:solidFill>
                          <a:latin typeface="Times New Roman"/>
                          <a:ea typeface="Times New Roman"/>
                          <a:cs typeface="Times New Roman"/>
                        </a:rPr>
                        <a:t>Tuần 10</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2F2F2"/>
                    </a:solidFill>
                  </a:tcPr>
                </a:tc>
                <a:tc>
                  <a:txBody>
                    <a:bodyPr/>
                    <a:lstStyle/>
                    <a:p>
                      <a:pPr>
                        <a:defRPr/>
                      </a:pPr>
                      <a:r>
                        <a:rPr sz="2400" b="0" i="0" u="none">
                          <a:solidFill>
                            <a:srgbClr val="000000"/>
                          </a:solidFill>
                          <a:latin typeface="Times New Roman"/>
                          <a:ea typeface="Times New Roman"/>
                          <a:cs typeface="Times New Roman"/>
                        </a:rPr>
                        <a:t>Cả nhóm</a:t>
                      </a:r>
                      <a:endParaRPr/>
                    </a:p>
                  </a:txBody>
                  <a:tcPr marL="9524" marR="9524" marT="9524" marB="9524" anchor="ctr">
                    <a:lnL w="12667" algn="ctr">
                      <a:solidFill>
                        <a:srgbClr val="000000"/>
                      </a:solidFill>
                    </a:lnL>
                    <a:lnR w="12667" algn="ctr">
                      <a:solidFill>
                        <a:srgbClr val="000000"/>
                      </a:solidFill>
                    </a:lnR>
                    <a:lnT w="12667" algn="ctr">
                      <a:solidFill>
                        <a:srgbClr val="000000"/>
                      </a:solidFill>
                    </a:lnT>
                    <a:lnB w="12667" algn="ctr">
                      <a:solidFill>
                        <a:srgbClr val="000000"/>
                      </a:solidFill>
                    </a:lnB>
                    <a:solidFill>
                      <a:srgbClr val="F2F2F2"/>
                    </a:solidFill>
                  </a:tcP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p:fade/>
      </p:transition>
    </mc:Choice>
    <mc:Fallback xmlns="" xmlns:m="http://schemas.openxmlformats.org/officeDocument/2006/math" xmlns:w="http://schemas.openxmlformats.org/wordprocessingml/2006/main">
      <p:transition spd="fast" advClick="1">
        <p:fade thruBlk="0"/>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grpSp>
        <p:nvGrpSpPr>
          <p:cNvPr id="1697022180" name="Group 2"/>
          <p:cNvGrpSpPr/>
          <p:nvPr/>
        </p:nvGrpSpPr>
        <p:grpSpPr bwMode="auto">
          <a:xfrm>
            <a:off x="11649142" y="921287"/>
            <a:ext cx="5610158" cy="381495"/>
            <a:chOff x="0" y="0"/>
            <a:chExt cx="7175411" cy="487934"/>
          </a:xfrm>
        </p:grpSpPr>
        <p:sp>
          <p:nvSpPr>
            <p:cNvPr id="3" name="Freeform 3"/>
            <p:cNvSpPr/>
            <p:nvPr/>
          </p:nvSpPr>
          <p:spPr bwMode="auto">
            <a:xfrm flipV="1">
              <a:off x="0" y="0"/>
              <a:ext cx="7175373" cy="487934"/>
            </a:xfrm>
            <a:custGeom>
              <a:avLst/>
              <a:gdLst/>
              <a:ahLst/>
              <a:cxnLst/>
              <a:rect l="l" t="t" r="r" b="b"/>
              <a:pathLst>
                <a:path w="7175373" h="487934" extrusionOk="0">
                  <a:moveTo>
                    <a:pt x="0" y="487934"/>
                  </a:moveTo>
                  <a:lnTo>
                    <a:pt x="7175373" y="487934"/>
                  </a:lnTo>
                  <a:lnTo>
                    <a:pt x="7175373" y="0"/>
                  </a:lnTo>
                  <a:lnTo>
                    <a:pt x="0" y="0"/>
                  </a:lnTo>
                  <a:lnTo>
                    <a:pt x="0" y="487934"/>
                  </a:lnTo>
                  <a:close/>
                </a:path>
              </a:pathLst>
            </a:custGeom>
            <a:blipFill rotWithShape="1">
              <a:blip r:embed="rId3"/>
              <a:stretch>
                <a:fillRect b="-575"/>
              </a:stretch>
            </a:blipFill>
          </p:spPr>
          <p:txBody>
            <a:bodyPr anchor="ctr"/>
            <a:lstStyle/>
            <a:p>
              <a:pPr algn="ctr">
                <a:defRPr/>
              </a:pPr>
              <a:endParaRPr sz="2200">
                <a:latin typeface="Times New Roman"/>
                <a:cs typeface="Times New Roman"/>
              </a:endParaRPr>
            </a:p>
          </p:txBody>
        </p:sp>
      </p:grpSp>
      <p:grpSp>
        <p:nvGrpSpPr>
          <p:cNvPr id="2029399140" name="Group 4"/>
          <p:cNvGrpSpPr/>
          <p:nvPr/>
        </p:nvGrpSpPr>
        <p:grpSpPr bwMode="auto">
          <a:xfrm>
            <a:off x="630265" y="468997"/>
            <a:ext cx="3770775" cy="1256765"/>
            <a:chOff x="0" y="0"/>
            <a:chExt cx="5781473" cy="1926912"/>
          </a:xfrm>
        </p:grpSpPr>
        <p:sp>
          <p:nvSpPr>
            <p:cNvPr id="5" name="Freeform 5"/>
            <p:cNvSpPr/>
            <p:nvPr/>
          </p:nvSpPr>
          <p:spPr bwMode="auto">
            <a:xfrm>
              <a:off x="0" y="0"/>
              <a:ext cx="5781473" cy="1926905"/>
            </a:xfrm>
            <a:custGeom>
              <a:avLst/>
              <a:gdLst/>
              <a:ahLst/>
              <a:cxnLst/>
              <a:rect l="l" t="t" r="r" b="b"/>
              <a:pathLst>
                <a:path w="5781473" h="1926905" extrusionOk="0">
                  <a:moveTo>
                    <a:pt x="0" y="0"/>
                  </a:moveTo>
                  <a:lnTo>
                    <a:pt x="5781473" y="0"/>
                  </a:lnTo>
                  <a:lnTo>
                    <a:pt x="5781473" y="1926905"/>
                  </a:lnTo>
                  <a:lnTo>
                    <a:pt x="0" y="1926905"/>
                  </a:lnTo>
                  <a:close/>
                </a:path>
              </a:pathLst>
            </a:custGeom>
            <a:blipFill rotWithShape="1">
              <a:blip r:embed="rId4">
                <a:alphaModFix amt="0"/>
              </a:blip>
              <a:stretch>
                <a:fillRect t="-168133" r="-263768" b="-157204"/>
              </a:stretch>
            </a:blipFill>
          </p:spPr>
          <p:txBody>
            <a:bodyPr anchor="ctr"/>
            <a:lstStyle/>
            <a:p>
              <a:pPr algn="ctr">
                <a:defRPr/>
              </a:pPr>
              <a:endParaRPr sz="2200">
                <a:latin typeface="Times New Roman"/>
                <a:cs typeface="Times New Roman"/>
              </a:endParaRPr>
            </a:p>
          </p:txBody>
        </p:sp>
        <p:sp>
          <p:nvSpPr>
            <p:cNvPr id="6" name="TextBox 6"/>
            <p:cNvSpPr txBox="1"/>
            <p:nvPr/>
          </p:nvSpPr>
          <p:spPr bwMode="auto">
            <a:xfrm>
              <a:off x="0" y="-95250"/>
              <a:ext cx="5781473" cy="2022162"/>
            </a:xfrm>
            <a:prstGeom prst="rect">
              <a:avLst/>
            </a:prstGeom>
            <a:grpFill/>
          </p:spPr>
          <p:txBody>
            <a:bodyPr lIns="0" tIns="0" rIns="0" bIns="0" rtlCol="0" anchor="ctr"/>
            <a:lstStyle/>
            <a:p>
              <a:pPr algn="ctr">
                <a:lnSpc>
                  <a:spcPts val="8141"/>
                </a:lnSpc>
                <a:defRPr/>
              </a:pPr>
              <a:r>
                <a:rPr lang="en-US" sz="8000" b="1">
                  <a:solidFill>
                    <a:srgbClr val="10439A"/>
                  </a:solidFill>
                  <a:latin typeface="Times New Roman"/>
                  <a:ea typeface="Times New Roman"/>
                  <a:cs typeface="Times New Roman"/>
                </a:rPr>
                <a:t>SWOT</a:t>
              </a:r>
              <a:endParaRPr sz="2200">
                <a:latin typeface="Times New Roman"/>
                <a:cs typeface="Times New Roman"/>
              </a:endParaRPr>
            </a:p>
          </p:txBody>
        </p:sp>
      </p:grpSp>
      <p:graphicFrame>
        <p:nvGraphicFramePr>
          <p:cNvPr id="1724227975" name="Table 7"/>
          <p:cNvGraphicFramePr>
            <a:graphicFrameLocks noGrp="1"/>
          </p:cNvGraphicFramePr>
          <p:nvPr/>
        </p:nvGraphicFramePr>
        <p:xfrm>
          <a:off x="636855" y="1725762"/>
          <a:ext cx="17014292" cy="7753350"/>
        </p:xfrm>
        <a:graphic>
          <a:graphicData uri="http://schemas.openxmlformats.org/drawingml/2006/table">
            <a:tbl>
              <a:tblPr/>
              <a:tblGrid>
                <a:gridCol w="4103140">
                  <a:extLst>
                    <a:ext uri="{9D8B030D-6E8A-4147-A177-3AD203B41FA5}">
                      <a16:colId xmlns:a16="http://schemas.microsoft.com/office/drawing/2014/main" val="20000"/>
                    </a:ext>
                  </a:extLst>
                </a:gridCol>
                <a:gridCol w="4103140">
                  <a:extLst>
                    <a:ext uri="{9D8B030D-6E8A-4147-A177-3AD203B41FA5}">
                      <a16:colId xmlns:a16="http://schemas.microsoft.com/office/drawing/2014/main" val="20001"/>
                    </a:ext>
                  </a:extLst>
                </a:gridCol>
                <a:gridCol w="4103140">
                  <a:extLst>
                    <a:ext uri="{9D8B030D-6E8A-4147-A177-3AD203B41FA5}">
                      <a16:colId xmlns:a16="http://schemas.microsoft.com/office/drawing/2014/main" val="20002"/>
                    </a:ext>
                  </a:extLst>
                </a:gridCol>
                <a:gridCol w="4704872">
                  <a:extLst>
                    <a:ext uri="{9D8B030D-6E8A-4147-A177-3AD203B41FA5}">
                      <a16:colId xmlns:a16="http://schemas.microsoft.com/office/drawing/2014/main" val="20003"/>
                    </a:ext>
                  </a:extLst>
                </a:gridCol>
              </a:tblGrid>
              <a:tr h="1753482">
                <a:tc>
                  <a:txBody>
                    <a:bodyPr/>
                    <a:lstStyle/>
                    <a:p>
                      <a:pPr algn="ctr">
                        <a:lnSpc>
                          <a:spcPts val="4339"/>
                        </a:lnSpc>
                        <a:defRPr/>
                      </a:pPr>
                      <a:r>
                        <a:rPr lang="en-US" sz="4800" b="1">
                          <a:solidFill>
                            <a:srgbClr val="000000"/>
                          </a:solidFill>
                          <a:latin typeface="Times New Roman"/>
                          <a:ea typeface="Times New Roman"/>
                          <a:cs typeface="Times New Roman"/>
                        </a:rPr>
                        <a:t>Điểm mạnh (Strengths)</a:t>
                      </a:r>
                      <a:endParaRPr sz="1400">
                        <a:latin typeface="Times New Roman"/>
                        <a:cs typeface="Times New Roman"/>
                      </a:endParaRPr>
                    </a:p>
                  </a:txBody>
                  <a:tcPr marL="190500" marR="190500" marT="190500" marB="190500" anchor="ctr">
                    <a:lnL w="0" algn="ctr">
                      <a:solidFill>
                        <a:srgbClr val="FF9999"/>
                      </a:solidFill>
                    </a:lnL>
                    <a:lnR w="0" algn="ctr">
                      <a:solidFill>
                        <a:srgbClr val="FF9999"/>
                      </a:solidFill>
                    </a:lnR>
                    <a:lnT w="0" algn="ctr">
                      <a:solidFill>
                        <a:srgbClr val="FF9999"/>
                      </a:solidFill>
                    </a:lnT>
                    <a:lnB w="0" algn="ctr">
                      <a:solidFill>
                        <a:srgbClr val="FF9999"/>
                      </a:solidFill>
                    </a:lnB>
                    <a:solidFill>
                      <a:srgbClr val="FF9999"/>
                    </a:solidFill>
                  </a:tcPr>
                </a:tc>
                <a:tc>
                  <a:txBody>
                    <a:bodyPr/>
                    <a:lstStyle/>
                    <a:p>
                      <a:pPr algn="ctr">
                        <a:lnSpc>
                          <a:spcPts val="4339"/>
                        </a:lnSpc>
                        <a:defRPr/>
                      </a:pPr>
                      <a:r>
                        <a:rPr lang="en-US" sz="4800" b="1">
                          <a:solidFill>
                            <a:srgbClr val="000000"/>
                          </a:solidFill>
                          <a:latin typeface="Times New Roman"/>
                          <a:ea typeface="Times New Roman"/>
                          <a:cs typeface="Times New Roman"/>
                        </a:rPr>
                        <a:t>Điểm yếu (Weaknesses)</a:t>
                      </a:r>
                      <a:endParaRPr sz="1400">
                        <a:latin typeface="Times New Roman"/>
                        <a:cs typeface="Times New Roman"/>
                      </a:endParaRPr>
                    </a:p>
                  </a:txBody>
                  <a:tcPr marL="190500" marR="190500" marT="190500" marB="190500" anchor="ctr">
                    <a:lnL w="0" algn="ctr">
                      <a:solidFill>
                        <a:srgbClr val="FF9999"/>
                      </a:solidFill>
                    </a:lnL>
                    <a:lnR w="0" algn="ctr">
                      <a:solidFill>
                        <a:srgbClr val="FF9999"/>
                      </a:solidFill>
                    </a:lnR>
                    <a:lnT w="0" algn="ctr">
                      <a:solidFill>
                        <a:srgbClr val="FF9999"/>
                      </a:solidFill>
                    </a:lnT>
                    <a:lnB w="0" algn="ctr">
                      <a:solidFill>
                        <a:srgbClr val="FF9999"/>
                      </a:solidFill>
                    </a:lnB>
                    <a:solidFill>
                      <a:srgbClr val="FF9999"/>
                    </a:solidFill>
                  </a:tcPr>
                </a:tc>
                <a:tc>
                  <a:txBody>
                    <a:bodyPr/>
                    <a:lstStyle/>
                    <a:p>
                      <a:pPr algn="ctr">
                        <a:lnSpc>
                          <a:spcPts val="4339"/>
                        </a:lnSpc>
                        <a:defRPr/>
                      </a:pPr>
                      <a:r>
                        <a:rPr lang="en-US" sz="4800" b="1">
                          <a:solidFill>
                            <a:srgbClr val="000000"/>
                          </a:solidFill>
                          <a:latin typeface="Times New Roman"/>
                          <a:ea typeface="Times New Roman"/>
                          <a:cs typeface="Times New Roman"/>
                        </a:rPr>
                        <a:t>Thách thức (Threats)</a:t>
                      </a:r>
                      <a:endParaRPr sz="1400">
                        <a:latin typeface="Times New Roman"/>
                        <a:cs typeface="Times New Roman"/>
                      </a:endParaRPr>
                    </a:p>
                  </a:txBody>
                  <a:tcPr marL="190500" marR="190500" marT="190500" marB="190500" anchor="ctr">
                    <a:lnL w="0" algn="ctr">
                      <a:solidFill>
                        <a:srgbClr val="FF9999"/>
                      </a:solidFill>
                    </a:lnL>
                    <a:lnR w="0" algn="ctr">
                      <a:solidFill>
                        <a:srgbClr val="FF9999"/>
                      </a:solidFill>
                    </a:lnR>
                    <a:lnT w="0" algn="ctr">
                      <a:solidFill>
                        <a:srgbClr val="FF9999"/>
                      </a:solidFill>
                    </a:lnT>
                    <a:lnB w="0" algn="ctr">
                      <a:solidFill>
                        <a:srgbClr val="FF9999"/>
                      </a:solidFill>
                    </a:lnB>
                    <a:solidFill>
                      <a:srgbClr val="FF9999"/>
                    </a:solidFill>
                  </a:tcPr>
                </a:tc>
                <a:tc>
                  <a:txBody>
                    <a:bodyPr/>
                    <a:lstStyle/>
                    <a:p>
                      <a:pPr algn="ctr">
                        <a:lnSpc>
                          <a:spcPts val="4339"/>
                        </a:lnSpc>
                        <a:defRPr/>
                      </a:pPr>
                      <a:r>
                        <a:rPr lang="en-US" sz="4800" b="1">
                          <a:solidFill>
                            <a:srgbClr val="000000"/>
                          </a:solidFill>
                          <a:latin typeface="Times New Roman"/>
                          <a:ea typeface="Times New Roman"/>
                          <a:cs typeface="Times New Roman"/>
                        </a:rPr>
                        <a:t>Cơ hội (Opportunities)</a:t>
                      </a:r>
                      <a:endParaRPr sz="1400">
                        <a:latin typeface="Times New Roman"/>
                        <a:cs typeface="Times New Roman"/>
                      </a:endParaRPr>
                    </a:p>
                  </a:txBody>
                  <a:tcPr marL="190500" marR="190500" marT="190500" marB="190500" anchor="ctr">
                    <a:lnL w="0" algn="ctr">
                      <a:solidFill>
                        <a:srgbClr val="FF9999"/>
                      </a:solidFill>
                    </a:lnL>
                    <a:lnR w="0" algn="ctr">
                      <a:solidFill>
                        <a:srgbClr val="FF9999"/>
                      </a:solidFill>
                    </a:lnR>
                    <a:lnT w="0" algn="ctr">
                      <a:solidFill>
                        <a:srgbClr val="FF9999"/>
                      </a:solidFill>
                    </a:lnT>
                    <a:lnB w="0" algn="ctr">
                      <a:solidFill>
                        <a:srgbClr val="FF9999"/>
                      </a:solidFill>
                    </a:lnB>
                    <a:solidFill>
                      <a:srgbClr val="FF9999"/>
                    </a:solidFill>
                  </a:tcPr>
                </a:tc>
                <a:extLst>
                  <a:ext uri="{0D108BD9-81ED-4DB2-BD59-A6C34878D82A}">
                    <a16:rowId xmlns:a16="http://schemas.microsoft.com/office/drawing/2014/main" val="10000"/>
                  </a:ext>
                </a:extLst>
              </a:tr>
              <a:tr h="1499967">
                <a:tc>
                  <a:txBody>
                    <a:bodyPr/>
                    <a:lstStyle/>
                    <a:p>
                      <a:pPr algn="ctr">
                        <a:lnSpc>
                          <a:spcPts val="3499"/>
                        </a:lnSpc>
                        <a:defRPr/>
                      </a:pPr>
                      <a:r>
                        <a:rPr lang="en-US" sz="2800">
                          <a:solidFill>
                            <a:srgbClr val="000000"/>
                          </a:solidFill>
                          <a:latin typeface="Times New Roman"/>
                          <a:ea typeface="Times New Roman"/>
                          <a:cs typeface="Times New Roman"/>
                        </a:rPr>
                        <a:t> Thu thập dữ liệu đa giác quan</a:t>
                      </a:r>
                      <a:endParaRPr sz="1400">
                        <a:latin typeface="Times New Roman"/>
                        <a:cs typeface="Times New Roman"/>
                      </a:endParaRPr>
                    </a:p>
                  </a:txBody>
                  <a:tcPr marL="190500" marR="190500" marT="190500" marB="190500" anchor="ctr">
                    <a:lnL w="0" algn="ctr">
                      <a:solidFill>
                        <a:srgbClr val="FF9999"/>
                      </a:solidFill>
                    </a:lnL>
                    <a:lnR w="0" algn="ctr">
                      <a:solidFill>
                        <a:srgbClr val="FF9999"/>
                      </a:solidFill>
                    </a:lnR>
                    <a:lnT w="0" algn="ctr">
                      <a:solidFill>
                        <a:srgbClr val="FF9999"/>
                      </a:solidFill>
                    </a:lnT>
                    <a:lnB w="0" algn="ctr">
                      <a:solidFill>
                        <a:srgbClr val="FF9999"/>
                      </a:solidFill>
                    </a:lnB>
                    <a:solidFill>
                      <a:srgbClr val="FFE3E3"/>
                    </a:solidFill>
                  </a:tcPr>
                </a:tc>
                <a:tc>
                  <a:txBody>
                    <a:bodyPr/>
                    <a:lstStyle/>
                    <a:p>
                      <a:pPr algn="ctr">
                        <a:lnSpc>
                          <a:spcPts val="3499"/>
                        </a:lnSpc>
                        <a:defRPr/>
                      </a:pPr>
                      <a:r>
                        <a:rPr lang="en-US" sz="2800">
                          <a:solidFill>
                            <a:srgbClr val="000000"/>
                          </a:solidFill>
                          <a:latin typeface="Times New Roman"/>
                          <a:ea typeface="Times New Roman"/>
                          <a:cs typeface="Times New Roman"/>
                        </a:rPr>
                        <a:t>Độ trễ chuỗi xử lý</a:t>
                      </a:r>
                      <a:endParaRPr sz="1400">
                        <a:latin typeface="Times New Roman"/>
                        <a:cs typeface="Times New Roman"/>
                      </a:endParaRPr>
                    </a:p>
                  </a:txBody>
                  <a:tcPr marL="190500" marR="190500" marT="190500" marB="190500" anchor="ctr">
                    <a:lnL w="0" algn="ctr">
                      <a:solidFill>
                        <a:srgbClr val="FF9999"/>
                      </a:solidFill>
                    </a:lnL>
                    <a:lnR w="0" algn="ctr">
                      <a:solidFill>
                        <a:srgbClr val="FF9999"/>
                      </a:solidFill>
                    </a:lnR>
                    <a:lnT w="0" algn="ctr">
                      <a:solidFill>
                        <a:srgbClr val="FF9999"/>
                      </a:solidFill>
                    </a:lnT>
                    <a:lnB w="0" algn="ctr">
                      <a:solidFill>
                        <a:srgbClr val="FF9999"/>
                      </a:solidFill>
                    </a:lnB>
                    <a:solidFill>
                      <a:srgbClr val="FFE3E3"/>
                    </a:solidFill>
                  </a:tcPr>
                </a:tc>
                <a:tc>
                  <a:txBody>
                    <a:bodyPr/>
                    <a:lstStyle/>
                    <a:p>
                      <a:pPr algn="ctr">
                        <a:lnSpc>
                          <a:spcPts val="3499"/>
                        </a:lnSpc>
                        <a:defRPr/>
                      </a:pPr>
                      <a:r>
                        <a:rPr lang="en-US" sz="2800">
                          <a:solidFill>
                            <a:srgbClr val="000000"/>
                          </a:solidFill>
                          <a:latin typeface="Times New Roman"/>
                          <a:ea typeface="Times New Roman"/>
                          <a:cs typeface="Times New Roman"/>
                        </a:rPr>
                        <a:t>Tiêu chuẩn pháp lý &amp; An toàn y tế</a:t>
                      </a:r>
                      <a:endParaRPr sz="1400">
                        <a:latin typeface="Times New Roman"/>
                        <a:cs typeface="Times New Roman"/>
                      </a:endParaRPr>
                    </a:p>
                  </a:txBody>
                  <a:tcPr marL="190500" marR="190500" marT="190500" marB="190500" anchor="ctr">
                    <a:lnL w="0" algn="ctr">
                      <a:solidFill>
                        <a:srgbClr val="FF9999"/>
                      </a:solidFill>
                    </a:lnL>
                    <a:lnR w="0" algn="ctr">
                      <a:solidFill>
                        <a:srgbClr val="FF9999"/>
                      </a:solidFill>
                    </a:lnR>
                    <a:lnT w="0" algn="ctr">
                      <a:solidFill>
                        <a:srgbClr val="FF9999"/>
                      </a:solidFill>
                    </a:lnT>
                    <a:lnB w="0" algn="ctr">
                      <a:solidFill>
                        <a:srgbClr val="FF9999"/>
                      </a:solidFill>
                    </a:lnB>
                    <a:solidFill>
                      <a:srgbClr val="FFE3E3"/>
                    </a:solidFill>
                  </a:tcPr>
                </a:tc>
                <a:tc>
                  <a:txBody>
                    <a:bodyPr/>
                    <a:lstStyle/>
                    <a:p>
                      <a:pPr algn="ctr">
                        <a:lnSpc>
                          <a:spcPts val="3499"/>
                        </a:lnSpc>
                        <a:defRPr/>
                      </a:pPr>
                      <a:r>
                        <a:rPr lang="en-US" sz="2800">
                          <a:solidFill>
                            <a:srgbClr val="000000"/>
                          </a:solidFill>
                          <a:latin typeface="Times New Roman"/>
                          <a:ea typeface="Times New Roman"/>
                          <a:cs typeface="Times New Roman"/>
                        </a:rPr>
                        <a:t>Chính sách chuyển đổi số y tế</a:t>
                      </a:r>
                      <a:endParaRPr sz="1400">
                        <a:latin typeface="Times New Roman"/>
                        <a:cs typeface="Times New Roman"/>
                      </a:endParaRPr>
                    </a:p>
                  </a:txBody>
                  <a:tcPr marL="190500" marR="190500" marT="190500" marB="190500" anchor="ctr">
                    <a:lnL w="0" algn="ctr">
                      <a:solidFill>
                        <a:srgbClr val="FF9999"/>
                      </a:solidFill>
                    </a:lnL>
                    <a:lnR w="0" algn="ctr">
                      <a:solidFill>
                        <a:srgbClr val="FF9999"/>
                      </a:solidFill>
                    </a:lnR>
                    <a:lnT w="0" algn="ctr">
                      <a:solidFill>
                        <a:srgbClr val="FF9999"/>
                      </a:solidFill>
                    </a:lnT>
                    <a:lnB w="0" algn="ctr">
                      <a:solidFill>
                        <a:srgbClr val="FF9999"/>
                      </a:solidFill>
                    </a:lnB>
                    <a:solidFill>
                      <a:srgbClr val="FFE3E3"/>
                    </a:solidFill>
                  </a:tcPr>
                </a:tc>
                <a:extLst>
                  <a:ext uri="{0D108BD9-81ED-4DB2-BD59-A6C34878D82A}">
                    <a16:rowId xmlns:a16="http://schemas.microsoft.com/office/drawing/2014/main" val="10001"/>
                  </a:ext>
                </a:extLst>
              </a:tr>
              <a:tr h="1499967">
                <a:tc>
                  <a:txBody>
                    <a:bodyPr/>
                    <a:lstStyle/>
                    <a:p>
                      <a:pPr algn="ctr">
                        <a:lnSpc>
                          <a:spcPts val="3499"/>
                        </a:lnSpc>
                        <a:defRPr/>
                      </a:pPr>
                      <a:r>
                        <a:rPr lang="en-US" sz="2800">
                          <a:solidFill>
                            <a:srgbClr val="000000"/>
                          </a:solidFill>
                          <a:latin typeface="Times New Roman"/>
                          <a:ea typeface="Times New Roman"/>
                          <a:cs typeface="Times New Roman"/>
                        </a:rPr>
                        <a:t> Bộ não AI Agent tự hành</a:t>
                      </a:r>
                      <a:endParaRPr sz="1400">
                        <a:latin typeface="Times New Roman"/>
                        <a:cs typeface="Times New Roman"/>
                      </a:endParaRPr>
                    </a:p>
                  </a:txBody>
                  <a:tcPr marL="190500" marR="190500" marT="190500" marB="190500" anchor="ctr">
                    <a:lnL w="0" algn="ctr">
                      <a:solidFill>
                        <a:srgbClr val="FF9999"/>
                      </a:solidFill>
                    </a:lnL>
                    <a:lnR w="0" algn="ctr">
                      <a:solidFill>
                        <a:srgbClr val="FF9999"/>
                      </a:solidFill>
                    </a:lnR>
                    <a:lnT w="0" algn="ctr">
                      <a:solidFill>
                        <a:srgbClr val="FF9999"/>
                      </a:solidFill>
                    </a:lnT>
                    <a:lnB w="0" algn="ctr">
                      <a:solidFill>
                        <a:srgbClr val="FF9999"/>
                      </a:solidFill>
                    </a:lnB>
                    <a:solidFill>
                      <a:srgbClr val="FFE3E3"/>
                    </a:solidFill>
                  </a:tcPr>
                </a:tc>
                <a:tc>
                  <a:txBody>
                    <a:bodyPr/>
                    <a:lstStyle/>
                    <a:p>
                      <a:pPr algn="ctr">
                        <a:lnSpc>
                          <a:spcPts val="3499"/>
                        </a:lnSpc>
                        <a:defRPr/>
                      </a:pPr>
                      <a:r>
                        <a:rPr lang="en-US" sz="2800">
                          <a:solidFill>
                            <a:srgbClr val="000000"/>
                          </a:solidFill>
                          <a:latin typeface="Times New Roman"/>
                          <a:ea typeface="Times New Roman"/>
                          <a:cs typeface="Times New Roman"/>
                        </a:rPr>
                        <a:t> Rủi ro ảo giác </a:t>
                      </a:r>
                      <a:endParaRPr sz="1400">
                        <a:latin typeface="Times New Roman"/>
                        <a:cs typeface="Times New Roman"/>
                      </a:endParaRPr>
                    </a:p>
                  </a:txBody>
                  <a:tcPr marL="190500" marR="190500" marT="190500" marB="190500" anchor="ctr">
                    <a:lnL w="0" algn="ctr">
                      <a:solidFill>
                        <a:srgbClr val="FF9999"/>
                      </a:solidFill>
                    </a:lnL>
                    <a:lnR w="0" algn="ctr">
                      <a:solidFill>
                        <a:srgbClr val="FF9999"/>
                      </a:solidFill>
                    </a:lnR>
                    <a:lnT w="0" algn="ctr">
                      <a:solidFill>
                        <a:srgbClr val="FF9999"/>
                      </a:solidFill>
                    </a:lnT>
                    <a:lnB w="0" algn="ctr">
                      <a:solidFill>
                        <a:srgbClr val="FF9999"/>
                      </a:solidFill>
                    </a:lnB>
                    <a:solidFill>
                      <a:srgbClr val="FFE3E3"/>
                    </a:solidFill>
                  </a:tcPr>
                </a:tc>
                <a:tc>
                  <a:txBody>
                    <a:bodyPr/>
                    <a:lstStyle/>
                    <a:p>
                      <a:pPr algn="ctr">
                        <a:lnSpc>
                          <a:spcPts val="3499"/>
                        </a:lnSpc>
                        <a:defRPr/>
                      </a:pPr>
                      <a:r>
                        <a:rPr lang="en-US" sz="2800">
                          <a:solidFill>
                            <a:srgbClr val="000000"/>
                          </a:solidFill>
                          <a:latin typeface="Times New Roman"/>
                          <a:ea typeface="Times New Roman"/>
                          <a:cs typeface="Times New Roman"/>
                        </a:rPr>
                        <a:t>Bảo mật dữ liệu cá nhân</a:t>
                      </a:r>
                      <a:endParaRPr sz="1400">
                        <a:latin typeface="Times New Roman"/>
                        <a:cs typeface="Times New Roman"/>
                      </a:endParaRPr>
                    </a:p>
                  </a:txBody>
                  <a:tcPr marL="190500" marR="190500" marT="190500" marB="190500" anchor="ctr">
                    <a:lnL w="0" algn="ctr">
                      <a:solidFill>
                        <a:srgbClr val="FF9999"/>
                      </a:solidFill>
                    </a:lnL>
                    <a:lnR w="0" algn="ctr">
                      <a:solidFill>
                        <a:srgbClr val="FF9999"/>
                      </a:solidFill>
                    </a:lnR>
                    <a:lnT w="0" algn="ctr">
                      <a:solidFill>
                        <a:srgbClr val="FF9999"/>
                      </a:solidFill>
                    </a:lnT>
                    <a:lnB w="0" algn="ctr">
                      <a:solidFill>
                        <a:srgbClr val="FF9999"/>
                      </a:solidFill>
                    </a:lnB>
                    <a:solidFill>
                      <a:srgbClr val="FFE3E3"/>
                    </a:solidFill>
                  </a:tcPr>
                </a:tc>
                <a:tc>
                  <a:txBody>
                    <a:bodyPr/>
                    <a:lstStyle/>
                    <a:p>
                      <a:pPr algn="ctr">
                        <a:lnSpc>
                          <a:spcPts val="3499"/>
                        </a:lnSpc>
                        <a:defRPr/>
                      </a:pPr>
                      <a:r>
                        <a:rPr lang="en-US" sz="2800">
                          <a:solidFill>
                            <a:srgbClr val="000000"/>
                          </a:solidFill>
                          <a:latin typeface="Times New Roman"/>
                          <a:ea typeface="Times New Roman"/>
                          <a:cs typeface="Times New Roman"/>
                        </a:rPr>
                        <a:t>Nhu cầu giải tỏa quá tải phòng cấp cứu</a:t>
                      </a:r>
                      <a:endParaRPr sz="1400">
                        <a:latin typeface="Times New Roman"/>
                        <a:cs typeface="Times New Roman"/>
                      </a:endParaRPr>
                    </a:p>
                  </a:txBody>
                  <a:tcPr marL="190500" marR="190500" marT="190500" marB="190500" anchor="ctr">
                    <a:lnL w="0" algn="ctr">
                      <a:solidFill>
                        <a:srgbClr val="FF9999"/>
                      </a:solidFill>
                    </a:lnL>
                    <a:lnR w="0" algn="ctr">
                      <a:solidFill>
                        <a:srgbClr val="FF9999"/>
                      </a:solidFill>
                    </a:lnR>
                    <a:lnT w="0" algn="ctr">
                      <a:solidFill>
                        <a:srgbClr val="FF9999"/>
                      </a:solidFill>
                    </a:lnT>
                    <a:lnB w="0" algn="ctr">
                      <a:solidFill>
                        <a:srgbClr val="FF9999"/>
                      </a:solidFill>
                    </a:lnB>
                    <a:solidFill>
                      <a:srgbClr val="FFE3E3"/>
                    </a:solidFill>
                  </a:tcPr>
                </a:tc>
                <a:extLst>
                  <a:ext uri="{0D108BD9-81ED-4DB2-BD59-A6C34878D82A}">
                    <a16:rowId xmlns:a16="http://schemas.microsoft.com/office/drawing/2014/main" val="10002"/>
                  </a:ext>
                </a:extLst>
              </a:tr>
              <a:tr h="1499967">
                <a:tc>
                  <a:txBody>
                    <a:bodyPr/>
                    <a:lstStyle/>
                    <a:p>
                      <a:pPr algn="ctr">
                        <a:lnSpc>
                          <a:spcPts val="3499"/>
                        </a:lnSpc>
                        <a:defRPr/>
                      </a:pPr>
                      <a:r>
                        <a:rPr lang="en-US" sz="2800">
                          <a:solidFill>
                            <a:srgbClr val="000000"/>
                          </a:solidFill>
                          <a:latin typeface="Times New Roman"/>
                          <a:ea typeface="Times New Roman"/>
                          <a:cs typeface="Times New Roman"/>
                        </a:rPr>
                        <a:t> Liên kết Cyber-Physical hoàn chỉnh</a:t>
                      </a:r>
                      <a:endParaRPr sz="1400">
                        <a:latin typeface="Times New Roman"/>
                        <a:cs typeface="Times New Roman"/>
                      </a:endParaRPr>
                    </a:p>
                  </a:txBody>
                  <a:tcPr marL="190500" marR="190500" marT="190500" marB="190500" anchor="ctr">
                    <a:lnL w="0" algn="ctr">
                      <a:solidFill>
                        <a:srgbClr val="FF9999"/>
                      </a:solidFill>
                    </a:lnL>
                    <a:lnR w="0" algn="ctr">
                      <a:solidFill>
                        <a:srgbClr val="FF9999"/>
                      </a:solidFill>
                    </a:lnR>
                    <a:lnT w="0" algn="ctr">
                      <a:solidFill>
                        <a:srgbClr val="FF9999"/>
                      </a:solidFill>
                    </a:lnT>
                    <a:lnB w="0" algn="ctr">
                      <a:solidFill>
                        <a:srgbClr val="FF9999"/>
                      </a:solidFill>
                    </a:lnB>
                    <a:solidFill>
                      <a:srgbClr val="FFE3E3"/>
                    </a:solidFill>
                  </a:tcPr>
                </a:tc>
                <a:tc>
                  <a:txBody>
                    <a:bodyPr/>
                    <a:lstStyle/>
                    <a:p>
                      <a:pPr algn="ctr">
                        <a:lnSpc>
                          <a:spcPts val="3499"/>
                        </a:lnSpc>
                        <a:defRPr/>
                      </a:pPr>
                      <a:r>
                        <a:rPr lang="en-US" sz="2800">
                          <a:solidFill>
                            <a:srgbClr val="000000"/>
                          </a:solidFill>
                          <a:latin typeface="Times New Roman"/>
                          <a:ea typeface="Times New Roman"/>
                          <a:cs typeface="Times New Roman"/>
                        </a:rPr>
                        <a:t>Độ nhạy cảm biến tiếp xúc</a:t>
                      </a:r>
                      <a:endParaRPr sz="1400">
                        <a:latin typeface="Times New Roman"/>
                        <a:cs typeface="Times New Roman"/>
                      </a:endParaRPr>
                    </a:p>
                  </a:txBody>
                  <a:tcPr marL="190500" marR="190500" marT="190500" marB="190500" anchor="ctr">
                    <a:lnL w="0" algn="ctr">
                      <a:solidFill>
                        <a:srgbClr val="FF9999"/>
                      </a:solidFill>
                    </a:lnL>
                    <a:lnR w="0" algn="ctr">
                      <a:solidFill>
                        <a:srgbClr val="FF9999"/>
                      </a:solidFill>
                    </a:lnR>
                    <a:lnT w="0" algn="ctr">
                      <a:solidFill>
                        <a:srgbClr val="FF9999"/>
                      </a:solidFill>
                    </a:lnT>
                    <a:lnB w="0" algn="ctr">
                      <a:solidFill>
                        <a:srgbClr val="FF9999"/>
                      </a:solidFill>
                    </a:lnB>
                    <a:solidFill>
                      <a:srgbClr val="FFE3E3"/>
                    </a:solidFill>
                  </a:tcPr>
                </a:tc>
                <a:tc>
                  <a:txBody>
                    <a:bodyPr/>
                    <a:lstStyle/>
                    <a:p>
                      <a:pPr algn="ctr">
                        <a:lnSpc>
                          <a:spcPts val="3499"/>
                        </a:lnSpc>
                        <a:defRPr/>
                      </a:pPr>
                      <a:r>
                        <a:rPr lang="en-US" sz="2800">
                          <a:solidFill>
                            <a:srgbClr val="000000"/>
                          </a:solidFill>
                          <a:latin typeface="Times New Roman"/>
                          <a:ea typeface="Times New Roman"/>
                          <a:cs typeface="Times New Roman"/>
                        </a:rPr>
                        <a:t>Rào cản tâm lý người bệnh</a:t>
                      </a:r>
                      <a:endParaRPr sz="1400">
                        <a:latin typeface="Times New Roman"/>
                        <a:cs typeface="Times New Roman"/>
                      </a:endParaRPr>
                    </a:p>
                  </a:txBody>
                  <a:tcPr marL="190500" marR="190500" marT="190500" marB="190500" anchor="ctr">
                    <a:lnL w="0" algn="ctr">
                      <a:solidFill>
                        <a:srgbClr val="FF9999"/>
                      </a:solidFill>
                    </a:lnL>
                    <a:lnR w="0" algn="ctr">
                      <a:solidFill>
                        <a:srgbClr val="FF9999"/>
                      </a:solidFill>
                    </a:lnR>
                    <a:lnT w="0" algn="ctr">
                      <a:solidFill>
                        <a:srgbClr val="FF9999"/>
                      </a:solidFill>
                    </a:lnT>
                    <a:lnB w="0" algn="ctr">
                      <a:solidFill>
                        <a:srgbClr val="FF9999"/>
                      </a:solidFill>
                    </a:lnB>
                    <a:solidFill>
                      <a:srgbClr val="FFE3E3"/>
                    </a:solidFill>
                  </a:tcPr>
                </a:tc>
                <a:tc>
                  <a:txBody>
                    <a:bodyPr/>
                    <a:lstStyle/>
                    <a:p>
                      <a:pPr algn="ctr">
                        <a:lnSpc>
                          <a:spcPts val="3499"/>
                        </a:lnSpc>
                        <a:defRPr/>
                      </a:pPr>
                      <a:r>
                        <a:rPr lang="en-US" sz="2800">
                          <a:solidFill>
                            <a:srgbClr val="000000"/>
                          </a:solidFill>
                          <a:latin typeface="Times New Roman"/>
                          <a:ea typeface="Times New Roman"/>
                          <a:cs typeface="Times New Roman"/>
                        </a:rPr>
                        <a:t> Khả năng mở rộng không giới hạn</a:t>
                      </a:r>
                      <a:endParaRPr sz="1400">
                        <a:latin typeface="Times New Roman"/>
                        <a:cs typeface="Times New Roman"/>
                      </a:endParaRPr>
                    </a:p>
                  </a:txBody>
                  <a:tcPr marL="190500" marR="190500" marT="190500" marB="190500" anchor="ctr">
                    <a:lnL w="0" algn="ctr">
                      <a:solidFill>
                        <a:srgbClr val="FF9999"/>
                      </a:solidFill>
                    </a:lnL>
                    <a:lnR w="0" algn="ctr">
                      <a:solidFill>
                        <a:srgbClr val="FF9999"/>
                      </a:solidFill>
                    </a:lnR>
                    <a:lnT w="0" algn="ctr">
                      <a:solidFill>
                        <a:srgbClr val="FF9999"/>
                      </a:solidFill>
                    </a:lnT>
                    <a:lnB w="0" algn="ctr">
                      <a:solidFill>
                        <a:srgbClr val="FF9999"/>
                      </a:solidFill>
                    </a:lnB>
                    <a:solidFill>
                      <a:srgbClr val="FFE3E3"/>
                    </a:solidFill>
                  </a:tcPr>
                </a:tc>
                <a:extLst>
                  <a:ext uri="{0D108BD9-81ED-4DB2-BD59-A6C34878D82A}">
                    <a16:rowId xmlns:a16="http://schemas.microsoft.com/office/drawing/2014/main" val="10003"/>
                  </a:ext>
                </a:extLst>
              </a:tr>
              <a:tr h="1499967">
                <a:tc>
                  <a:txBody>
                    <a:bodyPr/>
                    <a:lstStyle/>
                    <a:p>
                      <a:pPr algn="ctr">
                        <a:lnSpc>
                          <a:spcPts val="3499"/>
                        </a:lnSpc>
                        <a:defRPr/>
                      </a:pPr>
                      <a:r>
                        <a:rPr lang="en-US" sz="2800">
                          <a:solidFill>
                            <a:srgbClr val="000000"/>
                          </a:solidFill>
                          <a:latin typeface="Times New Roman"/>
                          <a:ea typeface="Times New Roman"/>
                          <a:cs typeface="Times New Roman"/>
                        </a:rPr>
                        <a:t>Lộ trình phát triển 4 cấp độ rõ ràng</a:t>
                      </a:r>
                      <a:endParaRPr sz="1400">
                        <a:latin typeface="Times New Roman"/>
                        <a:cs typeface="Times New Roman"/>
                      </a:endParaRPr>
                    </a:p>
                  </a:txBody>
                  <a:tcPr marL="190500" marR="190500" marT="190500" marB="190500" anchor="ctr">
                    <a:lnL w="0" algn="ctr">
                      <a:solidFill>
                        <a:srgbClr val="FF9999"/>
                      </a:solidFill>
                    </a:lnL>
                    <a:lnR w="0" algn="ctr">
                      <a:solidFill>
                        <a:srgbClr val="FF9999"/>
                      </a:solidFill>
                    </a:lnR>
                    <a:lnT w="0" algn="ctr">
                      <a:solidFill>
                        <a:srgbClr val="FF9999"/>
                      </a:solidFill>
                    </a:lnT>
                    <a:lnB w="0" algn="ctr">
                      <a:solidFill>
                        <a:srgbClr val="FF9999"/>
                      </a:solidFill>
                    </a:lnB>
                    <a:solidFill>
                      <a:srgbClr val="FFE3E3"/>
                    </a:solidFill>
                  </a:tcPr>
                </a:tc>
                <a:tc>
                  <a:txBody>
                    <a:bodyPr/>
                    <a:lstStyle/>
                    <a:p>
                      <a:pPr algn="ctr">
                        <a:lnSpc>
                          <a:spcPts val="3499"/>
                        </a:lnSpc>
                        <a:defRPr/>
                      </a:pPr>
                      <a:r>
                        <a:rPr lang="en-US" sz="2800">
                          <a:solidFill>
                            <a:srgbClr val="000000"/>
                          </a:solidFill>
                          <a:latin typeface="Times New Roman"/>
                          <a:ea typeface="Times New Roman"/>
                          <a:cs typeface="Times New Roman"/>
                        </a:rPr>
                        <a:t>Yêu cầu hạ tầng tính toán</a:t>
                      </a:r>
                      <a:endParaRPr sz="1400">
                        <a:latin typeface="Times New Roman"/>
                        <a:cs typeface="Times New Roman"/>
                      </a:endParaRPr>
                    </a:p>
                  </a:txBody>
                  <a:tcPr marL="190500" marR="190500" marT="190500" marB="190500" anchor="ctr">
                    <a:lnL w="0" algn="ctr">
                      <a:solidFill>
                        <a:srgbClr val="FF9999"/>
                      </a:solidFill>
                    </a:lnL>
                    <a:lnR w="0" algn="ctr">
                      <a:solidFill>
                        <a:srgbClr val="FF9999"/>
                      </a:solidFill>
                    </a:lnR>
                    <a:lnT w="0" algn="ctr">
                      <a:solidFill>
                        <a:srgbClr val="FF9999"/>
                      </a:solidFill>
                    </a:lnT>
                    <a:lnB w="0" algn="ctr">
                      <a:solidFill>
                        <a:srgbClr val="FF9999"/>
                      </a:solidFill>
                    </a:lnB>
                    <a:solidFill>
                      <a:srgbClr val="FFE3E3"/>
                    </a:solidFill>
                  </a:tcPr>
                </a:tc>
                <a:tc>
                  <a:txBody>
                    <a:bodyPr/>
                    <a:lstStyle/>
                    <a:p>
                      <a:pPr algn="ctr">
                        <a:lnSpc>
                          <a:spcPts val="3499"/>
                        </a:lnSpc>
                        <a:defRPr/>
                      </a:pPr>
                      <a:r>
                        <a:rPr lang="en-US" sz="2800">
                          <a:solidFill>
                            <a:srgbClr val="000000"/>
                          </a:solidFill>
                          <a:latin typeface="Times New Roman"/>
                          <a:ea typeface="Times New Roman"/>
                          <a:cs typeface="Times New Roman"/>
                        </a:rPr>
                        <a:t> Môi trường sảnh chờ nhiều tạp âm</a:t>
                      </a:r>
                      <a:endParaRPr sz="1400">
                        <a:latin typeface="Times New Roman"/>
                        <a:cs typeface="Times New Roman"/>
                      </a:endParaRPr>
                    </a:p>
                  </a:txBody>
                  <a:tcPr marL="190500" marR="190500" marT="190500" marB="190500" anchor="ctr">
                    <a:lnL w="0" algn="ctr">
                      <a:solidFill>
                        <a:srgbClr val="FF9999"/>
                      </a:solidFill>
                    </a:lnL>
                    <a:lnR w="0" algn="ctr">
                      <a:solidFill>
                        <a:srgbClr val="FF9999"/>
                      </a:solidFill>
                    </a:lnR>
                    <a:lnT w="0" algn="ctr">
                      <a:solidFill>
                        <a:srgbClr val="FF9999"/>
                      </a:solidFill>
                    </a:lnT>
                    <a:lnB w="0" algn="ctr">
                      <a:solidFill>
                        <a:srgbClr val="FF9999"/>
                      </a:solidFill>
                    </a:lnB>
                    <a:solidFill>
                      <a:srgbClr val="FFE3E3"/>
                    </a:solidFill>
                  </a:tcPr>
                </a:tc>
                <a:tc>
                  <a:txBody>
                    <a:bodyPr/>
                    <a:lstStyle/>
                    <a:p>
                      <a:pPr algn="ctr">
                        <a:lnSpc>
                          <a:spcPts val="3499"/>
                        </a:lnSpc>
                        <a:defRPr/>
                      </a:pPr>
                      <a:r>
                        <a:rPr lang="en-US" sz="2800">
                          <a:solidFill>
                            <a:srgbClr val="000000"/>
                          </a:solidFill>
                          <a:latin typeface="Times New Roman"/>
                          <a:ea typeface="Times New Roman"/>
                          <a:cs typeface="Times New Roman"/>
                        </a:rPr>
                        <a:t> Xu hướng thiết bị y tế không chạm</a:t>
                      </a:r>
                      <a:endParaRPr sz="1400">
                        <a:latin typeface="Times New Roman"/>
                        <a:cs typeface="Times New Roman"/>
                      </a:endParaRPr>
                    </a:p>
                  </a:txBody>
                  <a:tcPr marL="190500" marR="190500" marT="190500" marB="190500" anchor="ctr">
                    <a:lnL w="0" algn="ctr">
                      <a:solidFill>
                        <a:srgbClr val="FF9999"/>
                      </a:solidFill>
                    </a:lnL>
                    <a:lnR w="0" algn="ctr">
                      <a:solidFill>
                        <a:srgbClr val="FF9999"/>
                      </a:solidFill>
                    </a:lnR>
                    <a:lnT w="0" algn="ctr">
                      <a:solidFill>
                        <a:srgbClr val="FF9999"/>
                      </a:solidFill>
                    </a:lnT>
                    <a:lnB w="0" algn="ctr">
                      <a:solidFill>
                        <a:srgbClr val="FF9999"/>
                      </a:solidFill>
                    </a:lnB>
                    <a:solidFill>
                      <a:srgbClr val="FFE3E3"/>
                    </a:solidFill>
                  </a:tcP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p:fade/>
      </p:transition>
    </mc:Choice>
    <mc:Fallback xmlns="" xmlns:m="http://schemas.openxmlformats.org/officeDocument/2006/math" xmlns:w="http://schemas.openxmlformats.org/wordprocessingml/2006/main">
      <p:transition spd="fast" advClick="1">
        <p:fade thruBlk="0"/>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grpSp>
        <p:nvGrpSpPr>
          <p:cNvPr id="315166745" name="Group 2"/>
          <p:cNvGrpSpPr/>
          <p:nvPr/>
        </p:nvGrpSpPr>
        <p:grpSpPr bwMode="auto">
          <a:xfrm>
            <a:off x="11649142" y="921287"/>
            <a:ext cx="5610158" cy="381495"/>
            <a:chOff x="0" y="0"/>
            <a:chExt cx="7175411" cy="487934"/>
          </a:xfrm>
        </p:grpSpPr>
        <p:sp>
          <p:nvSpPr>
            <p:cNvPr id="3" name="Freeform 3"/>
            <p:cNvSpPr/>
            <p:nvPr/>
          </p:nvSpPr>
          <p:spPr bwMode="auto">
            <a:xfrm flipV="1">
              <a:off x="0" y="0"/>
              <a:ext cx="7175373" cy="487934"/>
            </a:xfrm>
            <a:custGeom>
              <a:avLst/>
              <a:gdLst/>
              <a:ahLst/>
              <a:cxnLst/>
              <a:rect l="l" t="t" r="r" b="b"/>
              <a:pathLst>
                <a:path w="7175373" h="487934" extrusionOk="0">
                  <a:moveTo>
                    <a:pt x="0" y="487934"/>
                  </a:moveTo>
                  <a:lnTo>
                    <a:pt x="7175373" y="487934"/>
                  </a:lnTo>
                  <a:lnTo>
                    <a:pt x="7175373" y="0"/>
                  </a:lnTo>
                  <a:lnTo>
                    <a:pt x="0" y="0"/>
                  </a:lnTo>
                  <a:lnTo>
                    <a:pt x="0" y="487934"/>
                  </a:lnTo>
                  <a:close/>
                </a:path>
              </a:pathLst>
            </a:custGeom>
            <a:blipFill rotWithShape="1">
              <a:blip r:embed="rId3"/>
              <a:stretch>
                <a:fillRect b="-575"/>
              </a:stretch>
            </a:blipFill>
          </p:spPr>
          <p:txBody>
            <a:bodyPr anchor="ctr"/>
            <a:lstStyle/>
            <a:p>
              <a:pPr algn="ctr">
                <a:defRPr/>
              </a:pPr>
              <a:endParaRPr sz="2000">
                <a:latin typeface="Times New Roman"/>
                <a:cs typeface="Times New Roman"/>
              </a:endParaRPr>
            </a:p>
          </p:txBody>
        </p:sp>
      </p:grpSp>
      <p:grpSp>
        <p:nvGrpSpPr>
          <p:cNvPr id="561676946" name="Group 4"/>
          <p:cNvGrpSpPr/>
          <p:nvPr/>
        </p:nvGrpSpPr>
        <p:grpSpPr bwMode="auto">
          <a:xfrm>
            <a:off x="630265" y="468997"/>
            <a:ext cx="3770775" cy="1256765"/>
            <a:chOff x="0" y="0"/>
            <a:chExt cx="5781473" cy="1926912"/>
          </a:xfrm>
        </p:grpSpPr>
        <p:sp>
          <p:nvSpPr>
            <p:cNvPr id="5" name="Freeform 5"/>
            <p:cNvSpPr/>
            <p:nvPr/>
          </p:nvSpPr>
          <p:spPr bwMode="auto">
            <a:xfrm>
              <a:off x="0" y="0"/>
              <a:ext cx="5781473" cy="1926905"/>
            </a:xfrm>
            <a:custGeom>
              <a:avLst/>
              <a:gdLst/>
              <a:ahLst/>
              <a:cxnLst/>
              <a:rect l="l" t="t" r="r" b="b"/>
              <a:pathLst>
                <a:path w="5781473" h="1926905" extrusionOk="0">
                  <a:moveTo>
                    <a:pt x="0" y="0"/>
                  </a:moveTo>
                  <a:lnTo>
                    <a:pt x="5781473" y="0"/>
                  </a:lnTo>
                  <a:lnTo>
                    <a:pt x="5781473" y="1926905"/>
                  </a:lnTo>
                  <a:lnTo>
                    <a:pt x="0" y="1926905"/>
                  </a:lnTo>
                  <a:close/>
                </a:path>
              </a:pathLst>
            </a:custGeom>
            <a:blipFill rotWithShape="1">
              <a:blip r:embed="rId4">
                <a:alphaModFix amt="0"/>
              </a:blip>
              <a:stretch>
                <a:fillRect t="-168133" r="-263768" b="-157204"/>
              </a:stretch>
            </a:blipFill>
          </p:spPr>
          <p:txBody>
            <a:bodyPr anchor="ctr"/>
            <a:lstStyle/>
            <a:p>
              <a:pPr algn="ctr">
                <a:defRPr/>
              </a:pPr>
              <a:endParaRPr sz="2000">
                <a:latin typeface="Times New Roman"/>
                <a:cs typeface="Times New Roman"/>
              </a:endParaRPr>
            </a:p>
          </p:txBody>
        </p:sp>
        <p:sp>
          <p:nvSpPr>
            <p:cNvPr id="6" name="TextBox 6"/>
            <p:cNvSpPr txBox="1"/>
            <p:nvPr/>
          </p:nvSpPr>
          <p:spPr bwMode="auto">
            <a:xfrm>
              <a:off x="0" y="-95250"/>
              <a:ext cx="5781473" cy="2022162"/>
            </a:xfrm>
            <a:prstGeom prst="rect">
              <a:avLst/>
            </a:prstGeom>
            <a:grpFill/>
          </p:spPr>
          <p:txBody>
            <a:bodyPr lIns="0" tIns="0" rIns="0" bIns="0" rtlCol="0" anchor="ctr"/>
            <a:lstStyle/>
            <a:p>
              <a:pPr algn="ctr">
                <a:lnSpc>
                  <a:spcPts val="8141"/>
                </a:lnSpc>
                <a:defRPr/>
              </a:pPr>
              <a:r>
                <a:rPr lang="en-US" sz="7200" b="1">
                  <a:solidFill>
                    <a:srgbClr val="10439A"/>
                  </a:solidFill>
                  <a:latin typeface="Times New Roman"/>
                  <a:ea typeface="Times New Roman"/>
                  <a:cs typeface="Times New Roman"/>
                </a:rPr>
                <a:t>PESTLE</a:t>
              </a:r>
              <a:endParaRPr sz="2000">
                <a:latin typeface="Times New Roman"/>
                <a:cs typeface="Times New Roman"/>
              </a:endParaRPr>
            </a:p>
          </p:txBody>
        </p:sp>
      </p:grpSp>
      <p:sp>
        <p:nvSpPr>
          <p:cNvPr id="629236839" name="TextBox 7"/>
          <p:cNvSpPr txBox="1"/>
          <p:nvPr/>
        </p:nvSpPr>
        <p:spPr bwMode="auto">
          <a:xfrm>
            <a:off x="1064644" y="3783574"/>
            <a:ext cx="2656414" cy="592052"/>
          </a:xfrm>
          <a:prstGeom prst="rect">
            <a:avLst/>
          </a:prstGeom>
        </p:spPr>
        <p:txBody>
          <a:bodyPr lIns="0" tIns="0" rIns="0" bIns="0" rtlCol="0" anchor="t">
            <a:spAutoFit/>
          </a:bodyPr>
          <a:lstStyle/>
          <a:p>
            <a:pPr algn="ctr">
              <a:lnSpc>
                <a:spcPts val="4659"/>
              </a:lnSpc>
              <a:spcBef>
                <a:spcPts val="0"/>
              </a:spcBef>
              <a:defRPr/>
            </a:pPr>
            <a:r>
              <a:rPr lang="en-US" sz="3600" b="1">
                <a:solidFill>
                  <a:srgbClr val="000000"/>
                </a:solidFill>
                <a:latin typeface="Times New Roman"/>
                <a:ea typeface="Times New Roman"/>
                <a:cs typeface="Times New Roman"/>
              </a:rPr>
              <a:t>Chính trị (P)</a:t>
            </a:r>
            <a:endParaRPr sz="2000">
              <a:latin typeface="Times New Roman"/>
              <a:cs typeface="Times New Roman"/>
            </a:endParaRPr>
          </a:p>
        </p:txBody>
      </p:sp>
      <p:sp>
        <p:nvSpPr>
          <p:cNvPr id="834584739" name="TextBox 8"/>
          <p:cNvSpPr txBox="1"/>
          <p:nvPr/>
        </p:nvSpPr>
        <p:spPr bwMode="auto">
          <a:xfrm>
            <a:off x="9630977" y="3783574"/>
            <a:ext cx="3073251" cy="592052"/>
          </a:xfrm>
          <a:prstGeom prst="rect">
            <a:avLst/>
          </a:prstGeom>
        </p:spPr>
        <p:txBody>
          <a:bodyPr lIns="0" tIns="0" rIns="0" bIns="0" rtlCol="0" anchor="t">
            <a:spAutoFit/>
          </a:bodyPr>
          <a:lstStyle/>
          <a:p>
            <a:pPr algn="ctr">
              <a:lnSpc>
                <a:spcPts val="4659"/>
              </a:lnSpc>
              <a:spcBef>
                <a:spcPts val="0"/>
              </a:spcBef>
              <a:defRPr/>
            </a:pPr>
            <a:r>
              <a:rPr lang="en-US" sz="3600" b="1">
                <a:solidFill>
                  <a:srgbClr val="000000"/>
                </a:solidFill>
                <a:latin typeface="Times New Roman"/>
                <a:ea typeface="Times New Roman"/>
                <a:cs typeface="Times New Roman"/>
              </a:rPr>
              <a:t>Công nghệ (T)</a:t>
            </a:r>
            <a:endParaRPr sz="2000">
              <a:latin typeface="Times New Roman"/>
              <a:cs typeface="Times New Roman"/>
            </a:endParaRPr>
          </a:p>
        </p:txBody>
      </p:sp>
      <p:sp>
        <p:nvSpPr>
          <p:cNvPr id="1464016669" name="TextBox 9"/>
          <p:cNvSpPr txBox="1"/>
          <p:nvPr/>
        </p:nvSpPr>
        <p:spPr bwMode="auto">
          <a:xfrm>
            <a:off x="1326641" y="5856717"/>
            <a:ext cx="2132420" cy="592052"/>
          </a:xfrm>
          <a:prstGeom prst="rect">
            <a:avLst/>
          </a:prstGeom>
        </p:spPr>
        <p:txBody>
          <a:bodyPr lIns="0" tIns="0" rIns="0" bIns="0" rtlCol="0" anchor="t">
            <a:spAutoFit/>
          </a:bodyPr>
          <a:lstStyle/>
          <a:p>
            <a:pPr algn="ctr">
              <a:lnSpc>
                <a:spcPts val="4659"/>
              </a:lnSpc>
              <a:spcBef>
                <a:spcPts val="0"/>
              </a:spcBef>
              <a:defRPr/>
            </a:pPr>
            <a:r>
              <a:rPr lang="en-US" sz="3600" b="1">
                <a:solidFill>
                  <a:srgbClr val="000000"/>
                </a:solidFill>
                <a:latin typeface="Times New Roman"/>
                <a:ea typeface="Times New Roman"/>
                <a:cs typeface="Times New Roman"/>
              </a:rPr>
              <a:t>Xã hội (S)</a:t>
            </a:r>
            <a:endParaRPr sz="2000">
              <a:latin typeface="Times New Roman"/>
              <a:cs typeface="Times New Roman"/>
            </a:endParaRPr>
          </a:p>
        </p:txBody>
      </p:sp>
      <p:sp>
        <p:nvSpPr>
          <p:cNvPr id="1492825506" name="TextBox 10"/>
          <p:cNvSpPr txBox="1"/>
          <p:nvPr/>
        </p:nvSpPr>
        <p:spPr bwMode="auto">
          <a:xfrm>
            <a:off x="14058792" y="5856717"/>
            <a:ext cx="3166002" cy="592052"/>
          </a:xfrm>
          <a:prstGeom prst="rect">
            <a:avLst/>
          </a:prstGeom>
        </p:spPr>
        <p:txBody>
          <a:bodyPr lIns="0" tIns="0" rIns="0" bIns="0" rtlCol="0" anchor="t">
            <a:spAutoFit/>
          </a:bodyPr>
          <a:lstStyle/>
          <a:p>
            <a:pPr algn="ctr">
              <a:lnSpc>
                <a:spcPts val="4659"/>
              </a:lnSpc>
              <a:spcBef>
                <a:spcPts val="0"/>
              </a:spcBef>
              <a:defRPr/>
            </a:pPr>
            <a:r>
              <a:rPr lang="en-US" sz="3600" b="1">
                <a:solidFill>
                  <a:srgbClr val="000000"/>
                </a:solidFill>
                <a:latin typeface="Times New Roman"/>
                <a:ea typeface="Times New Roman"/>
                <a:cs typeface="Times New Roman"/>
              </a:rPr>
              <a:t>Môi trường (E)</a:t>
            </a:r>
            <a:endParaRPr sz="2000">
              <a:latin typeface="Times New Roman"/>
              <a:cs typeface="Times New Roman"/>
            </a:endParaRPr>
          </a:p>
        </p:txBody>
      </p:sp>
      <p:sp>
        <p:nvSpPr>
          <p:cNvPr id="744149456" name="TextBox 11"/>
          <p:cNvSpPr txBox="1"/>
          <p:nvPr/>
        </p:nvSpPr>
        <p:spPr bwMode="auto">
          <a:xfrm>
            <a:off x="14483964" y="3783574"/>
            <a:ext cx="2315657" cy="592052"/>
          </a:xfrm>
          <a:prstGeom prst="rect">
            <a:avLst/>
          </a:prstGeom>
        </p:spPr>
        <p:txBody>
          <a:bodyPr lIns="0" tIns="0" rIns="0" bIns="0" rtlCol="0" anchor="t">
            <a:spAutoFit/>
          </a:bodyPr>
          <a:lstStyle/>
          <a:p>
            <a:pPr algn="ctr">
              <a:lnSpc>
                <a:spcPts val="4659"/>
              </a:lnSpc>
              <a:spcBef>
                <a:spcPts val="0"/>
              </a:spcBef>
              <a:defRPr/>
            </a:pPr>
            <a:r>
              <a:rPr lang="en-US" sz="3600" b="1">
                <a:solidFill>
                  <a:srgbClr val="000000"/>
                </a:solidFill>
                <a:latin typeface="Times New Roman"/>
                <a:ea typeface="Times New Roman"/>
                <a:cs typeface="Times New Roman"/>
              </a:rPr>
              <a:t>Kinh tế (E)</a:t>
            </a:r>
            <a:endParaRPr sz="2000">
              <a:latin typeface="Times New Roman"/>
              <a:cs typeface="Times New Roman"/>
            </a:endParaRPr>
          </a:p>
        </p:txBody>
      </p:sp>
      <p:sp>
        <p:nvSpPr>
          <p:cNvPr id="1738029537" name="TextBox 12"/>
          <p:cNvSpPr txBox="1"/>
          <p:nvPr/>
        </p:nvSpPr>
        <p:spPr bwMode="auto">
          <a:xfrm>
            <a:off x="5504628" y="3783574"/>
            <a:ext cx="2346613" cy="592052"/>
          </a:xfrm>
          <a:prstGeom prst="rect">
            <a:avLst/>
          </a:prstGeom>
        </p:spPr>
        <p:txBody>
          <a:bodyPr lIns="0" tIns="0" rIns="0" bIns="0" rtlCol="0" anchor="t">
            <a:spAutoFit/>
          </a:bodyPr>
          <a:lstStyle/>
          <a:p>
            <a:pPr algn="ctr">
              <a:lnSpc>
                <a:spcPts val="4659"/>
              </a:lnSpc>
              <a:spcBef>
                <a:spcPts val="0"/>
              </a:spcBef>
              <a:defRPr/>
            </a:pPr>
            <a:r>
              <a:rPr lang="en-US" sz="3600" b="1">
                <a:solidFill>
                  <a:srgbClr val="000000"/>
                </a:solidFill>
                <a:latin typeface="Times New Roman"/>
                <a:ea typeface="Times New Roman"/>
                <a:cs typeface="Times New Roman"/>
              </a:rPr>
              <a:t>Pháp lý (L)</a:t>
            </a:r>
            <a:endParaRPr sz="2000">
              <a:latin typeface="Times New Roman"/>
              <a:cs typeface="Times New Roman"/>
            </a:endParaRPr>
          </a:p>
        </p:txBody>
      </p:sp>
      <p:sp>
        <p:nvSpPr>
          <p:cNvPr id="719356353" name="AutoShape 13"/>
          <p:cNvSpPr/>
          <p:nvPr/>
        </p:nvSpPr>
        <p:spPr bwMode="auto">
          <a:xfrm>
            <a:off x="8249853" y="4106929"/>
            <a:ext cx="991922" cy="0"/>
          </a:xfrm>
          <a:prstGeom prst="line">
            <a:avLst/>
          </a:prstGeom>
          <a:ln w="38100" cap="flat">
            <a:solidFill>
              <a:srgbClr val="000000"/>
            </a:solidFill>
            <a:prstDash val="solid"/>
            <a:headEnd type="none" w="sm" len="sm"/>
            <a:tailEnd type="triangle" w="lg" len="med"/>
          </a:ln>
        </p:spPr>
        <p:txBody>
          <a:bodyPr/>
          <a:lstStyle/>
          <a:p>
            <a:endParaRPr lang="en-US"/>
          </a:p>
        </p:txBody>
      </p:sp>
      <p:sp>
        <p:nvSpPr>
          <p:cNvPr id="978182025" name="AutoShape 14"/>
          <p:cNvSpPr/>
          <p:nvPr/>
        </p:nvSpPr>
        <p:spPr bwMode="auto">
          <a:xfrm>
            <a:off x="4116163" y="4125979"/>
            <a:ext cx="991922" cy="0"/>
          </a:xfrm>
          <a:prstGeom prst="line">
            <a:avLst/>
          </a:prstGeom>
          <a:ln w="38100" cap="flat">
            <a:solidFill>
              <a:srgbClr val="000000"/>
            </a:solidFill>
            <a:prstDash val="solid"/>
            <a:headEnd type="none" w="sm" len="sm"/>
            <a:tailEnd type="triangle" w="lg" len="med"/>
          </a:ln>
        </p:spPr>
        <p:txBody>
          <a:bodyPr/>
          <a:lstStyle/>
          <a:p>
            <a:endParaRPr lang="en-US"/>
          </a:p>
        </p:txBody>
      </p:sp>
      <p:sp>
        <p:nvSpPr>
          <p:cNvPr id="1577816888" name="AutoShape 15"/>
          <p:cNvSpPr/>
          <p:nvPr/>
        </p:nvSpPr>
        <p:spPr bwMode="auto">
          <a:xfrm flipV="1">
            <a:off x="4116163" y="6180071"/>
            <a:ext cx="9520051" cy="19050"/>
          </a:xfrm>
          <a:prstGeom prst="line">
            <a:avLst/>
          </a:prstGeom>
          <a:ln w="38100" cap="flat">
            <a:solidFill>
              <a:srgbClr val="000000"/>
            </a:solidFill>
            <a:prstDash val="solid"/>
            <a:headEnd type="none" w="sm" len="sm"/>
            <a:tailEnd type="triangle" w="lg" len="med"/>
          </a:ln>
        </p:spPr>
        <p:txBody>
          <a:bodyPr/>
          <a:lstStyle/>
          <a:p>
            <a:endParaRPr lang="en-US"/>
          </a:p>
        </p:txBody>
      </p:sp>
      <p:sp>
        <p:nvSpPr>
          <p:cNvPr id="414770832" name="AutoShape 16"/>
          <p:cNvSpPr/>
          <p:nvPr/>
        </p:nvSpPr>
        <p:spPr bwMode="auto">
          <a:xfrm>
            <a:off x="2373082" y="4647539"/>
            <a:ext cx="0" cy="991922"/>
          </a:xfrm>
          <a:prstGeom prst="line">
            <a:avLst/>
          </a:prstGeom>
          <a:ln w="38100" cap="flat">
            <a:solidFill>
              <a:srgbClr val="000000"/>
            </a:solidFill>
            <a:prstDash val="solid"/>
            <a:headEnd type="none" w="sm" len="sm"/>
            <a:tailEnd type="triangle" w="lg" len="med"/>
          </a:ln>
        </p:spPr>
        <p:txBody>
          <a:bodyPr/>
          <a:lstStyle/>
          <a:p>
            <a:endParaRPr lang="en-US"/>
          </a:p>
        </p:txBody>
      </p:sp>
      <p:sp>
        <p:nvSpPr>
          <p:cNvPr id="1061624117" name="AutoShape 17"/>
          <p:cNvSpPr/>
          <p:nvPr/>
        </p:nvSpPr>
        <p:spPr bwMode="auto">
          <a:xfrm>
            <a:off x="15641074" y="4674793"/>
            <a:ext cx="0" cy="991922"/>
          </a:xfrm>
          <a:prstGeom prst="line">
            <a:avLst/>
          </a:prstGeom>
          <a:ln w="38100" cap="flat">
            <a:solidFill>
              <a:srgbClr val="000000"/>
            </a:solidFill>
            <a:prstDash val="solid"/>
            <a:headEnd type="none" w="sm" len="sm"/>
            <a:tailEnd type="triangle" w="lg" len="med"/>
          </a:ln>
        </p:spPr>
        <p:txBody>
          <a:bodyPr/>
          <a:lstStyle/>
          <a:p>
            <a:endParaRPr lang="en-US"/>
          </a:p>
        </p:txBody>
      </p:sp>
      <p:sp>
        <p:nvSpPr>
          <p:cNvPr id="711484259" name="AutoShape 18"/>
          <p:cNvSpPr/>
          <p:nvPr/>
        </p:nvSpPr>
        <p:spPr bwMode="auto">
          <a:xfrm>
            <a:off x="13066871" y="4145029"/>
            <a:ext cx="991922" cy="0"/>
          </a:xfrm>
          <a:prstGeom prst="line">
            <a:avLst/>
          </a:prstGeom>
          <a:ln w="38100" cap="flat">
            <a:solidFill>
              <a:srgbClr val="000000"/>
            </a:solidFill>
            <a:prstDash val="solid"/>
            <a:headEnd type="none" w="sm" len="sm"/>
            <a:tailEnd type="triangle" w="lg" len="med"/>
          </a:ln>
        </p:spPr>
        <p:txBody>
          <a:bodyPr/>
          <a:lstStyle/>
          <a:p>
            <a:endParaRPr lang="en-US"/>
          </a:p>
        </p:txBody>
      </p:sp>
      <p:sp>
        <p:nvSpPr>
          <p:cNvPr id="74224591" name="AutoShape 19"/>
          <p:cNvSpPr/>
          <p:nvPr/>
        </p:nvSpPr>
        <p:spPr bwMode="auto">
          <a:xfrm flipH="1" flipV="1">
            <a:off x="11166884" y="4674793"/>
            <a:ext cx="0" cy="1505278"/>
          </a:xfrm>
          <a:prstGeom prst="line">
            <a:avLst/>
          </a:prstGeom>
          <a:ln w="38100" cap="flat">
            <a:solidFill>
              <a:srgbClr val="000000"/>
            </a:solidFill>
            <a:prstDash val="solid"/>
            <a:headEnd type="none" w="sm" len="sm"/>
            <a:tailEnd type="triangle" w="lg" len="med"/>
          </a:ln>
        </p:spPr>
        <p:txBody>
          <a:bodyPr/>
          <a:lstStyle/>
          <a:p>
            <a:endParaRPr lang="en-US"/>
          </a:p>
        </p:txBody>
      </p:sp>
    </p:spTree>
  </p:cSld>
  <p:clrMapOvr>
    <a:masterClrMapping/>
  </p:clrMapOvr>
  <mc:AlternateContent xmlns:mc="http://schemas.openxmlformats.org/markup-compatibility/2006" xmlns:p159="http://schemas.microsoft.com/office/powerpoint/2015/09/main">
    <mc:Choice Requires="p159">
      <p:transition>
        <p:fade/>
      </p:transition>
    </mc:Choice>
    <mc:Fallback xmlns="" xmlns:m="http://schemas.openxmlformats.org/officeDocument/2006/math" xmlns:w="http://schemas.openxmlformats.org/wordprocessingml/2006/main">
      <p:transition spd="fast" advClick="1">
        <p:fade thruBlk="0"/>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grpSp>
        <p:nvGrpSpPr>
          <p:cNvPr id="1548870858" name="Group 2"/>
          <p:cNvGrpSpPr/>
          <p:nvPr/>
        </p:nvGrpSpPr>
        <p:grpSpPr bwMode="auto">
          <a:xfrm>
            <a:off x="11649142" y="921287"/>
            <a:ext cx="5610158" cy="381495"/>
            <a:chOff x="0" y="0"/>
            <a:chExt cx="7175411" cy="487934"/>
          </a:xfrm>
        </p:grpSpPr>
        <p:sp>
          <p:nvSpPr>
            <p:cNvPr id="3" name="Freeform 3"/>
            <p:cNvSpPr/>
            <p:nvPr/>
          </p:nvSpPr>
          <p:spPr bwMode="auto">
            <a:xfrm flipV="1">
              <a:off x="0" y="0"/>
              <a:ext cx="7175373" cy="487934"/>
            </a:xfrm>
            <a:custGeom>
              <a:avLst/>
              <a:gdLst/>
              <a:ahLst/>
              <a:cxnLst/>
              <a:rect l="l" t="t" r="r" b="b"/>
              <a:pathLst>
                <a:path w="7175373" h="487934" extrusionOk="0">
                  <a:moveTo>
                    <a:pt x="0" y="487934"/>
                  </a:moveTo>
                  <a:lnTo>
                    <a:pt x="7175373" y="487934"/>
                  </a:lnTo>
                  <a:lnTo>
                    <a:pt x="7175373" y="0"/>
                  </a:lnTo>
                  <a:lnTo>
                    <a:pt x="0" y="0"/>
                  </a:lnTo>
                  <a:lnTo>
                    <a:pt x="0" y="487934"/>
                  </a:lnTo>
                  <a:close/>
                </a:path>
              </a:pathLst>
            </a:custGeom>
            <a:blipFill rotWithShape="1">
              <a:blip r:embed="rId3"/>
              <a:stretch>
                <a:fillRect b="-575"/>
              </a:stretch>
            </a:blipFill>
          </p:spPr>
          <p:txBody>
            <a:bodyPr anchor="ctr"/>
            <a:lstStyle/>
            <a:p>
              <a:pPr algn="ctr">
                <a:defRPr/>
              </a:pPr>
              <a:endParaRPr sz="2200">
                <a:latin typeface="Times New Roman"/>
                <a:cs typeface="Times New Roman"/>
              </a:endParaRPr>
            </a:p>
          </p:txBody>
        </p:sp>
      </p:grpSp>
      <p:grpSp>
        <p:nvGrpSpPr>
          <p:cNvPr id="462674697" name="Group 4"/>
          <p:cNvGrpSpPr/>
          <p:nvPr/>
        </p:nvGrpSpPr>
        <p:grpSpPr bwMode="auto">
          <a:xfrm>
            <a:off x="630263" y="406873"/>
            <a:ext cx="4686634" cy="1318888"/>
            <a:chOff x="0" y="0"/>
            <a:chExt cx="4686634" cy="1318888"/>
          </a:xfrm>
        </p:grpSpPr>
        <p:sp>
          <p:nvSpPr>
            <p:cNvPr id="5" name="Freeform 5"/>
            <p:cNvSpPr/>
            <p:nvPr/>
          </p:nvSpPr>
          <p:spPr bwMode="auto">
            <a:xfrm>
              <a:off x="0" y="62123"/>
              <a:ext cx="3770775" cy="1256759"/>
            </a:xfrm>
            <a:custGeom>
              <a:avLst/>
              <a:gdLst/>
              <a:ahLst/>
              <a:cxnLst/>
              <a:rect l="l" t="t" r="r" b="b"/>
              <a:pathLst>
                <a:path w="5781473" h="1926905" extrusionOk="0">
                  <a:moveTo>
                    <a:pt x="0" y="0"/>
                  </a:moveTo>
                  <a:lnTo>
                    <a:pt x="5781473" y="0"/>
                  </a:lnTo>
                  <a:lnTo>
                    <a:pt x="5781473" y="1926905"/>
                  </a:lnTo>
                  <a:lnTo>
                    <a:pt x="0" y="1926905"/>
                  </a:lnTo>
                  <a:close/>
                </a:path>
              </a:pathLst>
            </a:custGeom>
            <a:blipFill rotWithShape="1">
              <a:blip r:embed="rId4">
                <a:alphaModFix amt="0"/>
              </a:blip>
              <a:stretch>
                <a:fillRect t="-168133" r="-263768" b="-157204"/>
              </a:stretch>
            </a:blipFill>
          </p:spPr>
          <p:txBody>
            <a:bodyPr anchor="ctr"/>
            <a:lstStyle/>
            <a:p>
              <a:pPr algn="ctr">
                <a:defRPr/>
              </a:pPr>
              <a:endParaRPr sz="2200">
                <a:latin typeface="Times New Roman"/>
                <a:cs typeface="Times New Roman"/>
              </a:endParaRPr>
            </a:p>
          </p:txBody>
        </p:sp>
        <p:sp>
          <p:nvSpPr>
            <p:cNvPr id="6" name="TextBox 6"/>
            <p:cNvSpPr txBox="1"/>
            <p:nvPr/>
          </p:nvSpPr>
          <p:spPr bwMode="auto">
            <a:xfrm>
              <a:off x="0" y="0"/>
              <a:ext cx="4686634" cy="1318888"/>
            </a:xfrm>
            <a:prstGeom prst="rect">
              <a:avLst/>
            </a:prstGeom>
            <a:grpFill/>
          </p:spPr>
          <p:txBody>
            <a:bodyPr lIns="0" tIns="0" rIns="0" bIns="0" rtlCol="0" anchor="ctr"/>
            <a:lstStyle/>
            <a:p>
              <a:pPr algn="ctr">
                <a:lnSpc>
                  <a:spcPts val="8141"/>
                </a:lnSpc>
                <a:defRPr/>
              </a:pPr>
              <a:r>
                <a:rPr lang="en-US" sz="8000" b="1">
                  <a:solidFill>
                    <a:srgbClr val="10439A"/>
                  </a:solidFill>
                  <a:latin typeface="Times New Roman"/>
                  <a:ea typeface="Times New Roman"/>
                  <a:cs typeface="Times New Roman"/>
                </a:rPr>
                <a:t>PESTLE</a:t>
              </a:r>
              <a:endParaRPr sz="2200">
                <a:latin typeface="Times New Roman"/>
                <a:cs typeface="Times New Roman"/>
              </a:endParaRPr>
            </a:p>
          </p:txBody>
        </p:sp>
      </p:grpSp>
      <p:graphicFrame>
        <p:nvGraphicFramePr>
          <p:cNvPr id="1568539275" name="Table 7"/>
          <p:cNvGraphicFramePr>
            <a:graphicFrameLocks noGrp="1"/>
          </p:cNvGraphicFramePr>
          <p:nvPr/>
        </p:nvGraphicFramePr>
        <p:xfrm>
          <a:off x="630265" y="1725762"/>
          <a:ext cx="17038685" cy="8282808"/>
        </p:xfrm>
        <a:graphic>
          <a:graphicData uri="http://schemas.openxmlformats.org/drawingml/2006/table">
            <a:tbl>
              <a:tblPr/>
              <a:tblGrid>
                <a:gridCol w="5460360">
                  <a:extLst>
                    <a:ext uri="{9D8B030D-6E8A-4147-A177-3AD203B41FA5}">
                      <a16:colId xmlns:a16="http://schemas.microsoft.com/office/drawing/2014/main" val="20000"/>
                    </a:ext>
                  </a:extLst>
                </a:gridCol>
                <a:gridCol w="11578325">
                  <a:extLst>
                    <a:ext uri="{9D8B030D-6E8A-4147-A177-3AD203B41FA5}">
                      <a16:colId xmlns:a16="http://schemas.microsoft.com/office/drawing/2014/main" val="20001"/>
                    </a:ext>
                  </a:extLst>
                </a:gridCol>
              </a:tblGrid>
              <a:tr h="3127272">
                <a:tc>
                  <a:txBody>
                    <a:bodyPr/>
                    <a:lstStyle/>
                    <a:p>
                      <a:pPr algn="ctr">
                        <a:lnSpc>
                          <a:spcPts val="4059"/>
                        </a:lnSpc>
                        <a:defRPr/>
                      </a:pPr>
                      <a:r>
                        <a:rPr lang="en-US" sz="4800" b="1">
                          <a:solidFill>
                            <a:srgbClr val="000000"/>
                          </a:solidFill>
                          <a:latin typeface="Times New Roman"/>
                          <a:ea typeface="Times New Roman"/>
                          <a:cs typeface="Times New Roman"/>
                        </a:rPr>
                        <a:t>Chính trị (Political)</a:t>
                      </a:r>
                      <a:endParaRPr sz="1400">
                        <a:latin typeface="Times New Roman"/>
                        <a:cs typeface="Times New Roman"/>
                      </a:endParaRPr>
                    </a:p>
                  </a:txBody>
                  <a:tcPr marL="190500" marR="190500" marT="190500" marB="190500" anchor="ctr">
                    <a:lnL w="0" algn="ctr">
                      <a:solidFill>
                        <a:srgbClr val="FF9999"/>
                      </a:solidFill>
                    </a:lnL>
                    <a:lnR w="0" algn="ctr">
                      <a:solidFill>
                        <a:srgbClr val="FF9999"/>
                      </a:solidFill>
                    </a:lnR>
                    <a:lnT w="0" algn="ctr">
                      <a:solidFill>
                        <a:srgbClr val="FF9999"/>
                      </a:solidFill>
                    </a:lnT>
                    <a:lnB w="0" algn="ctr">
                      <a:solidFill>
                        <a:srgbClr val="FF9999"/>
                      </a:solidFill>
                    </a:lnB>
                    <a:solidFill>
                      <a:srgbClr val="FFCDCD"/>
                    </a:solidFill>
                  </a:tcPr>
                </a:tc>
                <a:tc>
                  <a:txBody>
                    <a:bodyPr/>
                    <a:lstStyle/>
                    <a:p>
                      <a:pPr algn="just">
                        <a:lnSpc>
                          <a:spcPts val="3779"/>
                        </a:lnSpc>
                        <a:defRPr/>
                      </a:pPr>
                      <a:r>
                        <a:rPr lang="en-US" sz="3600">
                          <a:solidFill>
                            <a:srgbClr val="000000"/>
                          </a:solidFill>
                          <a:latin typeface="Times New Roman"/>
                          <a:ea typeface="Times New Roman"/>
                          <a:cs typeface="Times New Roman"/>
                        </a:rPr>
                        <a:t>* Hưởng lợi trực tiếp từ chủ trương của Chính phủ về phát triển ứng dụng Trí tuệ nhân tạo (AI) và Chuyển đổi số ngành Y tế.</a:t>
                      </a:r>
                      <a:endParaRPr sz="1400">
                        <a:latin typeface="Times New Roman"/>
                        <a:cs typeface="Times New Roman"/>
                      </a:endParaRPr>
                    </a:p>
                    <a:p>
                      <a:pPr algn="just">
                        <a:lnSpc>
                          <a:spcPts val="3779"/>
                        </a:lnSpc>
                        <a:defRPr/>
                      </a:pPr>
                      <a:r>
                        <a:rPr lang="en-US" sz="3600">
                          <a:solidFill>
                            <a:srgbClr val="000000"/>
                          </a:solidFill>
                          <a:latin typeface="Times New Roman"/>
                          <a:ea typeface="Times New Roman"/>
                          <a:cs typeface="Times New Roman"/>
                        </a:rPr>
                        <a:t>* Phù hợp với định hướng đẩy mạnh xác thực định danh điện tử của Bộ Công an thông qua việc tích hợp tính năng đọc CCCD gắn chip. </a:t>
                      </a:r>
                      <a:endParaRPr sz="2200">
                        <a:latin typeface="Times New Roman"/>
                        <a:cs typeface="Times New Roman"/>
                      </a:endParaRPr>
                    </a:p>
                  </a:txBody>
                  <a:tcPr marL="190500" marR="190500" marT="190500" marB="190500" anchor="ctr">
                    <a:lnL w="0" algn="ctr">
                      <a:solidFill>
                        <a:srgbClr val="FF9999"/>
                      </a:solidFill>
                    </a:lnL>
                    <a:lnR w="0" algn="ctr">
                      <a:solidFill>
                        <a:srgbClr val="FF9999"/>
                      </a:solidFill>
                    </a:lnR>
                    <a:lnT w="0" algn="ctr">
                      <a:solidFill>
                        <a:srgbClr val="FF9999"/>
                      </a:solidFill>
                    </a:lnT>
                    <a:lnB w="0" algn="ctr">
                      <a:solidFill>
                        <a:srgbClr val="FF9999"/>
                      </a:solidFill>
                    </a:lnB>
                    <a:solidFill>
                      <a:srgbClr val="FFE3E3"/>
                    </a:solidFill>
                  </a:tcPr>
                </a:tc>
                <a:extLst>
                  <a:ext uri="{0D108BD9-81ED-4DB2-BD59-A6C34878D82A}">
                    <a16:rowId xmlns:a16="http://schemas.microsoft.com/office/drawing/2014/main" val="10000"/>
                  </a:ext>
                </a:extLst>
              </a:tr>
              <a:tr h="2292903">
                <a:tc>
                  <a:txBody>
                    <a:bodyPr/>
                    <a:lstStyle/>
                    <a:p>
                      <a:pPr algn="ctr">
                        <a:lnSpc>
                          <a:spcPts val="4059"/>
                        </a:lnSpc>
                        <a:defRPr/>
                      </a:pPr>
                      <a:r>
                        <a:rPr lang="en-US" sz="4800" b="1">
                          <a:solidFill>
                            <a:srgbClr val="000000"/>
                          </a:solidFill>
                          <a:latin typeface="Times New Roman"/>
                          <a:ea typeface="Times New Roman"/>
                          <a:cs typeface="Times New Roman"/>
                        </a:rPr>
                        <a:t>Kinh tế (Economic)</a:t>
                      </a:r>
                      <a:endParaRPr sz="1400">
                        <a:latin typeface="Times New Roman"/>
                        <a:cs typeface="Times New Roman"/>
                      </a:endParaRPr>
                    </a:p>
                  </a:txBody>
                  <a:tcPr marL="190500" marR="190500" marT="190500" marB="190500" anchor="ctr">
                    <a:lnL w="0" algn="ctr">
                      <a:solidFill>
                        <a:srgbClr val="FF9999"/>
                      </a:solidFill>
                    </a:lnL>
                    <a:lnR w="0" algn="ctr">
                      <a:solidFill>
                        <a:srgbClr val="FF9999"/>
                      </a:solidFill>
                    </a:lnR>
                    <a:lnT w="0" algn="ctr">
                      <a:solidFill>
                        <a:srgbClr val="FF9999"/>
                      </a:solidFill>
                    </a:lnT>
                    <a:lnB w="0" algn="ctr">
                      <a:solidFill>
                        <a:srgbClr val="FF9999"/>
                      </a:solidFill>
                    </a:lnB>
                    <a:solidFill>
                      <a:srgbClr val="FFCDCD"/>
                    </a:solidFill>
                  </a:tcPr>
                </a:tc>
                <a:tc>
                  <a:txBody>
                    <a:bodyPr/>
                    <a:lstStyle/>
                    <a:p>
                      <a:pPr algn="just">
                        <a:lnSpc>
                          <a:spcPts val="3779"/>
                        </a:lnSpc>
                        <a:defRPr/>
                      </a:pPr>
                      <a:r>
                        <a:rPr lang="en-US" sz="3600">
                          <a:solidFill>
                            <a:srgbClr val="000000"/>
                          </a:solidFill>
                          <a:latin typeface="Times New Roman"/>
                          <a:ea typeface="Times New Roman"/>
                          <a:cs typeface="Times New Roman"/>
                        </a:rPr>
                        <a:t>* Tiết kiệm chi phí vận hành</a:t>
                      </a:r>
                      <a:endParaRPr sz="1400">
                        <a:latin typeface="Times New Roman"/>
                        <a:cs typeface="Times New Roman"/>
                      </a:endParaRPr>
                    </a:p>
                    <a:p>
                      <a:pPr algn="just">
                        <a:lnSpc>
                          <a:spcPts val="3779"/>
                        </a:lnSpc>
                        <a:defRPr/>
                      </a:pPr>
                      <a:r>
                        <a:rPr lang="en-US" sz="3600">
                          <a:solidFill>
                            <a:srgbClr val="000000"/>
                          </a:solidFill>
                          <a:latin typeface="Times New Roman"/>
                          <a:ea typeface="Times New Roman"/>
                          <a:cs typeface="Times New Roman"/>
                        </a:rPr>
                        <a:t>* Giảm tổn thất y tế</a:t>
                      </a:r>
                      <a:endParaRPr sz="2200">
                        <a:latin typeface="Times New Roman"/>
                        <a:cs typeface="Times New Roman"/>
                      </a:endParaRPr>
                    </a:p>
                    <a:p>
                      <a:pPr algn="just">
                        <a:lnSpc>
                          <a:spcPts val="3779"/>
                        </a:lnSpc>
                        <a:defRPr/>
                      </a:pPr>
                      <a:r>
                        <a:rPr lang="en-US" sz="3600">
                          <a:solidFill>
                            <a:srgbClr val="000000"/>
                          </a:solidFill>
                          <a:latin typeface="Times New Roman"/>
                          <a:ea typeface="Times New Roman"/>
                          <a:cs typeface="Times New Roman"/>
                        </a:rPr>
                        <a:t>* Chi phí đầu tư tối ưu</a:t>
                      </a:r>
                      <a:endParaRPr sz="2200">
                        <a:latin typeface="Times New Roman"/>
                        <a:cs typeface="Times New Roman"/>
                      </a:endParaRPr>
                    </a:p>
                  </a:txBody>
                  <a:tcPr marL="190500" marR="190500" marT="190500" marB="190500" anchor="ctr">
                    <a:lnL w="0" algn="ctr">
                      <a:solidFill>
                        <a:srgbClr val="FF9999"/>
                      </a:solidFill>
                    </a:lnL>
                    <a:lnR w="0" algn="ctr">
                      <a:solidFill>
                        <a:srgbClr val="FF9999"/>
                      </a:solidFill>
                    </a:lnR>
                    <a:lnT w="0" algn="ctr">
                      <a:solidFill>
                        <a:srgbClr val="FF9999"/>
                      </a:solidFill>
                    </a:lnT>
                    <a:lnB w="0" algn="ctr">
                      <a:solidFill>
                        <a:srgbClr val="FF9999"/>
                      </a:solidFill>
                    </a:lnB>
                    <a:solidFill>
                      <a:srgbClr val="FFE3E3"/>
                    </a:solidFill>
                  </a:tcPr>
                </a:tc>
                <a:extLst>
                  <a:ext uri="{0D108BD9-81ED-4DB2-BD59-A6C34878D82A}">
                    <a16:rowId xmlns:a16="http://schemas.microsoft.com/office/drawing/2014/main" val="10001"/>
                  </a:ext>
                </a:extLst>
              </a:tr>
              <a:tr h="2713305">
                <a:tc>
                  <a:txBody>
                    <a:bodyPr/>
                    <a:lstStyle/>
                    <a:p>
                      <a:pPr algn="ctr">
                        <a:lnSpc>
                          <a:spcPts val="4059"/>
                        </a:lnSpc>
                        <a:defRPr/>
                      </a:pPr>
                      <a:r>
                        <a:rPr lang="en-US" sz="4800" b="1">
                          <a:solidFill>
                            <a:srgbClr val="000000"/>
                          </a:solidFill>
                          <a:latin typeface="Times New Roman"/>
                          <a:ea typeface="Times New Roman"/>
                          <a:cs typeface="Times New Roman"/>
                        </a:rPr>
                        <a:t>Xã hội (Social)</a:t>
                      </a:r>
                      <a:endParaRPr sz="1400">
                        <a:latin typeface="Times New Roman"/>
                        <a:cs typeface="Times New Roman"/>
                      </a:endParaRPr>
                    </a:p>
                  </a:txBody>
                  <a:tcPr marL="190500" marR="190500" marT="190500" marB="190500" anchor="ctr">
                    <a:lnL w="0" algn="ctr">
                      <a:solidFill>
                        <a:srgbClr val="FF9999"/>
                      </a:solidFill>
                    </a:lnL>
                    <a:lnR w="0" algn="ctr">
                      <a:solidFill>
                        <a:srgbClr val="FF9999"/>
                      </a:solidFill>
                    </a:lnR>
                    <a:lnT w="0" algn="ctr">
                      <a:solidFill>
                        <a:srgbClr val="FF9999"/>
                      </a:solidFill>
                    </a:lnT>
                    <a:lnB w="0" algn="ctr">
                      <a:solidFill>
                        <a:srgbClr val="FF9999"/>
                      </a:solidFill>
                    </a:lnB>
                    <a:solidFill>
                      <a:srgbClr val="FFCDCD"/>
                    </a:solidFill>
                  </a:tcPr>
                </a:tc>
                <a:tc>
                  <a:txBody>
                    <a:bodyPr/>
                    <a:lstStyle/>
                    <a:p>
                      <a:pPr algn="just">
                        <a:lnSpc>
                          <a:spcPts val="3779"/>
                        </a:lnSpc>
                        <a:defRPr/>
                      </a:pPr>
                      <a:r>
                        <a:rPr lang="en-US" sz="3600">
                          <a:solidFill>
                            <a:srgbClr val="000000"/>
                          </a:solidFill>
                          <a:latin typeface="Times New Roman"/>
                          <a:ea typeface="Times New Roman"/>
                          <a:cs typeface="Times New Roman"/>
                        </a:rPr>
                        <a:t>* Ứng dụng các đột phá công nghệ mới nhất</a:t>
                      </a:r>
                      <a:endParaRPr sz="1400">
                        <a:latin typeface="Times New Roman"/>
                        <a:cs typeface="Times New Roman"/>
                      </a:endParaRPr>
                    </a:p>
                    <a:p>
                      <a:pPr algn="just">
                        <a:lnSpc>
                          <a:spcPts val="3779"/>
                        </a:lnSpc>
                        <a:defRPr/>
                      </a:pPr>
                      <a:r>
                        <a:rPr lang="en-US" sz="3600">
                          <a:solidFill>
                            <a:srgbClr val="000000"/>
                          </a:solidFill>
                          <a:latin typeface="Times New Roman"/>
                          <a:ea typeface="Times New Roman"/>
                          <a:cs typeface="Times New Roman"/>
                        </a:rPr>
                        <a:t>* Thách thức về việc duy trì độ ổn định đường truyền mạng nội bộ bệnh viện và năng lực tính toán phần cứng nhúng.</a:t>
                      </a:r>
                      <a:endParaRPr sz="2200">
                        <a:latin typeface="Times New Roman"/>
                        <a:cs typeface="Times New Roman"/>
                      </a:endParaRPr>
                    </a:p>
                  </a:txBody>
                  <a:tcPr marL="190500" marR="190500" marT="190500" marB="190500" anchor="ctr">
                    <a:lnL w="0" algn="ctr">
                      <a:solidFill>
                        <a:srgbClr val="FF9999"/>
                      </a:solidFill>
                    </a:lnL>
                    <a:lnR w="0" algn="ctr">
                      <a:solidFill>
                        <a:srgbClr val="FF9999"/>
                      </a:solidFill>
                    </a:lnR>
                    <a:lnT w="0" algn="ctr">
                      <a:solidFill>
                        <a:srgbClr val="FF9999"/>
                      </a:solidFill>
                    </a:lnT>
                    <a:lnB w="0" algn="ctr">
                      <a:solidFill>
                        <a:srgbClr val="FF9999"/>
                      </a:solidFill>
                    </a:lnB>
                    <a:solidFill>
                      <a:srgbClr val="FFE3E3"/>
                    </a:solidFill>
                  </a:tcPr>
                </a:tc>
                <a:extLst>
                  <a:ext uri="{0D108BD9-81ED-4DB2-BD59-A6C34878D82A}">
                    <a16:rowId xmlns:a16="http://schemas.microsoft.com/office/drawing/2014/main" val="10002"/>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p:fade/>
      </p:transition>
    </mc:Choice>
    <mc:Fallback xmlns="" xmlns:m="http://schemas.openxmlformats.org/officeDocument/2006/math" xmlns:w="http://schemas.openxmlformats.org/wordprocessingml/2006/main">
      <p:transition spd="fast" advClick="1">
        <p:fade thruBlk="0"/>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grpSp>
        <p:nvGrpSpPr>
          <p:cNvPr id="885051623" name="Group 2"/>
          <p:cNvGrpSpPr/>
          <p:nvPr/>
        </p:nvGrpSpPr>
        <p:grpSpPr bwMode="auto">
          <a:xfrm>
            <a:off x="11649142" y="921287"/>
            <a:ext cx="5610158" cy="381495"/>
            <a:chOff x="0" y="0"/>
            <a:chExt cx="7175411" cy="487934"/>
          </a:xfrm>
        </p:grpSpPr>
        <p:sp>
          <p:nvSpPr>
            <p:cNvPr id="3" name="Freeform 3"/>
            <p:cNvSpPr/>
            <p:nvPr/>
          </p:nvSpPr>
          <p:spPr bwMode="auto">
            <a:xfrm flipV="1">
              <a:off x="0" y="0"/>
              <a:ext cx="7175373" cy="487934"/>
            </a:xfrm>
            <a:custGeom>
              <a:avLst/>
              <a:gdLst/>
              <a:ahLst/>
              <a:cxnLst/>
              <a:rect l="l" t="t" r="r" b="b"/>
              <a:pathLst>
                <a:path w="7175373" h="487934" extrusionOk="0">
                  <a:moveTo>
                    <a:pt x="0" y="487934"/>
                  </a:moveTo>
                  <a:lnTo>
                    <a:pt x="7175373" y="487934"/>
                  </a:lnTo>
                  <a:lnTo>
                    <a:pt x="7175373" y="0"/>
                  </a:lnTo>
                  <a:lnTo>
                    <a:pt x="0" y="0"/>
                  </a:lnTo>
                  <a:lnTo>
                    <a:pt x="0" y="487934"/>
                  </a:lnTo>
                  <a:close/>
                </a:path>
              </a:pathLst>
            </a:custGeom>
            <a:blipFill rotWithShape="1">
              <a:blip r:embed="rId3"/>
              <a:stretch>
                <a:fillRect b="-575"/>
              </a:stretch>
            </a:blipFill>
          </p:spPr>
          <p:txBody>
            <a:bodyPr anchor="ctr"/>
            <a:lstStyle/>
            <a:p>
              <a:pPr algn="ctr">
                <a:defRPr/>
              </a:pPr>
              <a:endParaRPr sz="2000">
                <a:latin typeface="Times New Roman"/>
                <a:cs typeface="Times New Roman"/>
              </a:endParaRPr>
            </a:p>
          </p:txBody>
        </p:sp>
      </p:grpSp>
      <p:grpSp>
        <p:nvGrpSpPr>
          <p:cNvPr id="1355250904" name="Group 4"/>
          <p:cNvGrpSpPr/>
          <p:nvPr/>
        </p:nvGrpSpPr>
        <p:grpSpPr bwMode="auto">
          <a:xfrm>
            <a:off x="630265" y="468997"/>
            <a:ext cx="3770775" cy="1256765"/>
            <a:chOff x="0" y="0"/>
            <a:chExt cx="5781473" cy="1926912"/>
          </a:xfrm>
        </p:grpSpPr>
        <p:sp>
          <p:nvSpPr>
            <p:cNvPr id="5" name="Freeform 5"/>
            <p:cNvSpPr/>
            <p:nvPr/>
          </p:nvSpPr>
          <p:spPr bwMode="auto">
            <a:xfrm>
              <a:off x="0" y="0"/>
              <a:ext cx="5781473" cy="1926905"/>
            </a:xfrm>
            <a:custGeom>
              <a:avLst/>
              <a:gdLst/>
              <a:ahLst/>
              <a:cxnLst/>
              <a:rect l="l" t="t" r="r" b="b"/>
              <a:pathLst>
                <a:path w="5781473" h="1926905" extrusionOk="0">
                  <a:moveTo>
                    <a:pt x="0" y="0"/>
                  </a:moveTo>
                  <a:lnTo>
                    <a:pt x="5781473" y="0"/>
                  </a:lnTo>
                  <a:lnTo>
                    <a:pt x="5781473" y="1926905"/>
                  </a:lnTo>
                  <a:lnTo>
                    <a:pt x="0" y="1926905"/>
                  </a:lnTo>
                  <a:close/>
                </a:path>
              </a:pathLst>
            </a:custGeom>
            <a:blipFill rotWithShape="1">
              <a:blip r:embed="rId4">
                <a:alphaModFix amt="0"/>
              </a:blip>
              <a:stretch>
                <a:fillRect t="-168133" r="-263768" b="-157204"/>
              </a:stretch>
            </a:blipFill>
          </p:spPr>
          <p:txBody>
            <a:bodyPr anchor="ctr"/>
            <a:lstStyle/>
            <a:p>
              <a:pPr algn="ctr">
                <a:defRPr/>
              </a:pPr>
              <a:endParaRPr sz="2000">
                <a:latin typeface="Times New Roman"/>
                <a:cs typeface="Times New Roman"/>
              </a:endParaRPr>
            </a:p>
          </p:txBody>
        </p:sp>
        <p:sp>
          <p:nvSpPr>
            <p:cNvPr id="6" name="TextBox 6"/>
            <p:cNvSpPr txBox="1"/>
            <p:nvPr/>
          </p:nvSpPr>
          <p:spPr bwMode="auto">
            <a:xfrm>
              <a:off x="0" y="-95250"/>
              <a:ext cx="5781473" cy="2022162"/>
            </a:xfrm>
            <a:prstGeom prst="rect">
              <a:avLst/>
            </a:prstGeom>
            <a:grpFill/>
          </p:spPr>
          <p:txBody>
            <a:bodyPr lIns="0" tIns="0" rIns="0" bIns="0" rtlCol="0" anchor="ctr"/>
            <a:lstStyle/>
            <a:p>
              <a:pPr algn="ctr">
                <a:lnSpc>
                  <a:spcPts val="8141"/>
                </a:lnSpc>
                <a:defRPr/>
              </a:pPr>
              <a:r>
                <a:rPr lang="en-US" sz="7200" b="1">
                  <a:solidFill>
                    <a:srgbClr val="10439A"/>
                  </a:solidFill>
                  <a:latin typeface="Times New Roman"/>
                  <a:ea typeface="Times New Roman"/>
                  <a:cs typeface="Times New Roman"/>
                </a:rPr>
                <a:t>PESTLE</a:t>
              </a:r>
              <a:endParaRPr sz="2000">
                <a:latin typeface="Times New Roman"/>
                <a:cs typeface="Times New Roman"/>
              </a:endParaRPr>
            </a:p>
          </p:txBody>
        </p:sp>
      </p:grpSp>
      <p:graphicFrame>
        <p:nvGraphicFramePr>
          <p:cNvPr id="1568748586" name="Table 7"/>
          <p:cNvGraphicFramePr>
            <a:graphicFrameLocks noGrp="1"/>
          </p:cNvGraphicFramePr>
          <p:nvPr/>
        </p:nvGraphicFramePr>
        <p:xfrm>
          <a:off x="627462" y="1725762"/>
          <a:ext cx="17033075" cy="8540454"/>
        </p:xfrm>
        <a:graphic>
          <a:graphicData uri="http://schemas.openxmlformats.org/drawingml/2006/table">
            <a:tbl>
              <a:tblPr/>
              <a:tblGrid>
                <a:gridCol w="5458562">
                  <a:extLst>
                    <a:ext uri="{9D8B030D-6E8A-4147-A177-3AD203B41FA5}">
                      <a16:colId xmlns:a16="http://schemas.microsoft.com/office/drawing/2014/main" val="20000"/>
                    </a:ext>
                  </a:extLst>
                </a:gridCol>
                <a:gridCol w="11574513">
                  <a:extLst>
                    <a:ext uri="{9D8B030D-6E8A-4147-A177-3AD203B41FA5}">
                      <a16:colId xmlns:a16="http://schemas.microsoft.com/office/drawing/2014/main" val="20001"/>
                    </a:ext>
                  </a:extLst>
                </a:gridCol>
              </a:tblGrid>
              <a:tr h="2244448">
                <a:tc>
                  <a:txBody>
                    <a:bodyPr/>
                    <a:lstStyle/>
                    <a:p>
                      <a:pPr algn="ctr">
                        <a:lnSpc>
                          <a:spcPts val="4059"/>
                        </a:lnSpc>
                        <a:defRPr/>
                      </a:pPr>
                      <a:r>
                        <a:rPr lang="en-US" sz="3600" b="1">
                          <a:solidFill>
                            <a:srgbClr val="000000"/>
                          </a:solidFill>
                          <a:latin typeface="Times New Roman"/>
                          <a:ea typeface="Times New Roman"/>
                          <a:cs typeface="Times New Roman"/>
                        </a:rPr>
                        <a:t>Công nghệ (Technological)</a:t>
                      </a:r>
                      <a:endParaRPr sz="1200">
                        <a:latin typeface="Times New Roman"/>
                        <a:cs typeface="Times New Roman"/>
                      </a:endParaRPr>
                    </a:p>
                  </a:txBody>
                  <a:tcPr marL="190500" marR="190500" marT="190500" marB="190500" anchor="ctr">
                    <a:lnL w="0" algn="ctr">
                      <a:solidFill>
                        <a:srgbClr val="FF9999"/>
                      </a:solidFill>
                    </a:lnL>
                    <a:lnR w="0" algn="ctr">
                      <a:solidFill>
                        <a:srgbClr val="FF9999"/>
                      </a:solidFill>
                    </a:lnR>
                    <a:lnT w="0" algn="ctr">
                      <a:solidFill>
                        <a:srgbClr val="FF9999"/>
                      </a:solidFill>
                    </a:lnT>
                    <a:lnB w="0" algn="ctr">
                      <a:solidFill>
                        <a:srgbClr val="FF9999"/>
                      </a:solidFill>
                    </a:lnB>
                    <a:solidFill>
                      <a:srgbClr val="FFCDCD"/>
                    </a:solidFill>
                  </a:tcPr>
                </a:tc>
                <a:tc>
                  <a:txBody>
                    <a:bodyPr/>
                    <a:lstStyle/>
                    <a:p>
                      <a:pPr algn="just">
                        <a:lnSpc>
                          <a:spcPts val="3779"/>
                        </a:lnSpc>
                        <a:defRPr/>
                      </a:pPr>
                      <a:r>
                        <a:rPr lang="en-US" sz="2800">
                          <a:solidFill>
                            <a:srgbClr val="000000"/>
                          </a:solidFill>
                          <a:latin typeface="Times New Roman"/>
                          <a:ea typeface="Times New Roman"/>
                          <a:cs typeface="Times New Roman"/>
                        </a:rPr>
                        <a:t>* Ứng dụng các đột phá công nghệ mới nhất</a:t>
                      </a:r>
                      <a:endParaRPr sz="1200">
                        <a:latin typeface="Times New Roman"/>
                        <a:cs typeface="Times New Roman"/>
                      </a:endParaRPr>
                    </a:p>
                    <a:p>
                      <a:pPr algn="just">
                        <a:lnSpc>
                          <a:spcPts val="3779"/>
                        </a:lnSpc>
                        <a:defRPr/>
                      </a:pPr>
                      <a:r>
                        <a:rPr lang="en-US" sz="2800">
                          <a:solidFill>
                            <a:srgbClr val="000000"/>
                          </a:solidFill>
                          <a:latin typeface="Times New Roman"/>
                          <a:ea typeface="Times New Roman"/>
                          <a:cs typeface="Times New Roman"/>
                        </a:rPr>
                        <a:t>* Thách thức về việc duy trì độ ổn định đường truyền mạng nội bộ bệnh viện và năng lực tính toán phần cứng nhúng.</a:t>
                      </a:r>
                      <a:endParaRPr sz="2000">
                        <a:latin typeface="Times New Roman"/>
                        <a:cs typeface="Times New Roman"/>
                      </a:endParaRPr>
                    </a:p>
                  </a:txBody>
                  <a:tcPr marL="190500" marR="190500" marT="190500" marB="190500" anchor="ctr">
                    <a:lnL w="0" algn="ctr">
                      <a:solidFill>
                        <a:srgbClr val="FF9999"/>
                      </a:solidFill>
                    </a:lnL>
                    <a:lnR w="0" algn="ctr">
                      <a:solidFill>
                        <a:srgbClr val="FF9999"/>
                      </a:solidFill>
                    </a:lnR>
                    <a:lnT w="0" algn="ctr">
                      <a:solidFill>
                        <a:srgbClr val="FF9999"/>
                      </a:solidFill>
                    </a:lnT>
                    <a:lnB w="0" algn="ctr">
                      <a:solidFill>
                        <a:srgbClr val="FF9999"/>
                      </a:solidFill>
                    </a:lnB>
                    <a:solidFill>
                      <a:srgbClr val="FFE3E3"/>
                    </a:solidFill>
                  </a:tcPr>
                </a:tc>
                <a:extLst>
                  <a:ext uri="{0D108BD9-81ED-4DB2-BD59-A6C34878D82A}">
                    <a16:rowId xmlns:a16="http://schemas.microsoft.com/office/drawing/2014/main" val="10000"/>
                  </a:ext>
                </a:extLst>
              </a:tr>
              <a:tr h="3000899">
                <a:tc>
                  <a:txBody>
                    <a:bodyPr/>
                    <a:lstStyle/>
                    <a:p>
                      <a:pPr algn="ctr">
                        <a:lnSpc>
                          <a:spcPts val="4059"/>
                        </a:lnSpc>
                        <a:defRPr/>
                      </a:pPr>
                      <a:r>
                        <a:rPr lang="en-US" sz="3600" b="1">
                          <a:solidFill>
                            <a:srgbClr val="000000"/>
                          </a:solidFill>
                          <a:latin typeface="Times New Roman"/>
                          <a:ea typeface="Times New Roman"/>
                          <a:cs typeface="Times New Roman"/>
                        </a:rPr>
                        <a:t>Pháp lý (Legal)</a:t>
                      </a:r>
                      <a:endParaRPr sz="1200">
                        <a:latin typeface="Times New Roman"/>
                        <a:cs typeface="Times New Roman"/>
                      </a:endParaRPr>
                    </a:p>
                  </a:txBody>
                  <a:tcPr marL="190500" marR="190500" marT="190500" marB="190500" anchor="ctr">
                    <a:lnL w="0" algn="ctr">
                      <a:solidFill>
                        <a:srgbClr val="FF9999"/>
                      </a:solidFill>
                    </a:lnL>
                    <a:lnR w="0" algn="ctr">
                      <a:solidFill>
                        <a:srgbClr val="FF9999"/>
                      </a:solidFill>
                    </a:lnR>
                    <a:lnT w="0" algn="ctr">
                      <a:solidFill>
                        <a:srgbClr val="FF9999"/>
                      </a:solidFill>
                    </a:lnT>
                    <a:lnB w="0" algn="ctr">
                      <a:solidFill>
                        <a:srgbClr val="FF9999"/>
                      </a:solidFill>
                    </a:lnB>
                    <a:solidFill>
                      <a:srgbClr val="FFCDCD"/>
                    </a:solidFill>
                  </a:tcPr>
                </a:tc>
                <a:tc>
                  <a:txBody>
                    <a:bodyPr/>
                    <a:lstStyle/>
                    <a:p>
                      <a:pPr algn="just">
                        <a:lnSpc>
                          <a:spcPts val="3779"/>
                        </a:lnSpc>
                        <a:defRPr/>
                      </a:pPr>
                      <a:r>
                        <a:rPr lang="en-US" sz="2800">
                          <a:solidFill>
                            <a:srgbClr val="000000"/>
                          </a:solidFill>
                          <a:latin typeface="Times New Roman"/>
                          <a:ea typeface="Times New Roman"/>
                          <a:cs typeface="Times New Roman"/>
                        </a:rPr>
                        <a:t>* Tuân thủ Luật Khám bệnh, chữa bệnh và các quy định về trách nhiệm chuyên môn khi ứng dụng phần mềm hỗ trợ ra quyết định y khoa.</a:t>
                      </a:r>
                      <a:endParaRPr sz="1200">
                        <a:latin typeface="Times New Roman"/>
                        <a:cs typeface="Times New Roman"/>
                      </a:endParaRPr>
                    </a:p>
                    <a:p>
                      <a:pPr algn="just">
                        <a:lnSpc>
                          <a:spcPts val="3779"/>
                        </a:lnSpc>
                        <a:defRPr/>
                      </a:pPr>
                      <a:r>
                        <a:rPr lang="en-US" sz="2800">
                          <a:solidFill>
                            <a:srgbClr val="000000"/>
                          </a:solidFill>
                          <a:latin typeface="Times New Roman"/>
                          <a:ea typeface="Times New Roman"/>
                          <a:cs typeface="Times New Roman"/>
                        </a:rPr>
                        <a:t>* Bắt buộc thực thi cơ chế khử định danh dữ liệu cá nhân theo Nghị định 13/2023/NĐ-CP về bảo vệ dữ liệu cá nhân trước khi gửi ngữ cảnh cho mô hình ngôn ngữ. </a:t>
                      </a:r>
                      <a:endParaRPr sz="2000">
                        <a:latin typeface="Times New Roman"/>
                        <a:cs typeface="Times New Roman"/>
                      </a:endParaRPr>
                    </a:p>
                  </a:txBody>
                  <a:tcPr marL="190500" marR="190500" marT="190500" marB="190500" anchor="ctr">
                    <a:lnL w="0" algn="ctr">
                      <a:solidFill>
                        <a:srgbClr val="FF9999"/>
                      </a:solidFill>
                    </a:lnL>
                    <a:lnR w="0" algn="ctr">
                      <a:solidFill>
                        <a:srgbClr val="FF9999"/>
                      </a:solidFill>
                    </a:lnR>
                    <a:lnT w="0" algn="ctr">
                      <a:solidFill>
                        <a:srgbClr val="FF9999"/>
                      </a:solidFill>
                    </a:lnT>
                    <a:lnB w="0" algn="ctr">
                      <a:solidFill>
                        <a:srgbClr val="FF9999"/>
                      </a:solidFill>
                    </a:lnB>
                    <a:solidFill>
                      <a:srgbClr val="FFE3E3"/>
                    </a:solidFill>
                  </a:tcPr>
                </a:tc>
                <a:extLst>
                  <a:ext uri="{0D108BD9-81ED-4DB2-BD59-A6C34878D82A}">
                    <a16:rowId xmlns:a16="http://schemas.microsoft.com/office/drawing/2014/main" val="10001"/>
                  </a:ext>
                </a:extLst>
              </a:tr>
              <a:tr h="3295107">
                <a:tc>
                  <a:txBody>
                    <a:bodyPr/>
                    <a:lstStyle/>
                    <a:p>
                      <a:pPr algn="ctr">
                        <a:lnSpc>
                          <a:spcPts val="4059"/>
                        </a:lnSpc>
                        <a:defRPr/>
                      </a:pPr>
                      <a:r>
                        <a:rPr lang="en-US" sz="3600" b="1">
                          <a:solidFill>
                            <a:srgbClr val="000000"/>
                          </a:solidFill>
                          <a:latin typeface="Times New Roman"/>
                          <a:ea typeface="Times New Roman"/>
                          <a:cs typeface="Times New Roman"/>
                        </a:rPr>
                        <a:t>Môi trường (Environmental)</a:t>
                      </a:r>
                      <a:endParaRPr sz="1200">
                        <a:latin typeface="Times New Roman"/>
                        <a:cs typeface="Times New Roman"/>
                      </a:endParaRPr>
                    </a:p>
                  </a:txBody>
                  <a:tcPr marL="190500" marR="190500" marT="190500" marB="190500" anchor="ctr">
                    <a:lnL w="0" algn="ctr">
                      <a:solidFill>
                        <a:srgbClr val="FF9999"/>
                      </a:solidFill>
                    </a:lnL>
                    <a:lnR w="0" algn="ctr">
                      <a:solidFill>
                        <a:srgbClr val="FF9999"/>
                      </a:solidFill>
                    </a:lnR>
                    <a:lnT w="0" algn="ctr">
                      <a:solidFill>
                        <a:srgbClr val="FF9999"/>
                      </a:solidFill>
                    </a:lnT>
                    <a:lnB w="0" algn="ctr">
                      <a:solidFill>
                        <a:srgbClr val="FF9999"/>
                      </a:solidFill>
                    </a:lnB>
                    <a:solidFill>
                      <a:srgbClr val="FFCDCD"/>
                    </a:solidFill>
                  </a:tcPr>
                </a:tc>
                <a:tc>
                  <a:txBody>
                    <a:bodyPr/>
                    <a:lstStyle/>
                    <a:p>
                      <a:pPr algn="just">
                        <a:lnSpc>
                          <a:spcPts val="3779"/>
                        </a:lnSpc>
                        <a:defRPr/>
                      </a:pPr>
                      <a:r>
                        <a:rPr lang="en-US" sz="2800">
                          <a:solidFill>
                            <a:srgbClr val="000000"/>
                          </a:solidFill>
                          <a:latin typeface="Times New Roman"/>
                          <a:ea typeface="Times New Roman"/>
                          <a:cs typeface="Times New Roman"/>
                        </a:rPr>
                        <a:t>* Số hóa toàn bộ hồ sơ tiếp đón ban đầu lên Web Dashboard, giảm thiểu phát thải rác thải giấy thủ tục. </a:t>
                      </a:r>
                      <a:endParaRPr sz="1200">
                        <a:latin typeface="Times New Roman"/>
                        <a:cs typeface="Times New Roman"/>
                      </a:endParaRPr>
                    </a:p>
                    <a:p>
                      <a:pPr algn="just">
                        <a:lnSpc>
                          <a:spcPts val="3779"/>
                        </a:lnSpc>
                        <a:defRPr/>
                      </a:pPr>
                      <a:r>
                        <a:rPr lang="en-US" sz="2800">
                          <a:solidFill>
                            <a:srgbClr val="000000"/>
                          </a:solidFill>
                          <a:latin typeface="Times New Roman"/>
                          <a:ea typeface="Times New Roman"/>
                          <a:cs typeface="Times New Roman"/>
                        </a:rPr>
                        <a:t>* Sử dụng máy in nhiệt trực tiếp không phát sinh hóa chất mực in độc hại, phần cứng vi điều khiển tối ưu hóa điện năng tiêu thụ ở chế độ chờ. </a:t>
                      </a:r>
                      <a:endParaRPr sz="2000">
                        <a:latin typeface="Times New Roman"/>
                        <a:cs typeface="Times New Roman"/>
                      </a:endParaRPr>
                    </a:p>
                  </a:txBody>
                  <a:tcPr marL="190500" marR="190500" marT="190500" marB="190500" anchor="ctr">
                    <a:lnL w="0" algn="ctr">
                      <a:solidFill>
                        <a:srgbClr val="FF9999"/>
                      </a:solidFill>
                    </a:lnL>
                    <a:lnR w="0" algn="ctr">
                      <a:solidFill>
                        <a:srgbClr val="FF9999"/>
                      </a:solidFill>
                    </a:lnR>
                    <a:lnT w="0" algn="ctr">
                      <a:solidFill>
                        <a:srgbClr val="FF9999"/>
                      </a:solidFill>
                    </a:lnT>
                    <a:lnB w="0" algn="ctr">
                      <a:solidFill>
                        <a:srgbClr val="FF9999"/>
                      </a:solidFill>
                    </a:lnB>
                    <a:solidFill>
                      <a:srgbClr val="FFE3E3"/>
                    </a:solidFill>
                  </a:tcPr>
                </a:tc>
                <a:extLst>
                  <a:ext uri="{0D108BD9-81ED-4DB2-BD59-A6C34878D82A}">
                    <a16:rowId xmlns:a16="http://schemas.microsoft.com/office/drawing/2014/main" val="10002"/>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p:fade/>
      </p:transition>
    </mc:Choice>
    <mc:Fallback xmlns="" xmlns:m="http://schemas.openxmlformats.org/officeDocument/2006/math" xmlns:w="http://schemas.openxmlformats.org/wordprocessingml/2006/main">
      <p:transition spd="fast" advClick="1">
        <p:fade thruBlk="0"/>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grpSp>
        <p:nvGrpSpPr>
          <p:cNvPr id="1789605717" name="Group 2"/>
          <p:cNvGrpSpPr/>
          <p:nvPr/>
        </p:nvGrpSpPr>
        <p:grpSpPr bwMode="auto">
          <a:xfrm>
            <a:off x="11649142" y="921287"/>
            <a:ext cx="5610158" cy="381495"/>
            <a:chOff x="0" y="0"/>
            <a:chExt cx="7175411" cy="487934"/>
          </a:xfrm>
        </p:grpSpPr>
        <p:sp>
          <p:nvSpPr>
            <p:cNvPr id="3" name="Freeform 3"/>
            <p:cNvSpPr/>
            <p:nvPr/>
          </p:nvSpPr>
          <p:spPr bwMode="auto">
            <a:xfrm flipV="1">
              <a:off x="0" y="0"/>
              <a:ext cx="7175373" cy="487934"/>
            </a:xfrm>
            <a:custGeom>
              <a:avLst/>
              <a:gdLst/>
              <a:ahLst/>
              <a:cxnLst/>
              <a:rect l="l" t="t" r="r" b="b"/>
              <a:pathLst>
                <a:path w="7175373" h="487934" extrusionOk="0">
                  <a:moveTo>
                    <a:pt x="0" y="487934"/>
                  </a:moveTo>
                  <a:lnTo>
                    <a:pt x="7175373" y="487934"/>
                  </a:lnTo>
                  <a:lnTo>
                    <a:pt x="7175373" y="0"/>
                  </a:lnTo>
                  <a:lnTo>
                    <a:pt x="0" y="0"/>
                  </a:lnTo>
                  <a:lnTo>
                    <a:pt x="0" y="487934"/>
                  </a:lnTo>
                  <a:close/>
                </a:path>
              </a:pathLst>
            </a:custGeom>
            <a:blipFill rotWithShape="1">
              <a:blip r:embed="rId3"/>
              <a:stretch>
                <a:fillRect b="-575"/>
              </a:stretch>
            </a:blipFill>
          </p:spPr>
          <p:txBody>
            <a:bodyPr anchor="ctr"/>
            <a:lstStyle/>
            <a:p>
              <a:pPr algn="ctr">
                <a:defRPr/>
              </a:pPr>
              <a:endParaRPr sz="2000">
                <a:latin typeface="Times New Roman"/>
                <a:cs typeface="Times New Roman"/>
              </a:endParaRPr>
            </a:p>
          </p:txBody>
        </p:sp>
      </p:grpSp>
      <p:grpSp>
        <p:nvGrpSpPr>
          <p:cNvPr id="451703648" name="Group 4"/>
          <p:cNvGrpSpPr/>
          <p:nvPr/>
        </p:nvGrpSpPr>
        <p:grpSpPr bwMode="auto">
          <a:xfrm>
            <a:off x="630265" y="468997"/>
            <a:ext cx="3770775" cy="1256765"/>
            <a:chOff x="0" y="0"/>
            <a:chExt cx="5781473" cy="1926912"/>
          </a:xfrm>
        </p:grpSpPr>
        <p:sp>
          <p:nvSpPr>
            <p:cNvPr id="5" name="Freeform 5"/>
            <p:cNvSpPr/>
            <p:nvPr/>
          </p:nvSpPr>
          <p:spPr bwMode="auto">
            <a:xfrm>
              <a:off x="0" y="0"/>
              <a:ext cx="5781473" cy="1926905"/>
            </a:xfrm>
            <a:custGeom>
              <a:avLst/>
              <a:gdLst/>
              <a:ahLst/>
              <a:cxnLst/>
              <a:rect l="l" t="t" r="r" b="b"/>
              <a:pathLst>
                <a:path w="5781473" h="1926905" extrusionOk="0">
                  <a:moveTo>
                    <a:pt x="0" y="0"/>
                  </a:moveTo>
                  <a:lnTo>
                    <a:pt x="5781473" y="0"/>
                  </a:lnTo>
                  <a:lnTo>
                    <a:pt x="5781473" y="1926905"/>
                  </a:lnTo>
                  <a:lnTo>
                    <a:pt x="0" y="1926905"/>
                  </a:lnTo>
                  <a:close/>
                </a:path>
              </a:pathLst>
            </a:custGeom>
            <a:blipFill rotWithShape="1">
              <a:blip r:embed="rId4">
                <a:alphaModFix amt="0"/>
              </a:blip>
              <a:stretch>
                <a:fillRect t="-168133" r="-263768" b="-157204"/>
              </a:stretch>
            </a:blipFill>
          </p:spPr>
          <p:txBody>
            <a:bodyPr anchor="ctr"/>
            <a:lstStyle/>
            <a:p>
              <a:pPr algn="ctr">
                <a:defRPr/>
              </a:pPr>
              <a:endParaRPr sz="2000">
                <a:latin typeface="Times New Roman"/>
                <a:cs typeface="Times New Roman"/>
              </a:endParaRPr>
            </a:p>
          </p:txBody>
        </p:sp>
        <p:sp>
          <p:nvSpPr>
            <p:cNvPr id="6" name="TextBox 6"/>
            <p:cNvSpPr txBox="1"/>
            <p:nvPr/>
          </p:nvSpPr>
          <p:spPr bwMode="auto">
            <a:xfrm>
              <a:off x="0" y="-95250"/>
              <a:ext cx="5781473" cy="2022162"/>
            </a:xfrm>
            <a:prstGeom prst="rect">
              <a:avLst/>
            </a:prstGeom>
            <a:grpFill/>
          </p:spPr>
          <p:txBody>
            <a:bodyPr lIns="0" tIns="0" rIns="0" bIns="0" rtlCol="0" anchor="ctr"/>
            <a:lstStyle/>
            <a:p>
              <a:pPr algn="ctr">
                <a:lnSpc>
                  <a:spcPts val="8141"/>
                </a:lnSpc>
                <a:defRPr/>
              </a:pPr>
              <a:r>
                <a:rPr lang="en-US" sz="7200" b="1">
                  <a:solidFill>
                    <a:srgbClr val="10439A"/>
                  </a:solidFill>
                  <a:latin typeface="Times New Roman"/>
                  <a:ea typeface="Times New Roman"/>
                  <a:cs typeface="Times New Roman"/>
                </a:rPr>
                <a:t>PESTLE</a:t>
              </a:r>
              <a:endParaRPr sz="2000">
                <a:latin typeface="Times New Roman"/>
                <a:cs typeface="Times New Roman"/>
              </a:endParaRPr>
            </a:p>
          </p:txBody>
        </p:sp>
      </p:grpSp>
      <p:sp>
        <p:nvSpPr>
          <p:cNvPr id="1905036758" name="TextBox 7"/>
          <p:cNvSpPr txBox="1"/>
          <p:nvPr/>
        </p:nvSpPr>
        <p:spPr bwMode="auto">
          <a:xfrm>
            <a:off x="630263" y="2154325"/>
            <a:ext cx="17298540" cy="7531205"/>
          </a:xfrm>
          <a:prstGeom prst="rect">
            <a:avLst/>
          </a:prstGeom>
        </p:spPr>
        <p:txBody>
          <a:bodyPr lIns="0" tIns="0" rIns="0" bIns="0" rtlCol="0" anchor="t">
            <a:spAutoFit/>
          </a:bodyPr>
          <a:lstStyle/>
          <a:p>
            <a:pPr algn="ctr">
              <a:lnSpc>
                <a:spcPts val="4844"/>
              </a:lnSpc>
              <a:defRPr/>
            </a:pPr>
            <a:r>
              <a:rPr lang="en-US" sz="3600" b="1">
                <a:solidFill>
                  <a:srgbClr val="000000"/>
                </a:solidFill>
                <a:latin typeface="Times New Roman"/>
                <a:ea typeface="Times New Roman"/>
                <a:cs typeface="Times New Roman"/>
              </a:rPr>
              <a:t>Chuỗi: Chính trị -&gt; Pháp lý -&gt; Công nghệ -&gt; Kinh tế</a:t>
            </a:r>
            <a:r>
              <a:rPr lang="en-US" sz="3600">
                <a:solidFill>
                  <a:srgbClr val="000000"/>
                </a:solidFill>
                <a:latin typeface="Times New Roman"/>
                <a:ea typeface="Times New Roman"/>
                <a:cs typeface="Times New Roman"/>
              </a:rPr>
              <a:t> </a:t>
            </a:r>
            <a:endParaRPr sz="2000">
              <a:latin typeface="Times New Roman"/>
              <a:cs typeface="Times New Roman"/>
            </a:endParaRPr>
          </a:p>
          <a:p>
            <a:pPr algn="ctr">
              <a:lnSpc>
                <a:spcPts val="4844"/>
              </a:lnSpc>
              <a:defRPr/>
            </a:pPr>
            <a:endParaRPr sz="3600">
              <a:solidFill>
                <a:srgbClr val="000000"/>
              </a:solidFill>
              <a:latin typeface="Times New Roman"/>
              <a:cs typeface="Times New Roman"/>
            </a:endParaRPr>
          </a:p>
          <a:p>
            <a:pPr marL="705663" lvl="1" indent="-352831" algn="l">
              <a:lnSpc>
                <a:spcPts val="4510"/>
              </a:lnSpc>
              <a:spcBef>
                <a:spcPts val="0"/>
              </a:spcBef>
              <a:buFont typeface="Arial"/>
              <a:buChar char="•"/>
              <a:defRPr/>
            </a:pPr>
            <a:r>
              <a:rPr lang="en-US" sz="3600">
                <a:solidFill>
                  <a:srgbClr val="000000"/>
                </a:solidFill>
                <a:latin typeface="Times New Roman"/>
                <a:ea typeface="Times New Roman"/>
                <a:cs typeface="Times New Roman"/>
              </a:rPr>
              <a:t>Chính trị (P): Chính phủ đẩy mạnh Đề án 06 (chuyển đổi số dữ liệu dân cư) và chiến lược Y tế thông minh.</a:t>
            </a:r>
            <a:endParaRPr sz="2000">
              <a:latin typeface="Times New Roman"/>
              <a:cs typeface="Times New Roman"/>
            </a:endParaRPr>
          </a:p>
          <a:p>
            <a:pPr marL="705663" lvl="1" indent="-352831" algn="l">
              <a:lnSpc>
                <a:spcPts val="4510"/>
              </a:lnSpc>
              <a:spcBef>
                <a:spcPts val="0"/>
              </a:spcBef>
              <a:buFont typeface="Arial"/>
              <a:buChar char="•"/>
              <a:defRPr/>
            </a:pPr>
            <a:r>
              <a:rPr lang="en-US" sz="3600">
                <a:solidFill>
                  <a:srgbClr val="000000"/>
                </a:solidFill>
                <a:latin typeface="Times New Roman"/>
                <a:ea typeface="Times New Roman"/>
                <a:cs typeface="Times New Roman"/>
              </a:rPr>
              <a:t>Tác động sang Pháp lý: Kéo theo các quy định bắt buộc về bảo mật thông tin như Nghị định 13/2023/NĐ-CP (Bảo vệ dữ liệu cá nhân) và Luật Khám bệnh, chữa bệnh sửa đổi.</a:t>
            </a:r>
            <a:endParaRPr sz="2000">
              <a:latin typeface="Times New Roman"/>
              <a:cs typeface="Times New Roman"/>
            </a:endParaRPr>
          </a:p>
          <a:p>
            <a:pPr marL="705663" lvl="1" indent="-352831" algn="l">
              <a:lnSpc>
                <a:spcPts val="4510"/>
              </a:lnSpc>
              <a:spcBef>
                <a:spcPts val="0"/>
              </a:spcBef>
              <a:buFont typeface="Arial"/>
              <a:buChar char="•"/>
              <a:defRPr/>
            </a:pPr>
            <a:r>
              <a:rPr lang="en-US" sz="3600">
                <a:solidFill>
                  <a:srgbClr val="000000"/>
                </a:solidFill>
                <a:latin typeface="Times New Roman"/>
                <a:ea typeface="Times New Roman"/>
                <a:cs typeface="Times New Roman"/>
              </a:rPr>
              <a:t>Tác động sang Công nghệ: Đòi hỏi nhóm thiết kế Kiosk bắt buộc phải tích hợp tính năng đọc CCCD gắn chip (OCR), xây dựng module ẩn danh hóa và ưu tiên xử lý cục bộ (Edge/Local LLM) thay vì gửi trực tiếp dữ liệu thô lên Cloud quốc tế.</a:t>
            </a:r>
            <a:endParaRPr sz="2000">
              <a:latin typeface="Times New Roman"/>
              <a:cs typeface="Times New Roman"/>
            </a:endParaRPr>
          </a:p>
          <a:p>
            <a:pPr marL="705663" lvl="1" indent="-352831" algn="l">
              <a:lnSpc>
                <a:spcPts val="4510"/>
              </a:lnSpc>
              <a:spcBef>
                <a:spcPts val="0"/>
              </a:spcBef>
              <a:buFont typeface="Arial"/>
              <a:buChar char="•"/>
              <a:defRPr/>
            </a:pPr>
            <a:r>
              <a:rPr lang="en-US" sz="3600">
                <a:solidFill>
                  <a:srgbClr val="000000"/>
                </a:solidFill>
                <a:latin typeface="Times New Roman"/>
                <a:ea typeface="Times New Roman"/>
                <a:cs typeface="Times New Roman"/>
              </a:rPr>
              <a:t>Tác động sang Kinh tế: Việc tuân thủ này giúp bệnh viện đủ điều kiện giải ngân ngân sách nhà nước cho chuyển đổi số, tránh rủi ro bị phạt hành chính do rò rỉ bệnh án, tối ưu chi phí đầu tư dài hạn.</a:t>
            </a:r>
            <a:endParaRPr sz="2000">
              <a:latin typeface="Times New Roman"/>
              <a:cs typeface="Times New Roman"/>
            </a:endParaRPr>
          </a:p>
          <a:p>
            <a:pPr algn="ctr">
              <a:lnSpc>
                <a:spcPts val="4510"/>
              </a:lnSpc>
              <a:spcBef>
                <a:spcPts val="0"/>
              </a:spcBef>
              <a:defRPr/>
            </a:pPr>
            <a:endParaRPr sz="3600">
              <a:solidFill>
                <a:srgbClr val="000000"/>
              </a:solidFill>
              <a:latin typeface="Times New Roman"/>
              <a:cs typeface="Times New Roman"/>
            </a:endParaRPr>
          </a:p>
        </p:txBody>
      </p:sp>
    </p:spTree>
  </p:cSld>
  <p:clrMapOvr>
    <a:masterClrMapping/>
  </p:clrMapOvr>
  <mc:AlternateContent xmlns:mc="http://schemas.openxmlformats.org/markup-compatibility/2006" xmlns:p159="http://schemas.microsoft.com/office/powerpoint/2015/09/main">
    <mc:Choice Requires="p159">
      <p:transition>
        <p:fade/>
      </p:transition>
    </mc:Choice>
    <mc:Fallback xmlns="" xmlns:m="http://schemas.openxmlformats.org/officeDocument/2006/math" xmlns:w="http://schemas.openxmlformats.org/wordprocessingml/2006/main">
      <p:transition spd="fast" advClick="1">
        <p:fade thruBlk="0"/>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grpSp>
        <p:nvGrpSpPr>
          <p:cNvPr id="1278182700" name="Group 2"/>
          <p:cNvGrpSpPr/>
          <p:nvPr/>
        </p:nvGrpSpPr>
        <p:grpSpPr bwMode="auto">
          <a:xfrm>
            <a:off x="11649142" y="921287"/>
            <a:ext cx="5610158" cy="381495"/>
            <a:chOff x="0" y="0"/>
            <a:chExt cx="7175411" cy="487934"/>
          </a:xfrm>
        </p:grpSpPr>
        <p:sp>
          <p:nvSpPr>
            <p:cNvPr id="3" name="Freeform 3"/>
            <p:cNvSpPr/>
            <p:nvPr/>
          </p:nvSpPr>
          <p:spPr bwMode="auto">
            <a:xfrm flipV="1">
              <a:off x="0" y="0"/>
              <a:ext cx="7175373" cy="487934"/>
            </a:xfrm>
            <a:custGeom>
              <a:avLst/>
              <a:gdLst/>
              <a:ahLst/>
              <a:cxnLst/>
              <a:rect l="l" t="t" r="r" b="b"/>
              <a:pathLst>
                <a:path w="7175373" h="487934" extrusionOk="0">
                  <a:moveTo>
                    <a:pt x="0" y="487934"/>
                  </a:moveTo>
                  <a:lnTo>
                    <a:pt x="7175373" y="487934"/>
                  </a:lnTo>
                  <a:lnTo>
                    <a:pt x="7175373" y="0"/>
                  </a:lnTo>
                  <a:lnTo>
                    <a:pt x="0" y="0"/>
                  </a:lnTo>
                  <a:lnTo>
                    <a:pt x="0" y="487934"/>
                  </a:lnTo>
                  <a:close/>
                </a:path>
              </a:pathLst>
            </a:custGeom>
            <a:blipFill rotWithShape="1">
              <a:blip r:embed="rId3"/>
              <a:stretch>
                <a:fillRect b="-575"/>
              </a:stretch>
            </a:blipFill>
          </p:spPr>
          <p:txBody>
            <a:bodyPr anchor="ctr"/>
            <a:lstStyle/>
            <a:p>
              <a:pPr algn="ctr">
                <a:defRPr/>
              </a:pPr>
              <a:endParaRPr sz="2000">
                <a:latin typeface="Times New Roman"/>
                <a:cs typeface="Times New Roman"/>
              </a:endParaRPr>
            </a:p>
          </p:txBody>
        </p:sp>
      </p:grpSp>
      <p:grpSp>
        <p:nvGrpSpPr>
          <p:cNvPr id="238525457" name="Group 4"/>
          <p:cNvGrpSpPr/>
          <p:nvPr/>
        </p:nvGrpSpPr>
        <p:grpSpPr bwMode="auto">
          <a:xfrm>
            <a:off x="630265" y="468997"/>
            <a:ext cx="3770775" cy="1256765"/>
            <a:chOff x="0" y="0"/>
            <a:chExt cx="5781473" cy="1926912"/>
          </a:xfrm>
        </p:grpSpPr>
        <p:sp>
          <p:nvSpPr>
            <p:cNvPr id="5" name="Freeform 5"/>
            <p:cNvSpPr/>
            <p:nvPr/>
          </p:nvSpPr>
          <p:spPr bwMode="auto">
            <a:xfrm>
              <a:off x="0" y="0"/>
              <a:ext cx="5781473" cy="1926905"/>
            </a:xfrm>
            <a:custGeom>
              <a:avLst/>
              <a:gdLst/>
              <a:ahLst/>
              <a:cxnLst/>
              <a:rect l="l" t="t" r="r" b="b"/>
              <a:pathLst>
                <a:path w="5781473" h="1926905" extrusionOk="0">
                  <a:moveTo>
                    <a:pt x="0" y="0"/>
                  </a:moveTo>
                  <a:lnTo>
                    <a:pt x="5781473" y="0"/>
                  </a:lnTo>
                  <a:lnTo>
                    <a:pt x="5781473" y="1926905"/>
                  </a:lnTo>
                  <a:lnTo>
                    <a:pt x="0" y="1926905"/>
                  </a:lnTo>
                  <a:close/>
                </a:path>
              </a:pathLst>
            </a:custGeom>
            <a:blipFill rotWithShape="1">
              <a:blip r:embed="rId4">
                <a:alphaModFix amt="0"/>
              </a:blip>
              <a:stretch>
                <a:fillRect t="-168133" r="-263768" b="-157204"/>
              </a:stretch>
            </a:blipFill>
          </p:spPr>
          <p:txBody>
            <a:bodyPr anchor="ctr"/>
            <a:lstStyle/>
            <a:p>
              <a:pPr algn="ctr">
                <a:defRPr/>
              </a:pPr>
              <a:endParaRPr sz="2000">
                <a:latin typeface="Times New Roman"/>
                <a:cs typeface="Times New Roman"/>
              </a:endParaRPr>
            </a:p>
          </p:txBody>
        </p:sp>
        <p:sp>
          <p:nvSpPr>
            <p:cNvPr id="6" name="TextBox 6"/>
            <p:cNvSpPr txBox="1"/>
            <p:nvPr/>
          </p:nvSpPr>
          <p:spPr bwMode="auto">
            <a:xfrm>
              <a:off x="0" y="-95250"/>
              <a:ext cx="5781473" cy="2022162"/>
            </a:xfrm>
            <a:prstGeom prst="rect">
              <a:avLst/>
            </a:prstGeom>
            <a:grpFill/>
          </p:spPr>
          <p:txBody>
            <a:bodyPr lIns="0" tIns="0" rIns="0" bIns="0" rtlCol="0" anchor="ctr"/>
            <a:lstStyle/>
            <a:p>
              <a:pPr algn="ctr">
                <a:lnSpc>
                  <a:spcPts val="8141"/>
                </a:lnSpc>
                <a:defRPr/>
              </a:pPr>
              <a:r>
                <a:rPr lang="en-US" sz="7200" b="1">
                  <a:solidFill>
                    <a:srgbClr val="10439A"/>
                  </a:solidFill>
                  <a:latin typeface="Times New Roman"/>
                  <a:ea typeface="Times New Roman"/>
                  <a:cs typeface="Times New Roman"/>
                </a:rPr>
                <a:t>PESTLE</a:t>
              </a:r>
              <a:endParaRPr sz="2000">
                <a:latin typeface="Times New Roman"/>
                <a:cs typeface="Times New Roman"/>
              </a:endParaRPr>
            </a:p>
          </p:txBody>
        </p:sp>
      </p:grpSp>
      <p:sp>
        <p:nvSpPr>
          <p:cNvPr id="705520646" name="TextBox 7"/>
          <p:cNvSpPr txBox="1"/>
          <p:nvPr/>
        </p:nvSpPr>
        <p:spPr bwMode="auto">
          <a:xfrm>
            <a:off x="630263" y="2015311"/>
            <a:ext cx="17298540" cy="6385665"/>
          </a:xfrm>
          <a:prstGeom prst="rect">
            <a:avLst/>
          </a:prstGeom>
        </p:spPr>
        <p:txBody>
          <a:bodyPr lIns="0" tIns="0" rIns="0" bIns="0" rtlCol="0" anchor="t">
            <a:spAutoFit/>
          </a:bodyPr>
          <a:lstStyle/>
          <a:p>
            <a:pPr algn="ctr">
              <a:lnSpc>
                <a:spcPts val="4844"/>
              </a:lnSpc>
              <a:defRPr/>
            </a:pPr>
            <a:r>
              <a:rPr lang="en-US" sz="3600" b="1">
                <a:solidFill>
                  <a:srgbClr val="000000"/>
                </a:solidFill>
                <a:latin typeface="Times New Roman"/>
                <a:ea typeface="Times New Roman"/>
                <a:cs typeface="Times New Roman"/>
              </a:rPr>
              <a:t>Chuỗi: Xã hội -&gt; Công nghệ -&gt; Pháp lý </a:t>
            </a:r>
            <a:r>
              <a:rPr lang="en-US" sz="3600">
                <a:solidFill>
                  <a:srgbClr val="000000"/>
                </a:solidFill>
                <a:latin typeface="Times New Roman"/>
                <a:ea typeface="Times New Roman"/>
                <a:cs typeface="Times New Roman"/>
              </a:rPr>
              <a:t> </a:t>
            </a:r>
            <a:endParaRPr sz="2000">
              <a:latin typeface="Times New Roman"/>
              <a:cs typeface="Times New Roman"/>
            </a:endParaRPr>
          </a:p>
          <a:p>
            <a:pPr algn="ctr">
              <a:lnSpc>
                <a:spcPts val="4844"/>
              </a:lnSpc>
              <a:defRPr/>
            </a:pPr>
            <a:endParaRPr sz="3600">
              <a:solidFill>
                <a:srgbClr val="000000"/>
              </a:solidFill>
              <a:latin typeface="Times New Roman"/>
              <a:cs typeface="Times New Roman"/>
            </a:endParaRPr>
          </a:p>
          <a:p>
            <a:pPr marL="705663" lvl="1" indent="-352831" algn="l">
              <a:lnSpc>
                <a:spcPts val="4510"/>
              </a:lnSpc>
              <a:spcBef>
                <a:spcPts val="0"/>
              </a:spcBef>
              <a:buFont typeface="Arial"/>
              <a:buChar char="•"/>
              <a:defRPr/>
            </a:pPr>
            <a:r>
              <a:rPr lang="en-US" sz="3600">
                <a:solidFill>
                  <a:srgbClr val="000000"/>
                </a:solidFill>
                <a:latin typeface="Times New Roman"/>
                <a:ea typeface="Times New Roman"/>
                <a:cs typeface="Times New Roman"/>
              </a:rPr>
              <a:t>Xã hội: Bệnh nhân đến viện thường có tâm lý hoảng loạn, mệt mỏi, nhiều người cao tuổi không biết bấm màn hình cảm ứng hoặc không thể nói to/rõ ràng.</a:t>
            </a:r>
            <a:endParaRPr sz="2000">
              <a:latin typeface="Times New Roman"/>
              <a:cs typeface="Times New Roman"/>
            </a:endParaRPr>
          </a:p>
          <a:p>
            <a:pPr marL="705663" lvl="1" indent="-352831" algn="l">
              <a:lnSpc>
                <a:spcPts val="4510"/>
              </a:lnSpc>
              <a:spcBef>
                <a:spcPts val="0"/>
              </a:spcBef>
              <a:buFont typeface="Arial"/>
              <a:buChar char="•"/>
              <a:defRPr/>
            </a:pPr>
            <a:r>
              <a:rPr lang="en-US" sz="3600">
                <a:solidFill>
                  <a:srgbClr val="000000"/>
                </a:solidFill>
                <a:latin typeface="Times New Roman"/>
                <a:ea typeface="Times New Roman"/>
                <a:cs typeface="Times New Roman"/>
              </a:rPr>
              <a:t>Tác động sang Công nghệ: Buộc hệ thống phải tiến hóa thành Multimodal AI Agent (kết hợp nhận diện cử chỉ/dáng điệu mệt mỏi bằng YOLOv11 + nhận diện giọng nói tự nhiên bằng Whisper + cảm biến đo sinh hiệu không chạm) để hỗ trợ người dùng tối đa.</a:t>
            </a:r>
            <a:endParaRPr sz="2000">
              <a:latin typeface="Times New Roman"/>
              <a:cs typeface="Times New Roman"/>
            </a:endParaRPr>
          </a:p>
          <a:p>
            <a:pPr marL="705663" lvl="1" indent="-352831" algn="l">
              <a:lnSpc>
                <a:spcPts val="4510"/>
              </a:lnSpc>
              <a:spcBef>
                <a:spcPts val="0"/>
              </a:spcBef>
              <a:buFont typeface="Arial"/>
              <a:buChar char="•"/>
              <a:defRPr/>
            </a:pPr>
            <a:r>
              <a:rPr lang="en-US" sz="3600">
                <a:solidFill>
                  <a:srgbClr val="000000"/>
                </a:solidFill>
                <a:latin typeface="Times New Roman"/>
                <a:ea typeface="Times New Roman"/>
                <a:cs typeface="Times New Roman"/>
              </a:rPr>
              <a:t>Tác động sang: Việc thu thập video và âm thanh ở sảnh chờ công cộng lại chạm vào quyền riêng tư cá nhân -&gt; đòi hỏi hệ thống phải có cơ chế xóa bộ nhớ đệm video/audio ngay sau khi trích xuất đặc trưng để tuân thủ pháp luật.</a:t>
            </a:r>
            <a:endParaRPr sz="2000">
              <a:latin typeface="Times New Roman"/>
              <a:cs typeface="Times New Roman"/>
            </a:endParaRPr>
          </a:p>
          <a:p>
            <a:pPr algn="ctr">
              <a:lnSpc>
                <a:spcPts val="4510"/>
              </a:lnSpc>
              <a:spcBef>
                <a:spcPts val="0"/>
              </a:spcBef>
              <a:defRPr/>
            </a:pPr>
            <a:endParaRPr sz="3600">
              <a:solidFill>
                <a:srgbClr val="000000"/>
              </a:solidFill>
              <a:latin typeface="Times New Roman"/>
              <a:cs typeface="Times New Roman"/>
            </a:endParaRPr>
          </a:p>
        </p:txBody>
      </p:sp>
    </p:spTree>
  </p:cSld>
  <p:clrMapOvr>
    <a:masterClrMapping/>
  </p:clrMapOvr>
  <mc:AlternateContent xmlns:mc="http://schemas.openxmlformats.org/markup-compatibility/2006" xmlns:p159="http://schemas.microsoft.com/office/powerpoint/2015/09/main">
    <mc:Choice Requires="p159">
      <p:transition>
        <p:fade/>
      </p:transition>
    </mc:Choice>
    <mc:Fallback xmlns="" xmlns:m="http://schemas.openxmlformats.org/officeDocument/2006/math" xmlns:w="http://schemas.openxmlformats.org/wordprocessingml/2006/main">
      <p:transition spd="fast" advClick="1">
        <p:fade thruBlk="0"/>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grpSp>
        <p:nvGrpSpPr>
          <p:cNvPr id="1005858604" name="Group 2"/>
          <p:cNvGrpSpPr/>
          <p:nvPr/>
        </p:nvGrpSpPr>
        <p:grpSpPr bwMode="auto">
          <a:xfrm>
            <a:off x="11649142" y="921287"/>
            <a:ext cx="5610158" cy="381495"/>
            <a:chOff x="0" y="0"/>
            <a:chExt cx="7175411" cy="487934"/>
          </a:xfrm>
        </p:grpSpPr>
        <p:sp>
          <p:nvSpPr>
            <p:cNvPr id="3" name="Freeform 3"/>
            <p:cNvSpPr/>
            <p:nvPr/>
          </p:nvSpPr>
          <p:spPr bwMode="auto">
            <a:xfrm flipV="1">
              <a:off x="0" y="0"/>
              <a:ext cx="7175373" cy="487934"/>
            </a:xfrm>
            <a:custGeom>
              <a:avLst/>
              <a:gdLst/>
              <a:ahLst/>
              <a:cxnLst/>
              <a:rect l="l" t="t" r="r" b="b"/>
              <a:pathLst>
                <a:path w="7175373" h="487934" extrusionOk="0">
                  <a:moveTo>
                    <a:pt x="0" y="487934"/>
                  </a:moveTo>
                  <a:lnTo>
                    <a:pt x="7175373" y="487934"/>
                  </a:lnTo>
                  <a:lnTo>
                    <a:pt x="7175373" y="0"/>
                  </a:lnTo>
                  <a:lnTo>
                    <a:pt x="0" y="0"/>
                  </a:lnTo>
                  <a:lnTo>
                    <a:pt x="0" y="487934"/>
                  </a:lnTo>
                  <a:close/>
                </a:path>
              </a:pathLst>
            </a:custGeom>
            <a:blipFill rotWithShape="1">
              <a:blip r:embed="rId3"/>
              <a:stretch>
                <a:fillRect b="-575"/>
              </a:stretch>
            </a:blipFill>
          </p:spPr>
          <p:txBody>
            <a:bodyPr anchor="ctr"/>
            <a:lstStyle/>
            <a:p>
              <a:pPr algn="ctr">
                <a:defRPr/>
              </a:pPr>
              <a:endParaRPr>
                <a:latin typeface="Times New Roman"/>
                <a:cs typeface="Times New Roman"/>
              </a:endParaRPr>
            </a:p>
          </p:txBody>
        </p:sp>
      </p:grpSp>
      <p:grpSp>
        <p:nvGrpSpPr>
          <p:cNvPr id="1404105659" name="Group 4"/>
          <p:cNvGrpSpPr/>
          <p:nvPr/>
        </p:nvGrpSpPr>
        <p:grpSpPr bwMode="auto">
          <a:xfrm>
            <a:off x="630265" y="468997"/>
            <a:ext cx="3770775" cy="1256765"/>
            <a:chOff x="0" y="0"/>
            <a:chExt cx="5781473" cy="1926912"/>
          </a:xfrm>
        </p:grpSpPr>
        <p:sp>
          <p:nvSpPr>
            <p:cNvPr id="5" name="Freeform 5"/>
            <p:cNvSpPr/>
            <p:nvPr/>
          </p:nvSpPr>
          <p:spPr bwMode="auto">
            <a:xfrm>
              <a:off x="0" y="0"/>
              <a:ext cx="5781473" cy="1926905"/>
            </a:xfrm>
            <a:custGeom>
              <a:avLst/>
              <a:gdLst/>
              <a:ahLst/>
              <a:cxnLst/>
              <a:rect l="l" t="t" r="r" b="b"/>
              <a:pathLst>
                <a:path w="5781473" h="1926905" extrusionOk="0">
                  <a:moveTo>
                    <a:pt x="0" y="0"/>
                  </a:moveTo>
                  <a:lnTo>
                    <a:pt x="5781473" y="0"/>
                  </a:lnTo>
                  <a:lnTo>
                    <a:pt x="5781473" y="1926905"/>
                  </a:lnTo>
                  <a:lnTo>
                    <a:pt x="0" y="1926905"/>
                  </a:lnTo>
                  <a:close/>
                </a:path>
              </a:pathLst>
            </a:custGeom>
            <a:blipFill rotWithShape="1">
              <a:blip r:embed="rId4">
                <a:alphaModFix amt="0"/>
              </a:blip>
              <a:stretch>
                <a:fillRect t="-168133" r="-263768" b="-157204"/>
              </a:stretch>
            </a:blipFill>
          </p:spPr>
          <p:txBody>
            <a:bodyPr anchor="ctr"/>
            <a:lstStyle/>
            <a:p>
              <a:pPr algn="ctr">
                <a:defRPr/>
              </a:pPr>
              <a:endParaRPr>
                <a:latin typeface="Times New Roman"/>
                <a:cs typeface="Times New Roman"/>
              </a:endParaRPr>
            </a:p>
          </p:txBody>
        </p:sp>
        <p:sp>
          <p:nvSpPr>
            <p:cNvPr id="6" name="TextBox 6"/>
            <p:cNvSpPr txBox="1"/>
            <p:nvPr/>
          </p:nvSpPr>
          <p:spPr bwMode="auto">
            <a:xfrm>
              <a:off x="0" y="-95250"/>
              <a:ext cx="5781473" cy="2022162"/>
            </a:xfrm>
            <a:prstGeom prst="rect">
              <a:avLst/>
            </a:prstGeom>
            <a:grpFill/>
          </p:spPr>
          <p:txBody>
            <a:bodyPr lIns="0" tIns="0" rIns="0" bIns="0" rtlCol="0" anchor="ctr"/>
            <a:lstStyle/>
            <a:p>
              <a:pPr algn="ctr">
                <a:lnSpc>
                  <a:spcPts val="8141"/>
                </a:lnSpc>
                <a:defRPr/>
              </a:pPr>
              <a:r>
                <a:rPr lang="en-US" sz="5900" b="1">
                  <a:solidFill>
                    <a:srgbClr val="10439A"/>
                  </a:solidFill>
                  <a:latin typeface="Times New Roman"/>
                  <a:ea typeface="Times New Roman"/>
                  <a:cs typeface="Times New Roman"/>
                </a:rPr>
                <a:t>PESTLE</a:t>
              </a:r>
              <a:endParaRPr>
                <a:latin typeface="Times New Roman"/>
                <a:cs typeface="Times New Roman"/>
              </a:endParaRPr>
            </a:p>
          </p:txBody>
        </p:sp>
      </p:grpSp>
      <p:sp>
        <p:nvSpPr>
          <p:cNvPr id="26939312" name="TextBox 7"/>
          <p:cNvSpPr txBox="1"/>
          <p:nvPr/>
        </p:nvSpPr>
        <p:spPr bwMode="auto">
          <a:xfrm>
            <a:off x="630263" y="2015311"/>
            <a:ext cx="17298180" cy="5812895"/>
          </a:xfrm>
          <a:prstGeom prst="rect">
            <a:avLst/>
          </a:prstGeom>
        </p:spPr>
        <p:txBody>
          <a:bodyPr lIns="0" tIns="0" rIns="0" bIns="0" rtlCol="0" anchor="t">
            <a:spAutoFit/>
          </a:bodyPr>
          <a:lstStyle/>
          <a:p>
            <a:pPr algn="ctr">
              <a:lnSpc>
                <a:spcPts val="4844"/>
              </a:lnSpc>
              <a:defRPr/>
            </a:pPr>
            <a:r>
              <a:rPr lang="en-US" sz="3500" b="1" dirty="0" err="1">
                <a:solidFill>
                  <a:srgbClr val="000000"/>
                </a:solidFill>
                <a:latin typeface="Times New Roman"/>
                <a:ea typeface="Times New Roman"/>
                <a:cs typeface="Times New Roman"/>
              </a:rPr>
              <a:t>Chuỗi</a:t>
            </a:r>
            <a:r>
              <a:rPr lang="en-US" sz="3500" b="1" dirty="0">
                <a:solidFill>
                  <a:srgbClr val="000000"/>
                </a:solidFill>
                <a:latin typeface="Times New Roman"/>
                <a:ea typeface="Times New Roman"/>
                <a:cs typeface="Times New Roman"/>
              </a:rPr>
              <a:t>: Công </a:t>
            </a:r>
            <a:r>
              <a:rPr lang="en-US" sz="3500" b="1" dirty="0" err="1">
                <a:solidFill>
                  <a:srgbClr val="000000"/>
                </a:solidFill>
                <a:latin typeface="Times New Roman"/>
                <a:ea typeface="Times New Roman"/>
                <a:cs typeface="Times New Roman"/>
              </a:rPr>
              <a:t>nghệ</a:t>
            </a:r>
            <a:r>
              <a:rPr lang="en-US" sz="3500" b="1" dirty="0">
                <a:solidFill>
                  <a:srgbClr val="000000"/>
                </a:solidFill>
                <a:latin typeface="Times New Roman"/>
                <a:ea typeface="Times New Roman"/>
                <a:cs typeface="Times New Roman"/>
              </a:rPr>
              <a:t> -&gt; Kinh </a:t>
            </a:r>
            <a:r>
              <a:rPr lang="en-US" sz="3500" b="1" dirty="0" err="1">
                <a:solidFill>
                  <a:srgbClr val="000000"/>
                </a:solidFill>
                <a:latin typeface="Times New Roman"/>
                <a:ea typeface="Times New Roman"/>
                <a:cs typeface="Times New Roman"/>
              </a:rPr>
              <a:t>tế</a:t>
            </a:r>
            <a:r>
              <a:rPr lang="en-US" sz="3500" b="1" dirty="0">
                <a:solidFill>
                  <a:srgbClr val="000000"/>
                </a:solidFill>
                <a:latin typeface="Times New Roman"/>
                <a:ea typeface="Times New Roman"/>
                <a:cs typeface="Times New Roman"/>
              </a:rPr>
              <a:t> -&gt; </a:t>
            </a:r>
            <a:r>
              <a:rPr lang="en-US" sz="3500" b="1" dirty="0" err="1">
                <a:solidFill>
                  <a:srgbClr val="000000"/>
                </a:solidFill>
                <a:latin typeface="Times New Roman"/>
                <a:ea typeface="Times New Roman"/>
                <a:cs typeface="Times New Roman"/>
              </a:rPr>
              <a:t>Xã</a:t>
            </a:r>
            <a:r>
              <a:rPr lang="en-US" sz="3500" b="1" dirty="0">
                <a:solidFill>
                  <a:srgbClr val="000000"/>
                </a:solidFill>
                <a:latin typeface="Times New Roman"/>
                <a:ea typeface="Times New Roman"/>
                <a:cs typeface="Times New Roman"/>
              </a:rPr>
              <a:t> </a:t>
            </a:r>
            <a:r>
              <a:rPr lang="en-US" sz="3500" b="1" dirty="0" err="1">
                <a:solidFill>
                  <a:srgbClr val="000000"/>
                </a:solidFill>
                <a:latin typeface="Times New Roman"/>
                <a:ea typeface="Times New Roman"/>
                <a:cs typeface="Times New Roman"/>
              </a:rPr>
              <a:t>hội</a:t>
            </a:r>
            <a:r>
              <a:rPr lang="en-US" sz="3500" b="1" dirty="0">
                <a:solidFill>
                  <a:srgbClr val="000000"/>
                </a:solidFill>
                <a:latin typeface="Times New Roman"/>
                <a:ea typeface="Times New Roman"/>
                <a:cs typeface="Times New Roman"/>
              </a:rPr>
              <a:t> </a:t>
            </a:r>
            <a:r>
              <a:rPr lang="en-US" sz="3500" dirty="0">
                <a:solidFill>
                  <a:srgbClr val="000000"/>
                </a:solidFill>
                <a:latin typeface="Times New Roman"/>
                <a:ea typeface="Times New Roman"/>
                <a:cs typeface="Times New Roman"/>
              </a:rPr>
              <a:t> </a:t>
            </a:r>
            <a:endParaRPr dirty="0">
              <a:latin typeface="Times New Roman"/>
              <a:cs typeface="Times New Roman"/>
            </a:endParaRPr>
          </a:p>
          <a:p>
            <a:pPr algn="ctr">
              <a:lnSpc>
                <a:spcPts val="4844"/>
              </a:lnSpc>
              <a:defRPr/>
            </a:pPr>
            <a:endParaRPr sz="3500" dirty="0">
              <a:solidFill>
                <a:srgbClr val="000000"/>
              </a:solidFill>
              <a:latin typeface="Times New Roman"/>
              <a:cs typeface="Times New Roman"/>
            </a:endParaRPr>
          </a:p>
          <a:p>
            <a:pPr marL="705663" lvl="1" indent="-352831" algn="l">
              <a:lnSpc>
                <a:spcPts val="4510"/>
              </a:lnSpc>
              <a:spcBef>
                <a:spcPts val="0"/>
              </a:spcBef>
              <a:buFont typeface="Arial"/>
              <a:buChar char="•"/>
              <a:defRPr/>
            </a:pPr>
            <a:r>
              <a:rPr lang="en-US" sz="3250" dirty="0">
                <a:solidFill>
                  <a:srgbClr val="000000"/>
                </a:solidFill>
                <a:latin typeface="Times New Roman"/>
                <a:ea typeface="Times New Roman"/>
                <a:cs typeface="Times New Roman"/>
              </a:rPr>
              <a:t>Công </a:t>
            </a:r>
            <a:r>
              <a:rPr lang="en-US" sz="3250" dirty="0" err="1">
                <a:solidFill>
                  <a:srgbClr val="000000"/>
                </a:solidFill>
                <a:latin typeface="Times New Roman"/>
                <a:ea typeface="Times New Roman"/>
                <a:cs typeface="Times New Roman"/>
              </a:rPr>
              <a:t>nghệ</a:t>
            </a:r>
            <a:r>
              <a:rPr lang="en-US" sz="3250" dirty="0">
                <a:solidFill>
                  <a:srgbClr val="000000"/>
                </a:solidFill>
                <a:latin typeface="Times New Roman"/>
                <a:ea typeface="Times New Roman"/>
                <a:cs typeface="Times New Roman"/>
              </a:rPr>
              <a:t>: </a:t>
            </a:r>
            <a:r>
              <a:rPr lang="en-US" sz="3250" dirty="0" err="1">
                <a:solidFill>
                  <a:srgbClr val="000000"/>
                </a:solidFill>
                <a:latin typeface="Times New Roman"/>
                <a:ea typeface="Times New Roman"/>
                <a:cs typeface="Times New Roman"/>
              </a:rPr>
              <a:t>Ứng</a:t>
            </a:r>
            <a:r>
              <a:rPr lang="en-US" sz="3250" dirty="0">
                <a:solidFill>
                  <a:srgbClr val="000000"/>
                </a:solidFill>
                <a:latin typeface="Times New Roman"/>
                <a:ea typeface="Times New Roman"/>
                <a:cs typeface="Times New Roman"/>
              </a:rPr>
              <a:t> </a:t>
            </a:r>
            <a:r>
              <a:rPr lang="en-US" sz="3250" dirty="0" err="1">
                <a:solidFill>
                  <a:srgbClr val="000000"/>
                </a:solidFill>
                <a:latin typeface="Times New Roman"/>
                <a:ea typeface="Times New Roman"/>
                <a:cs typeface="Times New Roman"/>
              </a:rPr>
              <a:t>dụng</a:t>
            </a:r>
            <a:r>
              <a:rPr lang="en-US" sz="3250" dirty="0">
                <a:solidFill>
                  <a:srgbClr val="000000"/>
                </a:solidFill>
                <a:latin typeface="Times New Roman"/>
                <a:ea typeface="Times New Roman"/>
                <a:cs typeface="Times New Roman"/>
              </a:rPr>
              <a:t> </a:t>
            </a:r>
            <a:r>
              <a:rPr lang="en-US" sz="3250" dirty="0" err="1">
                <a:solidFill>
                  <a:srgbClr val="000000"/>
                </a:solidFill>
                <a:latin typeface="Times New Roman"/>
                <a:ea typeface="Times New Roman"/>
                <a:cs typeface="Times New Roman"/>
              </a:rPr>
              <a:t>mô</a:t>
            </a:r>
            <a:r>
              <a:rPr lang="en-US" sz="3250" dirty="0">
                <a:solidFill>
                  <a:srgbClr val="000000"/>
                </a:solidFill>
                <a:latin typeface="Times New Roman"/>
                <a:ea typeface="Times New Roman"/>
                <a:cs typeface="Times New Roman"/>
              </a:rPr>
              <a:t> </a:t>
            </a:r>
            <a:r>
              <a:rPr lang="en-US" sz="3250" dirty="0" err="1">
                <a:solidFill>
                  <a:srgbClr val="000000"/>
                </a:solidFill>
                <a:latin typeface="Times New Roman"/>
                <a:ea typeface="Times New Roman"/>
                <a:cs typeface="Times New Roman"/>
              </a:rPr>
              <a:t>hình</a:t>
            </a:r>
            <a:r>
              <a:rPr lang="en-US" sz="3250" dirty="0">
                <a:solidFill>
                  <a:srgbClr val="000000"/>
                </a:solidFill>
                <a:latin typeface="Times New Roman"/>
                <a:ea typeface="Times New Roman"/>
                <a:cs typeface="Times New Roman"/>
              </a:rPr>
              <a:t> </a:t>
            </a:r>
            <a:r>
              <a:rPr lang="en-US" sz="3250" dirty="0" err="1">
                <a:solidFill>
                  <a:srgbClr val="000000"/>
                </a:solidFill>
                <a:latin typeface="Times New Roman"/>
                <a:ea typeface="Times New Roman"/>
                <a:cs typeface="Times New Roman"/>
              </a:rPr>
              <a:t>kiến</a:t>
            </a:r>
            <a:r>
              <a:rPr lang="en-US" sz="3250" dirty="0">
                <a:solidFill>
                  <a:srgbClr val="000000"/>
                </a:solidFill>
                <a:latin typeface="Times New Roman"/>
                <a:ea typeface="Times New Roman"/>
                <a:cs typeface="Times New Roman"/>
              </a:rPr>
              <a:t> </a:t>
            </a:r>
            <a:r>
              <a:rPr lang="en-US" sz="3250" dirty="0" err="1">
                <a:solidFill>
                  <a:srgbClr val="000000"/>
                </a:solidFill>
                <a:latin typeface="Times New Roman"/>
                <a:ea typeface="Times New Roman"/>
                <a:cs typeface="Times New Roman"/>
              </a:rPr>
              <a:t>trúc</a:t>
            </a:r>
            <a:r>
              <a:rPr lang="en-US" sz="3250" dirty="0">
                <a:solidFill>
                  <a:srgbClr val="000000"/>
                </a:solidFill>
                <a:latin typeface="Times New Roman"/>
                <a:ea typeface="Times New Roman"/>
                <a:cs typeface="Times New Roman"/>
              </a:rPr>
              <a:t> </a:t>
            </a:r>
            <a:r>
              <a:rPr lang="en-US" sz="3250" dirty="0" err="1">
                <a:solidFill>
                  <a:srgbClr val="000000"/>
                </a:solidFill>
                <a:latin typeface="Times New Roman"/>
                <a:ea typeface="Times New Roman"/>
                <a:cs typeface="Times New Roman"/>
              </a:rPr>
              <a:t>phân</a:t>
            </a:r>
            <a:r>
              <a:rPr lang="en-US" sz="3250" dirty="0">
                <a:solidFill>
                  <a:srgbClr val="000000"/>
                </a:solidFill>
                <a:latin typeface="Times New Roman"/>
                <a:ea typeface="Times New Roman"/>
                <a:cs typeface="Times New Roman"/>
              </a:rPr>
              <a:t> </a:t>
            </a:r>
            <a:r>
              <a:rPr lang="en-US" sz="3250" dirty="0" err="1">
                <a:solidFill>
                  <a:srgbClr val="000000"/>
                </a:solidFill>
                <a:latin typeface="Times New Roman"/>
                <a:ea typeface="Times New Roman"/>
                <a:cs typeface="Times New Roman"/>
              </a:rPr>
              <a:t>tầng</a:t>
            </a:r>
            <a:r>
              <a:rPr lang="en-US" sz="3250" dirty="0">
                <a:solidFill>
                  <a:srgbClr val="000000"/>
                </a:solidFill>
                <a:latin typeface="Times New Roman"/>
                <a:ea typeface="Times New Roman"/>
                <a:cs typeface="Times New Roman"/>
              </a:rPr>
              <a:t> </a:t>
            </a:r>
            <a:r>
              <a:rPr lang="en-US" sz="3250" dirty="0" err="1">
                <a:solidFill>
                  <a:srgbClr val="000000"/>
                </a:solidFill>
                <a:latin typeface="Times New Roman"/>
                <a:ea typeface="Times New Roman"/>
                <a:cs typeface="Times New Roman"/>
              </a:rPr>
              <a:t>thay</a:t>
            </a:r>
            <a:r>
              <a:rPr lang="en-US" sz="3250" dirty="0">
                <a:solidFill>
                  <a:srgbClr val="000000"/>
                </a:solidFill>
                <a:latin typeface="Times New Roman"/>
                <a:ea typeface="Times New Roman"/>
                <a:cs typeface="Times New Roman"/>
              </a:rPr>
              <a:t> </a:t>
            </a:r>
            <a:r>
              <a:rPr lang="en-US" sz="3250" dirty="0" err="1">
                <a:solidFill>
                  <a:srgbClr val="000000"/>
                </a:solidFill>
                <a:latin typeface="Times New Roman"/>
                <a:ea typeface="Times New Roman"/>
                <a:cs typeface="Times New Roman"/>
              </a:rPr>
              <a:t>vì</a:t>
            </a:r>
            <a:r>
              <a:rPr lang="en-US" sz="3250" dirty="0">
                <a:solidFill>
                  <a:srgbClr val="000000"/>
                </a:solidFill>
                <a:latin typeface="Times New Roman"/>
                <a:ea typeface="Times New Roman"/>
                <a:cs typeface="Times New Roman"/>
              </a:rPr>
              <a:t> </a:t>
            </a:r>
            <a:r>
              <a:rPr lang="en-US" sz="3250" dirty="0" err="1">
                <a:solidFill>
                  <a:srgbClr val="000000"/>
                </a:solidFill>
                <a:latin typeface="Times New Roman"/>
                <a:ea typeface="Times New Roman"/>
                <a:cs typeface="Times New Roman"/>
              </a:rPr>
              <a:t>dùng</a:t>
            </a:r>
            <a:r>
              <a:rPr lang="en-US" sz="3250" dirty="0">
                <a:solidFill>
                  <a:srgbClr val="000000"/>
                </a:solidFill>
                <a:latin typeface="Times New Roman"/>
                <a:ea typeface="Times New Roman"/>
                <a:cs typeface="Times New Roman"/>
              </a:rPr>
              <a:t> </a:t>
            </a:r>
            <a:r>
              <a:rPr lang="en-US" sz="3250" dirty="0" err="1">
                <a:solidFill>
                  <a:srgbClr val="000000"/>
                </a:solidFill>
                <a:latin typeface="Times New Roman"/>
                <a:ea typeface="Times New Roman"/>
                <a:cs typeface="Times New Roman"/>
              </a:rPr>
              <a:t>máy</a:t>
            </a:r>
            <a:r>
              <a:rPr lang="en-US" sz="3250" dirty="0">
                <a:solidFill>
                  <a:srgbClr val="000000"/>
                </a:solidFill>
                <a:latin typeface="Times New Roman"/>
                <a:ea typeface="Times New Roman"/>
                <a:cs typeface="Times New Roman"/>
              </a:rPr>
              <a:t> </a:t>
            </a:r>
            <a:r>
              <a:rPr lang="en-US" sz="3250" dirty="0" err="1">
                <a:solidFill>
                  <a:srgbClr val="000000"/>
                </a:solidFill>
                <a:latin typeface="Times New Roman"/>
                <a:ea typeface="Times New Roman"/>
                <a:cs typeface="Times New Roman"/>
              </a:rPr>
              <a:t>chủ</a:t>
            </a:r>
            <a:r>
              <a:rPr lang="en-US" sz="3250" dirty="0">
                <a:solidFill>
                  <a:srgbClr val="000000"/>
                </a:solidFill>
                <a:latin typeface="Times New Roman"/>
                <a:ea typeface="Times New Roman"/>
                <a:cs typeface="Times New Roman"/>
              </a:rPr>
              <a:t> </a:t>
            </a:r>
            <a:r>
              <a:rPr lang="en-US" sz="3250" dirty="0" err="1">
                <a:solidFill>
                  <a:srgbClr val="000000"/>
                </a:solidFill>
                <a:latin typeface="Times New Roman"/>
                <a:ea typeface="Times New Roman"/>
                <a:cs typeface="Times New Roman"/>
              </a:rPr>
              <a:t>đồ</a:t>
            </a:r>
            <a:r>
              <a:rPr lang="en-US" sz="3250" dirty="0">
                <a:solidFill>
                  <a:srgbClr val="000000"/>
                </a:solidFill>
                <a:latin typeface="Times New Roman"/>
                <a:ea typeface="Times New Roman"/>
                <a:cs typeface="Times New Roman"/>
              </a:rPr>
              <a:t> </a:t>
            </a:r>
            <a:r>
              <a:rPr lang="en-US" sz="3250" dirty="0" err="1">
                <a:solidFill>
                  <a:srgbClr val="000000"/>
                </a:solidFill>
                <a:latin typeface="Times New Roman"/>
                <a:ea typeface="Times New Roman"/>
                <a:cs typeface="Times New Roman"/>
              </a:rPr>
              <a:t>họa</a:t>
            </a:r>
            <a:r>
              <a:rPr lang="en-US" sz="3250" dirty="0">
                <a:solidFill>
                  <a:srgbClr val="000000"/>
                </a:solidFill>
                <a:latin typeface="Times New Roman"/>
                <a:ea typeface="Times New Roman"/>
                <a:cs typeface="Times New Roman"/>
              </a:rPr>
              <a:t> </a:t>
            </a:r>
            <a:r>
              <a:rPr lang="en-US" sz="3250" dirty="0" err="1">
                <a:solidFill>
                  <a:srgbClr val="000000"/>
                </a:solidFill>
                <a:latin typeface="Times New Roman"/>
                <a:ea typeface="Times New Roman"/>
                <a:cs typeface="Times New Roman"/>
              </a:rPr>
              <a:t>cao</a:t>
            </a:r>
            <a:r>
              <a:rPr lang="en-US" sz="3250" dirty="0">
                <a:solidFill>
                  <a:srgbClr val="000000"/>
                </a:solidFill>
                <a:latin typeface="Times New Roman"/>
                <a:ea typeface="Times New Roman"/>
                <a:cs typeface="Times New Roman"/>
              </a:rPr>
              <a:t> </a:t>
            </a:r>
            <a:r>
              <a:rPr lang="en-US" sz="3250" dirty="0" err="1">
                <a:solidFill>
                  <a:srgbClr val="000000"/>
                </a:solidFill>
                <a:latin typeface="Times New Roman"/>
                <a:ea typeface="Times New Roman"/>
                <a:cs typeface="Times New Roman"/>
              </a:rPr>
              <a:t>cấp</a:t>
            </a:r>
            <a:r>
              <a:rPr lang="en-US" sz="3250" dirty="0">
                <a:solidFill>
                  <a:srgbClr val="000000"/>
                </a:solidFill>
                <a:latin typeface="Times New Roman"/>
                <a:ea typeface="Times New Roman"/>
                <a:cs typeface="Times New Roman"/>
              </a:rPr>
              <a:t> </a:t>
            </a:r>
            <a:r>
              <a:rPr lang="en-US" sz="3250" dirty="0" err="1">
                <a:solidFill>
                  <a:srgbClr val="000000"/>
                </a:solidFill>
                <a:latin typeface="Times New Roman"/>
                <a:ea typeface="Times New Roman"/>
                <a:cs typeface="Times New Roman"/>
              </a:rPr>
              <a:t>công</a:t>
            </a:r>
            <a:r>
              <a:rPr lang="en-US" sz="3250" dirty="0">
                <a:solidFill>
                  <a:srgbClr val="000000"/>
                </a:solidFill>
                <a:latin typeface="Times New Roman"/>
                <a:ea typeface="Times New Roman"/>
                <a:cs typeface="Times New Roman"/>
              </a:rPr>
              <a:t> </a:t>
            </a:r>
            <a:r>
              <a:rPr lang="en-US" sz="3250" dirty="0" err="1">
                <a:solidFill>
                  <a:srgbClr val="000000"/>
                </a:solidFill>
                <a:latin typeface="Times New Roman"/>
                <a:ea typeface="Times New Roman"/>
                <a:cs typeface="Times New Roman"/>
              </a:rPr>
              <a:t>nghiệp</a:t>
            </a:r>
            <a:r>
              <a:rPr lang="en-US" sz="3250" dirty="0">
                <a:solidFill>
                  <a:srgbClr val="000000"/>
                </a:solidFill>
                <a:latin typeface="Times New Roman"/>
                <a:ea typeface="Times New Roman"/>
                <a:cs typeface="Times New Roman"/>
              </a:rPr>
              <a:t>.</a:t>
            </a:r>
            <a:endParaRPr dirty="0">
              <a:latin typeface="Times New Roman"/>
              <a:cs typeface="Times New Roman"/>
            </a:endParaRPr>
          </a:p>
          <a:p>
            <a:pPr marL="705663" lvl="1" indent="-352831" algn="l">
              <a:lnSpc>
                <a:spcPts val="4510"/>
              </a:lnSpc>
              <a:spcBef>
                <a:spcPts val="0"/>
              </a:spcBef>
              <a:buFont typeface="Arial"/>
              <a:buChar char="•"/>
              <a:defRPr/>
            </a:pPr>
            <a:r>
              <a:rPr lang="en-US" sz="3250" dirty="0" err="1">
                <a:solidFill>
                  <a:srgbClr val="000000"/>
                </a:solidFill>
                <a:latin typeface="Times New Roman"/>
                <a:ea typeface="Times New Roman"/>
                <a:cs typeface="Times New Roman"/>
              </a:rPr>
              <a:t>Tác</a:t>
            </a:r>
            <a:r>
              <a:rPr lang="en-US" sz="3250" dirty="0">
                <a:solidFill>
                  <a:srgbClr val="000000"/>
                </a:solidFill>
                <a:latin typeface="Times New Roman"/>
                <a:ea typeface="Times New Roman"/>
                <a:cs typeface="Times New Roman"/>
              </a:rPr>
              <a:t> </a:t>
            </a:r>
            <a:r>
              <a:rPr lang="en-US" sz="3250" dirty="0" err="1">
                <a:solidFill>
                  <a:srgbClr val="000000"/>
                </a:solidFill>
                <a:latin typeface="Times New Roman"/>
                <a:ea typeface="Times New Roman"/>
                <a:cs typeface="Times New Roman"/>
              </a:rPr>
              <a:t>động</a:t>
            </a:r>
            <a:r>
              <a:rPr lang="en-US" sz="3250" dirty="0">
                <a:solidFill>
                  <a:srgbClr val="000000"/>
                </a:solidFill>
                <a:latin typeface="Times New Roman"/>
                <a:ea typeface="Times New Roman"/>
                <a:cs typeface="Times New Roman"/>
              </a:rPr>
              <a:t> sang Kinh </a:t>
            </a:r>
            <a:r>
              <a:rPr lang="en-US" sz="3250" dirty="0" err="1">
                <a:solidFill>
                  <a:srgbClr val="000000"/>
                </a:solidFill>
                <a:latin typeface="Times New Roman"/>
                <a:ea typeface="Times New Roman"/>
                <a:cs typeface="Times New Roman"/>
              </a:rPr>
              <a:t>tế</a:t>
            </a:r>
            <a:r>
              <a:rPr lang="en-US" sz="3250" dirty="0">
                <a:solidFill>
                  <a:srgbClr val="000000"/>
                </a:solidFill>
                <a:latin typeface="Times New Roman"/>
                <a:ea typeface="Times New Roman"/>
                <a:cs typeface="Times New Roman"/>
              </a:rPr>
              <a:t>: </a:t>
            </a:r>
            <a:r>
              <a:rPr lang="en-US" sz="3250" dirty="0" err="1">
                <a:solidFill>
                  <a:srgbClr val="000000"/>
                </a:solidFill>
                <a:latin typeface="Times New Roman"/>
                <a:ea typeface="Times New Roman"/>
                <a:cs typeface="Times New Roman"/>
              </a:rPr>
              <a:t>Hạ</a:t>
            </a:r>
            <a:r>
              <a:rPr lang="en-US" sz="3250" dirty="0">
                <a:solidFill>
                  <a:srgbClr val="000000"/>
                </a:solidFill>
                <a:latin typeface="Times New Roman"/>
                <a:ea typeface="Times New Roman"/>
                <a:cs typeface="Times New Roman"/>
              </a:rPr>
              <a:t> </a:t>
            </a:r>
            <a:r>
              <a:rPr lang="en-US" sz="3250" dirty="0" err="1">
                <a:solidFill>
                  <a:srgbClr val="000000"/>
                </a:solidFill>
                <a:latin typeface="Times New Roman"/>
                <a:ea typeface="Times New Roman"/>
                <a:cs typeface="Times New Roman"/>
              </a:rPr>
              <a:t>giá</a:t>
            </a:r>
            <a:r>
              <a:rPr lang="en-US" sz="3250" dirty="0">
                <a:solidFill>
                  <a:srgbClr val="000000"/>
                </a:solidFill>
                <a:latin typeface="Times New Roman"/>
                <a:ea typeface="Times New Roman"/>
                <a:cs typeface="Times New Roman"/>
              </a:rPr>
              <a:t> </a:t>
            </a:r>
            <a:r>
              <a:rPr lang="en-US" sz="3250" dirty="0" err="1">
                <a:solidFill>
                  <a:srgbClr val="000000"/>
                </a:solidFill>
                <a:latin typeface="Times New Roman"/>
                <a:ea typeface="Times New Roman"/>
                <a:cs typeface="Times New Roman"/>
              </a:rPr>
              <a:t>thành</a:t>
            </a:r>
            <a:r>
              <a:rPr lang="en-US" sz="3250" dirty="0">
                <a:solidFill>
                  <a:srgbClr val="000000"/>
                </a:solidFill>
                <a:latin typeface="Times New Roman"/>
                <a:ea typeface="Times New Roman"/>
                <a:cs typeface="Times New Roman"/>
              </a:rPr>
              <a:t> </a:t>
            </a:r>
            <a:r>
              <a:rPr lang="en-US" sz="3250" dirty="0" err="1">
                <a:solidFill>
                  <a:srgbClr val="000000"/>
                </a:solidFill>
                <a:latin typeface="Times New Roman"/>
                <a:ea typeface="Times New Roman"/>
                <a:cs typeface="Times New Roman"/>
              </a:rPr>
              <a:t>sản</a:t>
            </a:r>
            <a:r>
              <a:rPr lang="en-US" sz="3250" dirty="0">
                <a:solidFill>
                  <a:srgbClr val="000000"/>
                </a:solidFill>
                <a:latin typeface="Times New Roman"/>
                <a:ea typeface="Times New Roman"/>
                <a:cs typeface="Times New Roman"/>
              </a:rPr>
              <a:t> </a:t>
            </a:r>
            <a:r>
              <a:rPr lang="en-US" sz="3250" dirty="0" err="1">
                <a:solidFill>
                  <a:srgbClr val="000000"/>
                </a:solidFill>
                <a:latin typeface="Times New Roman"/>
                <a:ea typeface="Times New Roman"/>
                <a:cs typeface="Times New Roman"/>
              </a:rPr>
              <a:t>xuất</a:t>
            </a:r>
            <a:r>
              <a:rPr lang="en-US" sz="3250" dirty="0">
                <a:solidFill>
                  <a:srgbClr val="000000"/>
                </a:solidFill>
                <a:latin typeface="Times New Roman"/>
                <a:ea typeface="Times New Roman"/>
                <a:cs typeface="Times New Roman"/>
              </a:rPr>
              <a:t> </a:t>
            </a:r>
            <a:r>
              <a:rPr lang="en-US" sz="3250" dirty="0" err="1">
                <a:solidFill>
                  <a:srgbClr val="000000"/>
                </a:solidFill>
                <a:latin typeface="Times New Roman"/>
                <a:ea typeface="Times New Roman"/>
                <a:cs typeface="Times New Roman"/>
              </a:rPr>
              <a:t>mỗi</a:t>
            </a:r>
            <a:r>
              <a:rPr lang="en-US" sz="3250" dirty="0">
                <a:solidFill>
                  <a:srgbClr val="000000"/>
                </a:solidFill>
                <a:latin typeface="Times New Roman"/>
                <a:ea typeface="Times New Roman"/>
                <a:cs typeface="Times New Roman"/>
              </a:rPr>
              <a:t> </a:t>
            </a:r>
            <a:r>
              <a:rPr lang="en-US" sz="3250" dirty="0" err="1">
                <a:solidFill>
                  <a:srgbClr val="000000"/>
                </a:solidFill>
                <a:latin typeface="Times New Roman"/>
                <a:ea typeface="Times New Roman"/>
                <a:cs typeface="Times New Roman"/>
              </a:rPr>
              <a:t>trạm</a:t>
            </a:r>
            <a:r>
              <a:rPr lang="en-US" sz="3250" dirty="0">
                <a:solidFill>
                  <a:srgbClr val="000000"/>
                </a:solidFill>
                <a:latin typeface="Times New Roman"/>
                <a:ea typeface="Times New Roman"/>
                <a:cs typeface="Times New Roman"/>
              </a:rPr>
              <a:t> Kiosk </a:t>
            </a:r>
            <a:r>
              <a:rPr lang="en-US" sz="3250" dirty="0" err="1">
                <a:solidFill>
                  <a:srgbClr val="000000"/>
                </a:solidFill>
                <a:latin typeface="Times New Roman"/>
                <a:ea typeface="Times New Roman"/>
                <a:cs typeface="Times New Roman"/>
              </a:rPr>
              <a:t>từ</a:t>
            </a:r>
            <a:r>
              <a:rPr lang="en-US" sz="3250" dirty="0">
                <a:solidFill>
                  <a:srgbClr val="000000"/>
                </a:solidFill>
                <a:latin typeface="Times New Roman"/>
                <a:ea typeface="Times New Roman"/>
                <a:cs typeface="Times New Roman"/>
              </a:rPr>
              <a:t> </a:t>
            </a:r>
            <a:r>
              <a:rPr lang="en-US" sz="3250" dirty="0" err="1">
                <a:solidFill>
                  <a:srgbClr val="000000"/>
                </a:solidFill>
                <a:latin typeface="Times New Roman"/>
                <a:ea typeface="Times New Roman"/>
                <a:cs typeface="Times New Roman"/>
              </a:rPr>
              <a:t>hàng</a:t>
            </a:r>
            <a:r>
              <a:rPr lang="en-US" sz="3250" dirty="0">
                <a:solidFill>
                  <a:srgbClr val="000000"/>
                </a:solidFill>
                <a:latin typeface="Times New Roman"/>
                <a:ea typeface="Times New Roman"/>
                <a:cs typeface="Times New Roman"/>
              </a:rPr>
              <a:t> </a:t>
            </a:r>
            <a:r>
              <a:rPr lang="en-US" sz="3250" dirty="0" err="1">
                <a:solidFill>
                  <a:srgbClr val="000000"/>
                </a:solidFill>
                <a:latin typeface="Times New Roman"/>
                <a:ea typeface="Times New Roman"/>
                <a:cs typeface="Times New Roman"/>
              </a:rPr>
              <a:t>trăm</a:t>
            </a:r>
            <a:r>
              <a:rPr lang="en-US" sz="3250" dirty="0">
                <a:solidFill>
                  <a:srgbClr val="000000"/>
                </a:solidFill>
                <a:latin typeface="Times New Roman"/>
                <a:ea typeface="Times New Roman"/>
                <a:cs typeface="Times New Roman"/>
              </a:rPr>
              <a:t> </a:t>
            </a:r>
            <a:r>
              <a:rPr lang="en-US" sz="3250" dirty="0" err="1">
                <a:solidFill>
                  <a:srgbClr val="000000"/>
                </a:solidFill>
                <a:latin typeface="Times New Roman"/>
                <a:ea typeface="Times New Roman"/>
                <a:cs typeface="Times New Roman"/>
              </a:rPr>
              <a:t>triệu</a:t>
            </a:r>
            <a:r>
              <a:rPr lang="en-US" sz="3250" dirty="0">
                <a:solidFill>
                  <a:srgbClr val="000000"/>
                </a:solidFill>
                <a:latin typeface="Times New Roman"/>
                <a:ea typeface="Times New Roman"/>
                <a:cs typeface="Times New Roman"/>
              </a:rPr>
              <a:t> (kiosk </a:t>
            </a:r>
            <a:r>
              <a:rPr lang="en-US" sz="3250" dirty="0" err="1">
                <a:solidFill>
                  <a:srgbClr val="000000"/>
                </a:solidFill>
                <a:latin typeface="Times New Roman"/>
                <a:ea typeface="Times New Roman"/>
                <a:cs typeface="Times New Roman"/>
              </a:rPr>
              <a:t>nhập</a:t>
            </a:r>
            <a:r>
              <a:rPr lang="en-US" sz="3250" dirty="0">
                <a:solidFill>
                  <a:srgbClr val="000000"/>
                </a:solidFill>
                <a:latin typeface="Times New Roman"/>
                <a:ea typeface="Times New Roman"/>
                <a:cs typeface="Times New Roman"/>
              </a:rPr>
              <a:t> </a:t>
            </a:r>
            <a:r>
              <a:rPr lang="en-US" sz="3250" dirty="0" err="1">
                <a:solidFill>
                  <a:srgbClr val="000000"/>
                </a:solidFill>
                <a:latin typeface="Times New Roman"/>
                <a:ea typeface="Times New Roman"/>
                <a:cs typeface="Times New Roman"/>
              </a:rPr>
              <a:t>ngoại</a:t>
            </a:r>
            <a:r>
              <a:rPr lang="en-US" sz="3250" dirty="0">
                <a:solidFill>
                  <a:srgbClr val="000000"/>
                </a:solidFill>
                <a:latin typeface="Times New Roman"/>
                <a:ea typeface="Times New Roman"/>
                <a:cs typeface="Times New Roman"/>
              </a:rPr>
              <a:t>) </a:t>
            </a:r>
            <a:r>
              <a:rPr lang="en-US" sz="3250" dirty="0" err="1">
                <a:solidFill>
                  <a:srgbClr val="000000"/>
                </a:solidFill>
                <a:latin typeface="Times New Roman"/>
                <a:ea typeface="Times New Roman"/>
                <a:cs typeface="Times New Roman"/>
              </a:rPr>
              <a:t>xuống</a:t>
            </a:r>
            <a:r>
              <a:rPr lang="en-US" sz="3250" dirty="0">
                <a:solidFill>
                  <a:srgbClr val="000000"/>
                </a:solidFill>
                <a:latin typeface="Times New Roman"/>
                <a:ea typeface="Times New Roman"/>
                <a:cs typeface="Times New Roman"/>
              </a:rPr>
              <a:t> </a:t>
            </a:r>
            <a:r>
              <a:rPr lang="en-US" sz="3250" dirty="0" err="1">
                <a:solidFill>
                  <a:srgbClr val="000000"/>
                </a:solidFill>
                <a:latin typeface="Times New Roman"/>
                <a:ea typeface="Times New Roman"/>
                <a:cs typeface="Times New Roman"/>
              </a:rPr>
              <a:t>mức</a:t>
            </a:r>
            <a:r>
              <a:rPr lang="en-US" sz="3250" dirty="0">
                <a:solidFill>
                  <a:srgbClr val="000000"/>
                </a:solidFill>
                <a:latin typeface="Times New Roman"/>
                <a:ea typeface="Times New Roman"/>
                <a:cs typeface="Times New Roman"/>
              </a:rPr>
              <a:t> </a:t>
            </a:r>
            <a:r>
              <a:rPr lang="en-US" sz="3250" dirty="0" err="1">
                <a:solidFill>
                  <a:srgbClr val="000000"/>
                </a:solidFill>
                <a:latin typeface="Times New Roman"/>
                <a:ea typeface="Times New Roman"/>
                <a:cs typeface="Times New Roman"/>
              </a:rPr>
              <a:t>tối</a:t>
            </a:r>
            <a:r>
              <a:rPr lang="en-US" sz="3250" dirty="0">
                <a:solidFill>
                  <a:srgbClr val="000000"/>
                </a:solidFill>
                <a:latin typeface="Times New Roman"/>
                <a:ea typeface="Times New Roman"/>
                <a:cs typeface="Times New Roman"/>
              </a:rPr>
              <a:t> </a:t>
            </a:r>
            <a:r>
              <a:rPr lang="en-US" sz="3250" dirty="0" err="1">
                <a:solidFill>
                  <a:srgbClr val="000000"/>
                </a:solidFill>
                <a:latin typeface="Times New Roman"/>
                <a:ea typeface="Times New Roman"/>
                <a:cs typeface="Times New Roman"/>
              </a:rPr>
              <a:t>ưu</a:t>
            </a:r>
            <a:r>
              <a:rPr lang="en-US" sz="3250" dirty="0">
                <a:solidFill>
                  <a:srgbClr val="000000"/>
                </a:solidFill>
                <a:latin typeface="Times New Roman"/>
                <a:ea typeface="Times New Roman"/>
                <a:cs typeface="Times New Roman"/>
              </a:rPr>
              <a:t> </a:t>
            </a:r>
            <a:r>
              <a:rPr lang="en-US" sz="3250" dirty="0" err="1">
                <a:solidFill>
                  <a:srgbClr val="000000"/>
                </a:solidFill>
                <a:latin typeface="Times New Roman"/>
                <a:ea typeface="Times New Roman"/>
                <a:cs typeface="Times New Roman"/>
              </a:rPr>
              <a:t>cho</a:t>
            </a:r>
            <a:r>
              <a:rPr lang="en-US" sz="3250" dirty="0">
                <a:solidFill>
                  <a:srgbClr val="000000"/>
                </a:solidFill>
                <a:latin typeface="Times New Roman"/>
                <a:ea typeface="Times New Roman"/>
                <a:cs typeface="Times New Roman"/>
              </a:rPr>
              <a:t> </a:t>
            </a:r>
            <a:r>
              <a:rPr lang="en-US" sz="3250" dirty="0" err="1">
                <a:solidFill>
                  <a:srgbClr val="000000"/>
                </a:solidFill>
                <a:latin typeface="Times New Roman"/>
                <a:ea typeface="Times New Roman"/>
                <a:cs typeface="Times New Roman"/>
              </a:rPr>
              <a:t>các</a:t>
            </a:r>
            <a:r>
              <a:rPr lang="en-US" sz="3250" dirty="0">
                <a:solidFill>
                  <a:srgbClr val="000000"/>
                </a:solidFill>
                <a:latin typeface="Times New Roman"/>
                <a:ea typeface="Times New Roman"/>
                <a:cs typeface="Times New Roman"/>
              </a:rPr>
              <a:t> </a:t>
            </a:r>
            <a:r>
              <a:rPr lang="en-US" sz="3250" dirty="0" err="1">
                <a:solidFill>
                  <a:srgbClr val="000000"/>
                </a:solidFill>
                <a:latin typeface="Times New Roman"/>
                <a:ea typeface="Times New Roman"/>
                <a:cs typeface="Times New Roman"/>
              </a:rPr>
              <a:t>bệnh</a:t>
            </a:r>
            <a:r>
              <a:rPr lang="en-US" sz="3250" dirty="0">
                <a:solidFill>
                  <a:srgbClr val="000000"/>
                </a:solidFill>
                <a:latin typeface="Times New Roman"/>
                <a:ea typeface="Times New Roman"/>
                <a:cs typeface="Times New Roman"/>
              </a:rPr>
              <a:t> </a:t>
            </a:r>
            <a:r>
              <a:rPr lang="en-US" sz="3250" dirty="0" err="1">
                <a:solidFill>
                  <a:srgbClr val="000000"/>
                </a:solidFill>
                <a:latin typeface="Times New Roman"/>
                <a:ea typeface="Times New Roman"/>
                <a:cs typeface="Times New Roman"/>
              </a:rPr>
              <a:t>viện</a:t>
            </a:r>
            <a:r>
              <a:rPr lang="en-US" sz="3250" dirty="0">
                <a:solidFill>
                  <a:srgbClr val="000000"/>
                </a:solidFill>
                <a:latin typeface="Times New Roman"/>
                <a:ea typeface="Times New Roman"/>
                <a:cs typeface="Times New Roman"/>
              </a:rPr>
              <a:t> </a:t>
            </a:r>
            <a:r>
              <a:rPr lang="en-US" sz="3250" dirty="0" err="1">
                <a:solidFill>
                  <a:srgbClr val="000000"/>
                </a:solidFill>
                <a:latin typeface="Times New Roman"/>
                <a:ea typeface="Times New Roman"/>
                <a:cs typeface="Times New Roman"/>
              </a:rPr>
              <a:t>tuyến</a:t>
            </a:r>
            <a:r>
              <a:rPr lang="en-US" sz="3250" dirty="0">
                <a:solidFill>
                  <a:srgbClr val="000000"/>
                </a:solidFill>
                <a:latin typeface="Times New Roman"/>
                <a:ea typeface="Times New Roman"/>
                <a:cs typeface="Times New Roman"/>
              </a:rPr>
              <a:t> </a:t>
            </a:r>
            <a:r>
              <a:rPr lang="en-US" sz="3250" dirty="0" err="1">
                <a:solidFill>
                  <a:srgbClr val="000000"/>
                </a:solidFill>
                <a:latin typeface="Times New Roman"/>
                <a:ea typeface="Times New Roman"/>
                <a:cs typeface="Times New Roman"/>
              </a:rPr>
              <a:t>huyện</a:t>
            </a:r>
            <a:r>
              <a:rPr lang="en-US" sz="3250" dirty="0">
                <a:solidFill>
                  <a:srgbClr val="000000"/>
                </a:solidFill>
                <a:latin typeface="Times New Roman"/>
                <a:ea typeface="Times New Roman"/>
                <a:cs typeface="Times New Roman"/>
              </a:rPr>
              <a:t>, </a:t>
            </a:r>
            <a:r>
              <a:rPr lang="en-US" sz="3250" dirty="0" err="1">
                <a:solidFill>
                  <a:srgbClr val="000000"/>
                </a:solidFill>
                <a:latin typeface="Times New Roman"/>
                <a:ea typeface="Times New Roman"/>
                <a:cs typeface="Times New Roman"/>
              </a:rPr>
              <a:t>trạm</a:t>
            </a:r>
            <a:r>
              <a:rPr lang="en-US" sz="3250" dirty="0">
                <a:solidFill>
                  <a:srgbClr val="000000"/>
                </a:solidFill>
                <a:latin typeface="Times New Roman"/>
                <a:ea typeface="Times New Roman"/>
                <a:cs typeface="Times New Roman"/>
              </a:rPr>
              <a:t> y </a:t>
            </a:r>
            <a:r>
              <a:rPr lang="en-US" sz="3250" dirty="0" err="1">
                <a:solidFill>
                  <a:srgbClr val="000000"/>
                </a:solidFill>
                <a:latin typeface="Times New Roman"/>
                <a:ea typeface="Times New Roman"/>
                <a:cs typeface="Times New Roman"/>
              </a:rPr>
              <a:t>tế</a:t>
            </a:r>
            <a:r>
              <a:rPr lang="en-US" sz="3250" dirty="0">
                <a:solidFill>
                  <a:srgbClr val="000000"/>
                </a:solidFill>
                <a:latin typeface="Times New Roman"/>
                <a:ea typeface="Times New Roman"/>
                <a:cs typeface="Times New Roman"/>
              </a:rPr>
              <a:t> </a:t>
            </a:r>
            <a:r>
              <a:rPr lang="en-US" sz="3250" dirty="0" err="1">
                <a:solidFill>
                  <a:srgbClr val="000000"/>
                </a:solidFill>
                <a:latin typeface="Times New Roman"/>
                <a:ea typeface="Times New Roman"/>
                <a:cs typeface="Times New Roman"/>
              </a:rPr>
              <a:t>xã</a:t>
            </a:r>
            <a:r>
              <a:rPr lang="en-US" sz="3250" dirty="0">
                <a:solidFill>
                  <a:srgbClr val="000000"/>
                </a:solidFill>
                <a:latin typeface="Times New Roman"/>
                <a:ea typeface="Times New Roman"/>
                <a:cs typeface="Times New Roman"/>
              </a:rPr>
              <a:t>.</a:t>
            </a:r>
            <a:endParaRPr dirty="0">
              <a:latin typeface="Times New Roman"/>
              <a:cs typeface="Times New Roman"/>
            </a:endParaRPr>
          </a:p>
          <a:p>
            <a:pPr marL="705663" lvl="1" indent="-352831" algn="l">
              <a:lnSpc>
                <a:spcPts val="4510"/>
              </a:lnSpc>
              <a:spcBef>
                <a:spcPts val="0"/>
              </a:spcBef>
              <a:buFont typeface="Arial"/>
              <a:buChar char="•"/>
              <a:defRPr/>
            </a:pPr>
            <a:r>
              <a:rPr lang="en-US" sz="3250" dirty="0" err="1">
                <a:solidFill>
                  <a:srgbClr val="000000"/>
                </a:solidFill>
                <a:latin typeface="Times New Roman"/>
                <a:ea typeface="Times New Roman"/>
                <a:cs typeface="Times New Roman"/>
              </a:rPr>
              <a:t>Tác</a:t>
            </a:r>
            <a:r>
              <a:rPr lang="en-US" sz="3250" dirty="0">
                <a:solidFill>
                  <a:srgbClr val="000000"/>
                </a:solidFill>
                <a:latin typeface="Times New Roman"/>
                <a:ea typeface="Times New Roman"/>
                <a:cs typeface="Times New Roman"/>
              </a:rPr>
              <a:t> </a:t>
            </a:r>
            <a:r>
              <a:rPr lang="en-US" sz="3250" dirty="0" err="1">
                <a:solidFill>
                  <a:srgbClr val="000000"/>
                </a:solidFill>
                <a:latin typeface="Times New Roman"/>
                <a:ea typeface="Times New Roman"/>
                <a:cs typeface="Times New Roman"/>
              </a:rPr>
              <a:t>động</a:t>
            </a:r>
            <a:r>
              <a:rPr lang="en-US" sz="3250" dirty="0">
                <a:solidFill>
                  <a:srgbClr val="000000"/>
                </a:solidFill>
                <a:latin typeface="Times New Roman"/>
                <a:ea typeface="Times New Roman"/>
                <a:cs typeface="Times New Roman"/>
              </a:rPr>
              <a:t> sang </a:t>
            </a:r>
            <a:r>
              <a:rPr lang="en-US" sz="3250" dirty="0" err="1">
                <a:solidFill>
                  <a:srgbClr val="000000"/>
                </a:solidFill>
                <a:latin typeface="Times New Roman"/>
                <a:ea typeface="Times New Roman"/>
                <a:cs typeface="Times New Roman"/>
              </a:rPr>
              <a:t>Xã</a:t>
            </a:r>
            <a:r>
              <a:rPr lang="en-US" sz="3250" dirty="0">
                <a:solidFill>
                  <a:srgbClr val="000000"/>
                </a:solidFill>
                <a:latin typeface="Times New Roman"/>
                <a:ea typeface="Times New Roman"/>
                <a:cs typeface="Times New Roman"/>
              </a:rPr>
              <a:t> </a:t>
            </a:r>
            <a:r>
              <a:rPr lang="en-US" sz="3250" dirty="0" err="1">
                <a:solidFill>
                  <a:srgbClr val="000000"/>
                </a:solidFill>
                <a:latin typeface="Times New Roman"/>
                <a:ea typeface="Times New Roman"/>
                <a:cs typeface="Times New Roman"/>
              </a:rPr>
              <a:t>hội</a:t>
            </a:r>
            <a:r>
              <a:rPr lang="en-US" sz="3250" dirty="0">
                <a:solidFill>
                  <a:srgbClr val="000000"/>
                </a:solidFill>
                <a:latin typeface="Times New Roman"/>
                <a:ea typeface="Times New Roman"/>
                <a:cs typeface="Times New Roman"/>
              </a:rPr>
              <a:t>: Cho </a:t>
            </a:r>
            <a:r>
              <a:rPr lang="en-US" sz="3250" dirty="0" err="1">
                <a:solidFill>
                  <a:srgbClr val="000000"/>
                </a:solidFill>
                <a:latin typeface="Times New Roman"/>
                <a:ea typeface="Times New Roman"/>
                <a:cs typeface="Times New Roman"/>
              </a:rPr>
              <a:t>phép</a:t>
            </a:r>
            <a:r>
              <a:rPr lang="en-US" sz="3250" dirty="0">
                <a:solidFill>
                  <a:srgbClr val="000000"/>
                </a:solidFill>
                <a:latin typeface="Times New Roman"/>
                <a:ea typeface="Times New Roman"/>
                <a:cs typeface="Times New Roman"/>
              </a:rPr>
              <a:t> </a:t>
            </a:r>
            <a:r>
              <a:rPr lang="en-US" sz="3250" dirty="0" err="1">
                <a:solidFill>
                  <a:srgbClr val="000000"/>
                </a:solidFill>
                <a:latin typeface="Times New Roman"/>
                <a:ea typeface="Times New Roman"/>
                <a:cs typeface="Times New Roman"/>
              </a:rPr>
              <a:t>triển</a:t>
            </a:r>
            <a:r>
              <a:rPr lang="en-US" sz="3250" dirty="0">
                <a:solidFill>
                  <a:srgbClr val="000000"/>
                </a:solidFill>
                <a:latin typeface="Times New Roman"/>
                <a:ea typeface="Times New Roman"/>
                <a:cs typeface="Times New Roman"/>
              </a:rPr>
              <a:t> </a:t>
            </a:r>
            <a:r>
              <a:rPr lang="en-US" sz="3250" dirty="0" err="1">
                <a:solidFill>
                  <a:srgbClr val="000000"/>
                </a:solidFill>
                <a:latin typeface="Times New Roman"/>
                <a:ea typeface="Times New Roman"/>
                <a:cs typeface="Times New Roman"/>
              </a:rPr>
              <a:t>khai</a:t>
            </a:r>
            <a:r>
              <a:rPr lang="en-US" sz="3250" dirty="0">
                <a:solidFill>
                  <a:srgbClr val="000000"/>
                </a:solidFill>
                <a:latin typeface="Times New Roman"/>
                <a:ea typeface="Times New Roman"/>
                <a:cs typeface="Times New Roman"/>
              </a:rPr>
              <a:t> </a:t>
            </a:r>
            <a:r>
              <a:rPr lang="en-US" sz="3250" dirty="0" err="1">
                <a:solidFill>
                  <a:srgbClr val="000000"/>
                </a:solidFill>
                <a:latin typeface="Times New Roman"/>
                <a:ea typeface="Times New Roman"/>
                <a:cs typeface="Times New Roman"/>
              </a:rPr>
              <a:t>diện</a:t>
            </a:r>
            <a:r>
              <a:rPr lang="en-US" sz="3250" dirty="0">
                <a:solidFill>
                  <a:srgbClr val="000000"/>
                </a:solidFill>
                <a:latin typeface="Times New Roman"/>
                <a:ea typeface="Times New Roman"/>
                <a:cs typeface="Times New Roman"/>
              </a:rPr>
              <a:t> </a:t>
            </a:r>
            <a:r>
              <a:rPr lang="en-US" sz="3250" dirty="0" err="1">
                <a:solidFill>
                  <a:srgbClr val="000000"/>
                </a:solidFill>
                <a:latin typeface="Times New Roman"/>
                <a:ea typeface="Times New Roman"/>
                <a:cs typeface="Times New Roman"/>
              </a:rPr>
              <a:t>rộng</a:t>
            </a:r>
            <a:r>
              <a:rPr lang="en-US" sz="3250" dirty="0">
                <a:solidFill>
                  <a:srgbClr val="000000"/>
                </a:solidFill>
                <a:latin typeface="Times New Roman"/>
                <a:ea typeface="Times New Roman"/>
                <a:cs typeface="Times New Roman"/>
              </a:rPr>
              <a:t> </a:t>
            </a:r>
            <a:r>
              <a:rPr lang="en-US" sz="3250" dirty="0" err="1">
                <a:solidFill>
                  <a:srgbClr val="000000"/>
                </a:solidFill>
                <a:latin typeface="Times New Roman"/>
                <a:ea typeface="Times New Roman"/>
                <a:cs typeface="Times New Roman"/>
              </a:rPr>
              <a:t>trên</a:t>
            </a:r>
            <a:r>
              <a:rPr lang="en-US" sz="3250" dirty="0">
                <a:solidFill>
                  <a:srgbClr val="000000"/>
                </a:solidFill>
                <a:latin typeface="Times New Roman"/>
                <a:ea typeface="Times New Roman"/>
                <a:cs typeface="Times New Roman"/>
              </a:rPr>
              <a:t> </a:t>
            </a:r>
            <a:r>
              <a:rPr lang="en-US" sz="3250" dirty="0" err="1">
                <a:solidFill>
                  <a:srgbClr val="000000"/>
                </a:solidFill>
                <a:latin typeface="Times New Roman"/>
                <a:ea typeface="Times New Roman"/>
                <a:cs typeface="Times New Roman"/>
              </a:rPr>
              <a:t>toàn</a:t>
            </a:r>
            <a:r>
              <a:rPr lang="en-US" sz="3250" dirty="0">
                <a:solidFill>
                  <a:srgbClr val="000000"/>
                </a:solidFill>
                <a:latin typeface="Times New Roman"/>
                <a:ea typeface="Times New Roman"/>
                <a:cs typeface="Times New Roman"/>
              </a:rPr>
              <a:t> </a:t>
            </a:r>
            <a:r>
              <a:rPr lang="en-US" sz="3250" dirty="0" err="1">
                <a:solidFill>
                  <a:srgbClr val="000000"/>
                </a:solidFill>
                <a:latin typeface="Times New Roman"/>
                <a:ea typeface="Times New Roman"/>
                <a:cs typeface="Times New Roman"/>
              </a:rPr>
              <a:t>quốc</a:t>
            </a:r>
            <a:r>
              <a:rPr lang="en-US" sz="3250" dirty="0">
                <a:solidFill>
                  <a:srgbClr val="000000"/>
                </a:solidFill>
                <a:latin typeface="Times New Roman"/>
                <a:ea typeface="Times New Roman"/>
                <a:cs typeface="Times New Roman"/>
              </a:rPr>
              <a:t>, </a:t>
            </a:r>
            <a:r>
              <a:rPr lang="en-US" sz="3250" dirty="0" err="1">
                <a:solidFill>
                  <a:srgbClr val="000000"/>
                </a:solidFill>
                <a:latin typeface="Times New Roman"/>
                <a:ea typeface="Times New Roman"/>
                <a:cs typeface="Times New Roman"/>
              </a:rPr>
              <a:t>giúp</a:t>
            </a:r>
            <a:r>
              <a:rPr lang="en-US" sz="3250" dirty="0">
                <a:solidFill>
                  <a:srgbClr val="000000"/>
                </a:solidFill>
                <a:latin typeface="Times New Roman"/>
                <a:ea typeface="Times New Roman"/>
                <a:cs typeface="Times New Roman"/>
              </a:rPr>
              <a:t> </a:t>
            </a:r>
            <a:r>
              <a:rPr lang="en-US" sz="3250" dirty="0" err="1">
                <a:solidFill>
                  <a:srgbClr val="000000"/>
                </a:solidFill>
                <a:latin typeface="Times New Roman"/>
                <a:ea typeface="Times New Roman"/>
                <a:cs typeface="Times New Roman"/>
              </a:rPr>
              <a:t>người</a:t>
            </a:r>
            <a:r>
              <a:rPr lang="en-US" sz="3250" dirty="0">
                <a:solidFill>
                  <a:srgbClr val="000000"/>
                </a:solidFill>
                <a:latin typeface="Times New Roman"/>
                <a:ea typeface="Times New Roman"/>
                <a:cs typeface="Times New Roman"/>
              </a:rPr>
              <a:t> </a:t>
            </a:r>
            <a:r>
              <a:rPr lang="en-US" sz="3250" dirty="0" err="1">
                <a:solidFill>
                  <a:srgbClr val="000000"/>
                </a:solidFill>
                <a:latin typeface="Times New Roman"/>
                <a:ea typeface="Times New Roman"/>
                <a:cs typeface="Times New Roman"/>
              </a:rPr>
              <a:t>dân</a:t>
            </a:r>
            <a:r>
              <a:rPr lang="en-US" sz="3250" dirty="0">
                <a:solidFill>
                  <a:srgbClr val="000000"/>
                </a:solidFill>
                <a:latin typeface="Times New Roman"/>
                <a:ea typeface="Times New Roman"/>
                <a:cs typeface="Times New Roman"/>
              </a:rPr>
              <a:t> ở </a:t>
            </a:r>
            <a:r>
              <a:rPr lang="en-US" sz="3250" dirty="0" err="1">
                <a:solidFill>
                  <a:srgbClr val="000000"/>
                </a:solidFill>
                <a:latin typeface="Times New Roman"/>
                <a:ea typeface="Times New Roman"/>
                <a:cs typeface="Times New Roman"/>
              </a:rPr>
              <a:t>các</a:t>
            </a:r>
            <a:r>
              <a:rPr lang="en-US" sz="3250" dirty="0">
                <a:solidFill>
                  <a:srgbClr val="000000"/>
                </a:solidFill>
                <a:latin typeface="Times New Roman"/>
                <a:ea typeface="Times New Roman"/>
                <a:cs typeface="Times New Roman"/>
              </a:rPr>
              <a:t> </a:t>
            </a:r>
            <a:r>
              <a:rPr lang="en-US" sz="3250" dirty="0" err="1">
                <a:solidFill>
                  <a:srgbClr val="000000"/>
                </a:solidFill>
                <a:latin typeface="Times New Roman"/>
                <a:ea typeface="Times New Roman"/>
                <a:cs typeface="Times New Roman"/>
              </a:rPr>
              <a:t>vùng</a:t>
            </a:r>
            <a:r>
              <a:rPr lang="en-US" sz="3250" dirty="0">
                <a:solidFill>
                  <a:srgbClr val="000000"/>
                </a:solidFill>
                <a:latin typeface="Times New Roman"/>
                <a:ea typeface="Times New Roman"/>
                <a:cs typeface="Times New Roman"/>
              </a:rPr>
              <a:t> </a:t>
            </a:r>
            <a:r>
              <a:rPr lang="en-US" sz="3250" dirty="0" err="1">
                <a:solidFill>
                  <a:srgbClr val="000000"/>
                </a:solidFill>
                <a:latin typeface="Times New Roman"/>
                <a:ea typeface="Times New Roman"/>
                <a:cs typeface="Times New Roman"/>
              </a:rPr>
              <a:t>nông</a:t>
            </a:r>
            <a:r>
              <a:rPr lang="en-US" sz="3250" dirty="0">
                <a:solidFill>
                  <a:srgbClr val="000000"/>
                </a:solidFill>
                <a:latin typeface="Times New Roman"/>
                <a:ea typeface="Times New Roman"/>
                <a:cs typeface="Times New Roman"/>
              </a:rPr>
              <a:t> </a:t>
            </a:r>
            <a:r>
              <a:rPr lang="en-US" sz="3250" dirty="0" err="1">
                <a:solidFill>
                  <a:srgbClr val="000000"/>
                </a:solidFill>
                <a:latin typeface="Times New Roman"/>
                <a:ea typeface="Times New Roman"/>
                <a:cs typeface="Times New Roman"/>
              </a:rPr>
              <a:t>thôn</a:t>
            </a:r>
            <a:r>
              <a:rPr lang="en-US" sz="3250" dirty="0">
                <a:solidFill>
                  <a:srgbClr val="000000"/>
                </a:solidFill>
                <a:latin typeface="Times New Roman"/>
                <a:ea typeface="Times New Roman"/>
                <a:cs typeface="Times New Roman"/>
              </a:rPr>
              <a:t>/</a:t>
            </a:r>
            <a:r>
              <a:rPr lang="en-US" sz="3250" dirty="0" err="1">
                <a:solidFill>
                  <a:srgbClr val="000000"/>
                </a:solidFill>
                <a:latin typeface="Times New Roman"/>
                <a:ea typeface="Times New Roman"/>
                <a:cs typeface="Times New Roman"/>
              </a:rPr>
              <a:t>vùng</a:t>
            </a:r>
            <a:r>
              <a:rPr lang="en-US" sz="3250" dirty="0">
                <a:solidFill>
                  <a:srgbClr val="000000"/>
                </a:solidFill>
                <a:latin typeface="Times New Roman"/>
                <a:ea typeface="Times New Roman"/>
                <a:cs typeface="Times New Roman"/>
              </a:rPr>
              <a:t> </a:t>
            </a:r>
            <a:r>
              <a:rPr lang="en-US" sz="3250" dirty="0" err="1">
                <a:solidFill>
                  <a:srgbClr val="000000"/>
                </a:solidFill>
                <a:latin typeface="Times New Roman"/>
                <a:ea typeface="Times New Roman"/>
                <a:cs typeface="Times New Roman"/>
              </a:rPr>
              <a:t>sâu</a:t>
            </a:r>
            <a:r>
              <a:rPr lang="en-US" sz="3250" dirty="0">
                <a:solidFill>
                  <a:srgbClr val="000000"/>
                </a:solidFill>
                <a:latin typeface="Times New Roman"/>
                <a:ea typeface="Times New Roman"/>
                <a:cs typeface="Times New Roman"/>
              </a:rPr>
              <a:t> </a:t>
            </a:r>
            <a:r>
              <a:rPr lang="en-US" sz="3250" dirty="0" err="1">
                <a:solidFill>
                  <a:srgbClr val="000000"/>
                </a:solidFill>
                <a:latin typeface="Times New Roman"/>
                <a:ea typeface="Times New Roman"/>
                <a:cs typeface="Times New Roman"/>
              </a:rPr>
              <a:t>vùng</a:t>
            </a:r>
            <a:r>
              <a:rPr lang="en-US" sz="3250" dirty="0">
                <a:solidFill>
                  <a:srgbClr val="000000"/>
                </a:solidFill>
                <a:latin typeface="Times New Roman"/>
                <a:ea typeface="Times New Roman"/>
                <a:cs typeface="Times New Roman"/>
              </a:rPr>
              <a:t> xa </a:t>
            </a:r>
            <a:r>
              <a:rPr lang="en-US" sz="3250" dirty="0" err="1">
                <a:solidFill>
                  <a:srgbClr val="000000"/>
                </a:solidFill>
                <a:latin typeface="Times New Roman"/>
                <a:ea typeface="Times New Roman"/>
                <a:cs typeface="Times New Roman"/>
              </a:rPr>
              <a:t>cũng</a:t>
            </a:r>
            <a:r>
              <a:rPr lang="en-US" sz="3250" dirty="0">
                <a:solidFill>
                  <a:srgbClr val="000000"/>
                </a:solidFill>
                <a:latin typeface="Times New Roman"/>
                <a:ea typeface="Times New Roman"/>
                <a:cs typeface="Times New Roman"/>
              </a:rPr>
              <a:t> </a:t>
            </a:r>
            <a:r>
              <a:rPr lang="en-US" sz="3250" dirty="0" err="1">
                <a:solidFill>
                  <a:srgbClr val="000000"/>
                </a:solidFill>
                <a:latin typeface="Times New Roman"/>
                <a:ea typeface="Times New Roman"/>
                <a:cs typeface="Times New Roman"/>
              </a:rPr>
              <a:t>được</a:t>
            </a:r>
            <a:r>
              <a:rPr lang="en-US" sz="3250" dirty="0">
                <a:solidFill>
                  <a:srgbClr val="000000"/>
                </a:solidFill>
                <a:latin typeface="Times New Roman"/>
                <a:ea typeface="Times New Roman"/>
                <a:cs typeface="Times New Roman"/>
              </a:rPr>
              <a:t> </a:t>
            </a:r>
            <a:r>
              <a:rPr lang="en-US" sz="3250" dirty="0" err="1">
                <a:solidFill>
                  <a:srgbClr val="000000"/>
                </a:solidFill>
                <a:latin typeface="Times New Roman"/>
                <a:ea typeface="Times New Roman"/>
                <a:cs typeface="Times New Roman"/>
              </a:rPr>
              <a:t>tiếp</a:t>
            </a:r>
            <a:r>
              <a:rPr lang="en-US" sz="3250" dirty="0">
                <a:solidFill>
                  <a:srgbClr val="000000"/>
                </a:solidFill>
                <a:latin typeface="Times New Roman"/>
                <a:ea typeface="Times New Roman"/>
                <a:cs typeface="Times New Roman"/>
              </a:rPr>
              <a:t> </a:t>
            </a:r>
            <a:r>
              <a:rPr lang="en-US" sz="3250" dirty="0" err="1">
                <a:solidFill>
                  <a:srgbClr val="000000"/>
                </a:solidFill>
                <a:latin typeface="Times New Roman"/>
                <a:ea typeface="Times New Roman"/>
                <a:cs typeface="Times New Roman"/>
              </a:rPr>
              <a:t>cận</a:t>
            </a:r>
            <a:r>
              <a:rPr lang="en-US" sz="3250" dirty="0">
                <a:solidFill>
                  <a:srgbClr val="000000"/>
                </a:solidFill>
                <a:latin typeface="Times New Roman"/>
                <a:ea typeface="Times New Roman"/>
                <a:cs typeface="Times New Roman"/>
              </a:rPr>
              <a:t> </a:t>
            </a:r>
            <a:r>
              <a:rPr lang="en-US" sz="3250" dirty="0" err="1">
                <a:solidFill>
                  <a:srgbClr val="000000"/>
                </a:solidFill>
                <a:latin typeface="Times New Roman"/>
                <a:ea typeface="Times New Roman"/>
                <a:cs typeface="Times New Roman"/>
              </a:rPr>
              <a:t>quy</a:t>
            </a:r>
            <a:r>
              <a:rPr lang="en-US" sz="3250" dirty="0">
                <a:solidFill>
                  <a:srgbClr val="000000"/>
                </a:solidFill>
                <a:latin typeface="Times New Roman"/>
                <a:ea typeface="Times New Roman"/>
                <a:cs typeface="Times New Roman"/>
              </a:rPr>
              <a:t> </a:t>
            </a:r>
            <a:r>
              <a:rPr lang="en-US" sz="3250" dirty="0" err="1">
                <a:solidFill>
                  <a:srgbClr val="000000"/>
                </a:solidFill>
                <a:latin typeface="Times New Roman"/>
                <a:ea typeface="Times New Roman"/>
                <a:cs typeface="Times New Roman"/>
              </a:rPr>
              <a:t>trình</a:t>
            </a:r>
            <a:r>
              <a:rPr lang="en-US" sz="3250" dirty="0">
                <a:solidFill>
                  <a:srgbClr val="000000"/>
                </a:solidFill>
                <a:latin typeface="Times New Roman"/>
                <a:ea typeface="Times New Roman"/>
                <a:cs typeface="Times New Roman"/>
              </a:rPr>
              <a:t> </a:t>
            </a:r>
            <a:r>
              <a:rPr lang="en-US" sz="3250" dirty="0" err="1">
                <a:solidFill>
                  <a:srgbClr val="000000"/>
                </a:solidFill>
                <a:latin typeface="Times New Roman"/>
                <a:ea typeface="Times New Roman"/>
                <a:cs typeface="Times New Roman"/>
              </a:rPr>
              <a:t>phân</a:t>
            </a:r>
            <a:r>
              <a:rPr lang="en-US" sz="3250" dirty="0">
                <a:solidFill>
                  <a:srgbClr val="000000"/>
                </a:solidFill>
                <a:latin typeface="Times New Roman"/>
                <a:ea typeface="Times New Roman"/>
                <a:cs typeface="Times New Roman"/>
              </a:rPr>
              <a:t> </a:t>
            </a:r>
            <a:r>
              <a:rPr lang="en-US" sz="3250" dirty="0" err="1">
                <a:solidFill>
                  <a:srgbClr val="000000"/>
                </a:solidFill>
                <a:latin typeface="Times New Roman"/>
                <a:ea typeface="Times New Roman"/>
                <a:cs typeface="Times New Roman"/>
              </a:rPr>
              <a:t>luồng</a:t>
            </a:r>
            <a:r>
              <a:rPr lang="en-US" sz="3250" dirty="0">
                <a:solidFill>
                  <a:srgbClr val="000000"/>
                </a:solidFill>
                <a:latin typeface="Times New Roman"/>
                <a:ea typeface="Times New Roman"/>
                <a:cs typeface="Times New Roman"/>
              </a:rPr>
              <a:t> </a:t>
            </a:r>
            <a:r>
              <a:rPr lang="en-US" sz="3250" dirty="0" err="1">
                <a:solidFill>
                  <a:srgbClr val="000000"/>
                </a:solidFill>
                <a:latin typeface="Times New Roman"/>
                <a:ea typeface="Times New Roman"/>
                <a:cs typeface="Times New Roman"/>
              </a:rPr>
              <a:t>sơ</a:t>
            </a:r>
            <a:r>
              <a:rPr lang="en-US" sz="3250" dirty="0">
                <a:solidFill>
                  <a:srgbClr val="000000"/>
                </a:solidFill>
                <a:latin typeface="Times New Roman"/>
                <a:ea typeface="Times New Roman"/>
                <a:cs typeface="Times New Roman"/>
              </a:rPr>
              <a:t> </a:t>
            </a:r>
            <a:r>
              <a:rPr lang="en-US" sz="3250" dirty="0" err="1">
                <a:solidFill>
                  <a:srgbClr val="000000"/>
                </a:solidFill>
                <a:latin typeface="Times New Roman"/>
                <a:ea typeface="Times New Roman"/>
                <a:cs typeface="Times New Roman"/>
              </a:rPr>
              <a:t>cấp</a:t>
            </a:r>
            <a:r>
              <a:rPr lang="en-US" sz="3250" dirty="0">
                <a:solidFill>
                  <a:srgbClr val="000000"/>
                </a:solidFill>
                <a:latin typeface="Times New Roman"/>
                <a:ea typeface="Times New Roman"/>
                <a:cs typeface="Times New Roman"/>
              </a:rPr>
              <a:t> </a:t>
            </a:r>
            <a:r>
              <a:rPr lang="en-US" sz="3250" dirty="0" err="1">
                <a:solidFill>
                  <a:srgbClr val="000000"/>
                </a:solidFill>
                <a:latin typeface="Times New Roman"/>
                <a:ea typeface="Times New Roman"/>
                <a:cs typeface="Times New Roman"/>
              </a:rPr>
              <a:t>cứu</a:t>
            </a:r>
            <a:r>
              <a:rPr lang="en-US" sz="3250" dirty="0">
                <a:solidFill>
                  <a:srgbClr val="000000"/>
                </a:solidFill>
                <a:latin typeface="Times New Roman"/>
                <a:ea typeface="Times New Roman"/>
                <a:cs typeface="Times New Roman"/>
              </a:rPr>
              <a:t> </a:t>
            </a:r>
            <a:r>
              <a:rPr lang="en-US" sz="3250" dirty="0" err="1">
                <a:solidFill>
                  <a:srgbClr val="000000"/>
                </a:solidFill>
                <a:latin typeface="Times New Roman"/>
                <a:ea typeface="Times New Roman"/>
                <a:cs typeface="Times New Roman"/>
              </a:rPr>
              <a:t>chuẩn</a:t>
            </a:r>
            <a:r>
              <a:rPr lang="en-US" sz="3250" dirty="0">
                <a:solidFill>
                  <a:srgbClr val="000000"/>
                </a:solidFill>
                <a:latin typeface="Times New Roman"/>
                <a:ea typeface="Times New Roman"/>
                <a:cs typeface="Times New Roman"/>
              </a:rPr>
              <a:t> </a:t>
            </a:r>
            <a:r>
              <a:rPr lang="en-US" sz="3250" dirty="0" err="1">
                <a:solidFill>
                  <a:srgbClr val="000000"/>
                </a:solidFill>
                <a:latin typeface="Times New Roman"/>
                <a:ea typeface="Times New Roman"/>
                <a:cs typeface="Times New Roman"/>
              </a:rPr>
              <a:t>xác</a:t>
            </a:r>
            <a:r>
              <a:rPr lang="en-US" sz="3250" dirty="0">
                <a:solidFill>
                  <a:srgbClr val="000000"/>
                </a:solidFill>
                <a:latin typeface="Times New Roman"/>
                <a:ea typeface="Times New Roman"/>
                <a:cs typeface="Times New Roman"/>
              </a:rPr>
              <a:t>, </a:t>
            </a:r>
            <a:r>
              <a:rPr lang="en-US" sz="3250" dirty="0" err="1">
                <a:solidFill>
                  <a:srgbClr val="000000"/>
                </a:solidFill>
                <a:latin typeface="Times New Roman"/>
                <a:ea typeface="Times New Roman"/>
                <a:cs typeface="Times New Roman"/>
              </a:rPr>
              <a:t>bình</a:t>
            </a:r>
            <a:r>
              <a:rPr lang="en-US" sz="3250" dirty="0">
                <a:solidFill>
                  <a:srgbClr val="000000"/>
                </a:solidFill>
                <a:latin typeface="Times New Roman"/>
                <a:ea typeface="Times New Roman"/>
                <a:cs typeface="Times New Roman"/>
              </a:rPr>
              <a:t> </a:t>
            </a:r>
            <a:r>
              <a:rPr lang="en-US" sz="3250" dirty="0" err="1">
                <a:solidFill>
                  <a:srgbClr val="000000"/>
                </a:solidFill>
                <a:latin typeface="Times New Roman"/>
                <a:ea typeface="Times New Roman"/>
                <a:cs typeface="Times New Roman"/>
              </a:rPr>
              <a:t>đẳng</a:t>
            </a:r>
            <a:r>
              <a:rPr lang="en-US" sz="3250" dirty="0">
                <a:solidFill>
                  <a:srgbClr val="000000"/>
                </a:solidFill>
                <a:latin typeface="Times New Roman"/>
                <a:ea typeface="Times New Roman"/>
                <a:cs typeface="Times New Roman"/>
              </a:rPr>
              <a:t>.</a:t>
            </a:r>
            <a:endParaRPr dirty="0">
              <a:latin typeface="Times New Roman"/>
              <a:cs typeface="Times New Roman"/>
            </a:endParaRPr>
          </a:p>
          <a:p>
            <a:pPr algn="ctr">
              <a:lnSpc>
                <a:spcPts val="4510"/>
              </a:lnSpc>
              <a:spcBef>
                <a:spcPts val="0"/>
              </a:spcBef>
              <a:defRPr/>
            </a:pPr>
            <a:endParaRPr sz="3250" dirty="0">
              <a:solidFill>
                <a:srgbClr val="000000"/>
              </a:solidFill>
              <a:latin typeface="Times New Roman"/>
              <a:cs typeface="Times New Roman"/>
            </a:endParaRPr>
          </a:p>
        </p:txBody>
      </p:sp>
    </p:spTree>
  </p:cSld>
  <p:clrMapOvr>
    <a:masterClrMapping/>
  </p:clrMapOvr>
  <mc:AlternateContent xmlns:mc="http://schemas.openxmlformats.org/markup-compatibility/2006" xmlns:p159="http://schemas.microsoft.com/office/powerpoint/2015/09/main">
    <mc:Choice Requires="p159">
      <p:transition>
        <p:fade/>
      </p:transition>
    </mc:Choice>
    <mc:Fallback xmlns="" xmlns:m="http://schemas.openxmlformats.org/officeDocument/2006/math" xmlns:w="http://schemas.openxmlformats.org/wordprocessingml/2006/main">
      <p:transition spd="fast" advClick="1">
        <p:fade thruBlk="0"/>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975751791" name="Freeform 2"/>
          <p:cNvSpPr/>
          <p:nvPr/>
        </p:nvSpPr>
        <p:spPr bwMode="auto">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stretch>
              <a:fillRect/>
            </a:stretch>
          </a:blipFill>
        </p:spPr>
        <p:txBody>
          <a:bodyPr/>
          <a:lstStyle/>
          <a:p>
            <a:endParaRPr lang="en-US"/>
          </a:p>
        </p:txBody>
      </p:sp>
      <p:grpSp>
        <p:nvGrpSpPr>
          <p:cNvPr id="1190852517" name="Group 3"/>
          <p:cNvGrpSpPr/>
          <p:nvPr/>
        </p:nvGrpSpPr>
        <p:grpSpPr bwMode="auto">
          <a:xfrm>
            <a:off x="11649142" y="921287"/>
            <a:ext cx="5381558" cy="365950"/>
            <a:chOff x="0" y="0"/>
            <a:chExt cx="7175411" cy="487934"/>
          </a:xfrm>
        </p:grpSpPr>
        <p:sp>
          <p:nvSpPr>
            <p:cNvPr id="4" name="Freeform 4"/>
            <p:cNvSpPr/>
            <p:nvPr/>
          </p:nvSpPr>
          <p:spPr bwMode="auto">
            <a:xfrm flipV="1">
              <a:off x="0" y="0"/>
              <a:ext cx="7175373" cy="487934"/>
            </a:xfrm>
            <a:custGeom>
              <a:avLst/>
              <a:gdLst/>
              <a:ahLst/>
              <a:cxnLst/>
              <a:rect l="l" t="t" r="r" b="b"/>
              <a:pathLst>
                <a:path w="7175373" h="487934" extrusionOk="0">
                  <a:moveTo>
                    <a:pt x="0" y="487934"/>
                  </a:moveTo>
                  <a:lnTo>
                    <a:pt x="7175373" y="487934"/>
                  </a:lnTo>
                  <a:lnTo>
                    <a:pt x="7175373" y="0"/>
                  </a:lnTo>
                  <a:lnTo>
                    <a:pt x="0" y="0"/>
                  </a:lnTo>
                  <a:lnTo>
                    <a:pt x="0" y="487934"/>
                  </a:lnTo>
                  <a:close/>
                </a:path>
              </a:pathLst>
            </a:custGeom>
            <a:blipFill rotWithShape="1">
              <a:blip r:embed="rId4"/>
              <a:stretch>
                <a:fillRect b="-575"/>
              </a:stretch>
            </a:blipFill>
          </p:spPr>
          <p:txBody>
            <a:bodyPr/>
            <a:lstStyle/>
            <a:p>
              <a:endParaRPr lang="en-US"/>
            </a:p>
          </p:txBody>
        </p:sp>
      </p:grpSp>
      <p:sp>
        <p:nvSpPr>
          <p:cNvPr id="226956385" name="TextBox 6"/>
          <p:cNvSpPr txBox="1"/>
          <p:nvPr/>
        </p:nvSpPr>
        <p:spPr bwMode="auto">
          <a:xfrm>
            <a:off x="-96720" y="-188541"/>
            <a:ext cx="9337440" cy="701399"/>
          </a:xfrm>
          <a:prstGeom prst="rect">
            <a:avLst/>
          </a:prstGeom>
        </p:spPr>
        <p:txBody>
          <a:bodyPr lIns="0" tIns="0" rIns="0" bIns="0" rtlCol="0" anchor="t">
            <a:spAutoFit/>
          </a:bodyPr>
          <a:lstStyle/>
          <a:p>
            <a:pPr algn="ctr">
              <a:lnSpc>
                <a:spcPts val="5520"/>
              </a:lnSpc>
              <a:spcBef>
                <a:spcPts val="0"/>
              </a:spcBef>
              <a:defRPr/>
            </a:pPr>
            <a:r>
              <a:rPr lang="en-US" sz="2800">
                <a:solidFill>
                  <a:srgbClr val="000000"/>
                </a:solidFill>
                <a:latin typeface="Times New Roman"/>
                <a:ea typeface="Times New Roman"/>
                <a:cs typeface="Times New Roman"/>
              </a:rPr>
              <a:t>Decision Table: Logic Điều Khiển Kiosk</a:t>
            </a:r>
            <a:endParaRPr sz="1400">
              <a:latin typeface="Times New Roman"/>
              <a:cs typeface="Times New Roman"/>
            </a:endParaRPr>
          </a:p>
        </p:txBody>
      </p:sp>
      <p:graphicFrame>
        <p:nvGraphicFramePr>
          <p:cNvPr id="2122065075" name="Table 2122065074"/>
          <p:cNvGraphicFramePr>
            <a:graphicFrameLocks/>
          </p:cNvGraphicFramePr>
          <p:nvPr/>
        </p:nvGraphicFramePr>
        <p:xfrm>
          <a:off x="287699" y="657449"/>
          <a:ext cx="17830794" cy="9440668"/>
        </p:xfrm>
        <a:graphic>
          <a:graphicData uri="http://schemas.openxmlformats.org/drawingml/2006/table">
            <a:tbl>
              <a:tblPr firstRow="1" firstCol="1" bandRow="1"/>
              <a:tblGrid>
                <a:gridCol w="1140893">
                  <a:extLst>
                    <a:ext uri="{9D8B030D-6E8A-4147-A177-3AD203B41FA5}">
                      <a16:colId xmlns:a16="http://schemas.microsoft.com/office/drawing/2014/main" val="20000"/>
                    </a:ext>
                  </a:extLst>
                </a:gridCol>
                <a:gridCol w="1691085">
                  <a:extLst>
                    <a:ext uri="{9D8B030D-6E8A-4147-A177-3AD203B41FA5}">
                      <a16:colId xmlns:a16="http://schemas.microsoft.com/office/drawing/2014/main" val="20001"/>
                    </a:ext>
                  </a:extLst>
                </a:gridCol>
                <a:gridCol w="3400332">
                  <a:extLst>
                    <a:ext uri="{9D8B030D-6E8A-4147-A177-3AD203B41FA5}">
                      <a16:colId xmlns:a16="http://schemas.microsoft.com/office/drawing/2014/main" val="20002"/>
                    </a:ext>
                  </a:extLst>
                </a:gridCol>
                <a:gridCol w="1743975">
                  <a:extLst>
                    <a:ext uri="{9D8B030D-6E8A-4147-A177-3AD203B41FA5}">
                      <a16:colId xmlns:a16="http://schemas.microsoft.com/office/drawing/2014/main" val="20003"/>
                    </a:ext>
                  </a:extLst>
                </a:gridCol>
                <a:gridCol w="1326460">
                  <a:extLst>
                    <a:ext uri="{9D8B030D-6E8A-4147-A177-3AD203B41FA5}">
                      <a16:colId xmlns:a16="http://schemas.microsoft.com/office/drawing/2014/main" val="20004"/>
                    </a:ext>
                  </a:extLst>
                </a:gridCol>
                <a:gridCol w="2170422">
                  <a:extLst>
                    <a:ext uri="{9D8B030D-6E8A-4147-A177-3AD203B41FA5}">
                      <a16:colId xmlns:a16="http://schemas.microsoft.com/office/drawing/2014/main" val="20005"/>
                    </a:ext>
                  </a:extLst>
                </a:gridCol>
                <a:gridCol w="1256871">
                  <a:extLst>
                    <a:ext uri="{9D8B030D-6E8A-4147-A177-3AD203B41FA5}">
                      <a16:colId xmlns:a16="http://schemas.microsoft.com/office/drawing/2014/main" val="20006"/>
                    </a:ext>
                  </a:extLst>
                </a:gridCol>
                <a:gridCol w="1186066">
                  <a:extLst>
                    <a:ext uri="{9D8B030D-6E8A-4147-A177-3AD203B41FA5}">
                      <a16:colId xmlns:a16="http://schemas.microsoft.com/office/drawing/2014/main" val="20007"/>
                    </a:ext>
                  </a:extLst>
                </a:gridCol>
                <a:gridCol w="2414120">
                  <a:extLst>
                    <a:ext uri="{9D8B030D-6E8A-4147-A177-3AD203B41FA5}">
                      <a16:colId xmlns:a16="http://schemas.microsoft.com/office/drawing/2014/main" val="20008"/>
                    </a:ext>
                  </a:extLst>
                </a:gridCol>
                <a:gridCol w="1500570">
                  <a:extLst>
                    <a:ext uri="{9D8B030D-6E8A-4147-A177-3AD203B41FA5}">
                      <a16:colId xmlns:a16="http://schemas.microsoft.com/office/drawing/2014/main" val="20009"/>
                    </a:ext>
                  </a:extLst>
                </a:gridCol>
              </a:tblGrid>
              <a:tr h="1062285">
                <a:tc>
                  <a:txBody>
                    <a:bodyPr/>
                    <a:lstStyle/>
                    <a:p>
                      <a:pPr algn="ctr">
                        <a:defRPr/>
                      </a:pPr>
                      <a:r>
                        <a:rPr sz="1800" b="1" i="0" u="none">
                          <a:solidFill>
                            <a:srgbClr val="000000"/>
                          </a:solidFill>
                          <a:latin typeface="Times New Roman"/>
                          <a:ea typeface="Times New Roman"/>
                          <a:cs typeface="Times New Roman"/>
                        </a:rPr>
                        <a:t>STT</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B3C6E7"/>
                    </a:solidFill>
                  </a:tcPr>
                </a:tc>
                <a:tc>
                  <a:txBody>
                    <a:bodyPr/>
                    <a:lstStyle/>
                    <a:p>
                      <a:pPr algn="ctr">
                        <a:defRPr/>
                      </a:pPr>
                      <a:r>
                        <a:rPr sz="1800" b="1" i="0" u="none">
                          <a:solidFill>
                            <a:srgbClr val="000000"/>
                          </a:solidFill>
                          <a:latin typeface="Times New Roman"/>
                          <a:ea typeface="Times New Roman"/>
                          <a:cs typeface="Times New Roman"/>
                        </a:rPr>
                        <a:t>Loại</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B3C6E7"/>
                    </a:solidFill>
                  </a:tcPr>
                </a:tc>
                <a:tc>
                  <a:txBody>
                    <a:bodyPr/>
                    <a:lstStyle/>
                    <a:p>
                      <a:pPr algn="ctr">
                        <a:defRPr/>
                      </a:pPr>
                      <a:r>
                        <a:rPr sz="1800" b="1" i="0" u="none">
                          <a:solidFill>
                            <a:srgbClr val="000000"/>
                          </a:solidFill>
                          <a:latin typeface="Times New Roman"/>
                          <a:ea typeface="Times New Roman"/>
                          <a:cs typeface="Times New Roman"/>
                        </a:rPr>
                        <a:t>Điều kiện đầu vào / Hành động thực thi</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B3C6E7"/>
                    </a:solidFill>
                  </a:tcPr>
                </a:tc>
                <a:tc>
                  <a:txBody>
                    <a:bodyPr/>
                    <a:lstStyle/>
                    <a:p>
                      <a:pPr algn="ctr">
                        <a:defRPr/>
                      </a:pPr>
                      <a:r>
                        <a:rPr sz="1800" b="1" i="0" u="none">
                          <a:solidFill>
                            <a:srgbClr val="000000"/>
                          </a:solidFill>
                          <a:latin typeface="Times New Roman"/>
                          <a:ea typeface="Times New Roman"/>
                          <a:cs typeface="Times New Roman"/>
                        </a:rPr>
                        <a:t>Khám sốt/ truyền nhiễm</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B3C6E7"/>
                    </a:solidFill>
                  </a:tcPr>
                </a:tc>
                <a:tc>
                  <a:txBody>
                    <a:bodyPr/>
                    <a:lstStyle/>
                    <a:p>
                      <a:pPr algn="ctr">
                        <a:defRPr/>
                      </a:pPr>
                      <a:r>
                        <a:rPr sz="1800" b="1" i="0" u="none">
                          <a:solidFill>
                            <a:srgbClr val="000000"/>
                          </a:solidFill>
                          <a:latin typeface="Times New Roman"/>
                          <a:ea typeface="Times New Roman"/>
                          <a:cs typeface="Times New Roman"/>
                        </a:rPr>
                        <a:t>Khám tim mạch</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B3C6E7"/>
                    </a:solidFill>
                  </a:tcPr>
                </a:tc>
                <a:tc>
                  <a:txBody>
                    <a:bodyPr/>
                    <a:lstStyle/>
                    <a:p>
                      <a:pPr algn="ctr">
                        <a:defRPr/>
                      </a:pPr>
                      <a:r>
                        <a:rPr sz="1800" b="1" i="0" u="none">
                          <a:solidFill>
                            <a:srgbClr val="000000"/>
                          </a:solidFill>
                          <a:latin typeface="Times New Roman"/>
                          <a:ea typeface="Times New Roman"/>
                          <a:cs typeface="Times New Roman"/>
                        </a:rPr>
                        <a:t>Khám tim mạch/ Cấp cứu theo nhận diện Vision</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B3C6E7"/>
                    </a:solidFill>
                  </a:tcPr>
                </a:tc>
                <a:tc>
                  <a:txBody>
                    <a:bodyPr/>
                    <a:lstStyle/>
                    <a:p>
                      <a:pPr algn="ctr">
                        <a:defRPr/>
                      </a:pPr>
                      <a:r>
                        <a:rPr sz="1800" b="1" i="0" u="none">
                          <a:solidFill>
                            <a:srgbClr val="000000"/>
                          </a:solidFill>
                          <a:latin typeface="Times New Roman"/>
                          <a:ea typeface="Times New Roman"/>
                          <a:cs typeface="Times New Roman"/>
                        </a:rPr>
                        <a:t>Cấp cứu</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B3C6E7"/>
                    </a:solidFill>
                  </a:tcPr>
                </a:tc>
                <a:tc>
                  <a:txBody>
                    <a:bodyPr/>
                    <a:lstStyle/>
                    <a:p>
                      <a:pPr algn="ctr">
                        <a:defRPr/>
                      </a:pPr>
                      <a:r>
                        <a:rPr sz="1800" b="1" i="0" u="none">
                          <a:solidFill>
                            <a:srgbClr val="000000"/>
                          </a:solidFill>
                          <a:latin typeface="Times New Roman"/>
                          <a:ea typeface="Times New Roman"/>
                          <a:cs typeface="Times New Roman"/>
                        </a:rPr>
                        <a:t>Khám tổng quát</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B3C6E7"/>
                    </a:solidFill>
                  </a:tcPr>
                </a:tc>
                <a:tc>
                  <a:txBody>
                    <a:bodyPr/>
                    <a:lstStyle/>
                    <a:p>
                      <a:pPr algn="ctr">
                        <a:defRPr/>
                      </a:pPr>
                      <a:r>
                        <a:rPr sz="1800" b="1" i="0" u="none">
                          <a:solidFill>
                            <a:srgbClr val="000000"/>
                          </a:solidFill>
                          <a:latin typeface="Times New Roman"/>
                          <a:ea typeface="Times New Roman"/>
                          <a:cs typeface="Times New Roman"/>
                        </a:rPr>
                        <a:t>Bệnh nhân vô danh(không người thân, không giấy tờ)</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B3C6E7"/>
                    </a:solidFill>
                  </a:tcPr>
                </a:tc>
                <a:tc>
                  <a:txBody>
                    <a:bodyPr/>
                    <a:lstStyle/>
                    <a:p>
                      <a:pPr algn="ctr">
                        <a:defRPr/>
                      </a:pPr>
                      <a:r>
                        <a:rPr sz="1800" b="1" i="0" u="none">
                          <a:solidFill>
                            <a:srgbClr val="000000"/>
                          </a:solidFill>
                          <a:latin typeface="Times New Roman"/>
                          <a:ea typeface="Times New Roman"/>
                          <a:cs typeface="Times New Roman"/>
                        </a:rPr>
                        <a:t>Lỗi hệ thống</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B3C6E7"/>
                    </a:solidFill>
                  </a:tcPr>
                </a:tc>
                <a:extLst>
                  <a:ext uri="{0D108BD9-81ED-4DB2-BD59-A6C34878D82A}">
                    <a16:rowId xmlns:a16="http://schemas.microsoft.com/office/drawing/2014/main" val="10000"/>
                  </a:ext>
                </a:extLst>
              </a:tr>
              <a:tr h="577246">
                <a:tc>
                  <a:txBody>
                    <a:bodyPr/>
                    <a:lstStyle/>
                    <a:p>
                      <a:pPr algn="ctr">
                        <a:defRPr/>
                      </a:pPr>
                      <a:r>
                        <a:rPr sz="1800" b="0" i="0" u="none">
                          <a:solidFill>
                            <a:srgbClr val="000000"/>
                          </a:solidFill>
                          <a:latin typeface="Times New Roman"/>
                          <a:ea typeface="Times New Roman"/>
                          <a:cs typeface="Times New Roman"/>
                        </a:rPr>
                        <a:t>1</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800" b="1" i="0" u="none">
                          <a:solidFill>
                            <a:srgbClr val="000000"/>
                          </a:solidFill>
                          <a:latin typeface="Times New Roman"/>
                          <a:ea typeface="Times New Roman"/>
                          <a:cs typeface="Times New Roman"/>
                        </a:rPr>
                        <a:t>Condition</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800" b="0" i="0" u="none">
                          <a:solidFill>
                            <a:srgbClr val="000000"/>
                          </a:solidFill>
                          <a:latin typeface="Times New Roman"/>
                          <a:ea typeface="Times New Roman"/>
                          <a:cs typeface="Times New Roman"/>
                        </a:rPr>
                        <a:t>C1: Nhiệt độ cơ thể &gt; 38.0°C (Sốt)</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800" b="0" i="0" u="none">
                          <a:solidFill>
                            <a:srgbClr val="000000"/>
                          </a:solidFill>
                          <a:latin typeface="Times New Roman"/>
                          <a:ea typeface="Times New Roman"/>
                          <a:cs typeface="Times New Roman"/>
                        </a:rPr>
                        <a:t>T</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800" b="0" i="0" u="none">
                          <a:solidFill>
                            <a:srgbClr val="000000"/>
                          </a:solidFill>
                          <a:latin typeface="Times New Roman"/>
                          <a:ea typeface="Times New Roman"/>
                          <a:cs typeface="Times New Roman"/>
                        </a:rPr>
                        <a:t>F</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800" b="0" i="0" u="none">
                          <a:solidFill>
                            <a:srgbClr val="000000"/>
                          </a:solidFill>
                          <a:latin typeface="Times New Roman"/>
                          <a:ea typeface="Times New Roman"/>
                          <a:cs typeface="Times New Roman"/>
                        </a:rPr>
                        <a:t>F</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800" b="0" i="0" u="none">
                          <a:solidFill>
                            <a:srgbClr val="000000"/>
                          </a:solidFill>
                          <a:latin typeface="Times New Roman"/>
                          <a:ea typeface="Times New Roman"/>
                          <a:cs typeface="Times New Roman"/>
                        </a:rPr>
                        <a:t>T</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800" b="0" i="0" u="none">
                          <a:solidFill>
                            <a:srgbClr val="000000"/>
                          </a:solidFill>
                          <a:latin typeface="Times New Roman"/>
                          <a:ea typeface="Times New Roman"/>
                          <a:cs typeface="Times New Roman"/>
                        </a:rPr>
                        <a:t>F</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800" b="0" i="0" u="none">
                          <a:solidFill>
                            <a:srgbClr val="000000"/>
                          </a:solidFill>
                          <a:latin typeface="Times New Roman"/>
                          <a:ea typeface="Times New Roman"/>
                          <a:cs typeface="Times New Roman"/>
                        </a:rPr>
                        <a:t>F</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800" b="0" i="0" u="none">
                          <a:solidFill>
                            <a:srgbClr val="000000"/>
                          </a:solidFill>
                          <a:latin typeface="Times New Roman"/>
                          <a:ea typeface="Times New Roman"/>
                          <a:cs typeface="Times New Roman"/>
                        </a:rPr>
                        <a:t>F</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extLst>
                  <a:ext uri="{0D108BD9-81ED-4DB2-BD59-A6C34878D82A}">
                    <a16:rowId xmlns:a16="http://schemas.microsoft.com/office/drawing/2014/main" val="10001"/>
                  </a:ext>
                </a:extLst>
              </a:tr>
              <a:tr h="676275">
                <a:tc>
                  <a:txBody>
                    <a:bodyPr/>
                    <a:lstStyle/>
                    <a:p>
                      <a:pPr algn="ctr">
                        <a:defRPr/>
                      </a:pPr>
                      <a:r>
                        <a:rPr sz="1800" b="0" i="0" u="none">
                          <a:solidFill>
                            <a:srgbClr val="000000"/>
                          </a:solidFill>
                          <a:latin typeface="Times New Roman"/>
                          <a:ea typeface="Times New Roman"/>
                          <a:cs typeface="Times New Roman"/>
                        </a:rPr>
                        <a:t>2</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800" b="1" i="0" u="none">
                          <a:solidFill>
                            <a:srgbClr val="000000"/>
                          </a:solidFill>
                          <a:latin typeface="Times New Roman"/>
                          <a:ea typeface="Times New Roman"/>
                          <a:cs typeface="Times New Roman"/>
                        </a:rPr>
                        <a:t>Condition</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800" b="0" i="0" u="none">
                          <a:solidFill>
                            <a:srgbClr val="000000"/>
                          </a:solidFill>
                          <a:latin typeface="Times New Roman"/>
                          <a:ea typeface="Times New Roman"/>
                          <a:cs typeface="Times New Roman"/>
                        </a:rPr>
                        <a:t>C2: Nhịp tim &gt; 100 bpm hoặc SpO2 &lt; 95%</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800" b="0" i="0" u="none">
                          <a:solidFill>
                            <a:srgbClr val="000000"/>
                          </a:solidFill>
                          <a:latin typeface="Times New Roman"/>
                          <a:ea typeface="Times New Roman"/>
                          <a:cs typeface="Times New Roman"/>
                        </a:rPr>
                        <a:t>-</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800" b="0" i="0" u="none">
                          <a:solidFill>
                            <a:srgbClr val="000000"/>
                          </a:solidFill>
                          <a:latin typeface="Times New Roman"/>
                          <a:ea typeface="Times New Roman"/>
                          <a:cs typeface="Times New Roman"/>
                        </a:rPr>
                        <a:t>T</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800" b="0" i="0" u="none">
                          <a:solidFill>
                            <a:srgbClr val="000000"/>
                          </a:solidFill>
                          <a:latin typeface="Times New Roman"/>
                          <a:ea typeface="Times New Roman"/>
                          <a:cs typeface="Times New Roman"/>
                        </a:rPr>
                        <a:t>F</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800" b="0" i="0" u="none">
                          <a:solidFill>
                            <a:srgbClr val="000000"/>
                          </a:solidFill>
                          <a:latin typeface="Times New Roman"/>
                          <a:ea typeface="Times New Roman"/>
                          <a:cs typeface="Times New Roman"/>
                        </a:rPr>
                        <a:t>T</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800" b="0" i="0" u="none">
                          <a:solidFill>
                            <a:srgbClr val="000000"/>
                          </a:solidFill>
                          <a:latin typeface="Times New Roman"/>
                          <a:ea typeface="Times New Roman"/>
                          <a:cs typeface="Times New Roman"/>
                        </a:rPr>
                        <a:t>F</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800" b="0" i="0" u="none">
                          <a:solidFill>
                            <a:srgbClr val="000000"/>
                          </a:solidFill>
                          <a:latin typeface="Times New Roman"/>
                          <a:ea typeface="Times New Roman"/>
                          <a:cs typeface="Times New Roman"/>
                        </a:rPr>
                        <a:t>F</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800" b="0" i="0" u="none">
                          <a:solidFill>
                            <a:srgbClr val="000000"/>
                          </a:solidFill>
                          <a:latin typeface="Times New Roman"/>
                          <a:ea typeface="Times New Roman"/>
                          <a:cs typeface="Times New Roman"/>
                        </a:rPr>
                        <a:t>F</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extLst>
                  <a:ext uri="{0D108BD9-81ED-4DB2-BD59-A6C34878D82A}">
                    <a16:rowId xmlns:a16="http://schemas.microsoft.com/office/drawing/2014/main" val="10002"/>
                  </a:ext>
                </a:extLst>
              </a:tr>
              <a:tr h="676275">
                <a:tc>
                  <a:txBody>
                    <a:bodyPr/>
                    <a:lstStyle/>
                    <a:p>
                      <a:pPr algn="ctr">
                        <a:defRPr/>
                      </a:pPr>
                      <a:r>
                        <a:rPr sz="1800" b="0" i="0" u="none">
                          <a:solidFill>
                            <a:srgbClr val="000000"/>
                          </a:solidFill>
                          <a:latin typeface="Times New Roman"/>
                          <a:ea typeface="Times New Roman"/>
                          <a:cs typeface="Times New Roman"/>
                        </a:rPr>
                        <a:t>3</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800" b="1" i="0" u="none">
                          <a:solidFill>
                            <a:srgbClr val="000000"/>
                          </a:solidFill>
                          <a:latin typeface="Times New Roman"/>
                          <a:ea typeface="Times New Roman"/>
                          <a:cs typeface="Times New Roman"/>
                        </a:rPr>
                        <a:t>Condition</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800" b="0" i="0" u="none">
                          <a:solidFill>
                            <a:srgbClr val="000000"/>
                          </a:solidFill>
                          <a:latin typeface="Times New Roman"/>
                          <a:ea typeface="Times New Roman"/>
                          <a:cs typeface="Times New Roman"/>
                        </a:rPr>
                        <a:t>C3: Detection: Tư thế ôm ngực / Mệt mỏi gục đầu</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800" b="0" i="0" u="none">
                          <a:solidFill>
                            <a:srgbClr val="000000"/>
                          </a:solidFill>
                          <a:latin typeface="Times New Roman"/>
                          <a:ea typeface="Times New Roman"/>
                          <a:cs typeface="Times New Roman"/>
                        </a:rPr>
                        <a:t>-</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800" b="0" i="0" u="none">
                          <a:solidFill>
                            <a:srgbClr val="000000"/>
                          </a:solidFill>
                          <a:latin typeface="Times New Roman"/>
                          <a:ea typeface="Times New Roman"/>
                          <a:cs typeface="Times New Roman"/>
                        </a:rPr>
                        <a:t>-</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800" b="0" i="0" u="none">
                          <a:solidFill>
                            <a:srgbClr val="000000"/>
                          </a:solidFill>
                          <a:latin typeface="Times New Roman"/>
                          <a:ea typeface="Times New Roman"/>
                          <a:cs typeface="Times New Roman"/>
                        </a:rPr>
                        <a:t>T</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800" b="0" i="0" u="none">
                          <a:solidFill>
                            <a:srgbClr val="000000"/>
                          </a:solidFill>
                          <a:latin typeface="Times New Roman"/>
                          <a:ea typeface="Times New Roman"/>
                          <a:cs typeface="Times New Roman"/>
                        </a:rPr>
                        <a:t>T</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800" b="0" i="0" u="none">
                          <a:solidFill>
                            <a:srgbClr val="000000"/>
                          </a:solidFill>
                          <a:latin typeface="Times New Roman"/>
                          <a:ea typeface="Times New Roman"/>
                          <a:cs typeface="Times New Roman"/>
                        </a:rPr>
                        <a:t>F</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800" b="0" i="0" u="none">
                          <a:solidFill>
                            <a:srgbClr val="000000"/>
                          </a:solidFill>
                          <a:latin typeface="Times New Roman"/>
                          <a:ea typeface="Times New Roman"/>
                          <a:cs typeface="Times New Roman"/>
                        </a:rPr>
                        <a:t>F</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800" b="0" i="0" u="none">
                          <a:solidFill>
                            <a:srgbClr val="000000"/>
                          </a:solidFill>
                          <a:latin typeface="Times New Roman"/>
                          <a:ea typeface="Times New Roman"/>
                          <a:cs typeface="Times New Roman"/>
                        </a:rPr>
                        <a:t>F</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extLst>
                  <a:ext uri="{0D108BD9-81ED-4DB2-BD59-A6C34878D82A}">
                    <a16:rowId xmlns:a16="http://schemas.microsoft.com/office/drawing/2014/main" val="10003"/>
                  </a:ext>
                </a:extLst>
              </a:tr>
              <a:tr h="486513">
                <a:tc>
                  <a:txBody>
                    <a:bodyPr/>
                    <a:lstStyle/>
                    <a:p>
                      <a:pPr algn="ctr">
                        <a:defRPr/>
                      </a:pPr>
                      <a:r>
                        <a:rPr sz="1800" b="0" i="0" u="none">
                          <a:solidFill>
                            <a:srgbClr val="000000"/>
                          </a:solidFill>
                          <a:latin typeface="Times New Roman"/>
                          <a:ea typeface="Times New Roman"/>
                          <a:cs typeface="Times New Roman"/>
                        </a:rPr>
                        <a:t>4</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800" b="1" i="0" u="none">
                          <a:solidFill>
                            <a:srgbClr val="000000"/>
                          </a:solidFill>
                          <a:latin typeface="Times New Roman"/>
                          <a:ea typeface="Times New Roman"/>
                          <a:cs typeface="Times New Roman"/>
                        </a:rPr>
                        <a:t>Condition</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800" b="0" i="0" u="none">
                          <a:solidFill>
                            <a:srgbClr val="000000"/>
                          </a:solidFill>
                          <a:latin typeface="Times New Roman"/>
                          <a:ea typeface="Times New Roman"/>
                          <a:cs typeface="Times New Roman"/>
                        </a:rPr>
                        <a:t>C4: OCR CCCD đọc thành công</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800" b="0" i="0" u="none">
                          <a:solidFill>
                            <a:srgbClr val="000000"/>
                          </a:solidFill>
                          <a:latin typeface="Times New Roman"/>
                          <a:ea typeface="Times New Roman"/>
                          <a:cs typeface="Times New Roman"/>
                        </a:rPr>
                        <a:t>T</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800" b="0" i="0" u="none">
                          <a:solidFill>
                            <a:srgbClr val="000000"/>
                          </a:solidFill>
                          <a:latin typeface="Times New Roman"/>
                          <a:ea typeface="Times New Roman"/>
                          <a:cs typeface="Times New Roman"/>
                        </a:rPr>
                        <a:t>T</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800" b="0" i="0" u="none">
                          <a:solidFill>
                            <a:srgbClr val="000000"/>
                          </a:solidFill>
                          <a:latin typeface="Times New Roman"/>
                          <a:ea typeface="Times New Roman"/>
                          <a:cs typeface="Times New Roman"/>
                        </a:rPr>
                        <a:t>T</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800" b="0" i="0" u="none">
                          <a:solidFill>
                            <a:srgbClr val="000000"/>
                          </a:solidFill>
                          <a:latin typeface="Times New Roman"/>
                          <a:ea typeface="Times New Roman"/>
                          <a:cs typeface="Times New Roman"/>
                        </a:rPr>
                        <a:t>T</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800" b="0" i="0" u="none">
                          <a:solidFill>
                            <a:srgbClr val="000000"/>
                          </a:solidFill>
                          <a:latin typeface="Times New Roman"/>
                          <a:ea typeface="Times New Roman"/>
                          <a:cs typeface="Times New Roman"/>
                        </a:rPr>
                        <a:t>T</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800" b="0" i="0" u="none">
                          <a:solidFill>
                            <a:srgbClr val="000000"/>
                          </a:solidFill>
                          <a:latin typeface="Times New Roman"/>
                          <a:ea typeface="Times New Roman"/>
                          <a:cs typeface="Times New Roman"/>
                        </a:rPr>
                        <a:t>F</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800" b="0" i="0" u="none">
                          <a:solidFill>
                            <a:srgbClr val="000000"/>
                          </a:solidFill>
                          <a:latin typeface="Times New Roman"/>
                          <a:ea typeface="Times New Roman"/>
                          <a:cs typeface="Times New Roman"/>
                        </a:rPr>
                        <a:t>F</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extLst>
                  <a:ext uri="{0D108BD9-81ED-4DB2-BD59-A6C34878D82A}">
                    <a16:rowId xmlns:a16="http://schemas.microsoft.com/office/drawing/2014/main" val="10004"/>
                  </a:ext>
                </a:extLst>
              </a:tr>
              <a:tr h="676275">
                <a:tc>
                  <a:txBody>
                    <a:bodyPr/>
                    <a:lstStyle/>
                    <a:p>
                      <a:pPr algn="ctr">
                        <a:defRPr/>
                      </a:pPr>
                      <a:r>
                        <a:rPr sz="1800" b="0" i="0" u="none">
                          <a:solidFill>
                            <a:srgbClr val="000000"/>
                          </a:solidFill>
                          <a:latin typeface="Times New Roman"/>
                          <a:ea typeface="Times New Roman"/>
                          <a:cs typeface="Times New Roman"/>
                        </a:rPr>
                        <a:t>5</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800" b="1" i="0" u="none">
                          <a:solidFill>
                            <a:srgbClr val="000000"/>
                          </a:solidFill>
                          <a:latin typeface="Times New Roman"/>
                          <a:ea typeface="Times New Roman"/>
                          <a:cs typeface="Times New Roman"/>
                        </a:rPr>
                        <a:t>Condition</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800" b="0" i="0" u="none">
                          <a:solidFill>
                            <a:srgbClr val="000000"/>
                          </a:solidFill>
                          <a:latin typeface="Times New Roman"/>
                          <a:ea typeface="Times New Roman"/>
                          <a:cs typeface="Times New Roman"/>
                        </a:rPr>
                        <a:t>C5: Trạng thái nút bấm / Cảm biến vật lý báo lỗi</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800" b="0" i="0" u="none">
                          <a:solidFill>
                            <a:srgbClr val="000000"/>
                          </a:solidFill>
                          <a:latin typeface="Times New Roman"/>
                          <a:ea typeface="Times New Roman"/>
                          <a:cs typeface="Times New Roman"/>
                        </a:rPr>
                        <a:t>F</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800" b="0" i="0" u="none">
                          <a:solidFill>
                            <a:srgbClr val="000000"/>
                          </a:solidFill>
                          <a:latin typeface="Times New Roman"/>
                          <a:ea typeface="Times New Roman"/>
                          <a:cs typeface="Times New Roman"/>
                        </a:rPr>
                        <a:t>F</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800" b="0" i="0" u="none">
                          <a:solidFill>
                            <a:srgbClr val="000000"/>
                          </a:solidFill>
                          <a:latin typeface="Times New Roman"/>
                          <a:ea typeface="Times New Roman"/>
                          <a:cs typeface="Times New Roman"/>
                        </a:rPr>
                        <a:t>F</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800" b="0" i="0" u="none">
                          <a:solidFill>
                            <a:srgbClr val="000000"/>
                          </a:solidFill>
                          <a:latin typeface="Times New Roman"/>
                          <a:ea typeface="Times New Roman"/>
                          <a:cs typeface="Times New Roman"/>
                        </a:rPr>
                        <a:t>F</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800" b="0" i="0" u="none">
                          <a:solidFill>
                            <a:srgbClr val="000000"/>
                          </a:solidFill>
                          <a:latin typeface="Times New Roman"/>
                          <a:ea typeface="Times New Roman"/>
                          <a:cs typeface="Times New Roman"/>
                        </a:rPr>
                        <a:t>F</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800" b="0" i="0" u="none">
                          <a:solidFill>
                            <a:srgbClr val="000000"/>
                          </a:solidFill>
                          <a:latin typeface="Times New Roman"/>
                          <a:ea typeface="Times New Roman"/>
                          <a:cs typeface="Times New Roman"/>
                        </a:rPr>
                        <a:t>F</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800" b="0" i="0" u="none">
                          <a:solidFill>
                            <a:srgbClr val="000000"/>
                          </a:solidFill>
                          <a:latin typeface="Times New Roman"/>
                          <a:ea typeface="Times New Roman"/>
                          <a:cs typeface="Times New Roman"/>
                        </a:rPr>
                        <a:t>T</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extLst>
                  <a:ext uri="{0D108BD9-81ED-4DB2-BD59-A6C34878D82A}">
                    <a16:rowId xmlns:a16="http://schemas.microsoft.com/office/drawing/2014/main" val="10005"/>
                  </a:ext>
                </a:extLst>
              </a:tr>
              <a:tr h="615130">
                <a:tc>
                  <a:txBody>
                    <a:bodyPr/>
                    <a:lstStyle/>
                    <a:p>
                      <a:pPr algn="ctr">
                        <a:defRPr/>
                      </a:pPr>
                      <a:r>
                        <a:rPr sz="1800" b="0" i="0" u="none">
                          <a:solidFill>
                            <a:srgbClr val="000000"/>
                          </a:solidFill>
                          <a:latin typeface="Times New Roman"/>
                          <a:ea typeface="Times New Roman"/>
                          <a:cs typeface="Times New Roman"/>
                        </a:rPr>
                        <a:t>6</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800" b="1" i="0" u="none">
                          <a:solidFill>
                            <a:srgbClr val="000000"/>
                          </a:solidFill>
                          <a:latin typeface="Times New Roman"/>
                          <a:ea typeface="Times New Roman"/>
                          <a:cs typeface="Times New Roman"/>
                        </a:rPr>
                        <a:t>Action</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800" b="0" i="0" u="none">
                          <a:solidFill>
                            <a:srgbClr val="000000"/>
                          </a:solidFill>
                          <a:latin typeface="Times New Roman"/>
                          <a:ea typeface="Times New Roman"/>
                          <a:cs typeface="Times New Roman"/>
                        </a:rPr>
                        <a:t>A1: Chỉ định Khoa Cấp cứu (Emergency)</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800" b="0" i="0" u="none">
                          <a:solidFill>
                            <a:srgbClr val="000000"/>
                          </a:solidFill>
                          <a:latin typeface="Times New Roman"/>
                          <a:ea typeface="Times New Roman"/>
                          <a:cs typeface="Times New Roman"/>
                        </a:rPr>
                        <a:t>X</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extLst>
                  <a:ext uri="{0D108BD9-81ED-4DB2-BD59-A6C34878D82A}">
                    <a16:rowId xmlns:a16="http://schemas.microsoft.com/office/drawing/2014/main" val="10006"/>
                  </a:ext>
                </a:extLst>
              </a:tr>
              <a:tr h="486513">
                <a:tc>
                  <a:txBody>
                    <a:bodyPr/>
                    <a:lstStyle/>
                    <a:p>
                      <a:pPr algn="ctr">
                        <a:defRPr/>
                      </a:pPr>
                      <a:r>
                        <a:rPr sz="1800" b="0" i="0" u="none">
                          <a:solidFill>
                            <a:srgbClr val="000000"/>
                          </a:solidFill>
                          <a:latin typeface="Times New Roman"/>
                          <a:ea typeface="Times New Roman"/>
                          <a:cs typeface="Times New Roman"/>
                        </a:rPr>
                        <a:t>7</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800" b="1" i="0" u="none">
                          <a:solidFill>
                            <a:srgbClr val="000000"/>
                          </a:solidFill>
                          <a:latin typeface="Times New Roman"/>
                          <a:ea typeface="Times New Roman"/>
                          <a:cs typeface="Times New Roman"/>
                        </a:rPr>
                        <a:t>Action</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800" b="0" i="0" u="none">
                          <a:solidFill>
                            <a:srgbClr val="000000"/>
                          </a:solidFill>
                          <a:latin typeface="Times New Roman"/>
                          <a:ea typeface="Times New Roman"/>
                          <a:cs typeface="Times New Roman"/>
                        </a:rPr>
                        <a:t>A2: Chỉ định Khoa Tim mạch</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800" b="0" i="0" u="none">
                          <a:solidFill>
                            <a:srgbClr val="000000"/>
                          </a:solidFill>
                          <a:latin typeface="Times New Roman"/>
                          <a:ea typeface="Times New Roman"/>
                          <a:cs typeface="Times New Roman"/>
                        </a:rPr>
                        <a:t>X</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800" b="0" i="0" u="none">
                          <a:solidFill>
                            <a:srgbClr val="000000"/>
                          </a:solidFill>
                          <a:latin typeface="Times New Roman"/>
                          <a:ea typeface="Times New Roman"/>
                          <a:cs typeface="Times New Roman"/>
                        </a:rPr>
                        <a:t>X</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extLst>
                  <a:ext uri="{0D108BD9-81ED-4DB2-BD59-A6C34878D82A}">
                    <a16:rowId xmlns:a16="http://schemas.microsoft.com/office/drawing/2014/main" val="10007"/>
                  </a:ext>
                </a:extLst>
              </a:tr>
              <a:tr h="676275">
                <a:tc>
                  <a:txBody>
                    <a:bodyPr/>
                    <a:lstStyle/>
                    <a:p>
                      <a:pPr algn="ctr">
                        <a:defRPr/>
                      </a:pPr>
                      <a:r>
                        <a:rPr sz="1800" b="0" i="0" u="none">
                          <a:solidFill>
                            <a:srgbClr val="000000"/>
                          </a:solidFill>
                          <a:latin typeface="Times New Roman"/>
                          <a:ea typeface="Times New Roman"/>
                          <a:cs typeface="Times New Roman"/>
                        </a:rPr>
                        <a:t>8</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800" b="1" i="0" u="none">
                          <a:solidFill>
                            <a:srgbClr val="000000"/>
                          </a:solidFill>
                          <a:latin typeface="Times New Roman"/>
                          <a:ea typeface="Times New Roman"/>
                          <a:cs typeface="Times New Roman"/>
                        </a:rPr>
                        <a:t>Action</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800" b="0" i="0" u="none">
                          <a:solidFill>
                            <a:srgbClr val="000000"/>
                          </a:solidFill>
                          <a:latin typeface="Times New Roman"/>
                          <a:ea typeface="Times New Roman"/>
                          <a:cs typeface="Times New Roman"/>
                        </a:rPr>
                        <a:t>A3: Chỉ định Khoa Truyền nhiễm / Khám Sốt</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800" b="0" i="0" u="none">
                          <a:solidFill>
                            <a:srgbClr val="000000"/>
                          </a:solidFill>
                          <a:latin typeface="Times New Roman"/>
                          <a:ea typeface="Times New Roman"/>
                          <a:cs typeface="Times New Roman"/>
                        </a:rPr>
                        <a:t>X</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extLst>
                  <a:ext uri="{0D108BD9-81ED-4DB2-BD59-A6C34878D82A}">
                    <a16:rowId xmlns:a16="http://schemas.microsoft.com/office/drawing/2014/main" val="10008"/>
                  </a:ext>
                </a:extLst>
              </a:tr>
              <a:tr h="676275">
                <a:tc>
                  <a:txBody>
                    <a:bodyPr/>
                    <a:lstStyle/>
                    <a:p>
                      <a:pPr algn="ctr">
                        <a:defRPr/>
                      </a:pPr>
                      <a:r>
                        <a:rPr sz="1800" b="0" i="0" u="none">
                          <a:solidFill>
                            <a:srgbClr val="000000"/>
                          </a:solidFill>
                          <a:latin typeface="Times New Roman"/>
                          <a:ea typeface="Times New Roman"/>
                          <a:cs typeface="Times New Roman"/>
                        </a:rPr>
                        <a:t>9</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800" b="1" i="0" u="none">
                          <a:solidFill>
                            <a:srgbClr val="000000"/>
                          </a:solidFill>
                          <a:latin typeface="Times New Roman"/>
                          <a:ea typeface="Times New Roman"/>
                          <a:cs typeface="Times New Roman"/>
                        </a:rPr>
                        <a:t>Action</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800" b="0" i="0" u="none">
                          <a:solidFill>
                            <a:srgbClr val="000000"/>
                          </a:solidFill>
                          <a:latin typeface="Times New Roman"/>
                          <a:ea typeface="Times New Roman"/>
                          <a:cs typeface="Times New Roman"/>
                        </a:rPr>
                        <a:t>A4: Chỉ định Khoa Khám bệnh Tổng quát</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800" b="0" i="0" u="none">
                          <a:solidFill>
                            <a:srgbClr val="000000"/>
                          </a:solidFill>
                          <a:latin typeface="Times New Roman"/>
                          <a:ea typeface="Times New Roman"/>
                          <a:cs typeface="Times New Roman"/>
                        </a:rPr>
                        <a:t>X</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extLst>
                  <a:ext uri="{0D108BD9-81ED-4DB2-BD59-A6C34878D82A}">
                    <a16:rowId xmlns:a16="http://schemas.microsoft.com/office/drawing/2014/main" val="10009"/>
                  </a:ext>
                </a:extLst>
              </a:tr>
              <a:tr h="676275">
                <a:tc>
                  <a:txBody>
                    <a:bodyPr/>
                    <a:lstStyle/>
                    <a:p>
                      <a:pPr algn="ctr">
                        <a:defRPr/>
                      </a:pPr>
                      <a:r>
                        <a:rPr sz="1800" b="0" i="0" u="none">
                          <a:solidFill>
                            <a:srgbClr val="000000"/>
                          </a:solidFill>
                          <a:latin typeface="Times New Roman"/>
                          <a:ea typeface="Times New Roman"/>
                          <a:cs typeface="Times New Roman"/>
                        </a:rPr>
                        <a:t>10</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800" b="1" i="0" u="none">
                          <a:solidFill>
                            <a:srgbClr val="000000"/>
                          </a:solidFill>
                          <a:latin typeface="Times New Roman"/>
                          <a:ea typeface="Times New Roman"/>
                          <a:cs typeface="Times New Roman"/>
                        </a:rPr>
                        <a:t>Action</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800" b="0" i="0" u="none">
                          <a:solidFill>
                            <a:srgbClr val="000000"/>
                          </a:solidFill>
                          <a:latin typeface="Times New Roman"/>
                          <a:ea typeface="Times New Roman"/>
                          <a:cs typeface="Times New Roman"/>
                        </a:rPr>
                        <a:t>A5: Gán nhãn "Ưu tiên Cao" (High Priority)</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800" b="0" i="0" u="none">
                          <a:solidFill>
                            <a:srgbClr val="000000"/>
                          </a:solidFill>
                          <a:latin typeface="Times New Roman"/>
                          <a:ea typeface="Times New Roman"/>
                          <a:cs typeface="Times New Roman"/>
                        </a:rPr>
                        <a:t>X</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800" b="0" i="0" u="none">
                          <a:solidFill>
                            <a:srgbClr val="000000"/>
                          </a:solidFill>
                          <a:latin typeface="Times New Roman"/>
                          <a:ea typeface="Times New Roman"/>
                          <a:cs typeface="Times New Roman"/>
                        </a:rPr>
                        <a:t>X</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800" b="0" i="0" u="none">
                          <a:solidFill>
                            <a:srgbClr val="000000"/>
                          </a:solidFill>
                          <a:latin typeface="Times New Roman"/>
                          <a:ea typeface="Times New Roman"/>
                          <a:cs typeface="Times New Roman"/>
                        </a:rPr>
                        <a:t>X</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800" b="0" i="0" u="none">
                          <a:solidFill>
                            <a:srgbClr val="000000"/>
                          </a:solidFill>
                          <a:latin typeface="Times New Roman"/>
                          <a:ea typeface="Times New Roman"/>
                          <a:cs typeface="Times New Roman"/>
                        </a:rPr>
                        <a:t>X</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extLst>
                  <a:ext uri="{0D108BD9-81ED-4DB2-BD59-A6C34878D82A}">
                    <a16:rowId xmlns:a16="http://schemas.microsoft.com/office/drawing/2014/main" val="10010"/>
                  </a:ext>
                </a:extLst>
              </a:tr>
              <a:tr h="676275">
                <a:tc>
                  <a:txBody>
                    <a:bodyPr/>
                    <a:lstStyle/>
                    <a:p>
                      <a:pPr algn="ctr">
                        <a:defRPr/>
                      </a:pPr>
                      <a:r>
                        <a:rPr sz="1800" b="0" i="0" u="none">
                          <a:solidFill>
                            <a:srgbClr val="000000"/>
                          </a:solidFill>
                          <a:latin typeface="Times New Roman"/>
                          <a:ea typeface="Times New Roman"/>
                          <a:cs typeface="Times New Roman"/>
                        </a:rPr>
                        <a:t>11</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800" b="1" i="0" u="none">
                          <a:solidFill>
                            <a:srgbClr val="000000"/>
                          </a:solidFill>
                          <a:latin typeface="Times New Roman"/>
                          <a:ea typeface="Times New Roman"/>
                          <a:cs typeface="Times New Roman"/>
                        </a:rPr>
                        <a:t>Action</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800" b="0" i="0" u="none">
                          <a:solidFill>
                            <a:srgbClr val="000000"/>
                          </a:solidFill>
                          <a:latin typeface="Times New Roman"/>
                          <a:ea typeface="Times New Roman"/>
                          <a:cs typeface="Times New Roman"/>
                        </a:rPr>
                        <a:t>A6: Tạo thông tin bệnh nhân Ẩn danh (Vô danh)</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800" b="0" i="0" u="none">
                          <a:solidFill>
                            <a:srgbClr val="000000"/>
                          </a:solidFill>
                          <a:latin typeface="Times New Roman"/>
                          <a:ea typeface="Times New Roman"/>
                          <a:cs typeface="Times New Roman"/>
                        </a:rPr>
                        <a:t>X</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extLst>
                  <a:ext uri="{0D108BD9-81ED-4DB2-BD59-A6C34878D82A}">
                    <a16:rowId xmlns:a16="http://schemas.microsoft.com/office/drawing/2014/main" val="10011"/>
                  </a:ext>
                </a:extLst>
              </a:tr>
              <a:tr h="711415">
                <a:tc>
                  <a:txBody>
                    <a:bodyPr/>
                    <a:lstStyle/>
                    <a:p>
                      <a:pPr algn="ctr">
                        <a:defRPr/>
                      </a:pPr>
                      <a:r>
                        <a:rPr sz="1800" b="0" i="0" u="none">
                          <a:solidFill>
                            <a:srgbClr val="000000"/>
                          </a:solidFill>
                          <a:latin typeface="Times New Roman"/>
                          <a:ea typeface="Times New Roman"/>
                          <a:cs typeface="Times New Roman"/>
                        </a:rPr>
                        <a:t>12</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800" b="1" i="0" u="none">
                          <a:solidFill>
                            <a:srgbClr val="000000"/>
                          </a:solidFill>
                          <a:latin typeface="Times New Roman"/>
                          <a:ea typeface="Times New Roman"/>
                          <a:cs typeface="Times New Roman"/>
                        </a:rPr>
                        <a:t>Action</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800" b="0" i="0" u="none">
                          <a:solidFill>
                            <a:srgbClr val="000000"/>
                          </a:solidFill>
                          <a:latin typeface="Times New Roman"/>
                          <a:ea typeface="Times New Roman"/>
                          <a:cs typeface="Times New Roman"/>
                        </a:rPr>
                        <a:t>A7: Gửi MQTT Trigger lệnh In phiếu qua UART</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800" b="0" i="0" u="none">
                          <a:solidFill>
                            <a:srgbClr val="000000"/>
                          </a:solidFill>
                          <a:latin typeface="Times New Roman"/>
                          <a:ea typeface="Times New Roman"/>
                          <a:cs typeface="Times New Roman"/>
                        </a:rPr>
                        <a:t>X</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800" b="0" i="0" u="none">
                          <a:solidFill>
                            <a:srgbClr val="000000"/>
                          </a:solidFill>
                          <a:latin typeface="Times New Roman"/>
                          <a:ea typeface="Times New Roman"/>
                          <a:cs typeface="Times New Roman"/>
                        </a:rPr>
                        <a:t>X</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800" b="0" i="0" u="none">
                          <a:solidFill>
                            <a:srgbClr val="000000"/>
                          </a:solidFill>
                          <a:latin typeface="Times New Roman"/>
                          <a:ea typeface="Times New Roman"/>
                          <a:cs typeface="Times New Roman"/>
                        </a:rPr>
                        <a:t>X</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800" b="0" i="0" u="none">
                          <a:solidFill>
                            <a:srgbClr val="000000"/>
                          </a:solidFill>
                          <a:latin typeface="Times New Roman"/>
                          <a:ea typeface="Times New Roman"/>
                          <a:cs typeface="Times New Roman"/>
                        </a:rPr>
                        <a:t>X</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800" b="0" i="0" u="none">
                          <a:solidFill>
                            <a:srgbClr val="000000"/>
                          </a:solidFill>
                          <a:latin typeface="Times New Roman"/>
                          <a:ea typeface="Times New Roman"/>
                          <a:cs typeface="Times New Roman"/>
                        </a:rPr>
                        <a:t>X</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800" b="0" i="0" u="none">
                          <a:solidFill>
                            <a:srgbClr val="000000"/>
                          </a:solidFill>
                          <a:latin typeface="Times New Roman"/>
                          <a:ea typeface="Times New Roman"/>
                          <a:cs typeface="Times New Roman"/>
                        </a:rPr>
                        <a:t>X</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extLst>
                  <a:ext uri="{0D108BD9-81ED-4DB2-BD59-A6C34878D82A}">
                    <a16:rowId xmlns:a16="http://schemas.microsoft.com/office/drawing/2014/main" val="10012"/>
                  </a:ext>
                </a:extLst>
              </a:tr>
              <a:tr h="767641">
                <a:tc>
                  <a:txBody>
                    <a:bodyPr/>
                    <a:lstStyle/>
                    <a:p>
                      <a:pPr algn="ctr">
                        <a:defRPr/>
                      </a:pPr>
                      <a:r>
                        <a:rPr sz="1800" b="0" i="0" u="none">
                          <a:solidFill>
                            <a:srgbClr val="000000"/>
                          </a:solidFill>
                          <a:latin typeface="Times New Roman"/>
                          <a:ea typeface="Times New Roman"/>
                          <a:cs typeface="Times New Roman"/>
                        </a:rPr>
                        <a:t>13</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800" b="1" i="0" u="none">
                          <a:solidFill>
                            <a:srgbClr val="000000"/>
                          </a:solidFill>
                          <a:latin typeface="Times New Roman"/>
                          <a:ea typeface="Times New Roman"/>
                          <a:cs typeface="Times New Roman"/>
                        </a:rPr>
                        <a:t>Action</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800" b="0" i="0" u="none">
                          <a:solidFill>
                            <a:srgbClr val="000000"/>
                          </a:solidFill>
                          <a:latin typeface="Times New Roman"/>
                          <a:ea typeface="Times New Roman"/>
                          <a:cs typeface="Times New Roman"/>
                        </a:rPr>
                        <a:t>A8: Hiển thị cảnh báo lỗi phần cứng lên Screen</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800" b="0" i="0" u="none">
                          <a:solidFill>
                            <a:srgbClr val="000000"/>
                          </a:solidFill>
                          <a:latin typeface="Times New Roman"/>
                          <a:ea typeface="Times New Roman"/>
                          <a:cs typeface="Times New Roman"/>
                        </a:rPr>
                        <a:t>X</a:t>
                      </a:r>
                      <a:endParaRPr sz="2200">
                        <a:latin typeface="Times New Roman"/>
                        <a:cs typeface="Times New Roman"/>
                      </a:endParaRPr>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extLst>
                  <a:ext uri="{0D108BD9-81ED-4DB2-BD59-A6C34878D82A}">
                    <a16:rowId xmlns:a16="http://schemas.microsoft.com/office/drawing/2014/main" val="10013"/>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p:fade/>
      </p:transition>
    </mc:Choice>
    <mc:Fallback xmlns="" xmlns:m="http://schemas.openxmlformats.org/officeDocument/2006/math" xmlns:w="http://schemas.openxmlformats.org/wordprocessingml/2006/main">
      <p:transition spd="fast" advClick="1">
        <p:fade thruBlk="0"/>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54037961" name="TextBox 2"/>
          <p:cNvSpPr txBox="1"/>
          <p:nvPr/>
        </p:nvSpPr>
        <p:spPr bwMode="auto">
          <a:xfrm>
            <a:off x="4230173" y="94739"/>
            <a:ext cx="9549625" cy="1365884"/>
          </a:xfrm>
          <a:prstGeom prst="rect">
            <a:avLst/>
          </a:prstGeom>
        </p:spPr>
        <p:txBody>
          <a:bodyPr lIns="0" tIns="0" rIns="0" bIns="0" rtlCol="0" anchor="t">
            <a:spAutoFit/>
          </a:bodyPr>
          <a:lstStyle/>
          <a:p>
            <a:pPr algn="ctr">
              <a:lnSpc>
                <a:spcPts val="5520"/>
              </a:lnSpc>
              <a:defRPr/>
            </a:pPr>
            <a:r>
              <a:rPr lang="en-US" sz="4000">
                <a:solidFill>
                  <a:srgbClr val="000000"/>
                </a:solidFill>
                <a:latin typeface="Tahoma"/>
                <a:ea typeface="Tahoma"/>
                <a:cs typeface="Tahoma"/>
              </a:rPr>
              <a:t>SƠ ĐỒ KHỐI HỆ THỐNG DẠNG LINH KIỆN</a:t>
            </a:r>
            <a:endParaRPr/>
          </a:p>
          <a:p>
            <a:pPr algn="ctr">
              <a:lnSpc>
                <a:spcPts val="5520"/>
              </a:lnSpc>
              <a:spcBef>
                <a:spcPts val="0"/>
              </a:spcBef>
              <a:defRPr/>
            </a:pPr>
            <a:endParaRPr lang="en-US" sz="4000">
              <a:solidFill>
                <a:srgbClr val="000000"/>
              </a:solidFill>
              <a:latin typeface="Tahoma"/>
              <a:ea typeface="Tahoma"/>
              <a:cs typeface="Tahoma"/>
            </a:endParaRPr>
          </a:p>
        </p:txBody>
      </p:sp>
      <p:grpSp>
        <p:nvGrpSpPr>
          <p:cNvPr id="1122979354" name="Group 3"/>
          <p:cNvGrpSpPr/>
          <p:nvPr/>
        </p:nvGrpSpPr>
        <p:grpSpPr bwMode="auto">
          <a:xfrm>
            <a:off x="2811816" y="1920012"/>
            <a:ext cx="3195314" cy="1801629"/>
            <a:chOff x="0" y="0"/>
            <a:chExt cx="841564" cy="474503"/>
          </a:xfrm>
        </p:grpSpPr>
        <p:sp>
          <p:nvSpPr>
            <p:cNvPr id="4" name="Freeform 4"/>
            <p:cNvSpPr/>
            <p:nvPr/>
          </p:nvSpPr>
          <p:spPr bwMode="auto">
            <a:xfrm>
              <a:off x="0" y="0"/>
              <a:ext cx="841564" cy="474503"/>
            </a:xfrm>
            <a:custGeom>
              <a:avLst/>
              <a:gdLst/>
              <a:ahLst/>
              <a:cxnLst/>
              <a:rect l="l" t="t" r="r" b="b"/>
              <a:pathLst>
                <a:path w="841564" h="474503" extrusionOk="0">
                  <a:moveTo>
                    <a:pt x="123568" y="0"/>
                  </a:moveTo>
                  <a:lnTo>
                    <a:pt x="717996" y="0"/>
                  </a:lnTo>
                  <a:cubicBezTo>
                    <a:pt x="786241" y="0"/>
                    <a:pt x="841564" y="55323"/>
                    <a:pt x="841564" y="123568"/>
                  </a:cubicBezTo>
                  <a:lnTo>
                    <a:pt x="841564" y="350935"/>
                  </a:lnTo>
                  <a:cubicBezTo>
                    <a:pt x="841564" y="419180"/>
                    <a:pt x="786241" y="474503"/>
                    <a:pt x="717996" y="474503"/>
                  </a:cubicBezTo>
                  <a:lnTo>
                    <a:pt x="123568" y="474503"/>
                  </a:lnTo>
                  <a:cubicBezTo>
                    <a:pt x="55323" y="474503"/>
                    <a:pt x="0" y="419180"/>
                    <a:pt x="0" y="350935"/>
                  </a:cubicBezTo>
                  <a:lnTo>
                    <a:pt x="0" y="123568"/>
                  </a:lnTo>
                  <a:cubicBezTo>
                    <a:pt x="0" y="55323"/>
                    <a:pt x="55323" y="0"/>
                    <a:pt x="123568" y="0"/>
                  </a:cubicBezTo>
                  <a:close/>
                </a:path>
              </a:pathLst>
            </a:custGeom>
            <a:solidFill>
              <a:srgbClr val="AEFF66"/>
            </a:solidFill>
          </p:spPr>
          <p:txBody>
            <a:bodyPr/>
            <a:lstStyle/>
            <a:p>
              <a:endParaRPr lang="en-US"/>
            </a:p>
          </p:txBody>
        </p:sp>
        <p:sp>
          <p:nvSpPr>
            <p:cNvPr id="5" name="TextBox 5"/>
            <p:cNvSpPr txBox="1"/>
            <p:nvPr/>
          </p:nvSpPr>
          <p:spPr bwMode="auto">
            <a:xfrm>
              <a:off x="0" y="-47625"/>
              <a:ext cx="841564" cy="522128"/>
            </a:xfrm>
            <a:prstGeom prst="rect">
              <a:avLst/>
            </a:prstGeom>
            <a:grpFill/>
          </p:spPr>
          <p:txBody>
            <a:bodyPr lIns="50800" tIns="50800" rIns="50800" bIns="50800" rtlCol="0" anchor="ctr"/>
            <a:lstStyle/>
            <a:p>
              <a:pPr algn="ctr">
                <a:lnSpc>
                  <a:spcPts val="3140"/>
                </a:lnSpc>
                <a:defRPr/>
              </a:pPr>
              <a:endParaRPr/>
            </a:p>
          </p:txBody>
        </p:sp>
      </p:grpSp>
      <p:grpSp>
        <p:nvGrpSpPr>
          <p:cNvPr id="1367304636" name="Group 6"/>
          <p:cNvGrpSpPr/>
          <p:nvPr/>
        </p:nvGrpSpPr>
        <p:grpSpPr bwMode="auto">
          <a:xfrm>
            <a:off x="13035286" y="6534664"/>
            <a:ext cx="3195314" cy="1801629"/>
            <a:chOff x="0" y="0"/>
            <a:chExt cx="841564" cy="474503"/>
          </a:xfrm>
        </p:grpSpPr>
        <p:sp>
          <p:nvSpPr>
            <p:cNvPr id="7" name="Freeform 7"/>
            <p:cNvSpPr/>
            <p:nvPr/>
          </p:nvSpPr>
          <p:spPr bwMode="auto">
            <a:xfrm>
              <a:off x="0" y="0"/>
              <a:ext cx="841564" cy="474503"/>
            </a:xfrm>
            <a:custGeom>
              <a:avLst/>
              <a:gdLst/>
              <a:ahLst/>
              <a:cxnLst/>
              <a:rect l="l" t="t" r="r" b="b"/>
              <a:pathLst>
                <a:path w="841564" h="474503" extrusionOk="0">
                  <a:moveTo>
                    <a:pt x="123568" y="0"/>
                  </a:moveTo>
                  <a:lnTo>
                    <a:pt x="717996" y="0"/>
                  </a:lnTo>
                  <a:cubicBezTo>
                    <a:pt x="786241" y="0"/>
                    <a:pt x="841564" y="55323"/>
                    <a:pt x="841564" y="123568"/>
                  </a:cubicBezTo>
                  <a:lnTo>
                    <a:pt x="841564" y="350935"/>
                  </a:lnTo>
                  <a:cubicBezTo>
                    <a:pt x="841564" y="419180"/>
                    <a:pt x="786241" y="474503"/>
                    <a:pt x="717996" y="474503"/>
                  </a:cubicBezTo>
                  <a:lnTo>
                    <a:pt x="123568" y="474503"/>
                  </a:lnTo>
                  <a:cubicBezTo>
                    <a:pt x="55323" y="474503"/>
                    <a:pt x="0" y="419180"/>
                    <a:pt x="0" y="350935"/>
                  </a:cubicBezTo>
                  <a:lnTo>
                    <a:pt x="0" y="123568"/>
                  </a:lnTo>
                  <a:cubicBezTo>
                    <a:pt x="0" y="55323"/>
                    <a:pt x="55323" y="0"/>
                    <a:pt x="123568" y="0"/>
                  </a:cubicBezTo>
                  <a:close/>
                </a:path>
              </a:pathLst>
            </a:custGeom>
            <a:solidFill>
              <a:srgbClr val="FFBD59"/>
            </a:solidFill>
          </p:spPr>
          <p:txBody>
            <a:bodyPr/>
            <a:lstStyle/>
            <a:p>
              <a:endParaRPr lang="en-US"/>
            </a:p>
          </p:txBody>
        </p:sp>
        <p:sp>
          <p:nvSpPr>
            <p:cNvPr id="8" name="TextBox 8"/>
            <p:cNvSpPr txBox="1"/>
            <p:nvPr/>
          </p:nvSpPr>
          <p:spPr bwMode="auto">
            <a:xfrm>
              <a:off x="0" y="-47625"/>
              <a:ext cx="841564" cy="522128"/>
            </a:xfrm>
            <a:prstGeom prst="rect">
              <a:avLst/>
            </a:prstGeom>
            <a:grpFill/>
          </p:spPr>
          <p:txBody>
            <a:bodyPr lIns="50800" tIns="50800" rIns="50800" bIns="50800" rtlCol="0" anchor="ctr"/>
            <a:lstStyle/>
            <a:p>
              <a:pPr algn="ctr">
                <a:lnSpc>
                  <a:spcPts val="3140"/>
                </a:lnSpc>
                <a:defRPr/>
              </a:pPr>
              <a:endParaRPr/>
            </a:p>
          </p:txBody>
        </p:sp>
      </p:grpSp>
      <p:grpSp>
        <p:nvGrpSpPr>
          <p:cNvPr id="1099377366" name="Group 9"/>
          <p:cNvGrpSpPr/>
          <p:nvPr/>
        </p:nvGrpSpPr>
        <p:grpSpPr bwMode="auto">
          <a:xfrm>
            <a:off x="2964216" y="6534664"/>
            <a:ext cx="3195314" cy="1801629"/>
            <a:chOff x="0" y="0"/>
            <a:chExt cx="841564" cy="474503"/>
          </a:xfrm>
        </p:grpSpPr>
        <p:sp>
          <p:nvSpPr>
            <p:cNvPr id="10" name="Freeform 10"/>
            <p:cNvSpPr/>
            <p:nvPr/>
          </p:nvSpPr>
          <p:spPr bwMode="auto">
            <a:xfrm>
              <a:off x="0" y="0"/>
              <a:ext cx="841564" cy="474503"/>
            </a:xfrm>
            <a:custGeom>
              <a:avLst/>
              <a:gdLst/>
              <a:ahLst/>
              <a:cxnLst/>
              <a:rect l="l" t="t" r="r" b="b"/>
              <a:pathLst>
                <a:path w="841564" h="474503" extrusionOk="0">
                  <a:moveTo>
                    <a:pt x="123568" y="0"/>
                  </a:moveTo>
                  <a:lnTo>
                    <a:pt x="717996" y="0"/>
                  </a:lnTo>
                  <a:cubicBezTo>
                    <a:pt x="786241" y="0"/>
                    <a:pt x="841564" y="55323"/>
                    <a:pt x="841564" y="123568"/>
                  </a:cubicBezTo>
                  <a:lnTo>
                    <a:pt x="841564" y="350935"/>
                  </a:lnTo>
                  <a:cubicBezTo>
                    <a:pt x="841564" y="419180"/>
                    <a:pt x="786241" y="474503"/>
                    <a:pt x="717996" y="474503"/>
                  </a:cubicBezTo>
                  <a:lnTo>
                    <a:pt x="123568" y="474503"/>
                  </a:lnTo>
                  <a:cubicBezTo>
                    <a:pt x="55323" y="474503"/>
                    <a:pt x="0" y="419180"/>
                    <a:pt x="0" y="350935"/>
                  </a:cubicBezTo>
                  <a:lnTo>
                    <a:pt x="0" y="123568"/>
                  </a:lnTo>
                  <a:cubicBezTo>
                    <a:pt x="0" y="55323"/>
                    <a:pt x="55323" y="0"/>
                    <a:pt x="123568" y="0"/>
                  </a:cubicBezTo>
                  <a:close/>
                </a:path>
              </a:pathLst>
            </a:custGeom>
            <a:solidFill>
              <a:srgbClr val="F4B724"/>
            </a:solidFill>
          </p:spPr>
          <p:txBody>
            <a:bodyPr/>
            <a:lstStyle/>
            <a:p>
              <a:endParaRPr lang="en-US"/>
            </a:p>
          </p:txBody>
        </p:sp>
        <p:sp>
          <p:nvSpPr>
            <p:cNvPr id="11" name="TextBox 11"/>
            <p:cNvSpPr txBox="1"/>
            <p:nvPr/>
          </p:nvSpPr>
          <p:spPr bwMode="auto">
            <a:xfrm>
              <a:off x="0" y="-47625"/>
              <a:ext cx="841564" cy="522128"/>
            </a:xfrm>
            <a:prstGeom prst="rect">
              <a:avLst/>
            </a:prstGeom>
            <a:grpFill/>
          </p:spPr>
          <p:txBody>
            <a:bodyPr lIns="50800" tIns="50800" rIns="50800" bIns="50800" rtlCol="0" anchor="ctr"/>
            <a:lstStyle/>
            <a:p>
              <a:pPr algn="ctr">
                <a:lnSpc>
                  <a:spcPts val="3140"/>
                </a:lnSpc>
                <a:defRPr/>
              </a:pPr>
              <a:endParaRPr/>
            </a:p>
          </p:txBody>
        </p:sp>
      </p:grpSp>
      <p:grpSp>
        <p:nvGrpSpPr>
          <p:cNvPr id="828481368" name="Group 12"/>
          <p:cNvGrpSpPr/>
          <p:nvPr/>
        </p:nvGrpSpPr>
        <p:grpSpPr bwMode="auto">
          <a:xfrm>
            <a:off x="8258103" y="3928717"/>
            <a:ext cx="3195314" cy="1801629"/>
            <a:chOff x="0" y="0"/>
            <a:chExt cx="841564" cy="474503"/>
          </a:xfrm>
        </p:grpSpPr>
        <p:sp>
          <p:nvSpPr>
            <p:cNvPr id="13" name="Freeform 13"/>
            <p:cNvSpPr/>
            <p:nvPr/>
          </p:nvSpPr>
          <p:spPr bwMode="auto">
            <a:xfrm>
              <a:off x="0" y="0"/>
              <a:ext cx="841564" cy="474503"/>
            </a:xfrm>
            <a:custGeom>
              <a:avLst/>
              <a:gdLst/>
              <a:ahLst/>
              <a:cxnLst/>
              <a:rect l="l" t="t" r="r" b="b"/>
              <a:pathLst>
                <a:path w="841564" h="474503" extrusionOk="0">
                  <a:moveTo>
                    <a:pt x="123568" y="0"/>
                  </a:moveTo>
                  <a:lnTo>
                    <a:pt x="717996" y="0"/>
                  </a:lnTo>
                  <a:cubicBezTo>
                    <a:pt x="786241" y="0"/>
                    <a:pt x="841564" y="55323"/>
                    <a:pt x="841564" y="123568"/>
                  </a:cubicBezTo>
                  <a:lnTo>
                    <a:pt x="841564" y="350935"/>
                  </a:lnTo>
                  <a:cubicBezTo>
                    <a:pt x="841564" y="419180"/>
                    <a:pt x="786241" y="474503"/>
                    <a:pt x="717996" y="474503"/>
                  </a:cubicBezTo>
                  <a:lnTo>
                    <a:pt x="123568" y="474503"/>
                  </a:lnTo>
                  <a:cubicBezTo>
                    <a:pt x="55323" y="474503"/>
                    <a:pt x="0" y="419180"/>
                    <a:pt x="0" y="350935"/>
                  </a:cubicBezTo>
                  <a:lnTo>
                    <a:pt x="0" y="123568"/>
                  </a:lnTo>
                  <a:cubicBezTo>
                    <a:pt x="0" y="55323"/>
                    <a:pt x="55323" y="0"/>
                    <a:pt x="123568" y="0"/>
                  </a:cubicBezTo>
                  <a:close/>
                </a:path>
              </a:pathLst>
            </a:custGeom>
            <a:solidFill>
              <a:srgbClr val="00BF63"/>
            </a:solidFill>
          </p:spPr>
          <p:txBody>
            <a:bodyPr/>
            <a:lstStyle/>
            <a:p>
              <a:endParaRPr lang="en-US"/>
            </a:p>
          </p:txBody>
        </p:sp>
        <p:sp>
          <p:nvSpPr>
            <p:cNvPr id="14" name="TextBox 14"/>
            <p:cNvSpPr txBox="1"/>
            <p:nvPr/>
          </p:nvSpPr>
          <p:spPr bwMode="auto">
            <a:xfrm>
              <a:off x="0" y="-47625"/>
              <a:ext cx="841564" cy="522128"/>
            </a:xfrm>
            <a:prstGeom prst="rect">
              <a:avLst/>
            </a:prstGeom>
            <a:grpFill/>
          </p:spPr>
          <p:txBody>
            <a:bodyPr lIns="50800" tIns="50800" rIns="50800" bIns="50800" rtlCol="0" anchor="ctr"/>
            <a:lstStyle/>
            <a:p>
              <a:pPr algn="ctr">
                <a:lnSpc>
                  <a:spcPts val="3140"/>
                </a:lnSpc>
                <a:defRPr/>
              </a:pPr>
              <a:endParaRPr/>
            </a:p>
          </p:txBody>
        </p:sp>
      </p:grpSp>
      <p:sp>
        <p:nvSpPr>
          <p:cNvPr id="1633007564" name="AutoShape 15"/>
          <p:cNvSpPr/>
          <p:nvPr/>
        </p:nvSpPr>
        <p:spPr bwMode="auto">
          <a:xfrm flipV="1">
            <a:off x="865910" y="7416429"/>
            <a:ext cx="2098307" cy="19050"/>
          </a:xfrm>
          <a:prstGeom prst="line">
            <a:avLst/>
          </a:prstGeom>
          <a:ln w="38100" cap="flat">
            <a:solidFill>
              <a:srgbClr val="000000"/>
            </a:solidFill>
            <a:prstDash val="solid"/>
            <a:headEnd type="none" w="sm" len="sm"/>
            <a:tailEnd type="triangle" w="lg" len="med"/>
          </a:ln>
        </p:spPr>
        <p:txBody>
          <a:bodyPr/>
          <a:lstStyle/>
          <a:p>
            <a:endParaRPr lang="en-US"/>
          </a:p>
        </p:txBody>
      </p:sp>
      <p:sp>
        <p:nvSpPr>
          <p:cNvPr id="1776153686" name="AutoShape 16"/>
          <p:cNvSpPr/>
          <p:nvPr/>
        </p:nvSpPr>
        <p:spPr bwMode="auto">
          <a:xfrm>
            <a:off x="865910" y="2782727"/>
            <a:ext cx="1945907" cy="19050"/>
          </a:xfrm>
          <a:prstGeom prst="line">
            <a:avLst/>
          </a:prstGeom>
          <a:ln w="38100" cap="flat">
            <a:solidFill>
              <a:srgbClr val="000000"/>
            </a:solidFill>
            <a:prstDash val="solid"/>
            <a:headEnd type="none" w="sm" len="sm"/>
            <a:tailEnd type="triangle" w="lg" len="med"/>
          </a:ln>
        </p:spPr>
        <p:txBody>
          <a:bodyPr/>
          <a:lstStyle/>
          <a:p>
            <a:endParaRPr lang="en-US"/>
          </a:p>
        </p:txBody>
      </p:sp>
      <p:sp>
        <p:nvSpPr>
          <p:cNvPr id="265962040" name="AutoShape 17"/>
          <p:cNvSpPr/>
          <p:nvPr/>
        </p:nvSpPr>
        <p:spPr bwMode="auto">
          <a:xfrm>
            <a:off x="14632943" y="4909205"/>
            <a:ext cx="19050" cy="1599792"/>
          </a:xfrm>
          <a:prstGeom prst="line">
            <a:avLst/>
          </a:prstGeom>
          <a:ln w="38100" cap="flat">
            <a:solidFill>
              <a:srgbClr val="000000"/>
            </a:solidFill>
            <a:prstDash val="solid"/>
            <a:headEnd type="none" w="sm" len="sm"/>
            <a:tailEnd type="triangle" w="lg" len="med"/>
          </a:ln>
        </p:spPr>
        <p:txBody>
          <a:bodyPr/>
          <a:lstStyle/>
          <a:p>
            <a:endParaRPr lang="en-US"/>
          </a:p>
        </p:txBody>
      </p:sp>
      <p:sp>
        <p:nvSpPr>
          <p:cNvPr id="821627411" name="AutoShape 18"/>
          <p:cNvSpPr/>
          <p:nvPr/>
        </p:nvSpPr>
        <p:spPr bwMode="auto">
          <a:xfrm flipV="1">
            <a:off x="6153211" y="7435479"/>
            <a:ext cx="6882076" cy="19050"/>
          </a:xfrm>
          <a:prstGeom prst="line">
            <a:avLst/>
          </a:prstGeom>
          <a:ln w="38100" cap="flat">
            <a:solidFill>
              <a:srgbClr val="000000"/>
            </a:solidFill>
            <a:prstDash val="solid"/>
            <a:headEnd type="none" w="sm" len="sm"/>
            <a:tailEnd type="triangle" w="lg" len="med"/>
          </a:ln>
        </p:spPr>
        <p:txBody>
          <a:bodyPr/>
          <a:lstStyle/>
          <a:p>
            <a:endParaRPr lang="en-US"/>
          </a:p>
        </p:txBody>
      </p:sp>
      <p:sp>
        <p:nvSpPr>
          <p:cNvPr id="1497772295" name="AutoShape 19"/>
          <p:cNvSpPr/>
          <p:nvPr/>
        </p:nvSpPr>
        <p:spPr bwMode="auto">
          <a:xfrm>
            <a:off x="16230600" y="7397379"/>
            <a:ext cx="2057400" cy="0"/>
          </a:xfrm>
          <a:prstGeom prst="line">
            <a:avLst/>
          </a:prstGeom>
          <a:ln w="38100" cap="flat">
            <a:solidFill>
              <a:srgbClr val="000000"/>
            </a:solidFill>
            <a:prstDash val="solid"/>
            <a:headEnd type="none" w="sm" len="sm"/>
            <a:tailEnd type="triangle" w="lg" len="med"/>
          </a:ln>
        </p:spPr>
        <p:txBody>
          <a:bodyPr/>
          <a:lstStyle/>
          <a:p>
            <a:endParaRPr lang="en-US"/>
          </a:p>
        </p:txBody>
      </p:sp>
      <p:sp>
        <p:nvSpPr>
          <p:cNvPr id="1762803681" name="AutoShape 20"/>
          <p:cNvSpPr/>
          <p:nvPr/>
        </p:nvSpPr>
        <p:spPr bwMode="auto">
          <a:xfrm>
            <a:off x="9835842" y="2820827"/>
            <a:ext cx="0" cy="1187563"/>
          </a:xfrm>
          <a:prstGeom prst="line">
            <a:avLst/>
          </a:prstGeom>
          <a:ln w="38100" cap="flat">
            <a:solidFill>
              <a:srgbClr val="000000"/>
            </a:solidFill>
            <a:prstDash val="solid"/>
            <a:headEnd type="none" w="sm" len="sm"/>
            <a:tailEnd type="triangle" w="lg" len="med"/>
          </a:ln>
        </p:spPr>
        <p:txBody>
          <a:bodyPr/>
          <a:lstStyle/>
          <a:p>
            <a:endParaRPr lang="en-US"/>
          </a:p>
        </p:txBody>
      </p:sp>
      <p:sp>
        <p:nvSpPr>
          <p:cNvPr id="992971488" name="AutoShape 21"/>
          <p:cNvSpPr/>
          <p:nvPr/>
        </p:nvSpPr>
        <p:spPr bwMode="auto">
          <a:xfrm>
            <a:off x="7069643" y="4909205"/>
            <a:ext cx="1168542" cy="19050"/>
          </a:xfrm>
          <a:prstGeom prst="line">
            <a:avLst/>
          </a:prstGeom>
          <a:ln w="38100" cap="flat">
            <a:solidFill>
              <a:srgbClr val="000000"/>
            </a:solidFill>
            <a:prstDash val="lgDash"/>
            <a:headEnd type="none" w="sm" len="sm"/>
            <a:tailEnd type="triangle" w="lg" len="med"/>
          </a:ln>
        </p:spPr>
        <p:txBody>
          <a:bodyPr/>
          <a:lstStyle/>
          <a:p>
            <a:endParaRPr lang="en-US"/>
          </a:p>
        </p:txBody>
      </p:sp>
      <p:sp>
        <p:nvSpPr>
          <p:cNvPr id="1422483701" name="AutoShape 22"/>
          <p:cNvSpPr/>
          <p:nvPr/>
        </p:nvSpPr>
        <p:spPr bwMode="auto">
          <a:xfrm>
            <a:off x="6007130" y="2782727"/>
            <a:ext cx="3828711" cy="19050"/>
          </a:xfrm>
          <a:prstGeom prst="line">
            <a:avLst/>
          </a:prstGeom>
          <a:ln w="38100" cap="flat">
            <a:solidFill>
              <a:srgbClr val="000000"/>
            </a:solidFill>
            <a:prstDash val="solid"/>
            <a:headEnd type="none" w="sm" len="sm"/>
            <a:tailEnd type="none" w="sm" len="sm"/>
          </a:ln>
        </p:spPr>
        <p:txBody>
          <a:bodyPr/>
          <a:lstStyle/>
          <a:p>
            <a:endParaRPr lang="en-US"/>
          </a:p>
        </p:txBody>
      </p:sp>
      <p:sp>
        <p:nvSpPr>
          <p:cNvPr id="175093632" name="AutoShape 23"/>
          <p:cNvSpPr/>
          <p:nvPr/>
        </p:nvSpPr>
        <p:spPr bwMode="auto">
          <a:xfrm flipV="1">
            <a:off x="6153306" y="7019694"/>
            <a:ext cx="916338" cy="0"/>
          </a:xfrm>
          <a:prstGeom prst="line">
            <a:avLst/>
          </a:prstGeom>
          <a:ln w="38100" cap="flat">
            <a:solidFill>
              <a:srgbClr val="000000"/>
            </a:solidFill>
            <a:prstDash val="lgDash"/>
            <a:headEnd type="none" w="sm" len="sm"/>
            <a:tailEnd type="none" w="sm" len="sm"/>
          </a:ln>
        </p:spPr>
        <p:txBody>
          <a:bodyPr/>
          <a:lstStyle/>
          <a:p>
            <a:endParaRPr lang="en-US"/>
          </a:p>
        </p:txBody>
      </p:sp>
      <p:sp>
        <p:nvSpPr>
          <p:cNvPr id="2066765857" name="AutoShape 24"/>
          <p:cNvSpPr/>
          <p:nvPr/>
        </p:nvSpPr>
        <p:spPr bwMode="auto">
          <a:xfrm flipV="1">
            <a:off x="11433593" y="4928255"/>
            <a:ext cx="3218400" cy="19050"/>
          </a:xfrm>
          <a:prstGeom prst="line">
            <a:avLst/>
          </a:prstGeom>
          <a:ln w="38100" cap="flat">
            <a:solidFill>
              <a:srgbClr val="000000"/>
            </a:solidFill>
            <a:prstDash val="solid"/>
            <a:headEnd type="none" w="sm" len="sm"/>
            <a:tailEnd type="none" w="sm" len="sm"/>
          </a:ln>
        </p:spPr>
        <p:txBody>
          <a:bodyPr/>
          <a:lstStyle/>
          <a:p>
            <a:endParaRPr lang="en-US"/>
          </a:p>
        </p:txBody>
      </p:sp>
      <p:sp>
        <p:nvSpPr>
          <p:cNvPr id="1491902827" name="AutoShape 25"/>
          <p:cNvSpPr/>
          <p:nvPr/>
        </p:nvSpPr>
        <p:spPr bwMode="auto">
          <a:xfrm flipH="1">
            <a:off x="7050593" y="4909205"/>
            <a:ext cx="19050" cy="2141011"/>
          </a:xfrm>
          <a:prstGeom prst="line">
            <a:avLst/>
          </a:prstGeom>
          <a:ln w="38100" cap="flat">
            <a:solidFill>
              <a:srgbClr val="000000"/>
            </a:solidFill>
            <a:prstDash val="lgDash"/>
            <a:headEnd type="none" w="sm" len="sm"/>
            <a:tailEnd type="none" w="sm" len="sm"/>
          </a:ln>
        </p:spPr>
        <p:txBody>
          <a:bodyPr/>
          <a:lstStyle/>
          <a:p>
            <a:endParaRPr lang="en-US"/>
          </a:p>
        </p:txBody>
      </p:sp>
      <p:sp>
        <p:nvSpPr>
          <p:cNvPr id="2097585433" name="Freeform 26"/>
          <p:cNvSpPr/>
          <p:nvPr/>
        </p:nvSpPr>
        <p:spPr bwMode="auto">
          <a:xfrm>
            <a:off x="2547673" y="1720608"/>
            <a:ext cx="2461967" cy="1844909"/>
          </a:xfrm>
          <a:custGeom>
            <a:avLst/>
            <a:gdLst/>
            <a:ahLst/>
            <a:cxnLst/>
            <a:rect l="l" t="t" r="r" b="b"/>
            <a:pathLst>
              <a:path w="2461967" h="1844909" extrusionOk="0">
                <a:moveTo>
                  <a:pt x="0" y="0"/>
                </a:moveTo>
                <a:lnTo>
                  <a:pt x="2461968" y="0"/>
                </a:lnTo>
                <a:lnTo>
                  <a:pt x="2461968" y="1844910"/>
                </a:lnTo>
                <a:lnTo>
                  <a:pt x="0" y="1844910"/>
                </a:lnTo>
                <a:lnTo>
                  <a:pt x="0" y="0"/>
                </a:lnTo>
                <a:close/>
              </a:path>
            </a:pathLst>
          </a:custGeom>
          <a:blipFill rotWithShape="1">
            <a:blip r:embed="rId3"/>
            <a:stretch>
              <a:fillRect/>
            </a:stretch>
          </a:blipFill>
        </p:spPr>
        <p:txBody>
          <a:bodyPr/>
          <a:lstStyle/>
          <a:p>
            <a:endParaRPr lang="en-US"/>
          </a:p>
        </p:txBody>
      </p:sp>
      <p:sp>
        <p:nvSpPr>
          <p:cNvPr id="1074347228" name="Freeform 27"/>
          <p:cNvSpPr/>
          <p:nvPr/>
        </p:nvSpPr>
        <p:spPr bwMode="auto">
          <a:xfrm>
            <a:off x="3741242" y="6603033"/>
            <a:ext cx="1635063" cy="1626792"/>
          </a:xfrm>
          <a:custGeom>
            <a:avLst/>
            <a:gdLst/>
            <a:ahLst/>
            <a:cxnLst/>
            <a:rect l="l" t="t" r="r" b="b"/>
            <a:pathLst>
              <a:path w="1635063" h="1626792" extrusionOk="0">
                <a:moveTo>
                  <a:pt x="0" y="0"/>
                </a:moveTo>
                <a:lnTo>
                  <a:pt x="1635063" y="0"/>
                </a:lnTo>
                <a:lnTo>
                  <a:pt x="1635063" y="1626792"/>
                </a:lnTo>
                <a:lnTo>
                  <a:pt x="0" y="1626792"/>
                </a:lnTo>
                <a:lnTo>
                  <a:pt x="0" y="0"/>
                </a:lnTo>
                <a:close/>
              </a:path>
            </a:pathLst>
          </a:custGeom>
          <a:blipFill rotWithShape="1">
            <a:blip r:embed="rId4"/>
            <a:stretch>
              <a:fillRect/>
            </a:stretch>
          </a:blipFill>
        </p:spPr>
        <p:txBody>
          <a:bodyPr/>
          <a:lstStyle/>
          <a:p>
            <a:endParaRPr lang="en-US"/>
          </a:p>
        </p:txBody>
      </p:sp>
      <p:sp>
        <p:nvSpPr>
          <p:cNvPr id="2035184373" name="Freeform 28"/>
          <p:cNvSpPr/>
          <p:nvPr/>
        </p:nvSpPr>
        <p:spPr bwMode="auto">
          <a:xfrm>
            <a:off x="13772941" y="6578383"/>
            <a:ext cx="1720004" cy="1714193"/>
          </a:xfrm>
          <a:custGeom>
            <a:avLst/>
            <a:gdLst/>
            <a:ahLst/>
            <a:cxnLst/>
            <a:rect l="l" t="t" r="r" b="b"/>
            <a:pathLst>
              <a:path w="1720004" h="1714193" extrusionOk="0">
                <a:moveTo>
                  <a:pt x="0" y="0"/>
                </a:moveTo>
                <a:lnTo>
                  <a:pt x="1720004" y="0"/>
                </a:lnTo>
                <a:lnTo>
                  <a:pt x="1720004" y="1714193"/>
                </a:lnTo>
                <a:lnTo>
                  <a:pt x="0" y="1714193"/>
                </a:lnTo>
                <a:lnTo>
                  <a:pt x="0" y="0"/>
                </a:lnTo>
                <a:close/>
              </a:path>
            </a:pathLst>
          </a:custGeom>
          <a:blipFill rotWithShape="1">
            <a:blip r:embed="rId5"/>
            <a:stretch>
              <a:fillRect/>
            </a:stretch>
          </a:blipFill>
        </p:spPr>
        <p:txBody>
          <a:bodyPr/>
          <a:lstStyle/>
          <a:p>
            <a:endParaRPr lang="en-US"/>
          </a:p>
        </p:txBody>
      </p:sp>
      <p:sp>
        <p:nvSpPr>
          <p:cNvPr id="477414825" name="Freeform 29"/>
          <p:cNvSpPr/>
          <p:nvPr/>
        </p:nvSpPr>
        <p:spPr bwMode="auto">
          <a:xfrm>
            <a:off x="8895554" y="4103520"/>
            <a:ext cx="1880576" cy="1611370"/>
          </a:xfrm>
          <a:custGeom>
            <a:avLst/>
            <a:gdLst/>
            <a:ahLst/>
            <a:cxnLst/>
            <a:rect l="l" t="t" r="r" b="b"/>
            <a:pathLst>
              <a:path w="1880576" h="1611370" extrusionOk="0">
                <a:moveTo>
                  <a:pt x="0" y="0"/>
                </a:moveTo>
                <a:lnTo>
                  <a:pt x="1880575" y="0"/>
                </a:lnTo>
                <a:lnTo>
                  <a:pt x="1880575" y="1611369"/>
                </a:lnTo>
                <a:lnTo>
                  <a:pt x="0" y="1611369"/>
                </a:lnTo>
                <a:lnTo>
                  <a:pt x="0" y="0"/>
                </a:lnTo>
                <a:close/>
              </a:path>
            </a:pathLst>
          </a:custGeom>
          <a:blipFill rotWithShape="1">
            <a:blip r:embed="rId6"/>
            <a:stretch>
              <a:fillRect/>
            </a:stretch>
          </a:blipFill>
        </p:spPr>
        <p:txBody>
          <a:bodyPr/>
          <a:lstStyle/>
          <a:p>
            <a:endParaRPr lang="en-US"/>
          </a:p>
        </p:txBody>
      </p:sp>
      <p:sp>
        <p:nvSpPr>
          <p:cNvPr id="143347332" name="Freeform 30"/>
          <p:cNvSpPr/>
          <p:nvPr/>
        </p:nvSpPr>
        <p:spPr bwMode="auto">
          <a:xfrm rot="631680">
            <a:off x="4122168" y="2245199"/>
            <a:ext cx="1634018" cy="1445100"/>
          </a:xfrm>
          <a:custGeom>
            <a:avLst/>
            <a:gdLst/>
            <a:ahLst/>
            <a:cxnLst/>
            <a:rect l="l" t="t" r="r" b="b"/>
            <a:pathLst>
              <a:path w="1634018" h="1445100" extrusionOk="0">
                <a:moveTo>
                  <a:pt x="0" y="0"/>
                </a:moveTo>
                <a:lnTo>
                  <a:pt x="1634017" y="0"/>
                </a:lnTo>
                <a:lnTo>
                  <a:pt x="1634017" y="1445100"/>
                </a:lnTo>
                <a:lnTo>
                  <a:pt x="0" y="1445100"/>
                </a:lnTo>
                <a:lnTo>
                  <a:pt x="0" y="0"/>
                </a:lnTo>
                <a:close/>
              </a:path>
            </a:pathLst>
          </a:custGeom>
          <a:blipFill rotWithShape="1">
            <a:blip r:embed="rId7"/>
            <a:stretch>
              <a:fillRect/>
            </a:stretch>
          </a:blipFill>
        </p:spPr>
        <p:txBody>
          <a:bodyPr/>
          <a:lstStyle/>
          <a:p>
            <a:endParaRPr lang="en-US"/>
          </a:p>
        </p:txBody>
      </p:sp>
      <p:sp>
        <p:nvSpPr>
          <p:cNvPr id="266148191" name="Freeform 31"/>
          <p:cNvSpPr/>
          <p:nvPr/>
        </p:nvSpPr>
        <p:spPr bwMode="auto">
          <a:xfrm>
            <a:off x="505753" y="5730346"/>
            <a:ext cx="993271" cy="942170"/>
          </a:xfrm>
          <a:custGeom>
            <a:avLst/>
            <a:gdLst/>
            <a:ahLst/>
            <a:cxnLst/>
            <a:rect l="l" t="t" r="r" b="b"/>
            <a:pathLst>
              <a:path w="993271" h="942170" extrusionOk="0">
                <a:moveTo>
                  <a:pt x="0" y="0"/>
                </a:moveTo>
                <a:lnTo>
                  <a:pt x="993272" y="0"/>
                </a:lnTo>
                <a:lnTo>
                  <a:pt x="993272" y="942170"/>
                </a:lnTo>
                <a:lnTo>
                  <a:pt x="0" y="942170"/>
                </a:lnTo>
                <a:lnTo>
                  <a:pt x="0" y="0"/>
                </a:lnTo>
                <a:close/>
              </a:path>
            </a:pathLst>
          </a:custGeom>
          <a:blipFill rotWithShape="1">
            <a:blip r:embed="rId8"/>
            <a:stretch>
              <a:fillRect/>
            </a:stretch>
          </a:blipFill>
        </p:spPr>
        <p:txBody>
          <a:bodyPr/>
          <a:lstStyle/>
          <a:p>
            <a:endParaRPr lang="en-US"/>
          </a:p>
        </p:txBody>
      </p:sp>
      <p:sp>
        <p:nvSpPr>
          <p:cNvPr id="556571973" name="Freeform 32"/>
          <p:cNvSpPr/>
          <p:nvPr/>
        </p:nvSpPr>
        <p:spPr bwMode="auto">
          <a:xfrm>
            <a:off x="203230" y="7654553"/>
            <a:ext cx="1325359" cy="819136"/>
          </a:xfrm>
          <a:custGeom>
            <a:avLst/>
            <a:gdLst/>
            <a:ahLst/>
            <a:cxnLst/>
            <a:rect l="l" t="t" r="r" b="b"/>
            <a:pathLst>
              <a:path w="1325359" h="819136" extrusionOk="0">
                <a:moveTo>
                  <a:pt x="0" y="0"/>
                </a:moveTo>
                <a:lnTo>
                  <a:pt x="1325359" y="0"/>
                </a:lnTo>
                <a:lnTo>
                  <a:pt x="1325359" y="819136"/>
                </a:lnTo>
                <a:lnTo>
                  <a:pt x="0" y="819136"/>
                </a:lnTo>
                <a:lnTo>
                  <a:pt x="0" y="0"/>
                </a:lnTo>
                <a:close/>
              </a:path>
            </a:pathLst>
          </a:custGeom>
          <a:blipFill rotWithShape="1">
            <a:blip r:embed="rId9"/>
            <a:stretch>
              <a:fillRect/>
            </a:stretch>
          </a:blipFill>
        </p:spPr>
        <p:txBody>
          <a:bodyPr/>
          <a:lstStyle/>
          <a:p>
            <a:endParaRPr lang="en-US"/>
          </a:p>
        </p:txBody>
      </p:sp>
      <p:sp>
        <p:nvSpPr>
          <p:cNvPr id="32627922" name="Freeform 33"/>
          <p:cNvSpPr/>
          <p:nvPr/>
        </p:nvSpPr>
        <p:spPr bwMode="auto">
          <a:xfrm>
            <a:off x="1674699" y="5808331"/>
            <a:ext cx="872974" cy="864186"/>
          </a:xfrm>
          <a:custGeom>
            <a:avLst/>
            <a:gdLst/>
            <a:ahLst/>
            <a:cxnLst/>
            <a:rect l="l" t="t" r="r" b="b"/>
            <a:pathLst>
              <a:path w="872974" h="864186" extrusionOk="0">
                <a:moveTo>
                  <a:pt x="0" y="0"/>
                </a:moveTo>
                <a:lnTo>
                  <a:pt x="872974" y="0"/>
                </a:lnTo>
                <a:lnTo>
                  <a:pt x="872974" y="864185"/>
                </a:lnTo>
                <a:lnTo>
                  <a:pt x="0" y="864185"/>
                </a:lnTo>
                <a:lnTo>
                  <a:pt x="0" y="0"/>
                </a:lnTo>
                <a:close/>
              </a:path>
            </a:pathLst>
          </a:custGeom>
          <a:blipFill rotWithShape="1">
            <a:blip r:embed="rId10"/>
            <a:stretch>
              <a:fillRect/>
            </a:stretch>
          </a:blipFill>
        </p:spPr>
        <p:txBody>
          <a:bodyPr/>
          <a:lstStyle/>
          <a:p>
            <a:endParaRPr lang="en-US"/>
          </a:p>
        </p:txBody>
      </p:sp>
      <p:sp>
        <p:nvSpPr>
          <p:cNvPr id="1319811967" name="Freeform 34"/>
          <p:cNvSpPr/>
          <p:nvPr/>
        </p:nvSpPr>
        <p:spPr bwMode="auto">
          <a:xfrm>
            <a:off x="17103010" y="7509161"/>
            <a:ext cx="1184990" cy="865954"/>
          </a:xfrm>
          <a:custGeom>
            <a:avLst/>
            <a:gdLst/>
            <a:ahLst/>
            <a:cxnLst/>
            <a:rect l="l" t="t" r="r" b="b"/>
            <a:pathLst>
              <a:path w="1184990" h="865954" extrusionOk="0">
                <a:moveTo>
                  <a:pt x="0" y="0"/>
                </a:moveTo>
                <a:lnTo>
                  <a:pt x="1184990" y="0"/>
                </a:lnTo>
                <a:lnTo>
                  <a:pt x="1184990" y="865955"/>
                </a:lnTo>
                <a:lnTo>
                  <a:pt x="0" y="865955"/>
                </a:lnTo>
                <a:lnTo>
                  <a:pt x="0" y="0"/>
                </a:lnTo>
                <a:close/>
              </a:path>
            </a:pathLst>
          </a:custGeom>
          <a:blipFill rotWithShape="1">
            <a:blip r:embed="rId11"/>
            <a:stretch>
              <a:fillRect/>
            </a:stretch>
          </a:blipFill>
        </p:spPr>
        <p:txBody>
          <a:bodyPr/>
          <a:lstStyle/>
          <a:p>
            <a:endParaRPr lang="en-US"/>
          </a:p>
        </p:txBody>
      </p:sp>
      <p:sp>
        <p:nvSpPr>
          <p:cNvPr id="137808422" name="Freeform 35"/>
          <p:cNvSpPr/>
          <p:nvPr/>
        </p:nvSpPr>
        <p:spPr bwMode="auto">
          <a:xfrm>
            <a:off x="16317466" y="7509161"/>
            <a:ext cx="698677" cy="720663"/>
          </a:xfrm>
          <a:custGeom>
            <a:avLst/>
            <a:gdLst/>
            <a:ahLst/>
            <a:cxnLst/>
            <a:rect l="l" t="t" r="r" b="b"/>
            <a:pathLst>
              <a:path w="698677" h="720663" extrusionOk="0">
                <a:moveTo>
                  <a:pt x="0" y="0"/>
                </a:moveTo>
                <a:lnTo>
                  <a:pt x="698678" y="0"/>
                </a:lnTo>
                <a:lnTo>
                  <a:pt x="698678" y="720664"/>
                </a:lnTo>
                <a:lnTo>
                  <a:pt x="0" y="720664"/>
                </a:lnTo>
                <a:lnTo>
                  <a:pt x="0" y="0"/>
                </a:lnTo>
                <a:close/>
              </a:path>
            </a:pathLst>
          </a:custGeom>
          <a:blipFill rotWithShape="1">
            <a:blip r:embed="rId12"/>
            <a:stretch>
              <a:fillRect/>
            </a:stretch>
          </a:blipFill>
        </p:spPr>
        <p:txBody>
          <a:bodyPr/>
          <a:lstStyle/>
          <a:p>
            <a:endParaRPr lang="en-US"/>
          </a:p>
        </p:txBody>
      </p:sp>
      <p:sp>
        <p:nvSpPr>
          <p:cNvPr id="2028556326" name="TextBox 36"/>
          <p:cNvSpPr txBox="1"/>
          <p:nvPr/>
        </p:nvSpPr>
        <p:spPr bwMode="auto">
          <a:xfrm>
            <a:off x="314549" y="2302509"/>
            <a:ext cx="2368951" cy="340554"/>
          </a:xfrm>
          <a:prstGeom prst="rect">
            <a:avLst/>
          </a:prstGeom>
        </p:spPr>
        <p:txBody>
          <a:bodyPr lIns="0" tIns="0" rIns="0" bIns="0" rtlCol="0" anchor="t">
            <a:spAutoFit/>
          </a:bodyPr>
          <a:lstStyle/>
          <a:p>
            <a:pPr algn="ctr">
              <a:lnSpc>
                <a:spcPts val="2809"/>
              </a:lnSpc>
              <a:spcBef>
                <a:spcPts val="0"/>
              </a:spcBef>
              <a:defRPr/>
            </a:pPr>
            <a:r>
              <a:rPr lang="en-US" sz="2050">
                <a:solidFill>
                  <a:srgbClr val="000000"/>
                </a:solidFill>
                <a:latin typeface="Tahoma"/>
                <a:ea typeface="Tahoma"/>
                <a:cs typeface="Tahoma"/>
              </a:rPr>
              <a:t>dữ liệu cảm biến I2C</a:t>
            </a:r>
            <a:endParaRPr/>
          </a:p>
        </p:txBody>
      </p:sp>
      <p:sp>
        <p:nvSpPr>
          <p:cNvPr id="1263610375" name="TextBox 37"/>
          <p:cNvSpPr txBox="1"/>
          <p:nvPr/>
        </p:nvSpPr>
        <p:spPr bwMode="auto">
          <a:xfrm>
            <a:off x="7314439" y="2241721"/>
            <a:ext cx="1815941" cy="360031"/>
          </a:xfrm>
          <a:prstGeom prst="rect">
            <a:avLst/>
          </a:prstGeom>
        </p:spPr>
        <p:txBody>
          <a:bodyPr lIns="0" tIns="0" rIns="0" bIns="0" rtlCol="0" anchor="t">
            <a:spAutoFit/>
          </a:bodyPr>
          <a:lstStyle/>
          <a:p>
            <a:pPr algn="ctr">
              <a:lnSpc>
                <a:spcPts val="2990"/>
              </a:lnSpc>
              <a:spcBef>
                <a:spcPts val="0"/>
              </a:spcBef>
              <a:defRPr/>
            </a:pPr>
            <a:r>
              <a:rPr lang="en-US" sz="2150">
                <a:solidFill>
                  <a:srgbClr val="000000"/>
                </a:solidFill>
                <a:latin typeface="Tahoma"/>
                <a:ea typeface="Tahoma"/>
                <a:cs typeface="Tahoma"/>
              </a:rPr>
              <a:t>JSON đo lường</a:t>
            </a:r>
            <a:endParaRPr/>
          </a:p>
        </p:txBody>
      </p:sp>
      <p:sp>
        <p:nvSpPr>
          <p:cNvPr id="689763939" name="TextBox 38"/>
          <p:cNvSpPr txBox="1"/>
          <p:nvPr/>
        </p:nvSpPr>
        <p:spPr bwMode="auto">
          <a:xfrm>
            <a:off x="11703195" y="4322349"/>
            <a:ext cx="3363873" cy="360031"/>
          </a:xfrm>
          <a:prstGeom prst="rect">
            <a:avLst/>
          </a:prstGeom>
        </p:spPr>
        <p:txBody>
          <a:bodyPr lIns="0" tIns="0" rIns="0" bIns="0" rtlCol="0" anchor="t">
            <a:spAutoFit/>
          </a:bodyPr>
          <a:lstStyle/>
          <a:p>
            <a:pPr algn="ctr">
              <a:lnSpc>
                <a:spcPts val="2990"/>
              </a:lnSpc>
              <a:spcBef>
                <a:spcPts val="0"/>
              </a:spcBef>
              <a:defRPr/>
            </a:pPr>
            <a:r>
              <a:rPr lang="en-US" sz="2150">
                <a:solidFill>
                  <a:srgbClr val="000000"/>
                </a:solidFill>
                <a:latin typeface="Tahoma"/>
                <a:ea typeface="Tahoma"/>
                <a:cs typeface="Tahoma"/>
              </a:rPr>
              <a:t>dữ liệu đã lưu + Dashboard</a:t>
            </a:r>
            <a:endParaRPr/>
          </a:p>
        </p:txBody>
      </p:sp>
      <p:sp>
        <p:nvSpPr>
          <p:cNvPr id="404147525" name="TextBox 39"/>
          <p:cNvSpPr txBox="1"/>
          <p:nvPr/>
        </p:nvSpPr>
        <p:spPr bwMode="auto">
          <a:xfrm>
            <a:off x="178722" y="6629931"/>
            <a:ext cx="2640605" cy="731506"/>
          </a:xfrm>
          <a:prstGeom prst="rect">
            <a:avLst/>
          </a:prstGeom>
        </p:spPr>
        <p:txBody>
          <a:bodyPr lIns="0" tIns="0" rIns="0" bIns="0" rtlCol="0" anchor="t">
            <a:spAutoFit/>
          </a:bodyPr>
          <a:lstStyle/>
          <a:p>
            <a:pPr algn="ctr">
              <a:lnSpc>
                <a:spcPts val="2990"/>
              </a:lnSpc>
              <a:spcBef>
                <a:spcPts val="0"/>
              </a:spcBef>
              <a:defRPr/>
            </a:pPr>
            <a:r>
              <a:rPr lang="en-US" sz="2150">
                <a:solidFill>
                  <a:srgbClr val="000000"/>
                </a:solidFill>
                <a:latin typeface="Tahoma"/>
                <a:ea typeface="Tahoma"/>
                <a:cs typeface="Tahoma"/>
              </a:rPr>
              <a:t>video stream, ảnh CCCD</a:t>
            </a:r>
            <a:endParaRPr/>
          </a:p>
        </p:txBody>
      </p:sp>
      <p:sp>
        <p:nvSpPr>
          <p:cNvPr id="1405952146" name="TextBox 40"/>
          <p:cNvSpPr txBox="1"/>
          <p:nvPr/>
        </p:nvSpPr>
        <p:spPr bwMode="auto">
          <a:xfrm>
            <a:off x="5087908" y="5692246"/>
            <a:ext cx="1838444" cy="360031"/>
          </a:xfrm>
          <a:prstGeom prst="rect">
            <a:avLst/>
          </a:prstGeom>
        </p:spPr>
        <p:txBody>
          <a:bodyPr lIns="0" tIns="0" rIns="0" bIns="0" rtlCol="0" anchor="t">
            <a:spAutoFit/>
          </a:bodyPr>
          <a:lstStyle/>
          <a:p>
            <a:pPr algn="ctr">
              <a:lnSpc>
                <a:spcPts val="2990"/>
              </a:lnSpc>
              <a:spcBef>
                <a:spcPts val="0"/>
              </a:spcBef>
              <a:defRPr/>
            </a:pPr>
            <a:r>
              <a:rPr lang="en-US" sz="2150">
                <a:solidFill>
                  <a:srgbClr val="000000"/>
                </a:solidFill>
                <a:latin typeface="Tahoma"/>
                <a:ea typeface="Tahoma"/>
                <a:cs typeface="Tahoma"/>
              </a:rPr>
              <a:t>JSON kích hoạt</a:t>
            </a:r>
            <a:endParaRPr/>
          </a:p>
        </p:txBody>
      </p:sp>
      <p:sp>
        <p:nvSpPr>
          <p:cNvPr id="1907416699" name="TextBox 41"/>
          <p:cNvSpPr txBox="1"/>
          <p:nvPr/>
        </p:nvSpPr>
        <p:spPr bwMode="auto">
          <a:xfrm>
            <a:off x="8089849" y="7597404"/>
            <a:ext cx="3491984" cy="360031"/>
          </a:xfrm>
          <a:prstGeom prst="rect">
            <a:avLst/>
          </a:prstGeom>
        </p:spPr>
        <p:txBody>
          <a:bodyPr lIns="0" tIns="0" rIns="0" bIns="0" rtlCol="0" anchor="t">
            <a:spAutoFit/>
          </a:bodyPr>
          <a:lstStyle/>
          <a:p>
            <a:pPr algn="ctr">
              <a:lnSpc>
                <a:spcPts val="2990"/>
              </a:lnSpc>
              <a:spcBef>
                <a:spcPts val="0"/>
              </a:spcBef>
              <a:defRPr/>
            </a:pPr>
            <a:r>
              <a:rPr lang="en-US" sz="2150">
                <a:solidFill>
                  <a:srgbClr val="000000"/>
                </a:solidFill>
                <a:latin typeface="Tahoma"/>
                <a:ea typeface="Tahoma"/>
                <a:cs typeface="Tahoma"/>
              </a:rPr>
              <a:t>vị trí xác nhận, dữ liệu CCCD</a:t>
            </a:r>
            <a:endParaRPr/>
          </a:p>
        </p:txBody>
      </p:sp>
      <p:sp>
        <p:nvSpPr>
          <p:cNvPr id="2022529701" name="TextBox 42"/>
          <p:cNvSpPr txBox="1"/>
          <p:nvPr/>
        </p:nvSpPr>
        <p:spPr bwMode="auto">
          <a:xfrm>
            <a:off x="16230600" y="6258456"/>
            <a:ext cx="2057400" cy="1102981"/>
          </a:xfrm>
          <a:prstGeom prst="rect">
            <a:avLst/>
          </a:prstGeom>
        </p:spPr>
        <p:txBody>
          <a:bodyPr lIns="0" tIns="0" rIns="0" bIns="0" rtlCol="0" anchor="t">
            <a:spAutoFit/>
          </a:bodyPr>
          <a:lstStyle/>
          <a:p>
            <a:pPr algn="ctr">
              <a:lnSpc>
                <a:spcPts val="2990"/>
              </a:lnSpc>
              <a:spcBef>
                <a:spcPts val="0"/>
              </a:spcBef>
              <a:defRPr/>
            </a:pPr>
            <a:r>
              <a:rPr lang="en-US" sz="2150">
                <a:solidFill>
                  <a:srgbClr val="000000"/>
                </a:solidFill>
                <a:latin typeface="Tahoma"/>
                <a:ea typeface="Tahoma"/>
                <a:cs typeface="Tahoma"/>
              </a:rPr>
              <a:t>JSON điều hướng + phiếu khám</a:t>
            </a:r>
            <a:endParaRPr/>
          </a:p>
        </p:txBody>
      </p:sp>
      <p:sp>
        <p:nvSpPr>
          <p:cNvPr id="1280706196" name="TextBox 43"/>
          <p:cNvSpPr txBox="1"/>
          <p:nvPr/>
        </p:nvSpPr>
        <p:spPr bwMode="auto">
          <a:xfrm>
            <a:off x="8863386" y="5920846"/>
            <a:ext cx="2040255" cy="731506"/>
          </a:xfrm>
          <a:prstGeom prst="rect">
            <a:avLst/>
          </a:prstGeom>
        </p:spPr>
        <p:txBody>
          <a:bodyPr lIns="0" tIns="0" rIns="0" bIns="0" rtlCol="0" anchor="t">
            <a:spAutoFit/>
          </a:bodyPr>
          <a:lstStyle/>
          <a:p>
            <a:pPr algn="ctr">
              <a:lnSpc>
                <a:spcPts val="2990"/>
              </a:lnSpc>
              <a:defRPr/>
            </a:pPr>
            <a:r>
              <a:rPr lang="en-US" sz="2150">
                <a:solidFill>
                  <a:srgbClr val="000000"/>
                </a:solidFill>
                <a:latin typeface="Tahoma"/>
                <a:ea typeface="Tahoma"/>
                <a:cs typeface="Tahoma"/>
              </a:rPr>
              <a:t>WORKSTREAM B</a:t>
            </a:r>
            <a:endParaRPr/>
          </a:p>
          <a:p>
            <a:pPr algn="ctr">
              <a:lnSpc>
                <a:spcPts val="2990"/>
              </a:lnSpc>
              <a:spcBef>
                <a:spcPts val="0"/>
              </a:spcBef>
              <a:defRPr/>
            </a:pPr>
            <a:r>
              <a:rPr lang="en-US" sz="2150">
                <a:solidFill>
                  <a:srgbClr val="000000"/>
                </a:solidFill>
                <a:latin typeface="Tahoma"/>
                <a:ea typeface="Tahoma"/>
                <a:cs typeface="Tahoma"/>
              </a:rPr>
              <a:t>KẾT NỐI/IoT</a:t>
            </a:r>
            <a:endParaRPr/>
          </a:p>
        </p:txBody>
      </p:sp>
      <p:sp>
        <p:nvSpPr>
          <p:cNvPr id="359723460" name="TextBox 44"/>
          <p:cNvSpPr txBox="1"/>
          <p:nvPr/>
        </p:nvSpPr>
        <p:spPr bwMode="auto">
          <a:xfrm>
            <a:off x="13476190" y="8526794"/>
            <a:ext cx="2064663" cy="731506"/>
          </a:xfrm>
          <a:prstGeom prst="rect">
            <a:avLst/>
          </a:prstGeom>
        </p:spPr>
        <p:txBody>
          <a:bodyPr lIns="0" tIns="0" rIns="0" bIns="0" rtlCol="0" anchor="t">
            <a:spAutoFit/>
          </a:bodyPr>
          <a:lstStyle/>
          <a:p>
            <a:pPr algn="ctr">
              <a:lnSpc>
                <a:spcPts val="2990"/>
              </a:lnSpc>
              <a:defRPr/>
            </a:pPr>
            <a:r>
              <a:rPr lang="en-US" sz="2150">
                <a:solidFill>
                  <a:srgbClr val="000000"/>
                </a:solidFill>
                <a:latin typeface="Tahoma"/>
                <a:ea typeface="Tahoma"/>
                <a:cs typeface="Tahoma"/>
              </a:rPr>
              <a:t>WORKSTREAM D</a:t>
            </a:r>
            <a:endParaRPr/>
          </a:p>
          <a:p>
            <a:pPr algn="ctr">
              <a:lnSpc>
                <a:spcPts val="2990"/>
              </a:lnSpc>
              <a:spcBef>
                <a:spcPts val="0"/>
              </a:spcBef>
              <a:defRPr/>
            </a:pPr>
            <a:r>
              <a:rPr lang="en-US" sz="2150">
                <a:solidFill>
                  <a:srgbClr val="000000"/>
                </a:solidFill>
                <a:latin typeface="Tahoma"/>
                <a:ea typeface="Tahoma"/>
                <a:cs typeface="Tahoma"/>
              </a:rPr>
              <a:t>AI AGENT/RAG</a:t>
            </a:r>
            <a:endParaRPr/>
          </a:p>
        </p:txBody>
      </p:sp>
      <p:sp>
        <p:nvSpPr>
          <p:cNvPr id="1410048253" name="TextBox 45"/>
          <p:cNvSpPr txBox="1"/>
          <p:nvPr/>
        </p:nvSpPr>
        <p:spPr bwMode="auto">
          <a:xfrm>
            <a:off x="3470348" y="8422019"/>
            <a:ext cx="2043351" cy="731506"/>
          </a:xfrm>
          <a:prstGeom prst="rect">
            <a:avLst/>
          </a:prstGeom>
        </p:spPr>
        <p:txBody>
          <a:bodyPr lIns="0" tIns="0" rIns="0" bIns="0" rtlCol="0" anchor="t">
            <a:spAutoFit/>
          </a:bodyPr>
          <a:lstStyle/>
          <a:p>
            <a:pPr algn="ctr">
              <a:lnSpc>
                <a:spcPts val="2990"/>
              </a:lnSpc>
              <a:defRPr/>
            </a:pPr>
            <a:r>
              <a:rPr lang="en-US" sz="2150">
                <a:solidFill>
                  <a:srgbClr val="000000"/>
                </a:solidFill>
                <a:latin typeface="Tahoma"/>
                <a:ea typeface="Tahoma"/>
                <a:cs typeface="Tahoma"/>
              </a:rPr>
              <a:t>WORKSTREAM C</a:t>
            </a:r>
            <a:endParaRPr/>
          </a:p>
          <a:p>
            <a:pPr algn="ctr">
              <a:lnSpc>
                <a:spcPts val="2990"/>
              </a:lnSpc>
              <a:spcBef>
                <a:spcPts val="0"/>
              </a:spcBef>
              <a:defRPr/>
            </a:pPr>
            <a:r>
              <a:rPr lang="en-US" sz="2150">
                <a:solidFill>
                  <a:srgbClr val="000000"/>
                </a:solidFill>
                <a:latin typeface="Tahoma"/>
                <a:ea typeface="Tahoma"/>
                <a:cs typeface="Tahoma"/>
              </a:rPr>
              <a:t>EDGE CV</a:t>
            </a:r>
            <a:endParaRPr/>
          </a:p>
        </p:txBody>
      </p:sp>
      <p:sp>
        <p:nvSpPr>
          <p:cNvPr id="2070327179" name="TextBox 46"/>
          <p:cNvSpPr txBox="1"/>
          <p:nvPr/>
        </p:nvSpPr>
        <p:spPr bwMode="auto">
          <a:xfrm>
            <a:off x="3470467" y="3809324"/>
            <a:ext cx="2043112" cy="731506"/>
          </a:xfrm>
          <a:prstGeom prst="rect">
            <a:avLst/>
          </a:prstGeom>
        </p:spPr>
        <p:txBody>
          <a:bodyPr lIns="0" tIns="0" rIns="0" bIns="0" rtlCol="0" anchor="t">
            <a:spAutoFit/>
          </a:bodyPr>
          <a:lstStyle/>
          <a:p>
            <a:pPr algn="ctr">
              <a:lnSpc>
                <a:spcPts val="2990"/>
              </a:lnSpc>
              <a:defRPr/>
            </a:pPr>
            <a:r>
              <a:rPr lang="en-US" sz="2150">
                <a:solidFill>
                  <a:srgbClr val="000000"/>
                </a:solidFill>
                <a:latin typeface="Tahoma"/>
                <a:ea typeface="Tahoma"/>
                <a:cs typeface="Tahoma"/>
              </a:rPr>
              <a:t>WORKSTREAM A</a:t>
            </a:r>
            <a:endParaRPr/>
          </a:p>
          <a:p>
            <a:pPr algn="ctr">
              <a:lnSpc>
                <a:spcPts val="2990"/>
              </a:lnSpc>
              <a:spcBef>
                <a:spcPts val="0"/>
              </a:spcBef>
              <a:defRPr/>
            </a:pPr>
            <a:r>
              <a:rPr lang="en-US" sz="2150">
                <a:solidFill>
                  <a:srgbClr val="000000"/>
                </a:solidFill>
                <a:latin typeface="Tahoma"/>
                <a:ea typeface="Tahoma"/>
                <a:cs typeface="Tahoma"/>
              </a:rPr>
              <a:t>NHÚNG</a:t>
            </a:r>
            <a:endParaRPr/>
          </a:p>
        </p:txBody>
      </p:sp>
    </p:spTree>
  </p:cSld>
  <p:clrMapOvr>
    <a:masterClrMapping/>
  </p:clrMapOvr>
  <mc:AlternateContent xmlns:mc="http://schemas.openxmlformats.org/markup-compatibility/2006" xmlns:p159="http://schemas.microsoft.com/office/powerpoint/2015/09/main">
    <mc:Choice Requires="p159">
      <p:transition>
        <p:fade/>
      </p:transition>
    </mc:Choice>
    <mc:Fallback xmlns="" xmlns:m="http://schemas.openxmlformats.org/officeDocument/2006/math" xmlns:w="http://schemas.openxmlformats.org/wordprocessingml/2006/main">
      <p:transition spd="fast" advClick="1">
        <p:fade thruBlk="0"/>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6543984" name="Freeform 2"/>
          <p:cNvSpPr/>
          <p:nvPr/>
        </p:nvSpPr>
        <p:spPr bwMode="auto">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stretch>
              <a:fillRect/>
            </a:stretch>
          </a:blipFill>
        </p:spPr>
        <p:txBody>
          <a:bodyPr/>
          <a:lstStyle/>
          <a:p>
            <a:endParaRPr lang="en-US"/>
          </a:p>
        </p:txBody>
      </p:sp>
      <p:grpSp>
        <p:nvGrpSpPr>
          <p:cNvPr id="42310234" name="Group 3"/>
          <p:cNvGrpSpPr/>
          <p:nvPr/>
        </p:nvGrpSpPr>
        <p:grpSpPr bwMode="auto">
          <a:xfrm>
            <a:off x="11649142" y="921287"/>
            <a:ext cx="5381558" cy="365950"/>
            <a:chOff x="0" y="0"/>
            <a:chExt cx="7175411" cy="487934"/>
          </a:xfrm>
        </p:grpSpPr>
        <p:sp>
          <p:nvSpPr>
            <p:cNvPr id="4" name="Freeform 4"/>
            <p:cNvSpPr/>
            <p:nvPr/>
          </p:nvSpPr>
          <p:spPr bwMode="auto">
            <a:xfrm flipV="1">
              <a:off x="0" y="0"/>
              <a:ext cx="7175373" cy="487934"/>
            </a:xfrm>
            <a:custGeom>
              <a:avLst/>
              <a:gdLst/>
              <a:ahLst/>
              <a:cxnLst/>
              <a:rect l="l" t="t" r="r" b="b"/>
              <a:pathLst>
                <a:path w="7175373" h="487934" extrusionOk="0">
                  <a:moveTo>
                    <a:pt x="0" y="487934"/>
                  </a:moveTo>
                  <a:lnTo>
                    <a:pt x="7175373" y="487934"/>
                  </a:lnTo>
                  <a:lnTo>
                    <a:pt x="7175373" y="0"/>
                  </a:lnTo>
                  <a:lnTo>
                    <a:pt x="0" y="0"/>
                  </a:lnTo>
                  <a:lnTo>
                    <a:pt x="0" y="487934"/>
                  </a:lnTo>
                  <a:close/>
                </a:path>
              </a:pathLst>
            </a:custGeom>
            <a:blipFill rotWithShape="1">
              <a:blip r:embed="rId4"/>
              <a:stretch>
                <a:fillRect b="-575"/>
              </a:stretch>
            </a:blipFill>
          </p:spPr>
          <p:txBody>
            <a:bodyPr/>
            <a:lstStyle/>
            <a:p>
              <a:endParaRPr lang="en-US"/>
            </a:p>
          </p:txBody>
        </p:sp>
      </p:grpSp>
      <p:sp>
        <p:nvSpPr>
          <p:cNvPr id="1608899097" name="TextBox 6"/>
          <p:cNvSpPr txBox="1"/>
          <p:nvPr/>
        </p:nvSpPr>
        <p:spPr bwMode="auto">
          <a:xfrm>
            <a:off x="822650" y="433702"/>
            <a:ext cx="10975417" cy="701399"/>
          </a:xfrm>
          <a:prstGeom prst="rect">
            <a:avLst/>
          </a:prstGeom>
        </p:spPr>
        <p:txBody>
          <a:bodyPr lIns="0" tIns="0" rIns="0" bIns="0" rtlCol="0" anchor="t">
            <a:spAutoFit/>
          </a:bodyPr>
          <a:lstStyle/>
          <a:p>
            <a:pPr algn="ctr">
              <a:lnSpc>
                <a:spcPts val="5520"/>
              </a:lnSpc>
              <a:spcBef>
                <a:spcPts val="0"/>
              </a:spcBef>
              <a:defRPr/>
            </a:pPr>
            <a:r>
              <a:rPr lang="en-US" sz="4000">
                <a:solidFill>
                  <a:srgbClr val="000000"/>
                </a:solidFill>
                <a:latin typeface="Times New Roman"/>
                <a:ea typeface="Times New Roman"/>
                <a:cs typeface="Times New Roman"/>
              </a:rPr>
              <a:t>BENCHMARK (SO SÁNH SẢN PHẨM HIỆN CÓ)</a:t>
            </a:r>
            <a:endParaRPr>
              <a:latin typeface="Times New Roman"/>
              <a:cs typeface="Times New Roman"/>
            </a:endParaRPr>
          </a:p>
        </p:txBody>
      </p:sp>
      <p:graphicFrame>
        <p:nvGraphicFramePr>
          <p:cNvPr id="801386481" name="Table 801386480"/>
          <p:cNvGraphicFramePr>
            <a:graphicFrameLocks/>
          </p:cNvGraphicFramePr>
          <p:nvPr/>
        </p:nvGraphicFramePr>
        <p:xfrm>
          <a:off x="135299" y="1352549"/>
          <a:ext cx="18021295" cy="8648699"/>
        </p:xfrm>
        <a:graphic>
          <a:graphicData uri="http://schemas.openxmlformats.org/drawingml/2006/table">
            <a:tbl>
              <a:tblPr firstRow="1" firstCol="1" bandRow="1"/>
              <a:tblGrid>
                <a:gridCol w="1260000">
                  <a:extLst>
                    <a:ext uri="{9D8B030D-6E8A-4147-A177-3AD203B41FA5}">
                      <a16:colId xmlns:a16="http://schemas.microsoft.com/office/drawing/2014/main" val="20000"/>
                    </a:ext>
                  </a:extLst>
                </a:gridCol>
                <a:gridCol w="3150000">
                  <a:extLst>
                    <a:ext uri="{9D8B030D-6E8A-4147-A177-3AD203B41FA5}">
                      <a16:colId xmlns:a16="http://schemas.microsoft.com/office/drawing/2014/main" val="20001"/>
                    </a:ext>
                  </a:extLst>
                </a:gridCol>
                <a:gridCol w="3330000">
                  <a:extLst>
                    <a:ext uri="{9D8B030D-6E8A-4147-A177-3AD203B41FA5}">
                      <a16:colId xmlns:a16="http://schemas.microsoft.com/office/drawing/2014/main" val="20002"/>
                    </a:ext>
                  </a:extLst>
                </a:gridCol>
                <a:gridCol w="3510000">
                  <a:extLst>
                    <a:ext uri="{9D8B030D-6E8A-4147-A177-3AD203B41FA5}">
                      <a16:colId xmlns:a16="http://schemas.microsoft.com/office/drawing/2014/main" val="20003"/>
                    </a:ext>
                  </a:extLst>
                </a:gridCol>
                <a:gridCol w="3150000">
                  <a:extLst>
                    <a:ext uri="{9D8B030D-6E8A-4147-A177-3AD203B41FA5}">
                      <a16:colId xmlns:a16="http://schemas.microsoft.com/office/drawing/2014/main" val="20004"/>
                    </a:ext>
                  </a:extLst>
                </a:gridCol>
                <a:gridCol w="3621295">
                  <a:extLst>
                    <a:ext uri="{9D8B030D-6E8A-4147-A177-3AD203B41FA5}">
                      <a16:colId xmlns:a16="http://schemas.microsoft.com/office/drawing/2014/main" val="20005"/>
                    </a:ext>
                  </a:extLst>
                </a:gridCol>
              </a:tblGrid>
              <a:tr h="831537">
                <a:tc>
                  <a:txBody>
                    <a:bodyPr/>
                    <a:lstStyle/>
                    <a:p>
                      <a:pPr algn="ctr">
                        <a:defRPr/>
                      </a:pPr>
                      <a:r>
                        <a:rPr sz="1600" b="1" i="0" u="none">
                          <a:solidFill>
                            <a:srgbClr val="000000"/>
                          </a:solidFill>
                          <a:latin typeface="Times New Roman"/>
                          <a:ea typeface="Times New Roman"/>
                          <a:cs typeface="Times New Roman"/>
                        </a:rPr>
                        <a:t>STT</a:t>
                      </a:r>
                      <a:endParaRPr sz="2000"/>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C5E0B2"/>
                    </a:solidFill>
                  </a:tcPr>
                </a:tc>
                <a:tc>
                  <a:txBody>
                    <a:bodyPr/>
                    <a:lstStyle/>
                    <a:p>
                      <a:pPr algn="ctr">
                        <a:defRPr/>
                      </a:pPr>
                      <a:r>
                        <a:rPr sz="1600" b="1" i="0" u="none">
                          <a:solidFill>
                            <a:srgbClr val="000000"/>
                          </a:solidFill>
                          <a:latin typeface="Times New Roman"/>
                          <a:ea typeface="Times New Roman"/>
                          <a:cs typeface="Times New Roman"/>
                        </a:rPr>
                        <a:t>Tiêu chí so sánh</a:t>
                      </a:r>
                      <a:endParaRPr sz="2000"/>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C5E0B2"/>
                    </a:solidFill>
                  </a:tcPr>
                </a:tc>
                <a:tc>
                  <a:txBody>
                    <a:bodyPr/>
                    <a:lstStyle/>
                    <a:p>
                      <a:pPr algn="ctr">
                        <a:defRPr/>
                      </a:pPr>
                      <a:r>
                        <a:rPr sz="1600" b="1" i="0" u="none">
                          <a:solidFill>
                            <a:srgbClr val="000000"/>
                          </a:solidFill>
                          <a:latin typeface="Times New Roman"/>
                          <a:ea typeface="Times New Roman"/>
                          <a:cs typeface="Times New Roman"/>
                        </a:rPr>
                        <a:t> Kiosk Lấy số Truyền thống</a:t>
                      </a:r>
                      <a:endParaRPr sz="2000"/>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C5E0B2"/>
                    </a:solidFill>
                  </a:tcPr>
                </a:tc>
                <a:tc>
                  <a:txBody>
                    <a:bodyPr/>
                    <a:lstStyle/>
                    <a:p>
                      <a:pPr algn="ctr">
                        <a:defRPr/>
                      </a:pPr>
                      <a:r>
                        <a:rPr sz="1600" b="1" i="0" u="none">
                          <a:solidFill>
                            <a:srgbClr val="000000"/>
                          </a:solidFill>
                          <a:latin typeface="Times New Roman"/>
                          <a:ea typeface="Times New Roman"/>
                          <a:cs typeface="Times New Roman"/>
                        </a:rPr>
                        <a:t>Kiosk IoT Thông minh</a:t>
                      </a:r>
                      <a:endParaRPr sz="2000"/>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C5E0B2"/>
                    </a:solidFill>
                  </a:tcPr>
                </a:tc>
                <a:tc>
                  <a:txBody>
                    <a:bodyPr/>
                    <a:lstStyle/>
                    <a:p>
                      <a:pPr algn="ctr">
                        <a:defRPr/>
                      </a:pPr>
                      <a:r>
                        <a:rPr sz="1600" b="1" i="0" u="none">
                          <a:solidFill>
                            <a:srgbClr val="000000"/>
                          </a:solidFill>
                          <a:latin typeface="Times New Roman"/>
                          <a:ea typeface="Times New Roman"/>
                          <a:cs typeface="Times New Roman"/>
                        </a:rPr>
                        <a:t> Máy đo Sinh hiệu All-in-one</a:t>
                      </a:r>
                      <a:endParaRPr sz="2000"/>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C5E0B2"/>
                    </a:solidFill>
                  </a:tcPr>
                </a:tc>
                <a:tc>
                  <a:txBody>
                    <a:bodyPr/>
                    <a:lstStyle/>
                    <a:p>
                      <a:pPr algn="ctr">
                        <a:defRPr/>
                      </a:pPr>
                      <a:r>
                        <a:rPr sz="1600" b="1" i="0" u="none">
                          <a:solidFill>
                            <a:srgbClr val="000000"/>
                          </a:solidFill>
                          <a:latin typeface="Times New Roman"/>
                          <a:ea typeface="Times New Roman"/>
                          <a:cs typeface="Times New Roman"/>
                        </a:rPr>
                        <a:t>Kiosk AI Agent Tự hành</a:t>
                      </a:r>
                      <a:endParaRPr sz="2000"/>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C5E0B2"/>
                    </a:solidFill>
                  </a:tcPr>
                </a:tc>
                <a:extLst>
                  <a:ext uri="{0D108BD9-81ED-4DB2-BD59-A6C34878D82A}">
                    <a16:rowId xmlns:a16="http://schemas.microsoft.com/office/drawing/2014/main" val="10000"/>
                  </a:ext>
                </a:extLst>
              </a:tr>
              <a:tr h="1078681">
                <a:tc>
                  <a:txBody>
                    <a:bodyPr/>
                    <a:lstStyle/>
                    <a:p>
                      <a:pPr algn="ctr">
                        <a:defRPr/>
                      </a:pPr>
                      <a:r>
                        <a:rPr sz="1600" b="0" i="0" u="none">
                          <a:solidFill>
                            <a:srgbClr val="000000"/>
                          </a:solidFill>
                          <a:latin typeface="Times New Roman"/>
                          <a:ea typeface="Times New Roman"/>
                          <a:cs typeface="Times New Roman"/>
                        </a:rPr>
                        <a:t>1</a:t>
                      </a:r>
                      <a:endParaRPr sz="2000"/>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600" b="1" i="0" u="none">
                          <a:solidFill>
                            <a:srgbClr val="000000"/>
                          </a:solidFill>
                          <a:latin typeface="Times New Roman"/>
                          <a:ea typeface="Times New Roman"/>
                          <a:cs typeface="Times New Roman"/>
                        </a:rPr>
                        <a:t>Phương thức tương tác</a:t>
                      </a:r>
                      <a:endParaRPr sz="2000"/>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600" b="0" i="0" u="none">
                          <a:solidFill>
                            <a:srgbClr val="000000"/>
                          </a:solidFill>
                          <a:latin typeface="Times New Roman"/>
                          <a:ea typeface="Times New Roman"/>
                          <a:cs typeface="Times New Roman"/>
                        </a:rPr>
                        <a:t>Bấm nút / Màn hình cảm ứng</a:t>
                      </a:r>
                      <a:endParaRPr sz="2000"/>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600" b="0" i="0" u="none">
                          <a:solidFill>
                            <a:srgbClr val="000000"/>
                          </a:solidFill>
                          <a:latin typeface="Times New Roman"/>
                          <a:ea typeface="Times New Roman"/>
                          <a:cs typeface="Times New Roman"/>
                        </a:rPr>
                        <a:t>Quét mã QR / Cảm ứng</a:t>
                      </a:r>
                      <a:endParaRPr sz="2000"/>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600" b="0" i="0" u="none">
                          <a:solidFill>
                            <a:srgbClr val="000000"/>
                          </a:solidFill>
                          <a:latin typeface="Times New Roman"/>
                          <a:ea typeface="Times New Roman"/>
                          <a:cs typeface="Times New Roman"/>
                        </a:rPr>
                        <a:t>Đặt tay/đeo thiết bị thủ công</a:t>
                      </a:r>
                      <a:endParaRPr sz="2000"/>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600" b="0" i="0" u="none">
                          <a:solidFill>
                            <a:srgbClr val="000000"/>
                          </a:solidFill>
                          <a:latin typeface="Times New Roman"/>
                          <a:ea typeface="Times New Roman"/>
                          <a:cs typeface="Times New Roman"/>
                        </a:rPr>
                        <a:t>Hoàn toàn Không chạm (Computer Vision + Auto trigger + QR + thẻ cảm ứng)</a:t>
                      </a:r>
                      <a:endParaRPr sz="2000"/>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extLst>
                  <a:ext uri="{0D108BD9-81ED-4DB2-BD59-A6C34878D82A}">
                    <a16:rowId xmlns:a16="http://schemas.microsoft.com/office/drawing/2014/main" val="10001"/>
                  </a:ext>
                </a:extLst>
              </a:tr>
              <a:tr h="1025627">
                <a:tc>
                  <a:txBody>
                    <a:bodyPr/>
                    <a:lstStyle/>
                    <a:p>
                      <a:pPr algn="ctr">
                        <a:defRPr/>
                      </a:pPr>
                      <a:r>
                        <a:rPr sz="1600" b="0" i="0" u="none">
                          <a:solidFill>
                            <a:srgbClr val="000000"/>
                          </a:solidFill>
                          <a:latin typeface="Times New Roman"/>
                          <a:ea typeface="Times New Roman"/>
                          <a:cs typeface="Times New Roman"/>
                        </a:rPr>
                        <a:t>2</a:t>
                      </a:r>
                      <a:endParaRPr sz="2000"/>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600" b="1" i="0" u="none" dirty="0">
                          <a:solidFill>
                            <a:srgbClr val="000000"/>
                          </a:solidFill>
                          <a:latin typeface="Times New Roman"/>
                          <a:ea typeface="Times New Roman"/>
                          <a:cs typeface="Times New Roman"/>
                        </a:rPr>
                        <a:t>Thu </a:t>
                      </a:r>
                      <a:r>
                        <a:rPr sz="1600" b="1" i="0" u="none" dirty="0" err="1">
                          <a:solidFill>
                            <a:srgbClr val="000000"/>
                          </a:solidFill>
                          <a:latin typeface="Times New Roman"/>
                          <a:ea typeface="Times New Roman"/>
                          <a:cs typeface="Times New Roman"/>
                        </a:rPr>
                        <a:t>thập</a:t>
                      </a:r>
                      <a:r>
                        <a:rPr sz="1600" b="1" i="0" u="none" dirty="0">
                          <a:solidFill>
                            <a:srgbClr val="000000"/>
                          </a:solidFill>
                          <a:latin typeface="Times New Roman"/>
                          <a:ea typeface="Times New Roman"/>
                          <a:cs typeface="Times New Roman"/>
                        </a:rPr>
                        <a:t> </a:t>
                      </a:r>
                      <a:r>
                        <a:rPr sz="1600" b="1" i="0" u="none" dirty="0" err="1">
                          <a:solidFill>
                            <a:srgbClr val="000000"/>
                          </a:solidFill>
                          <a:latin typeface="Times New Roman"/>
                          <a:ea typeface="Times New Roman"/>
                          <a:cs typeface="Times New Roman"/>
                        </a:rPr>
                        <a:t>sinh</a:t>
                      </a:r>
                      <a:r>
                        <a:rPr sz="1600" b="1" i="0" u="none" dirty="0">
                          <a:solidFill>
                            <a:srgbClr val="000000"/>
                          </a:solidFill>
                          <a:latin typeface="Times New Roman"/>
                          <a:ea typeface="Times New Roman"/>
                          <a:cs typeface="Times New Roman"/>
                        </a:rPr>
                        <a:t> </a:t>
                      </a:r>
                      <a:r>
                        <a:rPr sz="1600" b="1" i="0" u="none" dirty="0" err="1">
                          <a:solidFill>
                            <a:srgbClr val="000000"/>
                          </a:solidFill>
                          <a:latin typeface="Times New Roman"/>
                          <a:ea typeface="Times New Roman"/>
                          <a:cs typeface="Times New Roman"/>
                        </a:rPr>
                        <a:t>hiệu</a:t>
                      </a:r>
                      <a:r>
                        <a:rPr sz="1600" b="1" i="0" u="none" dirty="0">
                          <a:solidFill>
                            <a:srgbClr val="000000"/>
                          </a:solidFill>
                          <a:latin typeface="Times New Roman"/>
                          <a:ea typeface="Times New Roman"/>
                          <a:cs typeface="Times New Roman"/>
                        </a:rPr>
                        <a:t> (Vitals)</a:t>
                      </a:r>
                      <a:endParaRPr sz="2000" dirty="0"/>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600" b="0" i="0" u="none">
                          <a:solidFill>
                            <a:srgbClr val="000000"/>
                          </a:solidFill>
                          <a:latin typeface="Times New Roman"/>
                          <a:ea typeface="Times New Roman"/>
                          <a:cs typeface="Times New Roman"/>
                        </a:rPr>
                        <a:t>Không có. Bệnh nhân tự khai/đo sau</a:t>
                      </a:r>
                      <a:endParaRPr sz="2000"/>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600" b="0" i="0" u="none">
                          <a:solidFill>
                            <a:srgbClr val="000000"/>
                          </a:solidFill>
                          <a:latin typeface="Times New Roman"/>
                          <a:ea typeface="Times New Roman"/>
                          <a:cs typeface="Times New Roman"/>
                        </a:rPr>
                        <a:t>Có cảm biến đo tĩnh (đo nhiệt độ trán)</a:t>
                      </a:r>
                      <a:endParaRPr sz="2000"/>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600" b="0" i="0" u="none">
                          <a:solidFill>
                            <a:srgbClr val="000000"/>
                          </a:solidFill>
                          <a:latin typeface="Times New Roman"/>
                          <a:ea typeface="Times New Roman"/>
                          <a:cs typeface="Times New Roman"/>
                        </a:rPr>
                        <a:t>Đo đầy đủ (Nhiệt độ, SpO2, Huyết áp)</a:t>
                      </a:r>
                      <a:endParaRPr sz="2000"/>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600" b="0" i="0" u="none">
                          <a:solidFill>
                            <a:srgbClr val="000000"/>
                          </a:solidFill>
                          <a:latin typeface="Times New Roman"/>
                          <a:ea typeface="Times New Roman"/>
                          <a:cs typeface="Times New Roman"/>
                        </a:rPr>
                        <a:t>Tự động kích hoạt đo (MLX90614 + MAX30102)</a:t>
                      </a:r>
                      <a:endParaRPr sz="2000"/>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extLst>
                  <a:ext uri="{0D108BD9-81ED-4DB2-BD59-A6C34878D82A}">
                    <a16:rowId xmlns:a16="http://schemas.microsoft.com/office/drawing/2014/main" val="10002"/>
                  </a:ext>
                </a:extLst>
              </a:tr>
              <a:tr h="1043256">
                <a:tc>
                  <a:txBody>
                    <a:bodyPr/>
                    <a:lstStyle/>
                    <a:p>
                      <a:pPr algn="ctr">
                        <a:defRPr/>
                      </a:pPr>
                      <a:r>
                        <a:rPr sz="1600" b="0" i="0" u="none">
                          <a:solidFill>
                            <a:srgbClr val="000000"/>
                          </a:solidFill>
                          <a:latin typeface="Times New Roman"/>
                          <a:ea typeface="Times New Roman"/>
                          <a:cs typeface="Times New Roman"/>
                        </a:rPr>
                        <a:t>3</a:t>
                      </a:r>
                      <a:endParaRPr sz="2000"/>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600" b="1" i="0" u="none">
                          <a:solidFill>
                            <a:srgbClr val="000000"/>
                          </a:solidFill>
                          <a:latin typeface="Times New Roman"/>
                          <a:ea typeface="Times New Roman"/>
                          <a:cs typeface="Times New Roman"/>
                        </a:rPr>
                        <a:t>Thu thập thông tin CCCD</a:t>
                      </a:r>
                      <a:endParaRPr sz="2000"/>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600" b="0" i="0" u="none">
                          <a:solidFill>
                            <a:srgbClr val="000000"/>
                          </a:solidFill>
                          <a:latin typeface="Times New Roman"/>
                          <a:ea typeface="Times New Roman"/>
                          <a:cs typeface="Times New Roman"/>
                        </a:rPr>
                        <a:t>Gõ tay thông tin / Y tá nhập</a:t>
                      </a:r>
                      <a:endParaRPr sz="2000"/>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600" b="0" i="0" u="none">
                          <a:solidFill>
                            <a:srgbClr val="000000"/>
                          </a:solidFill>
                          <a:latin typeface="Times New Roman"/>
                          <a:ea typeface="Times New Roman"/>
                          <a:cs typeface="Times New Roman"/>
                        </a:rPr>
                        <a:t>Quét mã QR BHYT / Barcode CCCD</a:t>
                      </a:r>
                      <a:endParaRPr sz="2000"/>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600" b="0" i="0" u="none">
                          <a:solidFill>
                            <a:srgbClr val="000000"/>
                          </a:solidFill>
                          <a:latin typeface="Times New Roman"/>
                          <a:ea typeface="Times New Roman"/>
                          <a:cs typeface="Times New Roman"/>
                        </a:rPr>
                        <a:t>Quét thẻ từ / Barcode</a:t>
                      </a:r>
                      <a:endParaRPr sz="2000"/>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600" b="0" i="0" u="none">
                          <a:solidFill>
                            <a:srgbClr val="000000"/>
                          </a:solidFill>
                          <a:latin typeface="Times New Roman"/>
                          <a:ea typeface="Times New Roman"/>
                          <a:cs typeface="Times New Roman"/>
                        </a:rPr>
                        <a:t>Camera OCR đọc trực tiếp từ CCCD chip</a:t>
                      </a:r>
                      <a:endParaRPr sz="2000"/>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extLst>
                  <a:ext uri="{0D108BD9-81ED-4DB2-BD59-A6C34878D82A}">
                    <a16:rowId xmlns:a16="http://schemas.microsoft.com/office/drawing/2014/main" val="10003"/>
                  </a:ext>
                </a:extLst>
              </a:tr>
              <a:tr h="949285">
                <a:tc>
                  <a:txBody>
                    <a:bodyPr/>
                    <a:lstStyle/>
                    <a:p>
                      <a:pPr algn="ctr">
                        <a:defRPr/>
                      </a:pPr>
                      <a:r>
                        <a:rPr sz="1600" b="0" i="0" u="none">
                          <a:solidFill>
                            <a:srgbClr val="000000"/>
                          </a:solidFill>
                          <a:latin typeface="Times New Roman"/>
                          <a:ea typeface="Times New Roman"/>
                          <a:cs typeface="Times New Roman"/>
                        </a:rPr>
                        <a:t>4</a:t>
                      </a:r>
                      <a:endParaRPr sz="2000"/>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600" b="1" i="0" u="none">
                          <a:solidFill>
                            <a:srgbClr val="000000"/>
                          </a:solidFill>
                          <a:latin typeface="Times New Roman"/>
                          <a:ea typeface="Times New Roman"/>
                          <a:cs typeface="Times New Roman"/>
                        </a:rPr>
                        <a:t>Luồng xử lý &amp; Phân khoa</a:t>
                      </a:r>
                      <a:endParaRPr sz="2000"/>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600" b="0" i="0" u="none">
                          <a:solidFill>
                            <a:srgbClr val="000000"/>
                          </a:solidFill>
                          <a:latin typeface="Times New Roman"/>
                          <a:ea typeface="Times New Roman"/>
                          <a:cs typeface="Times New Roman"/>
                        </a:rPr>
                        <a:t>Cố định: Lấy số theo thứ tự luồng</a:t>
                      </a:r>
                      <a:endParaRPr sz="2000"/>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600" b="0" i="0" u="none">
                          <a:solidFill>
                            <a:srgbClr val="000000"/>
                          </a:solidFill>
                          <a:latin typeface="Times New Roman"/>
                          <a:ea typeface="Times New Roman"/>
                          <a:cs typeface="Times New Roman"/>
                        </a:rPr>
                        <a:t>Cố định theo cây quyết định (If-Else)</a:t>
                      </a:r>
                      <a:endParaRPr sz="2000"/>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600" b="0" i="0" u="none">
                          <a:solidFill>
                            <a:srgbClr val="000000"/>
                          </a:solidFill>
                          <a:latin typeface="Times New Roman"/>
                          <a:ea typeface="Times New Roman"/>
                          <a:cs typeface="Times New Roman"/>
                        </a:rPr>
                        <a:t>Chỉ trả về chỉ số đo, không phân khoa</a:t>
                      </a:r>
                      <a:endParaRPr sz="2000"/>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600" b="0" i="0" u="none">
                          <a:solidFill>
                            <a:srgbClr val="000000"/>
                          </a:solidFill>
                          <a:latin typeface="Times New Roman"/>
                          <a:ea typeface="Times New Roman"/>
                          <a:cs typeface="Times New Roman"/>
                        </a:rPr>
                        <a:t>Lập luận ngữ cảnh bằng AI Agent + RAG</a:t>
                      </a:r>
                      <a:endParaRPr sz="2000"/>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extLst>
                  <a:ext uri="{0D108BD9-81ED-4DB2-BD59-A6C34878D82A}">
                    <a16:rowId xmlns:a16="http://schemas.microsoft.com/office/drawing/2014/main" val="10004"/>
                  </a:ext>
                </a:extLst>
              </a:tr>
              <a:tr h="1025627">
                <a:tc>
                  <a:txBody>
                    <a:bodyPr/>
                    <a:lstStyle/>
                    <a:p>
                      <a:pPr algn="ctr">
                        <a:defRPr/>
                      </a:pPr>
                      <a:r>
                        <a:rPr sz="1600" b="0" i="0" u="none">
                          <a:solidFill>
                            <a:srgbClr val="000000"/>
                          </a:solidFill>
                          <a:latin typeface="Times New Roman"/>
                          <a:ea typeface="Times New Roman"/>
                          <a:cs typeface="Times New Roman"/>
                        </a:rPr>
                        <a:t>5</a:t>
                      </a:r>
                      <a:endParaRPr sz="2000"/>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600" b="1" i="0" u="none">
                          <a:solidFill>
                            <a:srgbClr val="000000"/>
                          </a:solidFill>
                          <a:latin typeface="Times New Roman"/>
                          <a:ea typeface="Times New Roman"/>
                          <a:cs typeface="Times New Roman"/>
                        </a:rPr>
                        <a:t>Bảo mật dữ liệu (Data Privacy)</a:t>
                      </a:r>
                      <a:endParaRPr sz="2000"/>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600" b="0" i="0" u="none">
                          <a:solidFill>
                            <a:srgbClr val="000000"/>
                          </a:solidFill>
                          <a:latin typeface="Times New Roman"/>
                          <a:ea typeface="Times New Roman"/>
                          <a:cs typeface="Times New Roman"/>
                        </a:rPr>
                        <a:t>Lưu trực tiếp thông tin thô</a:t>
                      </a:r>
                      <a:endParaRPr sz="2000"/>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600" b="0" i="0" u="none">
                          <a:solidFill>
                            <a:srgbClr val="000000"/>
                          </a:solidFill>
                          <a:latin typeface="Times New Roman"/>
                          <a:ea typeface="Times New Roman"/>
                          <a:cs typeface="Times New Roman"/>
                        </a:rPr>
                        <a:t>Lưu database không ẩn danh</a:t>
                      </a:r>
                      <a:endParaRPr sz="2000"/>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600" b="0" i="0" u="none">
                          <a:solidFill>
                            <a:srgbClr val="000000"/>
                          </a:solidFill>
                          <a:latin typeface="Times New Roman"/>
                          <a:ea typeface="Times New Roman"/>
                          <a:cs typeface="Times New Roman"/>
                        </a:rPr>
                        <a:t>Lưu cục bộ trên thiết bị</a:t>
                      </a:r>
                      <a:endParaRPr sz="2000"/>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600" b="0" i="0" u="none">
                          <a:solidFill>
                            <a:srgbClr val="000000"/>
                          </a:solidFill>
                          <a:latin typeface="Times New Roman"/>
                          <a:ea typeface="Times New Roman"/>
                          <a:cs typeface="Times New Roman"/>
                        </a:rPr>
                        <a:t>Module PII Anonymizer tự động xóa thông tin định danh</a:t>
                      </a:r>
                      <a:endParaRPr sz="2000"/>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extLst>
                  <a:ext uri="{0D108BD9-81ED-4DB2-BD59-A6C34878D82A}">
                    <a16:rowId xmlns:a16="http://schemas.microsoft.com/office/drawing/2014/main" val="10005"/>
                  </a:ext>
                </a:extLst>
              </a:tr>
              <a:tr h="884589">
                <a:tc>
                  <a:txBody>
                    <a:bodyPr/>
                    <a:lstStyle/>
                    <a:p>
                      <a:pPr algn="ctr">
                        <a:defRPr/>
                      </a:pPr>
                      <a:r>
                        <a:rPr sz="1600" b="0" i="0" u="none">
                          <a:solidFill>
                            <a:srgbClr val="000000"/>
                          </a:solidFill>
                          <a:latin typeface="Times New Roman"/>
                          <a:ea typeface="Times New Roman"/>
                          <a:cs typeface="Times New Roman"/>
                        </a:rPr>
                        <a:t>6</a:t>
                      </a:r>
                      <a:endParaRPr sz="2000"/>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600" b="1" i="0" u="none">
                          <a:solidFill>
                            <a:srgbClr val="000000"/>
                          </a:solidFill>
                          <a:latin typeface="Times New Roman"/>
                          <a:ea typeface="Times New Roman"/>
                          <a:cs typeface="Times New Roman"/>
                        </a:rPr>
                        <a:t>Khả năng giao tiếp phần cứng</a:t>
                      </a:r>
                      <a:endParaRPr sz="2000"/>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600" b="0" i="0" u="none">
                          <a:solidFill>
                            <a:srgbClr val="000000"/>
                          </a:solidFill>
                          <a:latin typeface="Times New Roman"/>
                          <a:ea typeface="Times New Roman"/>
                          <a:cs typeface="Times New Roman"/>
                        </a:rPr>
                        <a:t>Độc lập, kết nối máy in đơn giản</a:t>
                      </a:r>
                      <a:endParaRPr sz="2000"/>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600" b="0" i="0" u="none">
                          <a:solidFill>
                            <a:srgbClr val="000000"/>
                          </a:solidFill>
                          <a:latin typeface="Times New Roman"/>
                          <a:ea typeface="Times New Roman"/>
                          <a:cs typeface="Times New Roman"/>
                        </a:rPr>
                        <a:t>Kết nối API Web Server cơ bản</a:t>
                      </a:r>
                      <a:endParaRPr sz="2000"/>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600" b="0" i="0" u="none">
                          <a:solidFill>
                            <a:srgbClr val="000000"/>
                          </a:solidFill>
                          <a:latin typeface="Times New Roman"/>
                          <a:ea typeface="Times New Roman"/>
                          <a:cs typeface="Times New Roman"/>
                        </a:rPr>
                        <a:t>Chuẩn giao tiếp đóng (Proprietary)</a:t>
                      </a:r>
                      <a:endParaRPr sz="2000"/>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600" b="0" i="0" u="none">
                          <a:solidFill>
                            <a:srgbClr val="000000"/>
                          </a:solidFill>
                          <a:latin typeface="Times New Roman"/>
                          <a:ea typeface="Times New Roman"/>
                          <a:cs typeface="Times New Roman"/>
                        </a:rPr>
                        <a:t>MQTT Broker mã nguồn mở, giao tiếp 2 chiều</a:t>
                      </a:r>
                      <a:endParaRPr sz="2000"/>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extLst>
                  <a:ext uri="{0D108BD9-81ED-4DB2-BD59-A6C34878D82A}">
                    <a16:rowId xmlns:a16="http://schemas.microsoft.com/office/drawing/2014/main" val="10006"/>
                  </a:ext>
                </a:extLst>
              </a:tr>
              <a:tr h="978560">
                <a:tc>
                  <a:txBody>
                    <a:bodyPr/>
                    <a:lstStyle/>
                    <a:p>
                      <a:pPr algn="ctr">
                        <a:defRPr/>
                      </a:pPr>
                      <a:r>
                        <a:rPr sz="1600" b="0" i="0" u="none">
                          <a:solidFill>
                            <a:srgbClr val="000000"/>
                          </a:solidFill>
                          <a:latin typeface="Times New Roman"/>
                          <a:ea typeface="Times New Roman"/>
                          <a:cs typeface="Times New Roman"/>
                        </a:rPr>
                        <a:t>7</a:t>
                      </a:r>
                      <a:endParaRPr sz="2000"/>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600" b="1" i="0" u="none">
                          <a:solidFill>
                            <a:srgbClr val="000000"/>
                          </a:solidFill>
                          <a:latin typeface="Times New Roman"/>
                          <a:ea typeface="Times New Roman"/>
                          <a:cs typeface="Times New Roman"/>
                        </a:rPr>
                        <a:t>Chi phí đầu tư (Cost)</a:t>
                      </a:r>
                      <a:endParaRPr sz="2000"/>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600" b="0" i="0" u="none">
                          <a:solidFill>
                            <a:srgbClr val="000000"/>
                          </a:solidFill>
                          <a:latin typeface="Times New Roman"/>
                          <a:ea typeface="Times New Roman"/>
                          <a:cs typeface="Times New Roman"/>
                        </a:rPr>
                        <a:t>Thấp (10 - 20 triệu VNĐ)</a:t>
                      </a:r>
                      <a:endParaRPr sz="2000"/>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600" b="0" i="0" u="none">
                          <a:solidFill>
                            <a:srgbClr val="000000"/>
                          </a:solidFill>
                          <a:latin typeface="Times New Roman"/>
                          <a:ea typeface="Times New Roman"/>
                          <a:cs typeface="Times New Roman"/>
                        </a:rPr>
                        <a:t>Trung bình (40 - 70 triệu VNĐ)</a:t>
                      </a:r>
                      <a:endParaRPr sz="2000"/>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600" b="0" i="0" u="none">
                          <a:solidFill>
                            <a:srgbClr val="000000"/>
                          </a:solidFill>
                          <a:latin typeface="Times New Roman"/>
                          <a:ea typeface="Times New Roman"/>
                          <a:cs typeface="Times New Roman"/>
                        </a:rPr>
                        <a:t>Rất cao ($5,000 - $15,000)</a:t>
                      </a:r>
                      <a:endParaRPr sz="2000"/>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600" b="0" i="0" u="none">
                          <a:solidFill>
                            <a:srgbClr val="000000"/>
                          </a:solidFill>
                          <a:latin typeface="Times New Roman"/>
                          <a:ea typeface="Times New Roman"/>
                          <a:cs typeface="Times New Roman"/>
                        </a:rPr>
                        <a:t>Tối ưu (Dưới 3 triệu VNĐ phần cứng nhúng)</a:t>
                      </a:r>
                      <a:endParaRPr sz="2000"/>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extLst>
                  <a:ext uri="{0D108BD9-81ED-4DB2-BD59-A6C34878D82A}">
                    <a16:rowId xmlns:a16="http://schemas.microsoft.com/office/drawing/2014/main" val="10007"/>
                  </a:ext>
                </a:extLst>
              </a:tr>
              <a:tr h="831537">
                <a:tc>
                  <a:txBody>
                    <a:bodyPr/>
                    <a:lstStyle/>
                    <a:p>
                      <a:pPr algn="ctr">
                        <a:defRPr/>
                      </a:pPr>
                      <a:r>
                        <a:rPr sz="1600" b="0" i="0" u="none">
                          <a:solidFill>
                            <a:srgbClr val="000000"/>
                          </a:solidFill>
                          <a:latin typeface="Times New Roman"/>
                          <a:ea typeface="Times New Roman"/>
                          <a:cs typeface="Times New Roman"/>
                        </a:rPr>
                        <a:t>8</a:t>
                      </a:r>
                      <a:endParaRPr sz="2000"/>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600" b="1" i="0" u="none">
                          <a:solidFill>
                            <a:srgbClr val="000000"/>
                          </a:solidFill>
                          <a:latin typeface="Times New Roman"/>
                          <a:ea typeface="Times New Roman"/>
                          <a:cs typeface="Times New Roman"/>
                        </a:rPr>
                        <a:t>Tốc độ phục vụ trung bình</a:t>
                      </a:r>
                      <a:endParaRPr sz="2000"/>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600" b="0" i="0" u="none">
                          <a:solidFill>
                            <a:srgbClr val="000000"/>
                          </a:solidFill>
                          <a:latin typeface="Times New Roman"/>
                          <a:ea typeface="Times New Roman"/>
                          <a:cs typeface="Times New Roman"/>
                        </a:rPr>
                        <a:t>45 - 60 giây / Bệnh nhân</a:t>
                      </a:r>
                      <a:endParaRPr sz="2000"/>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600" b="0" i="0" u="none">
                          <a:solidFill>
                            <a:srgbClr val="000000"/>
                          </a:solidFill>
                          <a:latin typeface="Times New Roman"/>
                          <a:ea typeface="Times New Roman"/>
                          <a:cs typeface="Times New Roman"/>
                        </a:rPr>
                        <a:t>30 - 45 giây / Bệnh nhân</a:t>
                      </a:r>
                      <a:endParaRPr sz="2000"/>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600" b="0" i="0" u="none">
                          <a:solidFill>
                            <a:srgbClr val="000000"/>
                          </a:solidFill>
                          <a:latin typeface="Times New Roman"/>
                          <a:ea typeface="Times New Roman"/>
                          <a:cs typeface="Times New Roman"/>
                        </a:rPr>
                        <a:t>60 - 90 giây / Bệnh nhân</a:t>
                      </a:r>
                      <a:endParaRPr sz="2000"/>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tc>
                  <a:txBody>
                    <a:bodyPr/>
                    <a:lstStyle/>
                    <a:p>
                      <a:pPr algn="ctr">
                        <a:defRPr/>
                      </a:pPr>
                      <a:r>
                        <a:rPr sz="1600" b="0" i="0" u="none" dirty="0">
                          <a:solidFill>
                            <a:srgbClr val="000000"/>
                          </a:solidFill>
                          <a:latin typeface="Times New Roman"/>
                          <a:ea typeface="Times New Roman"/>
                          <a:cs typeface="Times New Roman"/>
                        </a:rPr>
                        <a:t>10 - 15 </a:t>
                      </a:r>
                      <a:r>
                        <a:rPr sz="1600" b="0" i="0" u="none" dirty="0" err="1">
                          <a:solidFill>
                            <a:srgbClr val="000000"/>
                          </a:solidFill>
                          <a:latin typeface="Times New Roman"/>
                          <a:ea typeface="Times New Roman"/>
                          <a:cs typeface="Times New Roman"/>
                        </a:rPr>
                        <a:t>giây</a:t>
                      </a:r>
                      <a:r>
                        <a:rPr sz="1600" b="0" i="0" u="none" dirty="0">
                          <a:solidFill>
                            <a:srgbClr val="000000"/>
                          </a:solidFill>
                          <a:latin typeface="Times New Roman"/>
                          <a:ea typeface="Times New Roman"/>
                          <a:cs typeface="Times New Roman"/>
                        </a:rPr>
                        <a:t> / </a:t>
                      </a:r>
                      <a:r>
                        <a:rPr sz="1600" b="0" i="0" u="none" dirty="0" err="1">
                          <a:solidFill>
                            <a:srgbClr val="000000"/>
                          </a:solidFill>
                          <a:latin typeface="Times New Roman"/>
                          <a:ea typeface="Times New Roman"/>
                          <a:cs typeface="Times New Roman"/>
                        </a:rPr>
                        <a:t>Bệnh</a:t>
                      </a:r>
                      <a:r>
                        <a:rPr sz="1600" b="0" i="0" u="none" dirty="0">
                          <a:solidFill>
                            <a:srgbClr val="000000"/>
                          </a:solidFill>
                          <a:latin typeface="Times New Roman"/>
                          <a:ea typeface="Times New Roman"/>
                          <a:cs typeface="Times New Roman"/>
                        </a:rPr>
                        <a:t> </a:t>
                      </a:r>
                      <a:r>
                        <a:rPr sz="1600" b="0" i="0" u="none" dirty="0" err="1">
                          <a:solidFill>
                            <a:srgbClr val="000000"/>
                          </a:solidFill>
                          <a:latin typeface="Times New Roman"/>
                          <a:ea typeface="Times New Roman"/>
                          <a:cs typeface="Times New Roman"/>
                        </a:rPr>
                        <a:t>nhân</a:t>
                      </a:r>
                      <a:endParaRPr sz="2000" dirty="0"/>
                    </a:p>
                  </a:txBody>
                  <a:tcPr marL="9524" marR="9524" marT="9524" marB="9524" anchor="ctr">
                    <a:lnL w="9524" algn="ctr">
                      <a:solidFill>
                        <a:srgbClr val="000000"/>
                      </a:solidFill>
                    </a:lnL>
                    <a:lnR w="9524" algn="ctr">
                      <a:solidFill>
                        <a:srgbClr val="000000"/>
                      </a:solidFill>
                    </a:lnR>
                    <a:lnT w="9524" algn="ctr">
                      <a:solidFill>
                        <a:srgbClr val="000000"/>
                      </a:solidFill>
                    </a:lnT>
                    <a:lnB w="9524" algn="ctr">
                      <a:solidFill>
                        <a:srgbClr val="000000"/>
                      </a:solidFill>
                    </a:lnB>
                    <a:solidFill>
                      <a:srgbClr val="FFFFFF"/>
                    </a:solidFill>
                  </a:tcPr>
                </a:tc>
                <a:extLst>
                  <a:ext uri="{0D108BD9-81ED-4DB2-BD59-A6C34878D82A}">
                    <a16:rowId xmlns:a16="http://schemas.microsoft.com/office/drawing/2014/main" val="10008"/>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grpSp>
        <p:nvGrpSpPr>
          <p:cNvPr id="454109980" name="Group 2"/>
          <p:cNvGrpSpPr/>
          <p:nvPr/>
        </p:nvGrpSpPr>
        <p:grpSpPr bwMode="auto">
          <a:xfrm>
            <a:off x="-12290" y="114300"/>
            <a:ext cx="11580938" cy="1791213"/>
            <a:chOff x="-58993" y="0"/>
            <a:chExt cx="9349869" cy="2388284"/>
          </a:xfrm>
        </p:grpSpPr>
        <p:sp>
          <p:nvSpPr>
            <p:cNvPr id="3" name="Freeform 3"/>
            <p:cNvSpPr/>
            <p:nvPr/>
          </p:nvSpPr>
          <p:spPr bwMode="auto">
            <a:xfrm>
              <a:off x="-58993" y="0"/>
              <a:ext cx="8294106" cy="1794554"/>
            </a:xfrm>
            <a:custGeom>
              <a:avLst/>
              <a:gdLst/>
              <a:ahLst/>
              <a:cxnLst/>
              <a:rect l="l" t="t" r="r" b="b"/>
              <a:pathLst>
                <a:path w="8294107" h="1794553" extrusionOk="0">
                  <a:moveTo>
                    <a:pt x="0" y="0"/>
                  </a:moveTo>
                  <a:lnTo>
                    <a:pt x="8294107" y="0"/>
                  </a:lnTo>
                  <a:lnTo>
                    <a:pt x="8294107" y="1794553"/>
                  </a:lnTo>
                  <a:lnTo>
                    <a:pt x="0" y="1794553"/>
                  </a:lnTo>
                  <a:close/>
                </a:path>
              </a:pathLst>
            </a:custGeom>
            <a:blipFill rotWithShape="1">
              <a:blip r:embed="rId3">
                <a:alphaModFix amt="0"/>
              </a:blip>
              <a:stretch>
                <a:fillRect t="-180534" r="-153567" b="-176173"/>
              </a:stretch>
            </a:blipFill>
          </p:spPr>
          <p:txBody>
            <a:bodyPr anchor="ctr"/>
            <a:lstStyle/>
            <a:p>
              <a:pPr algn="ctr">
                <a:defRPr/>
              </a:pPr>
              <a:r>
                <a:rPr lang="vi-VN" dirty="0">
                  <a:latin typeface="Times New Roman"/>
                  <a:cs typeface="Times New Roman"/>
                </a:rPr>
                <a:t> </a:t>
              </a:r>
              <a:endParaRPr dirty="0">
                <a:latin typeface="Times New Roman"/>
                <a:cs typeface="Times New Roman"/>
              </a:endParaRPr>
            </a:p>
          </p:txBody>
        </p:sp>
        <p:sp>
          <p:nvSpPr>
            <p:cNvPr id="4" name="TextBox 4"/>
            <p:cNvSpPr txBox="1"/>
            <p:nvPr/>
          </p:nvSpPr>
          <p:spPr bwMode="auto">
            <a:xfrm>
              <a:off x="996770" y="508000"/>
              <a:ext cx="8294106" cy="1880284"/>
            </a:xfrm>
            <a:prstGeom prst="rect">
              <a:avLst/>
            </a:prstGeom>
            <a:grpFill/>
          </p:spPr>
          <p:txBody>
            <a:bodyPr lIns="0" tIns="0" rIns="0" bIns="0" rtlCol="0" anchor="ctr"/>
            <a:lstStyle/>
            <a:p>
              <a:pPr algn="ctr">
                <a:lnSpc>
                  <a:spcPts val="7038"/>
                </a:lnSpc>
                <a:defRPr/>
              </a:pPr>
              <a:r>
                <a:rPr lang="vi-VN" sz="5100" b="1" dirty="0" err="1">
                  <a:solidFill>
                    <a:srgbClr val="153898"/>
                  </a:solidFill>
                  <a:latin typeface="Times New Roman"/>
                  <a:ea typeface="Times New Roman"/>
                  <a:cs typeface="Times New Roman"/>
                </a:rPr>
                <a:t>Analytic</a:t>
              </a:r>
              <a:r>
                <a:rPr lang="vi-VN" sz="5100" b="1" dirty="0">
                  <a:solidFill>
                    <a:srgbClr val="153898"/>
                  </a:solidFill>
                  <a:latin typeface="Times New Roman"/>
                  <a:ea typeface="Times New Roman"/>
                  <a:cs typeface="Times New Roman"/>
                </a:rPr>
                <a:t> </a:t>
              </a:r>
              <a:r>
                <a:rPr lang="vi-VN" sz="5100" b="1" dirty="0" err="1">
                  <a:solidFill>
                    <a:srgbClr val="153898"/>
                  </a:solidFill>
                  <a:latin typeface="Times New Roman"/>
                  <a:ea typeface="Times New Roman"/>
                  <a:cs typeface="Times New Roman"/>
                </a:rPr>
                <a:t>Hierarchy</a:t>
              </a:r>
              <a:r>
                <a:rPr lang="vi-VN" sz="5100" b="1" dirty="0">
                  <a:solidFill>
                    <a:srgbClr val="153898"/>
                  </a:solidFill>
                  <a:latin typeface="Times New Roman"/>
                  <a:ea typeface="Times New Roman"/>
                  <a:cs typeface="Times New Roman"/>
                </a:rPr>
                <a:t> </a:t>
              </a:r>
              <a:r>
                <a:rPr lang="vi-VN" sz="5100" b="1" dirty="0" err="1">
                  <a:solidFill>
                    <a:srgbClr val="153898"/>
                  </a:solidFill>
                  <a:latin typeface="Times New Roman"/>
                  <a:ea typeface="Times New Roman"/>
                  <a:cs typeface="Times New Roman"/>
                </a:rPr>
                <a:t>Process</a:t>
              </a:r>
              <a:r>
                <a:rPr lang="vi-VN" sz="5100" b="1" dirty="0">
                  <a:solidFill>
                    <a:srgbClr val="153898"/>
                  </a:solidFill>
                  <a:latin typeface="Times New Roman"/>
                  <a:ea typeface="Times New Roman"/>
                  <a:cs typeface="Times New Roman"/>
                </a:rPr>
                <a:t> (AHP):</a:t>
              </a:r>
            </a:p>
            <a:p>
              <a:pPr algn="ctr">
                <a:lnSpc>
                  <a:spcPts val="7038"/>
                </a:lnSpc>
                <a:defRPr/>
              </a:pPr>
              <a:endParaRPr lang="en-US" dirty="0">
                <a:latin typeface="Times New Roman"/>
                <a:cs typeface="Times New Roman"/>
              </a:endParaRPr>
            </a:p>
          </p:txBody>
        </p:sp>
      </p:grpSp>
      <p:graphicFrame>
        <p:nvGraphicFramePr>
          <p:cNvPr id="2" name="Table 1">
            <a:extLst>
              <a:ext uri="{FF2B5EF4-FFF2-40B4-BE49-F238E27FC236}">
                <a16:creationId xmlns:a16="http://schemas.microsoft.com/office/drawing/2014/main" id="{0B987FB3-C7B6-042D-3AB6-953FF7BEE2CF}"/>
              </a:ext>
            </a:extLst>
          </p:cNvPr>
          <p:cNvGraphicFramePr>
            <a:graphicFrameLocks noGrp="1"/>
          </p:cNvGraphicFramePr>
          <p:nvPr>
            <p:extLst>
              <p:ext uri="{D42A27DB-BD31-4B8C-83A1-F6EECF244321}">
                <p14:modId xmlns:p14="http://schemas.microsoft.com/office/powerpoint/2010/main" val="2480726340"/>
              </p:ext>
            </p:extLst>
          </p:nvPr>
        </p:nvGraphicFramePr>
        <p:xfrm>
          <a:off x="1524002" y="1701658"/>
          <a:ext cx="15468598" cy="6883684"/>
        </p:xfrm>
        <a:graphic>
          <a:graphicData uri="http://schemas.openxmlformats.org/drawingml/2006/table">
            <a:tbl>
              <a:tblPr firstRow="1" bandRow="1">
                <a:tableStyleId>{5C22544A-7EE6-4342-B048-85BDC9FD1C3A}</a:tableStyleId>
              </a:tblPr>
              <a:tblGrid>
                <a:gridCol w="3093637">
                  <a:extLst>
                    <a:ext uri="{9D8B030D-6E8A-4147-A177-3AD203B41FA5}">
                      <a16:colId xmlns:a16="http://schemas.microsoft.com/office/drawing/2014/main" val="4149827110"/>
                    </a:ext>
                  </a:extLst>
                </a:gridCol>
                <a:gridCol w="2062354">
                  <a:extLst>
                    <a:ext uri="{9D8B030D-6E8A-4147-A177-3AD203B41FA5}">
                      <a16:colId xmlns:a16="http://schemas.microsoft.com/office/drawing/2014/main" val="285382813"/>
                    </a:ext>
                  </a:extLst>
                </a:gridCol>
                <a:gridCol w="2062354">
                  <a:extLst>
                    <a:ext uri="{9D8B030D-6E8A-4147-A177-3AD203B41FA5}">
                      <a16:colId xmlns:a16="http://schemas.microsoft.com/office/drawing/2014/main" val="146624704"/>
                    </a:ext>
                  </a:extLst>
                </a:gridCol>
                <a:gridCol w="2062354">
                  <a:extLst>
                    <a:ext uri="{9D8B030D-6E8A-4147-A177-3AD203B41FA5}">
                      <a16:colId xmlns:a16="http://schemas.microsoft.com/office/drawing/2014/main" val="1195758487"/>
                    </a:ext>
                  </a:extLst>
                </a:gridCol>
                <a:gridCol w="2062354">
                  <a:extLst>
                    <a:ext uri="{9D8B030D-6E8A-4147-A177-3AD203B41FA5}">
                      <a16:colId xmlns:a16="http://schemas.microsoft.com/office/drawing/2014/main" val="3480855388"/>
                    </a:ext>
                  </a:extLst>
                </a:gridCol>
                <a:gridCol w="2062354">
                  <a:extLst>
                    <a:ext uri="{9D8B030D-6E8A-4147-A177-3AD203B41FA5}">
                      <a16:colId xmlns:a16="http://schemas.microsoft.com/office/drawing/2014/main" val="3885604714"/>
                    </a:ext>
                  </a:extLst>
                </a:gridCol>
                <a:gridCol w="2063191">
                  <a:extLst>
                    <a:ext uri="{9D8B030D-6E8A-4147-A177-3AD203B41FA5}">
                      <a16:colId xmlns:a16="http://schemas.microsoft.com/office/drawing/2014/main" val="3321695019"/>
                    </a:ext>
                  </a:extLst>
                </a:gridCol>
              </a:tblGrid>
              <a:tr h="1633979">
                <a:tc>
                  <a:txBody>
                    <a:bodyPr/>
                    <a:lstStyle/>
                    <a:p>
                      <a:pPr algn="ctr"/>
                      <a:r>
                        <a:rPr sz="2800" b="1" i="0" u="none" dirty="0" err="1">
                          <a:solidFill>
                            <a:schemeClr val="tx1"/>
                          </a:solidFill>
                          <a:latin typeface="Times New Roman" panose="02020603050405020304" pitchFamily="18" charset="0"/>
                          <a:cs typeface="Times New Roman" panose="02020603050405020304" pitchFamily="18" charset="0"/>
                        </a:rPr>
                        <a:t>Tiêu</a:t>
                      </a:r>
                      <a:r>
                        <a:rPr sz="2800" b="1" i="0" u="none" dirty="0">
                          <a:solidFill>
                            <a:schemeClr val="tx1"/>
                          </a:solidFill>
                          <a:latin typeface="Times New Roman" panose="02020603050405020304" pitchFamily="18" charset="0"/>
                          <a:cs typeface="Times New Roman" panose="02020603050405020304" pitchFamily="18" charset="0"/>
                        </a:rPr>
                        <a:t> </a:t>
                      </a:r>
                      <a:r>
                        <a:rPr sz="2800" b="1" i="0" u="none" dirty="0" err="1">
                          <a:solidFill>
                            <a:schemeClr val="tx1"/>
                          </a:solidFill>
                          <a:latin typeface="Times New Roman" panose="02020603050405020304" pitchFamily="18" charset="0"/>
                          <a:cs typeface="Times New Roman" panose="02020603050405020304" pitchFamily="18" charset="0"/>
                        </a:rPr>
                        <a:t>chí</a:t>
                      </a:r>
                      <a:endParaRPr sz="2800" b="1" i="0" u="none" dirty="0">
                        <a:solidFill>
                          <a:schemeClr val="tx1"/>
                        </a:solidFill>
                        <a:latin typeface="Times New Roman" panose="02020603050405020304" pitchFamily="18" charset="0"/>
                        <a:cs typeface="Times New Roman" panose="02020603050405020304" pitchFamily="18"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sz="2800" b="1" i="0" u="none" dirty="0" err="1">
                          <a:solidFill>
                            <a:schemeClr val="tx1"/>
                          </a:solidFill>
                          <a:latin typeface="Times New Roman" panose="02020603050405020304" pitchFamily="18" charset="0"/>
                          <a:cs typeface="Times New Roman" panose="02020603050405020304" pitchFamily="18" charset="0"/>
                        </a:rPr>
                        <a:t>Khả</a:t>
                      </a:r>
                      <a:r>
                        <a:rPr sz="2800" b="1" i="0" u="none" dirty="0">
                          <a:solidFill>
                            <a:schemeClr val="tx1"/>
                          </a:solidFill>
                          <a:latin typeface="Times New Roman" panose="02020603050405020304" pitchFamily="18" charset="0"/>
                          <a:cs typeface="Times New Roman" panose="02020603050405020304" pitchFamily="18" charset="0"/>
                        </a:rPr>
                        <a:t> </a:t>
                      </a:r>
                      <a:r>
                        <a:rPr sz="2800" b="1" i="0" u="none" dirty="0" err="1">
                          <a:solidFill>
                            <a:schemeClr val="tx1"/>
                          </a:solidFill>
                          <a:latin typeface="Times New Roman" panose="02020603050405020304" pitchFamily="18" charset="0"/>
                          <a:cs typeface="Times New Roman" panose="02020603050405020304" pitchFamily="18" charset="0"/>
                        </a:rPr>
                        <a:t>năng</a:t>
                      </a:r>
                      <a:r>
                        <a:rPr sz="2800" b="1" dirty="0">
                          <a:solidFill>
                            <a:schemeClr val="tx1"/>
                          </a:solidFill>
                          <a:latin typeface="Times New Roman" panose="02020603050405020304" pitchFamily="18" charset="0"/>
                          <a:cs typeface="Times New Roman" panose="02020603050405020304" pitchFamily="18" charset="0"/>
                        </a:rPr>
                        <a:t>
</a:t>
                      </a:r>
                      <a:r>
                        <a:rPr sz="2800" b="1" i="0" u="none" dirty="0" err="1">
                          <a:solidFill>
                            <a:schemeClr val="tx1"/>
                          </a:solidFill>
                          <a:latin typeface="Times New Roman" panose="02020603050405020304" pitchFamily="18" charset="0"/>
                          <a:cs typeface="Times New Roman" panose="02020603050405020304" pitchFamily="18" charset="0"/>
                        </a:rPr>
                        <a:t>nhận</a:t>
                      </a:r>
                      <a:r>
                        <a:rPr sz="2800" b="1" i="0" u="none" dirty="0">
                          <a:solidFill>
                            <a:schemeClr val="tx1"/>
                          </a:solidFill>
                          <a:latin typeface="Times New Roman" panose="02020603050405020304" pitchFamily="18" charset="0"/>
                          <a:cs typeface="Times New Roman" panose="02020603050405020304" pitchFamily="18" charset="0"/>
                        </a:rPr>
                        <a:t> </a:t>
                      </a:r>
                      <a:r>
                        <a:rPr sz="2800" b="1" i="0" u="none" dirty="0" err="1">
                          <a:solidFill>
                            <a:schemeClr val="tx1"/>
                          </a:solidFill>
                          <a:latin typeface="Times New Roman" panose="02020603050405020304" pitchFamily="18" charset="0"/>
                          <a:cs typeface="Times New Roman" panose="02020603050405020304" pitchFamily="18" charset="0"/>
                        </a:rPr>
                        <a:t>diện</a:t>
                      </a:r>
                      <a:r>
                        <a:rPr sz="2800" b="1" i="0" u="none" dirty="0">
                          <a:solidFill>
                            <a:schemeClr val="tx1"/>
                          </a:solidFill>
                          <a:latin typeface="Times New Roman" panose="02020603050405020304" pitchFamily="18" charset="0"/>
                          <a:cs typeface="Times New Roman" panose="02020603050405020304" pitchFamily="18" charset="0"/>
                        </a:rPr>
                        <a:t> &amp; AI</a:t>
                      </a: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sz="2800" b="1" i="0" u="none">
                          <a:solidFill>
                            <a:schemeClr val="tx1"/>
                          </a:solidFill>
                          <a:latin typeface="Times New Roman" panose="02020603050405020304" pitchFamily="18" charset="0"/>
                          <a:cs typeface="Times New Roman" panose="02020603050405020304" pitchFamily="18" charset="0"/>
                        </a:rPr>
                        <a:t>Giá thành</a:t>
                      </a: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sz="2800" b="1" i="0" u="none" dirty="0" err="1">
                          <a:solidFill>
                            <a:schemeClr val="tx1"/>
                          </a:solidFill>
                          <a:latin typeface="Times New Roman" panose="02020603050405020304" pitchFamily="18" charset="0"/>
                          <a:cs typeface="Times New Roman" panose="02020603050405020304" pitchFamily="18" charset="0"/>
                        </a:rPr>
                        <a:t>Tốc</a:t>
                      </a:r>
                      <a:r>
                        <a:rPr sz="2800" b="1" i="0" u="none" dirty="0">
                          <a:solidFill>
                            <a:schemeClr val="tx1"/>
                          </a:solidFill>
                          <a:latin typeface="Times New Roman" panose="02020603050405020304" pitchFamily="18" charset="0"/>
                          <a:cs typeface="Times New Roman" panose="02020603050405020304" pitchFamily="18" charset="0"/>
                        </a:rPr>
                        <a:t> </a:t>
                      </a:r>
                      <a:r>
                        <a:rPr sz="2800" b="1" i="0" u="none" dirty="0" err="1">
                          <a:solidFill>
                            <a:schemeClr val="tx1"/>
                          </a:solidFill>
                          <a:latin typeface="Times New Roman" panose="02020603050405020304" pitchFamily="18" charset="0"/>
                          <a:cs typeface="Times New Roman" panose="02020603050405020304" pitchFamily="18" charset="0"/>
                        </a:rPr>
                        <a:t>độ</a:t>
                      </a:r>
                      <a:r>
                        <a:rPr sz="2800" b="1" i="0" u="none" dirty="0">
                          <a:solidFill>
                            <a:schemeClr val="tx1"/>
                          </a:solidFill>
                          <a:latin typeface="Times New Roman" panose="02020603050405020304" pitchFamily="18" charset="0"/>
                          <a:cs typeface="Times New Roman" panose="02020603050405020304" pitchFamily="18" charset="0"/>
                        </a:rPr>
                        <a:t> </a:t>
                      </a:r>
                      <a:r>
                        <a:rPr sz="2800" b="1" i="0" u="none" dirty="0" err="1">
                          <a:solidFill>
                            <a:schemeClr val="tx1"/>
                          </a:solidFill>
                          <a:latin typeface="Times New Roman" panose="02020603050405020304" pitchFamily="18" charset="0"/>
                          <a:cs typeface="Times New Roman" panose="02020603050405020304" pitchFamily="18" charset="0"/>
                        </a:rPr>
                        <a:t>xử</a:t>
                      </a:r>
                      <a:r>
                        <a:rPr sz="2800" b="1" i="0" u="none" dirty="0">
                          <a:solidFill>
                            <a:schemeClr val="tx1"/>
                          </a:solidFill>
                          <a:latin typeface="Times New Roman" panose="02020603050405020304" pitchFamily="18" charset="0"/>
                          <a:cs typeface="Times New Roman" panose="02020603050405020304" pitchFamily="18" charset="0"/>
                        </a:rPr>
                        <a:t> </a:t>
                      </a:r>
                      <a:r>
                        <a:rPr sz="2800" b="1" i="0" u="none" dirty="0" err="1">
                          <a:solidFill>
                            <a:schemeClr val="tx1"/>
                          </a:solidFill>
                          <a:latin typeface="Times New Roman" panose="02020603050405020304" pitchFamily="18" charset="0"/>
                          <a:cs typeface="Times New Roman" panose="02020603050405020304" pitchFamily="18" charset="0"/>
                        </a:rPr>
                        <a:t>lý</a:t>
                      </a:r>
                      <a:r>
                        <a:rPr sz="2800" b="1" dirty="0">
                          <a:solidFill>
                            <a:schemeClr val="tx1"/>
                          </a:solidFill>
                          <a:latin typeface="Times New Roman" panose="02020603050405020304" pitchFamily="18" charset="0"/>
                          <a:cs typeface="Times New Roman" panose="02020603050405020304" pitchFamily="18" charset="0"/>
                        </a:rPr>
                        <a:t>
</a:t>
                      </a:r>
                      <a:r>
                        <a:rPr sz="2800" b="1" i="0" u="none" dirty="0">
                          <a:solidFill>
                            <a:schemeClr val="tx1"/>
                          </a:solidFill>
                          <a:latin typeface="Times New Roman" panose="02020603050405020304" pitchFamily="18" charset="0"/>
                          <a:cs typeface="Times New Roman" panose="02020603050405020304" pitchFamily="18" charset="0"/>
                        </a:rPr>
                        <a:t>&amp; </a:t>
                      </a:r>
                      <a:r>
                        <a:rPr sz="2800" b="1" i="0" u="none" dirty="0" err="1">
                          <a:solidFill>
                            <a:schemeClr val="tx1"/>
                          </a:solidFill>
                          <a:latin typeface="Times New Roman" panose="02020603050405020304" pitchFamily="18" charset="0"/>
                          <a:cs typeface="Times New Roman" panose="02020603050405020304" pitchFamily="18" charset="0"/>
                        </a:rPr>
                        <a:t>Phản</a:t>
                      </a:r>
                      <a:r>
                        <a:rPr sz="2800" b="1" i="0" u="none" dirty="0">
                          <a:solidFill>
                            <a:schemeClr val="tx1"/>
                          </a:solidFill>
                          <a:latin typeface="Times New Roman" panose="02020603050405020304" pitchFamily="18" charset="0"/>
                          <a:cs typeface="Times New Roman" panose="02020603050405020304" pitchFamily="18" charset="0"/>
                        </a:rPr>
                        <a:t> </a:t>
                      </a:r>
                      <a:r>
                        <a:rPr sz="2800" b="1" i="0" u="none" dirty="0" err="1">
                          <a:solidFill>
                            <a:schemeClr val="tx1"/>
                          </a:solidFill>
                          <a:latin typeface="Times New Roman" panose="02020603050405020304" pitchFamily="18" charset="0"/>
                          <a:cs typeface="Times New Roman" panose="02020603050405020304" pitchFamily="18" charset="0"/>
                        </a:rPr>
                        <a:t>hồi</a:t>
                      </a:r>
                      <a:r>
                        <a:rPr sz="2800" b="1" i="0" u="none" dirty="0">
                          <a:solidFill>
                            <a:schemeClr val="tx1"/>
                          </a:solidFill>
                          <a:latin typeface="Times New Roman" panose="02020603050405020304" pitchFamily="18" charset="0"/>
                          <a:cs typeface="Times New Roman" panose="02020603050405020304" pitchFamily="18" charset="0"/>
                        </a:rPr>
                        <a:t> I/O</a:t>
                      </a: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sz="2800" b="1" i="0" u="none" dirty="0" err="1">
                          <a:solidFill>
                            <a:schemeClr val="tx1"/>
                          </a:solidFill>
                          <a:latin typeface="Times New Roman" panose="02020603050405020304" pitchFamily="18" charset="0"/>
                          <a:cs typeface="Times New Roman" panose="02020603050405020304" pitchFamily="18" charset="0"/>
                        </a:rPr>
                        <a:t>Bộ</a:t>
                      </a:r>
                      <a:r>
                        <a:rPr sz="2800" b="1" i="0" u="none" dirty="0">
                          <a:solidFill>
                            <a:schemeClr val="tx1"/>
                          </a:solidFill>
                          <a:latin typeface="Times New Roman" panose="02020603050405020304" pitchFamily="18" charset="0"/>
                          <a:cs typeface="Times New Roman" panose="02020603050405020304" pitchFamily="18" charset="0"/>
                        </a:rPr>
                        <a:t> </a:t>
                      </a:r>
                      <a:r>
                        <a:rPr sz="2800" b="1" i="0" u="none" dirty="0" err="1">
                          <a:solidFill>
                            <a:schemeClr val="tx1"/>
                          </a:solidFill>
                          <a:latin typeface="Times New Roman" panose="02020603050405020304" pitchFamily="18" charset="0"/>
                          <a:cs typeface="Times New Roman" panose="02020603050405020304" pitchFamily="18" charset="0"/>
                        </a:rPr>
                        <a:t>nhớ</a:t>
                      </a:r>
                      <a:r>
                        <a:rPr sz="2800" b="1" i="0" u="none" dirty="0">
                          <a:solidFill>
                            <a:schemeClr val="tx1"/>
                          </a:solidFill>
                          <a:latin typeface="Times New Roman" panose="02020603050405020304" pitchFamily="18" charset="0"/>
                          <a:cs typeface="Times New Roman" panose="02020603050405020304" pitchFamily="18" charset="0"/>
                        </a:rPr>
                        <a:t> </a:t>
                      </a:r>
                      <a:r>
                        <a:rPr sz="2800" b="1" i="0" u="none" dirty="0" err="1">
                          <a:solidFill>
                            <a:schemeClr val="tx1"/>
                          </a:solidFill>
                          <a:latin typeface="Times New Roman" panose="02020603050405020304" pitchFamily="18" charset="0"/>
                          <a:cs typeface="Times New Roman" panose="02020603050405020304" pitchFamily="18" charset="0"/>
                        </a:rPr>
                        <a:t>lưu</a:t>
                      </a:r>
                      <a:r>
                        <a:rPr sz="2800" b="1" i="0" u="none" dirty="0">
                          <a:solidFill>
                            <a:schemeClr val="tx1"/>
                          </a:solidFill>
                          <a:latin typeface="Times New Roman" panose="02020603050405020304" pitchFamily="18" charset="0"/>
                          <a:cs typeface="Times New Roman" panose="02020603050405020304" pitchFamily="18" charset="0"/>
                        </a:rPr>
                        <a:t> </a:t>
                      </a:r>
                      <a:r>
                        <a:rPr sz="2800" b="1" i="0" u="none" dirty="0" err="1">
                          <a:solidFill>
                            <a:schemeClr val="tx1"/>
                          </a:solidFill>
                          <a:latin typeface="Times New Roman" panose="02020603050405020304" pitchFamily="18" charset="0"/>
                          <a:cs typeface="Times New Roman" panose="02020603050405020304" pitchFamily="18" charset="0"/>
                        </a:rPr>
                        <a:t>trữ</a:t>
                      </a:r>
                      <a:r>
                        <a:rPr lang="vi-VN" sz="2800" b="1" i="0" u="none" dirty="0">
                          <a:solidFill>
                            <a:schemeClr val="tx1"/>
                          </a:solidFill>
                          <a:latin typeface="Times New Roman" panose="02020603050405020304" pitchFamily="18" charset="0"/>
                          <a:cs typeface="Times New Roman" panose="02020603050405020304" pitchFamily="18" charset="0"/>
                        </a:rPr>
                        <a:t> </a:t>
                      </a:r>
                      <a:r>
                        <a:rPr sz="2800" b="1" i="0" u="none" dirty="0">
                          <a:solidFill>
                            <a:schemeClr val="tx1"/>
                          </a:solidFill>
                          <a:latin typeface="Times New Roman" panose="02020603050405020304" pitchFamily="18" charset="0"/>
                          <a:cs typeface="Times New Roman" panose="02020603050405020304" pitchFamily="18" charset="0"/>
                        </a:rPr>
                        <a:t>&amp; RAG</a:t>
                      </a: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sz="2800" b="1" i="0" u="none" dirty="0">
                          <a:solidFill>
                            <a:schemeClr val="tx1"/>
                          </a:solidFill>
                          <a:latin typeface="Times New Roman" panose="02020603050405020304" pitchFamily="18" charset="0"/>
                          <a:cs typeface="Times New Roman" panose="02020603050405020304" pitchFamily="18" charset="0"/>
                        </a:rPr>
                        <a:t>Total</a:t>
                      </a: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sz="2800" b="1" i="0" u="none" dirty="0" err="1">
                          <a:solidFill>
                            <a:schemeClr val="tx1"/>
                          </a:solidFill>
                          <a:latin typeface="Times New Roman" panose="02020603050405020304" pitchFamily="18" charset="0"/>
                          <a:cs typeface="Times New Roman" panose="02020603050405020304" pitchFamily="18" charset="0"/>
                        </a:rPr>
                        <a:t>Trọng</a:t>
                      </a:r>
                      <a:r>
                        <a:rPr sz="2800" b="1" i="0" u="none" dirty="0">
                          <a:solidFill>
                            <a:schemeClr val="tx1"/>
                          </a:solidFill>
                          <a:latin typeface="Times New Roman" panose="02020603050405020304" pitchFamily="18" charset="0"/>
                          <a:cs typeface="Times New Roman" panose="02020603050405020304" pitchFamily="18" charset="0"/>
                        </a:rPr>
                        <a:t> </a:t>
                      </a:r>
                      <a:r>
                        <a:rPr sz="2800" b="1" i="0" u="none" dirty="0" err="1">
                          <a:solidFill>
                            <a:schemeClr val="tx1"/>
                          </a:solidFill>
                          <a:latin typeface="Times New Roman" panose="02020603050405020304" pitchFamily="18" charset="0"/>
                          <a:cs typeface="Times New Roman" panose="02020603050405020304" pitchFamily="18" charset="0"/>
                        </a:rPr>
                        <a:t>số</a:t>
                      </a:r>
                      <a:endParaRPr sz="2800" b="1" i="0" u="none" dirty="0">
                        <a:solidFill>
                          <a:schemeClr val="tx1"/>
                        </a:solidFill>
                        <a:latin typeface="Times New Roman" panose="02020603050405020304" pitchFamily="18" charset="0"/>
                        <a:cs typeface="Times New Roman" panose="02020603050405020304" pitchFamily="18"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93029950"/>
                  </a:ext>
                </a:extLst>
              </a:tr>
              <a:tr h="1049941">
                <a:tc>
                  <a:txBody>
                    <a:bodyPr/>
                    <a:lstStyle/>
                    <a:p>
                      <a:pPr algn="l"/>
                      <a:r>
                        <a:rPr sz="2800" b="1" i="0" u="none" dirty="0" err="1">
                          <a:solidFill>
                            <a:schemeClr val="tx1"/>
                          </a:solidFill>
                          <a:latin typeface="Times New Roman" panose="02020603050405020304" pitchFamily="18" charset="0"/>
                          <a:cs typeface="Times New Roman" panose="02020603050405020304" pitchFamily="18" charset="0"/>
                        </a:rPr>
                        <a:t>Khả</a:t>
                      </a:r>
                      <a:r>
                        <a:rPr sz="2800" b="1" i="0" u="none" dirty="0">
                          <a:solidFill>
                            <a:schemeClr val="tx1"/>
                          </a:solidFill>
                          <a:latin typeface="Times New Roman" panose="02020603050405020304" pitchFamily="18" charset="0"/>
                          <a:cs typeface="Times New Roman" panose="02020603050405020304" pitchFamily="18" charset="0"/>
                        </a:rPr>
                        <a:t> </a:t>
                      </a:r>
                      <a:r>
                        <a:rPr sz="2800" b="1" i="0" u="none" dirty="0" err="1">
                          <a:solidFill>
                            <a:schemeClr val="tx1"/>
                          </a:solidFill>
                          <a:latin typeface="Times New Roman" panose="02020603050405020304" pitchFamily="18" charset="0"/>
                          <a:cs typeface="Times New Roman" panose="02020603050405020304" pitchFamily="18" charset="0"/>
                        </a:rPr>
                        <a:t>năng</a:t>
                      </a:r>
                      <a:r>
                        <a:rPr sz="2800" b="1" i="0" u="none" dirty="0">
                          <a:solidFill>
                            <a:schemeClr val="tx1"/>
                          </a:solidFill>
                          <a:latin typeface="Times New Roman" panose="02020603050405020304" pitchFamily="18" charset="0"/>
                          <a:cs typeface="Times New Roman" panose="02020603050405020304" pitchFamily="18" charset="0"/>
                        </a:rPr>
                        <a:t> </a:t>
                      </a:r>
                      <a:r>
                        <a:rPr sz="2800" b="1" i="0" u="none" dirty="0" err="1">
                          <a:solidFill>
                            <a:schemeClr val="tx1"/>
                          </a:solidFill>
                          <a:latin typeface="Times New Roman" panose="02020603050405020304" pitchFamily="18" charset="0"/>
                          <a:cs typeface="Times New Roman" panose="02020603050405020304" pitchFamily="18" charset="0"/>
                        </a:rPr>
                        <a:t>nhận</a:t>
                      </a:r>
                      <a:r>
                        <a:rPr sz="2800" b="1" i="0" u="none" dirty="0">
                          <a:solidFill>
                            <a:schemeClr val="tx1"/>
                          </a:solidFill>
                          <a:latin typeface="Times New Roman" panose="02020603050405020304" pitchFamily="18" charset="0"/>
                          <a:cs typeface="Times New Roman" panose="02020603050405020304" pitchFamily="18" charset="0"/>
                        </a:rPr>
                        <a:t> </a:t>
                      </a:r>
                      <a:r>
                        <a:rPr sz="2800" b="1" i="0" u="none" dirty="0" err="1">
                          <a:solidFill>
                            <a:schemeClr val="tx1"/>
                          </a:solidFill>
                          <a:latin typeface="Times New Roman" panose="02020603050405020304" pitchFamily="18" charset="0"/>
                          <a:cs typeface="Times New Roman" panose="02020603050405020304" pitchFamily="18" charset="0"/>
                        </a:rPr>
                        <a:t>diện</a:t>
                      </a:r>
                      <a:r>
                        <a:rPr sz="2800" b="1" i="0" u="none" dirty="0">
                          <a:solidFill>
                            <a:schemeClr val="tx1"/>
                          </a:solidFill>
                          <a:latin typeface="Times New Roman" panose="02020603050405020304" pitchFamily="18" charset="0"/>
                          <a:cs typeface="Times New Roman" panose="02020603050405020304" pitchFamily="18" charset="0"/>
                        </a:rPr>
                        <a:t> &amp; AI</a:t>
                      </a: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sz="2800" b="1" i="0" u="none" dirty="0">
                          <a:solidFill>
                            <a:schemeClr val="tx1"/>
                          </a:solidFill>
                          <a:latin typeface="Times New Roman" panose="02020603050405020304" pitchFamily="18" charset="0"/>
                          <a:cs typeface="Times New Roman" panose="02020603050405020304" pitchFamily="18" charset="0"/>
                        </a:rPr>
                        <a:t>1</a:t>
                      </a: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sz="2800" b="1" i="0" u="none" dirty="0">
                          <a:solidFill>
                            <a:schemeClr val="tx1"/>
                          </a:solidFill>
                          <a:latin typeface="Times New Roman" panose="02020603050405020304" pitchFamily="18" charset="0"/>
                          <a:cs typeface="Times New Roman" panose="02020603050405020304" pitchFamily="18" charset="0"/>
                        </a:rPr>
                        <a:t>3</a:t>
                      </a: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vi-VN" sz="2800" b="1" i="0" u="none" dirty="0">
                          <a:solidFill>
                            <a:schemeClr val="tx1"/>
                          </a:solidFill>
                          <a:latin typeface="Times New Roman" panose="02020603050405020304" pitchFamily="18" charset="0"/>
                          <a:cs typeface="Times New Roman" panose="02020603050405020304" pitchFamily="18" charset="0"/>
                        </a:rPr>
                        <a:t>5</a:t>
                      </a:r>
                      <a:endParaRPr sz="2800" b="1" i="0" u="none" dirty="0">
                        <a:solidFill>
                          <a:schemeClr val="tx1"/>
                        </a:solidFill>
                        <a:latin typeface="Times New Roman" panose="02020603050405020304" pitchFamily="18" charset="0"/>
                        <a:cs typeface="Times New Roman" panose="02020603050405020304" pitchFamily="18"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vi-VN" sz="2800" b="1" i="0" u="none" dirty="0">
                          <a:solidFill>
                            <a:schemeClr val="tx1"/>
                          </a:solidFill>
                          <a:latin typeface="Times New Roman" panose="02020603050405020304" pitchFamily="18" charset="0"/>
                          <a:cs typeface="Times New Roman" panose="02020603050405020304" pitchFamily="18" charset="0"/>
                        </a:rPr>
                        <a:t>7</a:t>
                      </a:r>
                      <a:endParaRPr sz="2800" b="1" i="0" u="none" dirty="0">
                        <a:solidFill>
                          <a:schemeClr val="tx1"/>
                        </a:solidFill>
                        <a:latin typeface="Times New Roman" panose="02020603050405020304" pitchFamily="18" charset="0"/>
                        <a:cs typeface="Times New Roman" panose="02020603050405020304" pitchFamily="18"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vi-VN" sz="2800" b="1" i="0" u="none" dirty="0">
                          <a:solidFill>
                            <a:schemeClr val="tx1"/>
                          </a:solidFill>
                          <a:latin typeface="Times New Roman" panose="02020603050405020304" pitchFamily="18" charset="0"/>
                          <a:cs typeface="Times New Roman" panose="02020603050405020304" pitchFamily="18" charset="0"/>
                        </a:rPr>
                        <a:t>16</a:t>
                      </a:r>
                      <a:endParaRPr sz="2800" b="1" i="0" u="none" dirty="0">
                        <a:solidFill>
                          <a:schemeClr val="tx1"/>
                        </a:solidFill>
                        <a:latin typeface="Times New Roman" panose="02020603050405020304" pitchFamily="18" charset="0"/>
                        <a:cs typeface="Times New Roman" panose="02020603050405020304" pitchFamily="18"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sz="2800" b="1" i="0" u="none" dirty="0">
                          <a:solidFill>
                            <a:schemeClr val="tx1"/>
                          </a:solidFill>
                          <a:latin typeface="Times New Roman" panose="02020603050405020304" pitchFamily="18" charset="0"/>
                          <a:cs typeface="Times New Roman" panose="02020603050405020304" pitchFamily="18" charset="0"/>
                        </a:rPr>
                        <a:t>0.</a:t>
                      </a:r>
                      <a:r>
                        <a:rPr lang="vi-VN" sz="2800" b="1" i="0" u="none" dirty="0">
                          <a:solidFill>
                            <a:schemeClr val="tx1"/>
                          </a:solidFill>
                          <a:latin typeface="Times New Roman" panose="02020603050405020304" pitchFamily="18" charset="0"/>
                          <a:cs typeface="Times New Roman" panose="02020603050405020304" pitchFamily="18" charset="0"/>
                        </a:rPr>
                        <a:t>58</a:t>
                      </a:r>
                      <a:r>
                        <a:rPr sz="2800" b="1" i="0" u="none" dirty="0">
                          <a:solidFill>
                            <a:schemeClr val="tx1"/>
                          </a:solidFill>
                          <a:latin typeface="Times New Roman" panose="02020603050405020304" pitchFamily="18" charset="0"/>
                          <a:cs typeface="Times New Roman" panose="02020603050405020304" pitchFamily="18" charset="0"/>
                        </a:rPr>
                        <a:t> (</a:t>
                      </a:r>
                      <a:r>
                        <a:rPr lang="vi-VN" sz="2800" b="1" i="0" u="none" dirty="0">
                          <a:solidFill>
                            <a:schemeClr val="tx1"/>
                          </a:solidFill>
                          <a:latin typeface="Times New Roman" panose="02020603050405020304" pitchFamily="18" charset="0"/>
                          <a:cs typeface="Times New Roman" panose="02020603050405020304" pitchFamily="18" charset="0"/>
                        </a:rPr>
                        <a:t>58</a:t>
                      </a:r>
                      <a:r>
                        <a:rPr sz="2800" b="1" i="0" u="none" dirty="0">
                          <a:solidFill>
                            <a:schemeClr val="tx1"/>
                          </a:solidFill>
                          <a:latin typeface="Times New Roman" panose="02020603050405020304" pitchFamily="18" charset="0"/>
                          <a:cs typeface="Times New Roman" panose="02020603050405020304" pitchFamily="18" charset="0"/>
                        </a:rPr>
                        <a:t>%)</a:t>
                      </a: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90470199"/>
                  </a:ext>
                </a:extLst>
              </a:tr>
              <a:tr h="1049941">
                <a:tc>
                  <a:txBody>
                    <a:bodyPr/>
                    <a:lstStyle/>
                    <a:p>
                      <a:pPr algn="l"/>
                      <a:r>
                        <a:rPr sz="2800" b="1" i="0" u="none">
                          <a:solidFill>
                            <a:schemeClr val="tx1"/>
                          </a:solidFill>
                          <a:latin typeface="Times New Roman" panose="02020603050405020304" pitchFamily="18" charset="0"/>
                          <a:cs typeface="Times New Roman" panose="02020603050405020304" pitchFamily="18" charset="0"/>
                        </a:rPr>
                        <a:t>Giá thành</a:t>
                      </a: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sz="2800" b="1" i="0" u="none" dirty="0">
                          <a:solidFill>
                            <a:schemeClr val="tx1"/>
                          </a:solidFill>
                          <a:latin typeface="Times New Roman" panose="02020603050405020304" pitchFamily="18" charset="0"/>
                          <a:cs typeface="Times New Roman" panose="02020603050405020304" pitchFamily="18" charset="0"/>
                        </a:rPr>
                        <a:t>1/3</a:t>
                      </a: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sz="2800" b="1" i="0" u="none" dirty="0">
                          <a:solidFill>
                            <a:schemeClr val="tx1"/>
                          </a:solidFill>
                          <a:latin typeface="Times New Roman" panose="02020603050405020304" pitchFamily="18" charset="0"/>
                          <a:cs typeface="Times New Roman" panose="02020603050405020304" pitchFamily="18" charset="0"/>
                        </a:rPr>
                        <a:t>1</a:t>
                      </a: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sz="2800" b="1" i="0" u="none" dirty="0">
                          <a:solidFill>
                            <a:schemeClr val="tx1"/>
                          </a:solidFill>
                          <a:latin typeface="Times New Roman" panose="02020603050405020304" pitchFamily="18" charset="0"/>
                          <a:cs typeface="Times New Roman" panose="02020603050405020304" pitchFamily="18" charset="0"/>
                        </a:rPr>
                        <a:t>2</a:t>
                      </a: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vi-VN" sz="2800" b="1" i="0" u="none" dirty="0">
                          <a:solidFill>
                            <a:schemeClr val="tx1"/>
                          </a:solidFill>
                          <a:latin typeface="Times New Roman" panose="02020603050405020304" pitchFamily="18" charset="0"/>
                          <a:cs typeface="Times New Roman" panose="02020603050405020304" pitchFamily="18" charset="0"/>
                        </a:rPr>
                        <a:t>4</a:t>
                      </a:r>
                      <a:endParaRPr sz="2800" b="1" i="0" u="none" dirty="0">
                        <a:solidFill>
                          <a:schemeClr val="tx1"/>
                        </a:solidFill>
                        <a:latin typeface="Times New Roman" panose="02020603050405020304" pitchFamily="18" charset="0"/>
                        <a:cs typeface="Times New Roman" panose="02020603050405020304" pitchFamily="18"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vi-VN" sz="2800" b="1" i="0" u="none" dirty="0">
                          <a:solidFill>
                            <a:schemeClr val="tx1"/>
                          </a:solidFill>
                          <a:latin typeface="Times New Roman" panose="02020603050405020304" pitchFamily="18" charset="0"/>
                          <a:cs typeface="Times New Roman" panose="02020603050405020304" pitchFamily="18" charset="0"/>
                        </a:rPr>
                        <a:t>7.33</a:t>
                      </a:r>
                      <a:endParaRPr sz="2800" b="1" i="0" u="none" dirty="0">
                        <a:solidFill>
                          <a:schemeClr val="tx1"/>
                        </a:solidFill>
                        <a:latin typeface="Times New Roman" panose="02020603050405020304" pitchFamily="18" charset="0"/>
                        <a:cs typeface="Times New Roman" panose="02020603050405020304" pitchFamily="18"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sz="2800" b="1" i="0" u="none" dirty="0">
                          <a:solidFill>
                            <a:schemeClr val="tx1"/>
                          </a:solidFill>
                          <a:latin typeface="Times New Roman" panose="02020603050405020304" pitchFamily="18" charset="0"/>
                          <a:cs typeface="Times New Roman" panose="02020603050405020304" pitchFamily="18" charset="0"/>
                        </a:rPr>
                        <a:t>0.</a:t>
                      </a:r>
                      <a:r>
                        <a:rPr lang="vi-VN" sz="2800" b="1" i="0" u="none" dirty="0">
                          <a:solidFill>
                            <a:schemeClr val="tx1"/>
                          </a:solidFill>
                          <a:latin typeface="Times New Roman" panose="02020603050405020304" pitchFamily="18" charset="0"/>
                          <a:cs typeface="Times New Roman" panose="02020603050405020304" pitchFamily="18" charset="0"/>
                        </a:rPr>
                        <a:t>23</a:t>
                      </a:r>
                      <a:r>
                        <a:rPr sz="2800" b="1" i="0" u="none" dirty="0">
                          <a:solidFill>
                            <a:schemeClr val="tx1"/>
                          </a:solidFill>
                          <a:latin typeface="Times New Roman" panose="02020603050405020304" pitchFamily="18" charset="0"/>
                          <a:cs typeface="Times New Roman" panose="02020603050405020304" pitchFamily="18" charset="0"/>
                        </a:rPr>
                        <a:t> (</a:t>
                      </a:r>
                      <a:r>
                        <a:rPr lang="vi-VN" sz="2800" b="1" i="0" u="none" dirty="0">
                          <a:solidFill>
                            <a:schemeClr val="tx1"/>
                          </a:solidFill>
                          <a:latin typeface="Times New Roman" panose="02020603050405020304" pitchFamily="18" charset="0"/>
                          <a:cs typeface="Times New Roman" panose="02020603050405020304" pitchFamily="18" charset="0"/>
                        </a:rPr>
                        <a:t>23</a:t>
                      </a:r>
                      <a:r>
                        <a:rPr sz="2800" b="1" i="0" u="none" dirty="0">
                          <a:solidFill>
                            <a:schemeClr val="tx1"/>
                          </a:solidFill>
                          <a:latin typeface="Times New Roman" panose="02020603050405020304" pitchFamily="18" charset="0"/>
                          <a:cs typeface="Times New Roman" panose="02020603050405020304" pitchFamily="18" charset="0"/>
                        </a:rPr>
                        <a:t>%)</a:t>
                      </a: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35423181"/>
                  </a:ext>
                </a:extLst>
              </a:tr>
              <a:tr h="1049941">
                <a:tc>
                  <a:txBody>
                    <a:bodyPr/>
                    <a:lstStyle/>
                    <a:p>
                      <a:pPr algn="l"/>
                      <a:r>
                        <a:rPr sz="2800" b="1" i="0" u="none" dirty="0" err="1">
                          <a:solidFill>
                            <a:schemeClr val="tx1"/>
                          </a:solidFill>
                          <a:latin typeface="Times New Roman" panose="02020603050405020304" pitchFamily="18" charset="0"/>
                          <a:cs typeface="Times New Roman" panose="02020603050405020304" pitchFamily="18" charset="0"/>
                        </a:rPr>
                        <a:t>Tốc</a:t>
                      </a:r>
                      <a:r>
                        <a:rPr sz="2800" b="1" i="0" u="none" dirty="0">
                          <a:solidFill>
                            <a:schemeClr val="tx1"/>
                          </a:solidFill>
                          <a:latin typeface="Times New Roman" panose="02020603050405020304" pitchFamily="18" charset="0"/>
                          <a:cs typeface="Times New Roman" panose="02020603050405020304" pitchFamily="18" charset="0"/>
                        </a:rPr>
                        <a:t> </a:t>
                      </a:r>
                      <a:r>
                        <a:rPr sz="2800" b="1" i="0" u="none" dirty="0" err="1">
                          <a:solidFill>
                            <a:schemeClr val="tx1"/>
                          </a:solidFill>
                          <a:latin typeface="Times New Roman" panose="02020603050405020304" pitchFamily="18" charset="0"/>
                          <a:cs typeface="Times New Roman" panose="02020603050405020304" pitchFamily="18" charset="0"/>
                        </a:rPr>
                        <a:t>độ</a:t>
                      </a:r>
                      <a:r>
                        <a:rPr sz="2800" b="1" i="0" u="none" dirty="0">
                          <a:solidFill>
                            <a:schemeClr val="tx1"/>
                          </a:solidFill>
                          <a:latin typeface="Times New Roman" panose="02020603050405020304" pitchFamily="18" charset="0"/>
                          <a:cs typeface="Times New Roman" panose="02020603050405020304" pitchFamily="18" charset="0"/>
                        </a:rPr>
                        <a:t> </a:t>
                      </a:r>
                      <a:r>
                        <a:rPr sz="2800" b="1" i="0" u="none" dirty="0" err="1">
                          <a:solidFill>
                            <a:schemeClr val="tx1"/>
                          </a:solidFill>
                          <a:latin typeface="Times New Roman" panose="02020603050405020304" pitchFamily="18" charset="0"/>
                          <a:cs typeface="Times New Roman" panose="02020603050405020304" pitchFamily="18" charset="0"/>
                        </a:rPr>
                        <a:t>xử</a:t>
                      </a:r>
                      <a:r>
                        <a:rPr sz="2800" b="1" i="0" u="none" dirty="0">
                          <a:solidFill>
                            <a:schemeClr val="tx1"/>
                          </a:solidFill>
                          <a:latin typeface="Times New Roman" panose="02020603050405020304" pitchFamily="18" charset="0"/>
                          <a:cs typeface="Times New Roman" panose="02020603050405020304" pitchFamily="18" charset="0"/>
                        </a:rPr>
                        <a:t> </a:t>
                      </a:r>
                      <a:r>
                        <a:rPr sz="2800" b="1" i="0" u="none" dirty="0" err="1">
                          <a:solidFill>
                            <a:schemeClr val="tx1"/>
                          </a:solidFill>
                          <a:latin typeface="Times New Roman" panose="02020603050405020304" pitchFamily="18" charset="0"/>
                          <a:cs typeface="Times New Roman" panose="02020603050405020304" pitchFamily="18" charset="0"/>
                        </a:rPr>
                        <a:t>lý</a:t>
                      </a:r>
                      <a:r>
                        <a:rPr sz="2800" b="1" i="0" u="none" dirty="0">
                          <a:solidFill>
                            <a:schemeClr val="tx1"/>
                          </a:solidFill>
                          <a:latin typeface="Times New Roman" panose="02020603050405020304" pitchFamily="18" charset="0"/>
                          <a:cs typeface="Times New Roman" panose="02020603050405020304" pitchFamily="18" charset="0"/>
                        </a:rPr>
                        <a:t> &amp; </a:t>
                      </a:r>
                      <a:r>
                        <a:rPr sz="2800" b="1" i="0" u="none" dirty="0" err="1">
                          <a:solidFill>
                            <a:schemeClr val="tx1"/>
                          </a:solidFill>
                          <a:latin typeface="Times New Roman" panose="02020603050405020304" pitchFamily="18" charset="0"/>
                          <a:cs typeface="Times New Roman" panose="02020603050405020304" pitchFamily="18" charset="0"/>
                        </a:rPr>
                        <a:t>Phản</a:t>
                      </a:r>
                      <a:r>
                        <a:rPr sz="2800" b="1" i="0" u="none" dirty="0">
                          <a:solidFill>
                            <a:schemeClr val="tx1"/>
                          </a:solidFill>
                          <a:latin typeface="Times New Roman" panose="02020603050405020304" pitchFamily="18" charset="0"/>
                          <a:cs typeface="Times New Roman" panose="02020603050405020304" pitchFamily="18" charset="0"/>
                        </a:rPr>
                        <a:t> </a:t>
                      </a:r>
                      <a:r>
                        <a:rPr sz="2800" b="1" i="0" u="none" dirty="0" err="1">
                          <a:solidFill>
                            <a:schemeClr val="tx1"/>
                          </a:solidFill>
                          <a:latin typeface="Times New Roman" panose="02020603050405020304" pitchFamily="18" charset="0"/>
                          <a:cs typeface="Times New Roman" panose="02020603050405020304" pitchFamily="18" charset="0"/>
                        </a:rPr>
                        <a:t>hồi</a:t>
                      </a:r>
                      <a:endParaRPr sz="2800" b="1" i="0" u="none" dirty="0">
                        <a:solidFill>
                          <a:schemeClr val="tx1"/>
                        </a:solidFill>
                        <a:latin typeface="Times New Roman" panose="02020603050405020304" pitchFamily="18" charset="0"/>
                        <a:cs typeface="Times New Roman" panose="02020603050405020304" pitchFamily="18"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sz="2800" b="1" i="0" u="none" dirty="0">
                          <a:solidFill>
                            <a:schemeClr val="tx1"/>
                          </a:solidFill>
                          <a:latin typeface="Times New Roman" panose="02020603050405020304" pitchFamily="18" charset="0"/>
                          <a:cs typeface="Times New Roman" panose="02020603050405020304" pitchFamily="18" charset="0"/>
                        </a:rPr>
                        <a:t>1/</a:t>
                      </a:r>
                      <a:r>
                        <a:rPr lang="vi-VN" sz="2800" b="1" i="0" u="none" dirty="0">
                          <a:solidFill>
                            <a:schemeClr val="tx1"/>
                          </a:solidFill>
                          <a:latin typeface="Times New Roman" panose="02020603050405020304" pitchFamily="18" charset="0"/>
                          <a:cs typeface="Times New Roman" panose="02020603050405020304" pitchFamily="18" charset="0"/>
                        </a:rPr>
                        <a:t>5</a:t>
                      </a:r>
                      <a:endParaRPr sz="2800" b="1" i="0" u="none" dirty="0">
                        <a:solidFill>
                          <a:schemeClr val="tx1"/>
                        </a:solidFill>
                        <a:latin typeface="Times New Roman" panose="02020603050405020304" pitchFamily="18" charset="0"/>
                        <a:cs typeface="Times New Roman" panose="02020603050405020304" pitchFamily="18"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sz="2800" b="1" i="0" u="none" dirty="0">
                          <a:solidFill>
                            <a:schemeClr val="tx1"/>
                          </a:solidFill>
                          <a:latin typeface="Times New Roman" panose="02020603050405020304" pitchFamily="18" charset="0"/>
                          <a:cs typeface="Times New Roman" panose="02020603050405020304" pitchFamily="18" charset="0"/>
                        </a:rPr>
                        <a:t>1/2</a:t>
                      </a: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sz="2800" b="1" i="0" u="none" dirty="0">
                          <a:solidFill>
                            <a:schemeClr val="tx1"/>
                          </a:solidFill>
                          <a:latin typeface="Times New Roman" panose="02020603050405020304" pitchFamily="18" charset="0"/>
                          <a:cs typeface="Times New Roman" panose="02020603050405020304" pitchFamily="18" charset="0"/>
                        </a:rPr>
                        <a:t>1</a:t>
                      </a: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sz="2800" b="1" i="0" u="none" dirty="0">
                          <a:solidFill>
                            <a:schemeClr val="tx1"/>
                          </a:solidFill>
                          <a:latin typeface="Times New Roman" panose="02020603050405020304" pitchFamily="18" charset="0"/>
                          <a:cs typeface="Times New Roman" panose="02020603050405020304" pitchFamily="18" charset="0"/>
                        </a:rPr>
                        <a:t>2</a:t>
                      </a: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sz="2800" b="1" i="0" u="none" dirty="0">
                          <a:solidFill>
                            <a:schemeClr val="tx1"/>
                          </a:solidFill>
                          <a:latin typeface="Times New Roman" panose="02020603050405020304" pitchFamily="18" charset="0"/>
                          <a:cs typeface="Times New Roman" panose="02020603050405020304" pitchFamily="18" charset="0"/>
                        </a:rPr>
                        <a:t>3.</a:t>
                      </a:r>
                      <a:r>
                        <a:rPr lang="vi-VN" sz="2800" b="1" i="0" u="none" dirty="0">
                          <a:solidFill>
                            <a:schemeClr val="tx1"/>
                          </a:solidFill>
                          <a:latin typeface="Times New Roman" panose="02020603050405020304" pitchFamily="18" charset="0"/>
                          <a:cs typeface="Times New Roman" panose="02020603050405020304" pitchFamily="18" charset="0"/>
                        </a:rPr>
                        <a:t>70</a:t>
                      </a:r>
                      <a:endParaRPr sz="2800" b="1" i="0" u="none" dirty="0">
                        <a:solidFill>
                          <a:schemeClr val="tx1"/>
                        </a:solidFill>
                        <a:latin typeface="Times New Roman" panose="02020603050405020304" pitchFamily="18" charset="0"/>
                        <a:cs typeface="Times New Roman" panose="02020603050405020304" pitchFamily="18"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sz="2800" b="1" i="0" u="none" dirty="0">
                          <a:solidFill>
                            <a:schemeClr val="tx1"/>
                          </a:solidFill>
                          <a:latin typeface="Times New Roman" panose="02020603050405020304" pitchFamily="18" charset="0"/>
                          <a:cs typeface="Times New Roman" panose="02020603050405020304" pitchFamily="18" charset="0"/>
                        </a:rPr>
                        <a:t>0.</a:t>
                      </a:r>
                      <a:r>
                        <a:rPr lang="vi-VN" sz="2800" b="1" i="0" u="none" dirty="0">
                          <a:solidFill>
                            <a:schemeClr val="tx1"/>
                          </a:solidFill>
                          <a:latin typeface="Times New Roman" panose="02020603050405020304" pitchFamily="18" charset="0"/>
                          <a:cs typeface="Times New Roman" panose="02020603050405020304" pitchFamily="18" charset="0"/>
                        </a:rPr>
                        <a:t>12</a:t>
                      </a:r>
                      <a:r>
                        <a:rPr sz="2800" b="1" i="0" u="none" dirty="0">
                          <a:solidFill>
                            <a:schemeClr val="tx1"/>
                          </a:solidFill>
                          <a:latin typeface="Times New Roman" panose="02020603050405020304" pitchFamily="18" charset="0"/>
                          <a:cs typeface="Times New Roman" panose="02020603050405020304" pitchFamily="18" charset="0"/>
                        </a:rPr>
                        <a:t> (</a:t>
                      </a:r>
                      <a:r>
                        <a:rPr lang="vi-VN" sz="2800" b="1" i="0" u="none" dirty="0">
                          <a:solidFill>
                            <a:schemeClr val="tx1"/>
                          </a:solidFill>
                          <a:latin typeface="Times New Roman" panose="02020603050405020304" pitchFamily="18" charset="0"/>
                          <a:cs typeface="Times New Roman" panose="02020603050405020304" pitchFamily="18" charset="0"/>
                        </a:rPr>
                        <a:t>12</a:t>
                      </a:r>
                      <a:r>
                        <a:rPr sz="2800" b="1" i="0" u="none" dirty="0">
                          <a:solidFill>
                            <a:schemeClr val="tx1"/>
                          </a:solidFill>
                          <a:latin typeface="Times New Roman" panose="02020603050405020304" pitchFamily="18" charset="0"/>
                          <a:cs typeface="Times New Roman" panose="02020603050405020304" pitchFamily="18" charset="0"/>
                        </a:rPr>
                        <a:t>%)</a:t>
                      </a: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03227214"/>
                  </a:ext>
                </a:extLst>
              </a:tr>
              <a:tr h="1049941">
                <a:tc>
                  <a:txBody>
                    <a:bodyPr/>
                    <a:lstStyle/>
                    <a:p>
                      <a:pPr algn="l"/>
                      <a:r>
                        <a:rPr sz="2800" b="1" i="0" u="none">
                          <a:solidFill>
                            <a:schemeClr val="tx1"/>
                          </a:solidFill>
                          <a:latin typeface="Times New Roman" panose="02020603050405020304" pitchFamily="18" charset="0"/>
                          <a:cs typeface="Times New Roman" panose="02020603050405020304" pitchFamily="18" charset="0"/>
                        </a:rPr>
                        <a:t>Bộ nhớ lưu trữ</a:t>
                      </a: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sz="2800" b="1" i="0" u="none" dirty="0">
                          <a:solidFill>
                            <a:schemeClr val="tx1"/>
                          </a:solidFill>
                          <a:latin typeface="Times New Roman" panose="02020603050405020304" pitchFamily="18" charset="0"/>
                          <a:cs typeface="Times New Roman" panose="02020603050405020304" pitchFamily="18" charset="0"/>
                        </a:rPr>
                        <a:t>1/</a:t>
                      </a:r>
                      <a:r>
                        <a:rPr lang="vi-VN" sz="2800" b="1" i="0" u="none" dirty="0">
                          <a:solidFill>
                            <a:schemeClr val="tx1"/>
                          </a:solidFill>
                          <a:latin typeface="Times New Roman" panose="02020603050405020304" pitchFamily="18" charset="0"/>
                          <a:cs typeface="Times New Roman" panose="02020603050405020304" pitchFamily="18" charset="0"/>
                        </a:rPr>
                        <a:t>7</a:t>
                      </a:r>
                      <a:endParaRPr sz="2800" b="1" i="0" u="none" dirty="0">
                        <a:solidFill>
                          <a:schemeClr val="tx1"/>
                        </a:solidFill>
                        <a:latin typeface="Times New Roman" panose="02020603050405020304" pitchFamily="18" charset="0"/>
                        <a:cs typeface="Times New Roman" panose="02020603050405020304" pitchFamily="18"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sz="2800" b="1" i="0" u="none" dirty="0">
                          <a:solidFill>
                            <a:schemeClr val="tx1"/>
                          </a:solidFill>
                          <a:latin typeface="Times New Roman" panose="02020603050405020304" pitchFamily="18" charset="0"/>
                          <a:cs typeface="Times New Roman" panose="02020603050405020304" pitchFamily="18" charset="0"/>
                        </a:rPr>
                        <a:t>1/</a:t>
                      </a:r>
                      <a:r>
                        <a:rPr lang="vi-VN" sz="2800" b="1" i="0" u="none" dirty="0">
                          <a:solidFill>
                            <a:schemeClr val="tx1"/>
                          </a:solidFill>
                          <a:latin typeface="Times New Roman" panose="02020603050405020304" pitchFamily="18" charset="0"/>
                          <a:cs typeface="Times New Roman" panose="02020603050405020304" pitchFamily="18" charset="0"/>
                        </a:rPr>
                        <a:t>4</a:t>
                      </a:r>
                      <a:endParaRPr sz="2800" b="1" i="0" u="none" dirty="0">
                        <a:solidFill>
                          <a:schemeClr val="tx1"/>
                        </a:solidFill>
                        <a:latin typeface="Times New Roman" panose="02020603050405020304" pitchFamily="18" charset="0"/>
                        <a:cs typeface="Times New Roman" panose="02020603050405020304" pitchFamily="18"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sz="2800" b="1" i="0" u="none" dirty="0">
                          <a:solidFill>
                            <a:schemeClr val="tx1"/>
                          </a:solidFill>
                          <a:latin typeface="Times New Roman" panose="02020603050405020304" pitchFamily="18" charset="0"/>
                          <a:cs typeface="Times New Roman" panose="02020603050405020304" pitchFamily="18" charset="0"/>
                        </a:rPr>
                        <a:t>1/2</a:t>
                      </a: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sz="2800" b="1" i="0" u="none">
                          <a:solidFill>
                            <a:schemeClr val="tx1"/>
                          </a:solidFill>
                          <a:latin typeface="Times New Roman" panose="02020603050405020304" pitchFamily="18" charset="0"/>
                          <a:cs typeface="Times New Roman" panose="02020603050405020304" pitchFamily="18" charset="0"/>
                        </a:rPr>
                        <a:t>1</a:t>
                      </a: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vi-VN" sz="2800" b="1" i="0" u="none" dirty="0">
                          <a:solidFill>
                            <a:schemeClr val="tx1"/>
                          </a:solidFill>
                          <a:latin typeface="Times New Roman" panose="02020603050405020304" pitchFamily="18" charset="0"/>
                          <a:cs typeface="Times New Roman" panose="02020603050405020304" pitchFamily="18" charset="0"/>
                        </a:rPr>
                        <a:t>1.89</a:t>
                      </a:r>
                      <a:endParaRPr sz="2800" b="1" i="0" u="none" dirty="0">
                        <a:solidFill>
                          <a:schemeClr val="tx1"/>
                        </a:solidFill>
                        <a:latin typeface="Times New Roman" panose="02020603050405020304" pitchFamily="18" charset="0"/>
                        <a:cs typeface="Times New Roman" panose="02020603050405020304" pitchFamily="18"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sz="2800" b="1" i="0" u="none" dirty="0">
                          <a:solidFill>
                            <a:schemeClr val="tx1"/>
                          </a:solidFill>
                          <a:latin typeface="Times New Roman" panose="02020603050405020304" pitchFamily="18" charset="0"/>
                          <a:cs typeface="Times New Roman" panose="02020603050405020304" pitchFamily="18" charset="0"/>
                        </a:rPr>
                        <a:t>0.</a:t>
                      </a:r>
                      <a:r>
                        <a:rPr lang="vi-VN" sz="2800" b="1" i="0" u="none" dirty="0">
                          <a:solidFill>
                            <a:schemeClr val="tx1"/>
                          </a:solidFill>
                          <a:latin typeface="Times New Roman" panose="02020603050405020304" pitchFamily="18" charset="0"/>
                          <a:cs typeface="Times New Roman" panose="02020603050405020304" pitchFamily="18" charset="0"/>
                        </a:rPr>
                        <a:t>07</a:t>
                      </a:r>
                      <a:r>
                        <a:rPr sz="2800" b="1" i="0" u="none" dirty="0">
                          <a:solidFill>
                            <a:schemeClr val="tx1"/>
                          </a:solidFill>
                          <a:latin typeface="Times New Roman" panose="02020603050405020304" pitchFamily="18" charset="0"/>
                          <a:cs typeface="Times New Roman" panose="02020603050405020304" pitchFamily="18" charset="0"/>
                        </a:rPr>
                        <a:t> (</a:t>
                      </a:r>
                      <a:r>
                        <a:rPr lang="vi-VN" sz="2800" b="1" i="0" u="none" dirty="0">
                          <a:solidFill>
                            <a:schemeClr val="tx1"/>
                          </a:solidFill>
                          <a:latin typeface="Times New Roman" panose="02020603050405020304" pitchFamily="18" charset="0"/>
                          <a:cs typeface="Times New Roman" panose="02020603050405020304" pitchFamily="18" charset="0"/>
                        </a:rPr>
                        <a:t>7</a:t>
                      </a:r>
                      <a:r>
                        <a:rPr sz="2800" b="1" i="0" u="none" dirty="0">
                          <a:solidFill>
                            <a:schemeClr val="tx1"/>
                          </a:solidFill>
                          <a:latin typeface="Times New Roman" panose="02020603050405020304" pitchFamily="18" charset="0"/>
                          <a:cs typeface="Times New Roman" panose="02020603050405020304" pitchFamily="18" charset="0"/>
                        </a:rPr>
                        <a:t>%)</a:t>
                      </a: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21003771"/>
                  </a:ext>
                </a:extLst>
              </a:tr>
              <a:tr h="1049941">
                <a:tc>
                  <a:txBody>
                    <a:bodyPr/>
                    <a:lstStyle/>
                    <a:p>
                      <a:pPr algn="ctr"/>
                      <a:r>
                        <a:rPr sz="2800" b="1" i="0" u="none">
                          <a:solidFill>
                            <a:schemeClr val="tx1"/>
                          </a:solidFill>
                          <a:latin typeface="Times New Roman" panose="02020603050405020304" pitchFamily="18" charset="0"/>
                          <a:cs typeface="Times New Roman" panose="02020603050405020304" pitchFamily="18" charset="0"/>
                        </a:rPr>
                        <a:t>Tổng</a:t>
                      </a: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sz="2800" b="1">
                        <a:solidFill>
                          <a:schemeClr val="tx1"/>
                        </a:solidFill>
                        <a:latin typeface="Times New Roman" panose="02020603050405020304" pitchFamily="18" charset="0"/>
                        <a:cs typeface="Times New Roman" panose="02020603050405020304" pitchFamily="18"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sz="2800" b="1" dirty="0">
                        <a:solidFill>
                          <a:schemeClr val="tx1"/>
                        </a:solidFill>
                        <a:latin typeface="Times New Roman" panose="02020603050405020304" pitchFamily="18" charset="0"/>
                        <a:cs typeface="Times New Roman" panose="02020603050405020304" pitchFamily="18"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sz="2800" b="1">
                        <a:solidFill>
                          <a:schemeClr val="tx1"/>
                        </a:solidFill>
                        <a:latin typeface="Times New Roman" panose="02020603050405020304" pitchFamily="18" charset="0"/>
                        <a:cs typeface="Times New Roman" panose="02020603050405020304" pitchFamily="18"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sz="2800" b="1">
                        <a:solidFill>
                          <a:schemeClr val="tx1"/>
                        </a:solidFill>
                        <a:latin typeface="Times New Roman" panose="02020603050405020304" pitchFamily="18" charset="0"/>
                        <a:cs typeface="Times New Roman" panose="02020603050405020304" pitchFamily="18"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vi-VN" sz="2800" b="1" i="0" u="none" dirty="0">
                          <a:solidFill>
                            <a:schemeClr val="tx1"/>
                          </a:solidFill>
                          <a:latin typeface="Times New Roman" panose="02020603050405020304" pitchFamily="18" charset="0"/>
                          <a:cs typeface="Times New Roman" panose="02020603050405020304" pitchFamily="18" charset="0"/>
                        </a:rPr>
                        <a:t>28.92</a:t>
                      </a:r>
                      <a:endParaRPr sz="2800" b="1" i="0" u="none" dirty="0">
                        <a:solidFill>
                          <a:schemeClr val="tx1"/>
                        </a:solidFill>
                        <a:latin typeface="Times New Roman" panose="02020603050405020304" pitchFamily="18" charset="0"/>
                        <a:cs typeface="Times New Roman" panose="02020603050405020304" pitchFamily="18"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sz="2800" b="1" i="0" u="none" dirty="0">
                          <a:solidFill>
                            <a:schemeClr val="tx1"/>
                          </a:solidFill>
                          <a:latin typeface="Times New Roman" panose="02020603050405020304" pitchFamily="18" charset="0"/>
                          <a:cs typeface="Times New Roman" panose="02020603050405020304" pitchFamily="18" charset="0"/>
                        </a:rPr>
                        <a:t>1.00 (100%)</a:t>
                      </a: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68855109"/>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p:fade/>
      </p:transition>
    </mc:Choice>
    <mc:Fallback xmlns="" xmlns:m="http://schemas.openxmlformats.org/officeDocument/2006/math" xmlns:w="http://schemas.openxmlformats.org/wordprocessingml/2006/main">
      <p:transition spd="fast" advClick="1">
        <p:fade thruBlk="0"/>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D1ADFF6D-484A-E3A8-9D12-83864E800F72}"/>
            </a:ext>
          </a:extLst>
        </p:cNvPr>
        <p:cNvGrpSpPr/>
        <p:nvPr/>
      </p:nvGrpSpPr>
      <p:grpSpPr bwMode="auto">
        <a:xfrm>
          <a:off x="0" y="0"/>
          <a:ext cx="0" cy="0"/>
          <a:chOff x="0" y="0"/>
          <a:chExt cx="0" cy="0"/>
        </a:xfrm>
      </p:grpSpPr>
      <p:grpSp>
        <p:nvGrpSpPr>
          <p:cNvPr id="454109980" name="Group 2">
            <a:extLst>
              <a:ext uri="{FF2B5EF4-FFF2-40B4-BE49-F238E27FC236}">
                <a16:creationId xmlns:a16="http://schemas.microsoft.com/office/drawing/2014/main" id="{255E5773-4FFD-B13A-398A-C886A7755215}"/>
              </a:ext>
            </a:extLst>
          </p:cNvPr>
          <p:cNvGrpSpPr/>
          <p:nvPr/>
        </p:nvGrpSpPr>
        <p:grpSpPr bwMode="auto">
          <a:xfrm>
            <a:off x="-2209799" y="35642"/>
            <a:ext cx="11111447" cy="2051022"/>
            <a:chOff x="-1833152" y="-104877"/>
            <a:chExt cx="8970826" cy="2734696"/>
          </a:xfrm>
        </p:grpSpPr>
        <p:sp>
          <p:nvSpPr>
            <p:cNvPr id="3" name="Freeform 3">
              <a:extLst>
                <a:ext uri="{FF2B5EF4-FFF2-40B4-BE49-F238E27FC236}">
                  <a16:creationId xmlns:a16="http://schemas.microsoft.com/office/drawing/2014/main" id="{82B6F828-ABB6-7095-79CC-5B785E49D93B}"/>
                </a:ext>
              </a:extLst>
            </p:cNvPr>
            <p:cNvSpPr/>
            <p:nvPr/>
          </p:nvSpPr>
          <p:spPr bwMode="auto">
            <a:xfrm>
              <a:off x="-1833152" y="-104877"/>
              <a:ext cx="8294106" cy="1794555"/>
            </a:xfrm>
            <a:custGeom>
              <a:avLst/>
              <a:gdLst/>
              <a:ahLst/>
              <a:cxnLst/>
              <a:rect l="l" t="t" r="r" b="b"/>
              <a:pathLst>
                <a:path w="8294107" h="1794553" extrusionOk="0">
                  <a:moveTo>
                    <a:pt x="0" y="0"/>
                  </a:moveTo>
                  <a:lnTo>
                    <a:pt x="8294107" y="0"/>
                  </a:lnTo>
                  <a:lnTo>
                    <a:pt x="8294107" y="1794553"/>
                  </a:lnTo>
                  <a:lnTo>
                    <a:pt x="0" y="1794553"/>
                  </a:lnTo>
                  <a:close/>
                </a:path>
              </a:pathLst>
            </a:custGeom>
            <a:blipFill rotWithShape="1">
              <a:blip r:embed="rId3">
                <a:alphaModFix amt="0"/>
              </a:blip>
              <a:stretch>
                <a:fillRect t="-180534" r="-153567" b="-176173"/>
              </a:stretch>
            </a:blipFill>
          </p:spPr>
          <p:txBody>
            <a:bodyPr anchor="ctr"/>
            <a:lstStyle/>
            <a:p>
              <a:pPr algn="ctr">
                <a:defRPr/>
              </a:pPr>
              <a:r>
                <a:rPr lang="vi-VN" dirty="0">
                  <a:latin typeface="Times New Roman"/>
                  <a:cs typeface="Times New Roman"/>
                </a:rPr>
                <a:t> </a:t>
              </a:r>
              <a:endParaRPr dirty="0">
                <a:latin typeface="Times New Roman"/>
                <a:cs typeface="Times New Roman"/>
              </a:endParaRPr>
            </a:p>
          </p:txBody>
        </p:sp>
        <p:sp>
          <p:nvSpPr>
            <p:cNvPr id="4" name="TextBox 4">
              <a:extLst>
                <a:ext uri="{FF2B5EF4-FFF2-40B4-BE49-F238E27FC236}">
                  <a16:creationId xmlns:a16="http://schemas.microsoft.com/office/drawing/2014/main" id="{6A3F1300-139C-97CE-2ECC-68067FE6A5E7}"/>
                </a:ext>
              </a:extLst>
            </p:cNvPr>
            <p:cNvSpPr txBox="1"/>
            <p:nvPr/>
          </p:nvSpPr>
          <p:spPr bwMode="auto">
            <a:xfrm>
              <a:off x="-1156432" y="749535"/>
              <a:ext cx="8294106" cy="1880284"/>
            </a:xfrm>
            <a:prstGeom prst="rect">
              <a:avLst/>
            </a:prstGeom>
            <a:grpFill/>
          </p:spPr>
          <p:txBody>
            <a:bodyPr lIns="0" tIns="0" rIns="0" bIns="0" rtlCol="0" anchor="ctr"/>
            <a:lstStyle/>
            <a:p>
              <a:pPr algn="ctr">
                <a:lnSpc>
                  <a:spcPts val="7038"/>
                </a:lnSpc>
                <a:defRPr/>
              </a:pPr>
              <a:r>
                <a:rPr lang="vi-VN" sz="5100" b="1" dirty="0" err="1">
                  <a:solidFill>
                    <a:srgbClr val="153898"/>
                  </a:solidFill>
                  <a:latin typeface="Times New Roman"/>
                  <a:ea typeface="Times New Roman"/>
                  <a:cs typeface="Times New Roman"/>
                </a:rPr>
                <a:t>Decision</a:t>
              </a:r>
              <a:r>
                <a:rPr lang="vi-VN" sz="5100" b="1" dirty="0">
                  <a:solidFill>
                    <a:srgbClr val="153898"/>
                  </a:solidFill>
                  <a:latin typeface="Times New Roman"/>
                  <a:ea typeface="Times New Roman"/>
                  <a:cs typeface="Times New Roman"/>
                </a:rPr>
                <a:t> </a:t>
              </a:r>
              <a:r>
                <a:rPr lang="vi-VN" sz="5100" b="1" dirty="0" err="1">
                  <a:solidFill>
                    <a:srgbClr val="153898"/>
                  </a:solidFill>
                  <a:latin typeface="Times New Roman"/>
                  <a:ea typeface="Times New Roman"/>
                  <a:cs typeface="Times New Roman"/>
                </a:rPr>
                <a:t>Matrix</a:t>
              </a:r>
              <a:endParaRPr lang="vi-VN" sz="5100" b="1" dirty="0">
                <a:solidFill>
                  <a:srgbClr val="153898"/>
                </a:solidFill>
                <a:latin typeface="Times New Roman"/>
                <a:ea typeface="Times New Roman"/>
                <a:cs typeface="Times New Roman"/>
              </a:endParaRPr>
            </a:p>
            <a:p>
              <a:pPr algn="ctr">
                <a:lnSpc>
                  <a:spcPts val="7038"/>
                </a:lnSpc>
                <a:defRPr/>
              </a:pPr>
              <a:endParaRPr lang="en-US" dirty="0">
                <a:latin typeface="Times New Roman"/>
                <a:cs typeface="Times New Roman"/>
              </a:endParaRPr>
            </a:p>
          </p:txBody>
        </p:sp>
      </p:grpSp>
      <p:graphicFrame>
        <p:nvGraphicFramePr>
          <p:cNvPr id="5" name="Table 4">
            <a:extLst>
              <a:ext uri="{FF2B5EF4-FFF2-40B4-BE49-F238E27FC236}">
                <a16:creationId xmlns:a16="http://schemas.microsoft.com/office/drawing/2014/main" id="{43660065-0427-461E-BE45-A0219B887C4A}"/>
              </a:ext>
            </a:extLst>
          </p:cNvPr>
          <p:cNvGraphicFramePr>
            <a:graphicFrameLocks noGrp="1"/>
          </p:cNvGraphicFramePr>
          <p:nvPr>
            <p:extLst>
              <p:ext uri="{D42A27DB-BD31-4B8C-83A1-F6EECF244321}">
                <p14:modId xmlns:p14="http://schemas.microsoft.com/office/powerpoint/2010/main" val="876000839"/>
              </p:ext>
            </p:extLst>
          </p:nvPr>
        </p:nvGraphicFramePr>
        <p:xfrm>
          <a:off x="457200" y="1600200"/>
          <a:ext cx="16844208" cy="7400195"/>
        </p:xfrm>
        <a:graphic>
          <a:graphicData uri="http://schemas.openxmlformats.org/drawingml/2006/table">
            <a:tbl>
              <a:tblPr>
                <a:tableStyleId>{5C22544A-7EE6-4342-B048-85BDC9FD1C3A}</a:tableStyleId>
              </a:tblPr>
              <a:tblGrid>
                <a:gridCol w="2105526">
                  <a:extLst>
                    <a:ext uri="{9D8B030D-6E8A-4147-A177-3AD203B41FA5}">
                      <a16:colId xmlns:a16="http://schemas.microsoft.com/office/drawing/2014/main" val="4086452655"/>
                    </a:ext>
                  </a:extLst>
                </a:gridCol>
                <a:gridCol w="2105526">
                  <a:extLst>
                    <a:ext uri="{9D8B030D-6E8A-4147-A177-3AD203B41FA5}">
                      <a16:colId xmlns:a16="http://schemas.microsoft.com/office/drawing/2014/main" val="717060250"/>
                    </a:ext>
                  </a:extLst>
                </a:gridCol>
                <a:gridCol w="2105526">
                  <a:extLst>
                    <a:ext uri="{9D8B030D-6E8A-4147-A177-3AD203B41FA5}">
                      <a16:colId xmlns:a16="http://schemas.microsoft.com/office/drawing/2014/main" val="2533319958"/>
                    </a:ext>
                  </a:extLst>
                </a:gridCol>
                <a:gridCol w="2105526">
                  <a:extLst>
                    <a:ext uri="{9D8B030D-6E8A-4147-A177-3AD203B41FA5}">
                      <a16:colId xmlns:a16="http://schemas.microsoft.com/office/drawing/2014/main" val="3631957192"/>
                    </a:ext>
                  </a:extLst>
                </a:gridCol>
                <a:gridCol w="2398296">
                  <a:extLst>
                    <a:ext uri="{9D8B030D-6E8A-4147-A177-3AD203B41FA5}">
                      <a16:colId xmlns:a16="http://schemas.microsoft.com/office/drawing/2014/main" val="3693209267"/>
                    </a:ext>
                  </a:extLst>
                </a:gridCol>
                <a:gridCol w="1812756">
                  <a:extLst>
                    <a:ext uri="{9D8B030D-6E8A-4147-A177-3AD203B41FA5}">
                      <a16:colId xmlns:a16="http://schemas.microsoft.com/office/drawing/2014/main" val="2550783094"/>
                    </a:ext>
                  </a:extLst>
                </a:gridCol>
                <a:gridCol w="2105526">
                  <a:extLst>
                    <a:ext uri="{9D8B030D-6E8A-4147-A177-3AD203B41FA5}">
                      <a16:colId xmlns:a16="http://schemas.microsoft.com/office/drawing/2014/main" val="2095872640"/>
                    </a:ext>
                  </a:extLst>
                </a:gridCol>
                <a:gridCol w="2105526">
                  <a:extLst>
                    <a:ext uri="{9D8B030D-6E8A-4147-A177-3AD203B41FA5}">
                      <a16:colId xmlns:a16="http://schemas.microsoft.com/office/drawing/2014/main" val="655543771"/>
                    </a:ext>
                  </a:extLst>
                </a:gridCol>
              </a:tblGrid>
              <a:tr h="647387">
                <a:tc rowSpan="2">
                  <a:txBody>
                    <a:bodyPr/>
                    <a:lstStyle/>
                    <a:p>
                      <a:pPr algn="ctr" fontAlgn="ctr">
                        <a:buNone/>
                      </a:pPr>
                      <a:r>
                        <a:rPr lang="en-US" sz="2800" b="1" u="none" strike="noStrike" dirty="0" err="1">
                          <a:effectLst/>
                          <a:latin typeface="Times New Roman" panose="02020603050405020304" pitchFamily="18" charset="0"/>
                          <a:cs typeface="Times New Roman" panose="02020603050405020304" pitchFamily="18" charset="0"/>
                        </a:rPr>
                        <a:t>Tiêu</a:t>
                      </a:r>
                      <a:r>
                        <a:rPr lang="en-US" sz="2800" b="1" u="none" strike="noStrike" dirty="0">
                          <a:effectLst/>
                          <a:latin typeface="Times New Roman" panose="02020603050405020304" pitchFamily="18" charset="0"/>
                          <a:cs typeface="Times New Roman" panose="02020603050405020304" pitchFamily="18" charset="0"/>
                        </a:rPr>
                        <a:t> </a:t>
                      </a:r>
                      <a:r>
                        <a:rPr lang="en-US" sz="2800" b="1" u="none" strike="noStrike" dirty="0" err="1">
                          <a:effectLst/>
                          <a:latin typeface="Times New Roman" panose="02020603050405020304" pitchFamily="18" charset="0"/>
                          <a:cs typeface="Times New Roman" panose="02020603050405020304" pitchFamily="18" charset="0"/>
                        </a:rPr>
                        <a:t>chí</a:t>
                      </a:r>
                      <a:endParaRPr lang="vi-VN" sz="2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8140" marR="8140" marT="81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fontAlgn="ctr">
                        <a:buNone/>
                      </a:pPr>
                      <a:r>
                        <a:rPr lang="en-US" sz="2800" b="1" u="none" strike="noStrike" dirty="0" err="1">
                          <a:effectLst/>
                          <a:latin typeface="Times New Roman" panose="02020603050405020304" pitchFamily="18" charset="0"/>
                          <a:cs typeface="Times New Roman" panose="02020603050405020304" pitchFamily="18" charset="0"/>
                        </a:rPr>
                        <a:t>Trọng</a:t>
                      </a:r>
                      <a:r>
                        <a:rPr lang="en-US" sz="2800" b="1" u="none" strike="noStrike" dirty="0">
                          <a:effectLst/>
                          <a:latin typeface="Times New Roman" panose="02020603050405020304" pitchFamily="18" charset="0"/>
                          <a:cs typeface="Times New Roman" panose="02020603050405020304" pitchFamily="18" charset="0"/>
                        </a:rPr>
                        <a:t> </a:t>
                      </a:r>
                      <a:r>
                        <a:rPr lang="en-US" sz="2800" b="1" u="none" strike="noStrike" dirty="0" err="1">
                          <a:effectLst/>
                          <a:latin typeface="Times New Roman" panose="02020603050405020304" pitchFamily="18" charset="0"/>
                          <a:cs typeface="Times New Roman" panose="02020603050405020304" pitchFamily="18" charset="0"/>
                        </a:rPr>
                        <a:t>số</a:t>
                      </a:r>
                      <a:endParaRPr lang="vi-VN" sz="2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8140" marR="8140" marT="81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n-US" sz="2800" b="1" u="none" strike="noStrike" dirty="0">
                          <a:effectLst/>
                          <a:latin typeface="Times New Roman" panose="02020603050405020304" pitchFamily="18" charset="0"/>
                          <a:cs typeface="Times New Roman" panose="02020603050405020304" pitchFamily="18" charset="0"/>
                        </a:rPr>
                        <a:t>Design 1</a:t>
                      </a:r>
                      <a:endParaRPr lang="vi-VN" sz="2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8140" marR="8140" marT="81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n-US" sz="2800" b="1" u="none" strike="noStrike" dirty="0">
                          <a:solidFill>
                            <a:schemeClr val="tx2">
                              <a:lumMod val="60000"/>
                              <a:lumOff val="40000"/>
                            </a:schemeClr>
                          </a:solidFill>
                          <a:effectLst/>
                          <a:latin typeface="Times New Roman" panose="02020603050405020304" pitchFamily="18" charset="0"/>
                          <a:cs typeface="Times New Roman" panose="02020603050405020304" pitchFamily="18" charset="0"/>
                        </a:rPr>
                        <a:t>Design 1</a:t>
                      </a:r>
                      <a:endParaRPr lang="vi-VN" sz="2800" b="1" i="0" u="none" strike="noStrike" dirty="0">
                        <a:solidFill>
                          <a:schemeClr val="tx2">
                            <a:lumMod val="60000"/>
                            <a:lumOff val="40000"/>
                          </a:schemeClr>
                        </a:solidFill>
                        <a:effectLst/>
                        <a:latin typeface="Times New Roman" panose="02020603050405020304" pitchFamily="18" charset="0"/>
                        <a:cs typeface="Times New Roman" panose="02020603050405020304" pitchFamily="18" charset="0"/>
                      </a:endParaRPr>
                    </a:p>
                  </a:txBody>
                  <a:tcPr marL="8140" marR="8140" marT="81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n-US" sz="2800" b="1" u="none" strike="noStrike">
                          <a:effectLst/>
                          <a:latin typeface="Times New Roman" panose="02020603050405020304" pitchFamily="18" charset="0"/>
                          <a:cs typeface="Times New Roman" panose="02020603050405020304" pitchFamily="18" charset="0"/>
                        </a:rPr>
                        <a:t>Design 2</a:t>
                      </a:r>
                      <a:endParaRPr lang="vi-VN" sz="2800" b="1" i="0" u="none" strike="noStrike">
                        <a:solidFill>
                          <a:srgbClr val="000000"/>
                        </a:solidFill>
                        <a:effectLst/>
                        <a:latin typeface="Times New Roman" panose="02020603050405020304" pitchFamily="18" charset="0"/>
                        <a:cs typeface="Times New Roman" panose="02020603050405020304" pitchFamily="18" charset="0"/>
                      </a:endParaRPr>
                    </a:p>
                  </a:txBody>
                  <a:tcPr marL="8140" marR="8140" marT="81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n-US" sz="2800" b="1" u="none" strike="noStrike">
                          <a:solidFill>
                            <a:schemeClr val="tx2">
                              <a:lumMod val="60000"/>
                              <a:lumOff val="40000"/>
                            </a:schemeClr>
                          </a:solidFill>
                          <a:effectLst/>
                          <a:latin typeface="Times New Roman" panose="02020603050405020304" pitchFamily="18" charset="0"/>
                          <a:cs typeface="Times New Roman" panose="02020603050405020304" pitchFamily="18" charset="0"/>
                        </a:rPr>
                        <a:t>Design 2</a:t>
                      </a:r>
                      <a:endParaRPr lang="vi-VN" sz="2800" b="1" i="0" u="none" strike="noStrike">
                        <a:solidFill>
                          <a:schemeClr val="tx2">
                            <a:lumMod val="60000"/>
                            <a:lumOff val="40000"/>
                          </a:schemeClr>
                        </a:solidFill>
                        <a:effectLst/>
                        <a:latin typeface="Times New Roman" panose="02020603050405020304" pitchFamily="18" charset="0"/>
                        <a:cs typeface="Times New Roman" panose="02020603050405020304" pitchFamily="18" charset="0"/>
                      </a:endParaRPr>
                    </a:p>
                  </a:txBody>
                  <a:tcPr marL="8140" marR="8140" marT="81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n-US" sz="2800" b="1" u="none" strike="noStrike">
                          <a:effectLst/>
                          <a:latin typeface="Times New Roman" panose="02020603050405020304" pitchFamily="18" charset="0"/>
                          <a:cs typeface="Times New Roman" panose="02020603050405020304" pitchFamily="18" charset="0"/>
                        </a:rPr>
                        <a:t>Design 3</a:t>
                      </a:r>
                      <a:endParaRPr lang="vi-VN" sz="2800" b="1" i="0" u="none" strike="noStrike">
                        <a:solidFill>
                          <a:srgbClr val="000000"/>
                        </a:solidFill>
                        <a:effectLst/>
                        <a:latin typeface="Times New Roman" panose="02020603050405020304" pitchFamily="18" charset="0"/>
                        <a:cs typeface="Times New Roman" panose="02020603050405020304" pitchFamily="18" charset="0"/>
                      </a:endParaRPr>
                    </a:p>
                  </a:txBody>
                  <a:tcPr marL="8140" marR="8140" marT="81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n-US" sz="2800" b="1" u="none" strike="noStrike">
                          <a:solidFill>
                            <a:schemeClr val="tx2">
                              <a:lumMod val="60000"/>
                              <a:lumOff val="40000"/>
                            </a:schemeClr>
                          </a:solidFill>
                          <a:effectLst/>
                          <a:latin typeface="Times New Roman" panose="02020603050405020304" pitchFamily="18" charset="0"/>
                          <a:cs typeface="Times New Roman" panose="02020603050405020304" pitchFamily="18" charset="0"/>
                        </a:rPr>
                        <a:t>Design 3</a:t>
                      </a:r>
                      <a:endParaRPr lang="vi-VN" sz="2800" b="1" i="0" u="none" strike="noStrike">
                        <a:solidFill>
                          <a:schemeClr val="tx2">
                            <a:lumMod val="60000"/>
                            <a:lumOff val="40000"/>
                          </a:schemeClr>
                        </a:solidFill>
                        <a:effectLst/>
                        <a:latin typeface="Times New Roman" panose="02020603050405020304" pitchFamily="18" charset="0"/>
                        <a:cs typeface="Times New Roman" panose="02020603050405020304" pitchFamily="18" charset="0"/>
                      </a:endParaRPr>
                    </a:p>
                  </a:txBody>
                  <a:tcPr marL="8140" marR="8140" marT="81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19468465"/>
                  </a:ext>
                </a:extLst>
              </a:tr>
              <a:tr h="1307723">
                <a:tc vMerge="1">
                  <a:txBody>
                    <a:bodyPr/>
                    <a:lstStyle/>
                    <a:p>
                      <a:endParaRPr lang="vi-VN"/>
                    </a:p>
                  </a:txBody>
                  <a:tcPr/>
                </a:tc>
                <a:tc vMerge="1">
                  <a:txBody>
                    <a:bodyPr/>
                    <a:lstStyle/>
                    <a:p>
                      <a:endParaRPr lang="vi-VN"/>
                    </a:p>
                  </a:txBody>
                  <a:tcPr/>
                </a:tc>
                <a:tc>
                  <a:txBody>
                    <a:bodyPr/>
                    <a:lstStyle/>
                    <a:p>
                      <a:pPr algn="ctr" fontAlgn="ctr">
                        <a:buNone/>
                      </a:pPr>
                      <a:r>
                        <a:rPr lang="vi-VN" sz="2800" b="1" i="0" u="none" strike="noStrike" dirty="0" err="1">
                          <a:solidFill>
                            <a:srgbClr val="000000"/>
                          </a:solidFill>
                          <a:effectLst/>
                          <a:latin typeface="Times New Roman" panose="02020603050405020304" pitchFamily="18" charset="0"/>
                          <a:cs typeface="Times New Roman" panose="02020603050405020304" pitchFamily="18" charset="0"/>
                        </a:rPr>
                        <a:t>Pi</a:t>
                      </a:r>
                      <a:r>
                        <a:rPr lang="vi-VN" sz="2800" b="1" i="0" u="none" strike="noStrike" dirty="0">
                          <a:solidFill>
                            <a:srgbClr val="000000"/>
                          </a:solidFill>
                          <a:effectLst/>
                          <a:latin typeface="Times New Roman" panose="02020603050405020304" pitchFamily="18" charset="0"/>
                          <a:cs typeface="Times New Roman" panose="02020603050405020304" pitchFamily="18" charset="0"/>
                        </a:rPr>
                        <a:t> 5 đơn lẻ</a:t>
                      </a:r>
                    </a:p>
                  </a:txBody>
                  <a:tcPr marL="8140" marR="8140" marT="81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vi-VN" sz="2800" b="1" u="none" strike="noStrike" dirty="0" err="1">
                          <a:solidFill>
                            <a:schemeClr val="tx2">
                              <a:lumMod val="60000"/>
                              <a:lumOff val="40000"/>
                            </a:schemeClr>
                          </a:solidFill>
                          <a:effectLst/>
                          <a:latin typeface="Times New Roman" panose="02020603050405020304" pitchFamily="18" charset="0"/>
                          <a:cs typeface="Times New Roman" panose="02020603050405020304" pitchFamily="18" charset="0"/>
                        </a:rPr>
                        <a:t>Weighted</a:t>
                      </a:r>
                      <a:r>
                        <a:rPr lang="vi-VN" sz="2800" b="1" u="none" strike="noStrike" dirty="0">
                          <a:solidFill>
                            <a:schemeClr val="tx2">
                              <a:lumMod val="60000"/>
                              <a:lumOff val="40000"/>
                            </a:schemeClr>
                          </a:solidFill>
                          <a:effectLst/>
                          <a:latin typeface="Times New Roman" panose="02020603050405020304" pitchFamily="18" charset="0"/>
                          <a:cs typeface="Times New Roman" panose="02020603050405020304" pitchFamily="18" charset="0"/>
                        </a:rPr>
                        <a:t> </a:t>
                      </a:r>
                      <a:r>
                        <a:rPr lang="vi-VN" sz="2800" b="1" u="none" strike="noStrike" dirty="0" err="1">
                          <a:solidFill>
                            <a:schemeClr val="tx2">
                              <a:lumMod val="60000"/>
                              <a:lumOff val="40000"/>
                            </a:schemeClr>
                          </a:solidFill>
                          <a:effectLst/>
                          <a:latin typeface="Times New Roman" panose="02020603050405020304" pitchFamily="18" charset="0"/>
                          <a:cs typeface="Times New Roman" panose="02020603050405020304" pitchFamily="18" charset="0"/>
                        </a:rPr>
                        <a:t>Score</a:t>
                      </a:r>
                      <a:endParaRPr lang="vi-VN" sz="2800" b="1" i="0" u="none" strike="noStrike" dirty="0">
                        <a:solidFill>
                          <a:schemeClr val="tx2">
                            <a:lumMod val="60000"/>
                            <a:lumOff val="40000"/>
                          </a:schemeClr>
                        </a:solidFill>
                        <a:effectLst/>
                        <a:latin typeface="Times New Roman" panose="02020603050405020304" pitchFamily="18" charset="0"/>
                        <a:cs typeface="Times New Roman" panose="02020603050405020304" pitchFamily="18" charset="0"/>
                      </a:endParaRPr>
                    </a:p>
                  </a:txBody>
                  <a:tcPr marL="8140" marR="8140" marT="81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vi-VN" sz="2800" b="1" i="0" u="none" strike="noStrike" dirty="0">
                          <a:solidFill>
                            <a:srgbClr val="000000"/>
                          </a:solidFill>
                          <a:effectLst/>
                          <a:latin typeface="Times New Roman" panose="02020603050405020304" pitchFamily="18" charset="0"/>
                          <a:cs typeface="Times New Roman" panose="02020603050405020304" pitchFamily="18" charset="0"/>
                        </a:rPr>
                        <a:t>Pi5 + ESP32-S3</a:t>
                      </a:r>
                    </a:p>
                  </a:txBody>
                  <a:tcPr marL="8140" marR="8140" marT="81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vi-VN" sz="2800" b="1" u="none" strike="noStrike">
                          <a:solidFill>
                            <a:schemeClr val="tx2">
                              <a:lumMod val="60000"/>
                              <a:lumOff val="40000"/>
                            </a:schemeClr>
                          </a:solidFill>
                          <a:effectLst/>
                          <a:latin typeface="Times New Roman" panose="02020603050405020304" pitchFamily="18" charset="0"/>
                          <a:cs typeface="Times New Roman" panose="02020603050405020304" pitchFamily="18" charset="0"/>
                        </a:rPr>
                        <a:t>Weighted Score</a:t>
                      </a:r>
                      <a:endParaRPr lang="vi-VN" sz="2800" b="1" i="0" u="none" strike="noStrike">
                        <a:solidFill>
                          <a:schemeClr val="tx2">
                            <a:lumMod val="60000"/>
                            <a:lumOff val="40000"/>
                          </a:schemeClr>
                        </a:solidFill>
                        <a:effectLst/>
                        <a:latin typeface="Times New Roman" panose="02020603050405020304" pitchFamily="18" charset="0"/>
                        <a:cs typeface="Times New Roman" panose="02020603050405020304" pitchFamily="18" charset="0"/>
                      </a:endParaRPr>
                    </a:p>
                  </a:txBody>
                  <a:tcPr marL="8140" marR="8140" marT="81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vi-VN" sz="2800" b="1" i="0" u="none" strike="noStrike" dirty="0">
                          <a:solidFill>
                            <a:srgbClr val="000000"/>
                          </a:solidFill>
                          <a:effectLst/>
                          <a:latin typeface="Times New Roman" panose="02020603050405020304" pitchFamily="18" charset="0"/>
                          <a:cs typeface="Times New Roman" panose="02020603050405020304" pitchFamily="18" charset="0"/>
                        </a:rPr>
                        <a:t>ESP32-S3 + CAM</a:t>
                      </a:r>
                    </a:p>
                  </a:txBody>
                  <a:tcPr marL="8140" marR="8140" marT="81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vi-VN" sz="2800" b="1" u="none" strike="noStrike" err="1">
                          <a:solidFill>
                            <a:schemeClr val="tx2">
                              <a:lumMod val="60000"/>
                              <a:lumOff val="40000"/>
                            </a:schemeClr>
                          </a:solidFill>
                          <a:effectLst/>
                          <a:latin typeface="Times New Roman" panose="02020603050405020304" pitchFamily="18" charset="0"/>
                          <a:cs typeface="Times New Roman" panose="02020603050405020304" pitchFamily="18" charset="0"/>
                        </a:rPr>
                        <a:t>Weighted</a:t>
                      </a:r>
                      <a:r>
                        <a:rPr lang="vi-VN" sz="2800" b="1" u="none" strike="noStrike">
                          <a:solidFill>
                            <a:schemeClr val="tx2">
                              <a:lumMod val="60000"/>
                              <a:lumOff val="40000"/>
                            </a:schemeClr>
                          </a:solidFill>
                          <a:effectLst/>
                          <a:latin typeface="Times New Roman" panose="02020603050405020304" pitchFamily="18" charset="0"/>
                          <a:cs typeface="Times New Roman" panose="02020603050405020304" pitchFamily="18" charset="0"/>
                        </a:rPr>
                        <a:t> </a:t>
                      </a:r>
                      <a:r>
                        <a:rPr lang="vi-VN" sz="2800" b="1" u="none" strike="noStrike" err="1">
                          <a:solidFill>
                            <a:schemeClr val="tx2">
                              <a:lumMod val="60000"/>
                              <a:lumOff val="40000"/>
                            </a:schemeClr>
                          </a:solidFill>
                          <a:effectLst/>
                          <a:latin typeface="Times New Roman" panose="02020603050405020304" pitchFamily="18" charset="0"/>
                          <a:cs typeface="Times New Roman" panose="02020603050405020304" pitchFamily="18" charset="0"/>
                        </a:rPr>
                        <a:t>Score</a:t>
                      </a:r>
                      <a:endParaRPr lang="vi-VN" sz="2800" b="1" i="0" u="none" strike="noStrike">
                        <a:solidFill>
                          <a:schemeClr val="tx2">
                            <a:lumMod val="60000"/>
                            <a:lumOff val="40000"/>
                          </a:schemeClr>
                        </a:solidFill>
                        <a:effectLst/>
                        <a:latin typeface="Times New Roman" panose="02020603050405020304" pitchFamily="18" charset="0"/>
                        <a:cs typeface="Times New Roman" panose="02020603050405020304" pitchFamily="18" charset="0"/>
                      </a:endParaRPr>
                    </a:p>
                  </a:txBody>
                  <a:tcPr marL="8140" marR="8140" marT="81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56318546"/>
                  </a:ext>
                </a:extLst>
              </a:tr>
              <a:tr h="1307723">
                <a:tc>
                  <a:txBody>
                    <a:bodyPr/>
                    <a:lstStyle/>
                    <a:p>
                      <a:pPr algn="ctr" fontAlgn="ctr">
                        <a:buNone/>
                      </a:pPr>
                      <a:r>
                        <a:rPr lang="en-US" sz="2800" u="none" strike="noStrike" dirty="0" err="1">
                          <a:effectLst/>
                          <a:latin typeface="Times New Roman" panose="02020603050405020304" pitchFamily="18" charset="0"/>
                          <a:cs typeface="Times New Roman" panose="02020603050405020304" pitchFamily="18" charset="0"/>
                        </a:rPr>
                        <a:t>Khả</a:t>
                      </a:r>
                      <a:r>
                        <a:rPr lang="en-US" sz="2800" u="none" strike="noStrike" dirty="0">
                          <a:effectLst/>
                          <a:latin typeface="Times New Roman" panose="02020603050405020304" pitchFamily="18" charset="0"/>
                          <a:cs typeface="Times New Roman" panose="02020603050405020304" pitchFamily="18" charset="0"/>
                        </a:rPr>
                        <a:t> </a:t>
                      </a:r>
                      <a:r>
                        <a:rPr lang="vi-VN" sz="2800" u="none" strike="noStrike" dirty="0">
                          <a:effectLst/>
                          <a:latin typeface="Times New Roman" panose="02020603050405020304" pitchFamily="18" charset="0"/>
                          <a:cs typeface="Times New Roman" panose="02020603050405020304" pitchFamily="18" charset="0"/>
                        </a:rPr>
                        <a:t>năng AI (nhận diện)</a:t>
                      </a:r>
                      <a:endParaRPr lang="vi-VN" sz="2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8140" marR="8140" marT="81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vi-VN" sz="2800" u="none" strike="noStrike" dirty="0">
                          <a:effectLst/>
                          <a:latin typeface="Times New Roman" panose="02020603050405020304" pitchFamily="18" charset="0"/>
                          <a:cs typeface="Times New Roman" panose="02020603050405020304" pitchFamily="18" charset="0"/>
                        </a:rPr>
                        <a:t>0.58</a:t>
                      </a:r>
                      <a:endParaRPr lang="vi-VN" sz="2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8140" marR="8140" marT="81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n-US" sz="2800" u="none" strike="noStrike" dirty="0">
                          <a:effectLst/>
                          <a:latin typeface="Times New Roman" panose="02020603050405020304" pitchFamily="18" charset="0"/>
                          <a:cs typeface="Times New Roman" panose="02020603050405020304" pitchFamily="18" charset="0"/>
                        </a:rPr>
                        <a:t>8</a:t>
                      </a:r>
                      <a:endParaRPr lang="vi-VN" sz="2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8140" marR="8140" marT="81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vi-VN" sz="2800" u="none" strike="noStrike" dirty="0">
                          <a:solidFill>
                            <a:schemeClr val="tx2">
                              <a:lumMod val="60000"/>
                              <a:lumOff val="40000"/>
                            </a:schemeClr>
                          </a:solidFill>
                          <a:effectLst/>
                          <a:latin typeface="Times New Roman" panose="02020603050405020304" pitchFamily="18" charset="0"/>
                          <a:cs typeface="Times New Roman" panose="02020603050405020304" pitchFamily="18" charset="0"/>
                        </a:rPr>
                        <a:t>4.64</a:t>
                      </a:r>
                      <a:endParaRPr lang="vi-VN" sz="2800" b="0" i="0" u="none" strike="noStrike" dirty="0">
                        <a:solidFill>
                          <a:schemeClr val="tx2">
                            <a:lumMod val="60000"/>
                            <a:lumOff val="40000"/>
                          </a:schemeClr>
                        </a:solidFill>
                        <a:effectLst/>
                        <a:latin typeface="Times New Roman" panose="02020603050405020304" pitchFamily="18" charset="0"/>
                        <a:cs typeface="Times New Roman" panose="02020603050405020304" pitchFamily="18" charset="0"/>
                      </a:endParaRPr>
                    </a:p>
                  </a:txBody>
                  <a:tcPr marL="8140" marR="8140" marT="81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n-US" sz="2800" u="none" strike="noStrike" dirty="0">
                          <a:effectLst/>
                          <a:latin typeface="Times New Roman" panose="02020603050405020304" pitchFamily="18" charset="0"/>
                          <a:cs typeface="Times New Roman" panose="02020603050405020304" pitchFamily="18" charset="0"/>
                        </a:rPr>
                        <a:t>9</a:t>
                      </a:r>
                      <a:endParaRPr lang="vi-VN" sz="2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8140" marR="8140" marT="81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vi-VN" sz="2800" b="0" i="0" u="none" strike="noStrike" dirty="0">
                          <a:solidFill>
                            <a:schemeClr val="tx2">
                              <a:lumMod val="60000"/>
                              <a:lumOff val="40000"/>
                            </a:schemeClr>
                          </a:solidFill>
                          <a:effectLst/>
                          <a:latin typeface="Times New Roman" panose="02020603050405020304" pitchFamily="18" charset="0"/>
                          <a:cs typeface="Times New Roman" panose="02020603050405020304" pitchFamily="18" charset="0"/>
                        </a:rPr>
                        <a:t>5.22</a:t>
                      </a:r>
                    </a:p>
                  </a:txBody>
                  <a:tcPr marL="8140" marR="8140" marT="81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vi-VN" sz="28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8140" marR="8140" marT="81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vi-VN" sz="2800" b="0" i="0" u="none" strike="noStrike" dirty="0">
                          <a:solidFill>
                            <a:schemeClr val="tx2">
                              <a:lumMod val="60000"/>
                              <a:lumOff val="40000"/>
                            </a:schemeClr>
                          </a:solidFill>
                          <a:effectLst/>
                          <a:latin typeface="Times New Roman" panose="02020603050405020304" pitchFamily="18" charset="0"/>
                          <a:cs typeface="Times New Roman" panose="02020603050405020304" pitchFamily="18" charset="0"/>
                        </a:rPr>
                        <a:t>1.16</a:t>
                      </a:r>
                    </a:p>
                  </a:txBody>
                  <a:tcPr marL="8140" marR="8140" marT="81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8350906"/>
                  </a:ext>
                </a:extLst>
              </a:tr>
              <a:tr h="660336">
                <a:tc>
                  <a:txBody>
                    <a:bodyPr/>
                    <a:lstStyle/>
                    <a:p>
                      <a:pPr algn="ctr" fontAlgn="ctr">
                        <a:buNone/>
                      </a:pPr>
                      <a:r>
                        <a:rPr lang="en-US" sz="2800" u="none" strike="noStrike">
                          <a:effectLst/>
                          <a:latin typeface="Times New Roman" panose="02020603050405020304" pitchFamily="18" charset="0"/>
                          <a:cs typeface="Times New Roman" panose="02020603050405020304" pitchFamily="18" charset="0"/>
                        </a:rPr>
                        <a:t>Giá thành</a:t>
                      </a:r>
                      <a:endParaRPr lang="vi-VN" sz="2800" b="0" i="0" u="none" strike="noStrike">
                        <a:solidFill>
                          <a:srgbClr val="000000"/>
                        </a:solidFill>
                        <a:effectLst/>
                        <a:latin typeface="Times New Roman" panose="02020603050405020304" pitchFamily="18" charset="0"/>
                        <a:cs typeface="Times New Roman" panose="02020603050405020304" pitchFamily="18" charset="0"/>
                      </a:endParaRPr>
                    </a:p>
                  </a:txBody>
                  <a:tcPr marL="8140" marR="8140" marT="81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n-US" sz="2800" u="none" strike="noStrike" dirty="0">
                          <a:effectLst/>
                          <a:latin typeface="Times New Roman" panose="02020603050405020304" pitchFamily="18" charset="0"/>
                          <a:cs typeface="Times New Roman" panose="02020603050405020304" pitchFamily="18" charset="0"/>
                        </a:rPr>
                        <a:t>0.</a:t>
                      </a:r>
                      <a:r>
                        <a:rPr lang="vi-VN" sz="2800" u="none" strike="noStrike" dirty="0">
                          <a:effectLst/>
                          <a:latin typeface="Times New Roman" panose="02020603050405020304" pitchFamily="18" charset="0"/>
                          <a:cs typeface="Times New Roman" panose="02020603050405020304" pitchFamily="18" charset="0"/>
                        </a:rPr>
                        <a:t>23</a:t>
                      </a:r>
                      <a:endParaRPr lang="vi-VN" sz="2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8140" marR="8140" marT="81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vi-VN" sz="2800" b="0" i="0" u="none" strike="noStrike" dirty="0">
                          <a:solidFill>
                            <a:srgbClr val="000000"/>
                          </a:solidFill>
                          <a:effectLst/>
                          <a:latin typeface="Times New Roman" panose="02020603050405020304" pitchFamily="18" charset="0"/>
                          <a:cs typeface="Times New Roman" panose="02020603050405020304" pitchFamily="18" charset="0"/>
                        </a:rPr>
                        <a:t>8</a:t>
                      </a:r>
                    </a:p>
                  </a:txBody>
                  <a:tcPr marL="8140" marR="8140" marT="81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vi-VN" sz="2800" u="none" strike="noStrike" dirty="0">
                          <a:solidFill>
                            <a:schemeClr val="tx2">
                              <a:lumMod val="60000"/>
                              <a:lumOff val="40000"/>
                            </a:schemeClr>
                          </a:solidFill>
                          <a:effectLst/>
                          <a:latin typeface="Times New Roman" panose="02020603050405020304" pitchFamily="18" charset="0"/>
                          <a:cs typeface="Times New Roman" panose="02020603050405020304" pitchFamily="18" charset="0"/>
                        </a:rPr>
                        <a:t>1.84</a:t>
                      </a:r>
                      <a:endParaRPr lang="vi-VN" sz="2800" b="0" i="0" u="none" strike="noStrike" dirty="0">
                        <a:solidFill>
                          <a:schemeClr val="tx2">
                            <a:lumMod val="60000"/>
                            <a:lumOff val="40000"/>
                          </a:schemeClr>
                        </a:solidFill>
                        <a:effectLst/>
                        <a:latin typeface="Times New Roman" panose="02020603050405020304" pitchFamily="18" charset="0"/>
                        <a:cs typeface="Times New Roman" panose="02020603050405020304" pitchFamily="18" charset="0"/>
                      </a:endParaRPr>
                    </a:p>
                  </a:txBody>
                  <a:tcPr marL="8140" marR="8140" marT="81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vi-VN" sz="2800" b="0" i="0" u="none" strike="noStrike" dirty="0">
                          <a:solidFill>
                            <a:srgbClr val="000000"/>
                          </a:solidFill>
                          <a:effectLst/>
                          <a:latin typeface="Times New Roman" panose="02020603050405020304" pitchFamily="18" charset="0"/>
                          <a:cs typeface="Times New Roman" panose="02020603050405020304" pitchFamily="18" charset="0"/>
                        </a:rPr>
                        <a:t>7</a:t>
                      </a:r>
                    </a:p>
                  </a:txBody>
                  <a:tcPr marL="8140" marR="8140" marT="81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vi-VN" sz="2800" b="0" i="0" u="none" strike="noStrike" dirty="0">
                          <a:solidFill>
                            <a:schemeClr val="tx2">
                              <a:lumMod val="60000"/>
                              <a:lumOff val="40000"/>
                            </a:schemeClr>
                          </a:solidFill>
                          <a:effectLst/>
                          <a:latin typeface="Times New Roman" panose="02020603050405020304" pitchFamily="18" charset="0"/>
                          <a:cs typeface="Times New Roman" panose="02020603050405020304" pitchFamily="18" charset="0"/>
                        </a:rPr>
                        <a:t>1.61</a:t>
                      </a:r>
                    </a:p>
                  </a:txBody>
                  <a:tcPr marL="8140" marR="8140" marT="81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n-US" sz="2800" u="none" strike="noStrike" dirty="0">
                          <a:effectLst/>
                          <a:latin typeface="Times New Roman" panose="02020603050405020304" pitchFamily="18" charset="0"/>
                          <a:cs typeface="Times New Roman" panose="02020603050405020304" pitchFamily="18" charset="0"/>
                        </a:rPr>
                        <a:t>9</a:t>
                      </a:r>
                      <a:endParaRPr lang="vi-VN" sz="2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8140" marR="8140" marT="81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vi-VN" sz="2800" b="0" i="0" u="none" strike="noStrike" dirty="0">
                          <a:solidFill>
                            <a:schemeClr val="tx2">
                              <a:lumMod val="60000"/>
                              <a:lumOff val="40000"/>
                            </a:schemeClr>
                          </a:solidFill>
                          <a:effectLst/>
                          <a:latin typeface="Times New Roman" panose="02020603050405020304" pitchFamily="18" charset="0"/>
                          <a:cs typeface="Times New Roman" panose="02020603050405020304" pitchFamily="18" charset="0"/>
                        </a:rPr>
                        <a:t>2.07</a:t>
                      </a:r>
                    </a:p>
                  </a:txBody>
                  <a:tcPr marL="8140" marR="8140" marT="81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63961920"/>
                  </a:ext>
                </a:extLst>
              </a:tr>
              <a:tr h="1307723">
                <a:tc>
                  <a:txBody>
                    <a:bodyPr/>
                    <a:lstStyle/>
                    <a:p>
                      <a:pPr algn="ctr" fontAlgn="ctr">
                        <a:buNone/>
                      </a:pPr>
                      <a:r>
                        <a:rPr lang="en-US" sz="2800" u="none" strike="noStrike" dirty="0" err="1">
                          <a:effectLst/>
                          <a:latin typeface="Times New Roman" panose="02020603050405020304" pitchFamily="18" charset="0"/>
                          <a:cs typeface="Times New Roman" panose="02020603050405020304" pitchFamily="18" charset="0"/>
                        </a:rPr>
                        <a:t>Tốc</a:t>
                      </a:r>
                      <a:r>
                        <a:rPr lang="en-US" sz="2800" u="none" strike="noStrike" dirty="0">
                          <a:effectLst/>
                          <a:latin typeface="Times New Roman" panose="02020603050405020304" pitchFamily="18" charset="0"/>
                          <a:cs typeface="Times New Roman" panose="02020603050405020304" pitchFamily="18" charset="0"/>
                        </a:rPr>
                        <a:t> </a:t>
                      </a:r>
                      <a:r>
                        <a:rPr lang="en-US" sz="2800" u="none" strike="noStrike" dirty="0" err="1">
                          <a:effectLst/>
                          <a:latin typeface="Times New Roman" panose="02020603050405020304" pitchFamily="18" charset="0"/>
                          <a:cs typeface="Times New Roman" panose="02020603050405020304" pitchFamily="18" charset="0"/>
                        </a:rPr>
                        <a:t>độ</a:t>
                      </a:r>
                      <a:r>
                        <a:rPr lang="en-US" sz="2800" u="none" strike="noStrike" dirty="0">
                          <a:effectLst/>
                          <a:latin typeface="Times New Roman" panose="02020603050405020304" pitchFamily="18" charset="0"/>
                          <a:cs typeface="Times New Roman" panose="02020603050405020304" pitchFamily="18" charset="0"/>
                        </a:rPr>
                        <a:t> </a:t>
                      </a:r>
                      <a:r>
                        <a:rPr lang="en-US" sz="2800" u="none" strike="noStrike" dirty="0" err="1">
                          <a:effectLst/>
                          <a:latin typeface="Times New Roman" panose="02020603050405020304" pitchFamily="18" charset="0"/>
                          <a:cs typeface="Times New Roman" panose="02020603050405020304" pitchFamily="18" charset="0"/>
                        </a:rPr>
                        <a:t>xử</a:t>
                      </a:r>
                      <a:r>
                        <a:rPr lang="en-US" sz="2800" u="none" strike="noStrike" dirty="0">
                          <a:effectLst/>
                          <a:latin typeface="Times New Roman" panose="02020603050405020304" pitchFamily="18" charset="0"/>
                          <a:cs typeface="Times New Roman" panose="02020603050405020304" pitchFamily="18" charset="0"/>
                        </a:rPr>
                        <a:t> </a:t>
                      </a:r>
                      <a:r>
                        <a:rPr lang="en-US" sz="2800" u="none" strike="noStrike" dirty="0" err="1">
                          <a:effectLst/>
                          <a:latin typeface="Times New Roman" panose="02020603050405020304" pitchFamily="18" charset="0"/>
                          <a:cs typeface="Times New Roman" panose="02020603050405020304" pitchFamily="18" charset="0"/>
                        </a:rPr>
                        <a:t>lý</a:t>
                      </a:r>
                      <a:r>
                        <a:rPr lang="en-US" sz="2800" u="none" strike="noStrike" dirty="0">
                          <a:effectLst/>
                          <a:latin typeface="Times New Roman" panose="02020603050405020304" pitchFamily="18" charset="0"/>
                          <a:cs typeface="Times New Roman" panose="02020603050405020304" pitchFamily="18" charset="0"/>
                        </a:rPr>
                        <a:t> &amp; </a:t>
                      </a:r>
                      <a:r>
                        <a:rPr lang="en-US" sz="2800" u="none" strike="noStrike" dirty="0" err="1">
                          <a:effectLst/>
                          <a:latin typeface="Times New Roman" panose="02020603050405020304" pitchFamily="18" charset="0"/>
                          <a:cs typeface="Times New Roman" panose="02020603050405020304" pitchFamily="18" charset="0"/>
                        </a:rPr>
                        <a:t>phản</a:t>
                      </a:r>
                      <a:r>
                        <a:rPr lang="en-US" sz="2800" u="none" strike="noStrike" dirty="0">
                          <a:effectLst/>
                          <a:latin typeface="Times New Roman" panose="02020603050405020304" pitchFamily="18" charset="0"/>
                          <a:cs typeface="Times New Roman" panose="02020603050405020304" pitchFamily="18" charset="0"/>
                        </a:rPr>
                        <a:t> </a:t>
                      </a:r>
                      <a:r>
                        <a:rPr lang="en-US" sz="2800" u="none" strike="noStrike" dirty="0" err="1">
                          <a:effectLst/>
                          <a:latin typeface="Times New Roman" panose="02020603050405020304" pitchFamily="18" charset="0"/>
                          <a:cs typeface="Times New Roman" panose="02020603050405020304" pitchFamily="18" charset="0"/>
                        </a:rPr>
                        <a:t>hồi</a:t>
                      </a:r>
                      <a:r>
                        <a:rPr lang="vi-VN" sz="2800" u="none" strike="noStrike" dirty="0">
                          <a:effectLst/>
                          <a:latin typeface="Times New Roman" panose="02020603050405020304" pitchFamily="18" charset="0"/>
                          <a:cs typeface="Times New Roman" panose="02020603050405020304" pitchFamily="18" charset="0"/>
                        </a:rPr>
                        <a:t> (I/O)</a:t>
                      </a:r>
                      <a:endParaRPr lang="vi-VN" sz="2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8140" marR="8140" marT="81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n-US" sz="2800" u="none" strike="noStrike" dirty="0">
                          <a:effectLst/>
                          <a:latin typeface="Times New Roman" panose="02020603050405020304" pitchFamily="18" charset="0"/>
                          <a:cs typeface="Times New Roman" panose="02020603050405020304" pitchFamily="18" charset="0"/>
                        </a:rPr>
                        <a:t>0.</a:t>
                      </a:r>
                      <a:r>
                        <a:rPr lang="vi-VN" sz="2800" u="none" strike="noStrike" dirty="0">
                          <a:effectLst/>
                          <a:latin typeface="Times New Roman" panose="02020603050405020304" pitchFamily="18" charset="0"/>
                          <a:cs typeface="Times New Roman" panose="02020603050405020304" pitchFamily="18" charset="0"/>
                        </a:rPr>
                        <a:t>12</a:t>
                      </a:r>
                      <a:endParaRPr lang="vi-VN" sz="2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8140" marR="8140" marT="81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n-US" sz="2800" u="none" strike="noStrike" dirty="0">
                          <a:effectLst/>
                          <a:latin typeface="Times New Roman" panose="02020603050405020304" pitchFamily="18" charset="0"/>
                          <a:cs typeface="Times New Roman" panose="02020603050405020304" pitchFamily="18" charset="0"/>
                        </a:rPr>
                        <a:t>6</a:t>
                      </a:r>
                      <a:endParaRPr lang="vi-VN" sz="2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8140" marR="8140" marT="81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n-US" sz="2800" u="none" strike="noStrike" dirty="0">
                          <a:solidFill>
                            <a:schemeClr val="tx2">
                              <a:lumMod val="60000"/>
                              <a:lumOff val="40000"/>
                            </a:schemeClr>
                          </a:solidFill>
                          <a:effectLst/>
                          <a:latin typeface="Times New Roman" panose="02020603050405020304" pitchFamily="18" charset="0"/>
                          <a:cs typeface="Times New Roman" panose="02020603050405020304" pitchFamily="18" charset="0"/>
                        </a:rPr>
                        <a:t>0.</a:t>
                      </a:r>
                      <a:r>
                        <a:rPr lang="vi-VN" sz="2800" u="none" strike="noStrike" dirty="0">
                          <a:solidFill>
                            <a:schemeClr val="tx2">
                              <a:lumMod val="60000"/>
                              <a:lumOff val="40000"/>
                            </a:schemeClr>
                          </a:solidFill>
                          <a:effectLst/>
                          <a:latin typeface="Times New Roman" panose="02020603050405020304" pitchFamily="18" charset="0"/>
                          <a:cs typeface="Times New Roman" panose="02020603050405020304" pitchFamily="18" charset="0"/>
                        </a:rPr>
                        <a:t>72</a:t>
                      </a:r>
                      <a:endParaRPr lang="vi-VN" sz="2800" b="0" i="0" u="none" strike="noStrike" dirty="0">
                        <a:solidFill>
                          <a:schemeClr val="tx2">
                            <a:lumMod val="60000"/>
                            <a:lumOff val="40000"/>
                          </a:schemeClr>
                        </a:solidFill>
                        <a:effectLst/>
                        <a:latin typeface="Times New Roman" panose="02020603050405020304" pitchFamily="18" charset="0"/>
                        <a:cs typeface="Times New Roman" panose="02020603050405020304" pitchFamily="18" charset="0"/>
                      </a:endParaRPr>
                    </a:p>
                  </a:txBody>
                  <a:tcPr marL="8140" marR="8140" marT="81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n-US" sz="2800" u="none" strike="noStrike" dirty="0">
                          <a:effectLst/>
                          <a:latin typeface="Times New Roman" panose="02020603050405020304" pitchFamily="18" charset="0"/>
                          <a:cs typeface="Times New Roman" panose="02020603050405020304" pitchFamily="18" charset="0"/>
                        </a:rPr>
                        <a:t>9</a:t>
                      </a:r>
                      <a:endParaRPr lang="vi-VN" sz="2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8140" marR="8140" marT="81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vi-VN" sz="2800" u="none" strike="noStrike" dirty="0">
                          <a:solidFill>
                            <a:schemeClr val="tx2">
                              <a:lumMod val="60000"/>
                              <a:lumOff val="40000"/>
                            </a:schemeClr>
                          </a:solidFill>
                          <a:effectLst/>
                          <a:latin typeface="Times New Roman" panose="02020603050405020304" pitchFamily="18" charset="0"/>
                          <a:cs typeface="Times New Roman" panose="02020603050405020304" pitchFamily="18" charset="0"/>
                        </a:rPr>
                        <a:t>1.08</a:t>
                      </a:r>
                      <a:endParaRPr lang="vi-VN" sz="2800" b="0" i="0" u="none" strike="noStrike" dirty="0">
                        <a:solidFill>
                          <a:schemeClr val="tx2">
                            <a:lumMod val="60000"/>
                            <a:lumOff val="40000"/>
                          </a:schemeClr>
                        </a:solidFill>
                        <a:effectLst/>
                        <a:latin typeface="Times New Roman" panose="02020603050405020304" pitchFamily="18" charset="0"/>
                        <a:cs typeface="Times New Roman" panose="02020603050405020304" pitchFamily="18" charset="0"/>
                      </a:endParaRPr>
                    </a:p>
                  </a:txBody>
                  <a:tcPr marL="8140" marR="8140" marT="81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vi-VN" sz="2800" b="0" i="0" u="none" strike="noStrike" dirty="0">
                          <a:solidFill>
                            <a:srgbClr val="000000"/>
                          </a:solidFill>
                          <a:effectLst/>
                          <a:latin typeface="Times New Roman" panose="02020603050405020304" pitchFamily="18" charset="0"/>
                          <a:cs typeface="Times New Roman" panose="02020603050405020304" pitchFamily="18" charset="0"/>
                        </a:rPr>
                        <a:t>7</a:t>
                      </a:r>
                    </a:p>
                  </a:txBody>
                  <a:tcPr marL="8140" marR="8140" marT="81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n-US" sz="2800" u="none" strike="noStrike" dirty="0">
                          <a:solidFill>
                            <a:schemeClr val="tx2">
                              <a:lumMod val="60000"/>
                              <a:lumOff val="40000"/>
                            </a:schemeClr>
                          </a:solidFill>
                          <a:effectLst/>
                          <a:latin typeface="Times New Roman" panose="02020603050405020304" pitchFamily="18" charset="0"/>
                          <a:cs typeface="Times New Roman" panose="02020603050405020304" pitchFamily="18" charset="0"/>
                        </a:rPr>
                        <a:t>0.</a:t>
                      </a:r>
                      <a:r>
                        <a:rPr lang="vi-VN" sz="2800" u="none" strike="noStrike" dirty="0">
                          <a:solidFill>
                            <a:schemeClr val="tx2">
                              <a:lumMod val="60000"/>
                              <a:lumOff val="40000"/>
                            </a:schemeClr>
                          </a:solidFill>
                          <a:effectLst/>
                          <a:latin typeface="Times New Roman" panose="02020603050405020304" pitchFamily="18" charset="0"/>
                          <a:cs typeface="Times New Roman" panose="02020603050405020304" pitchFamily="18" charset="0"/>
                        </a:rPr>
                        <a:t>84</a:t>
                      </a:r>
                      <a:endParaRPr lang="vi-VN" sz="2800" b="0" i="0" u="none" strike="noStrike" dirty="0">
                        <a:solidFill>
                          <a:schemeClr val="tx2">
                            <a:lumMod val="60000"/>
                            <a:lumOff val="40000"/>
                          </a:schemeClr>
                        </a:solidFill>
                        <a:effectLst/>
                        <a:latin typeface="Times New Roman" panose="02020603050405020304" pitchFamily="18" charset="0"/>
                        <a:cs typeface="Times New Roman" panose="02020603050405020304" pitchFamily="18" charset="0"/>
                      </a:endParaRPr>
                    </a:p>
                  </a:txBody>
                  <a:tcPr marL="8140" marR="8140" marT="81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29582987"/>
                  </a:ext>
                </a:extLst>
              </a:tr>
              <a:tr h="660336">
                <a:tc>
                  <a:txBody>
                    <a:bodyPr/>
                    <a:lstStyle/>
                    <a:p>
                      <a:pPr algn="ctr" fontAlgn="ctr">
                        <a:buNone/>
                      </a:pPr>
                      <a:r>
                        <a:rPr lang="en-US" sz="2800" u="none" strike="noStrike">
                          <a:effectLst/>
                          <a:latin typeface="Times New Roman" panose="02020603050405020304" pitchFamily="18" charset="0"/>
                          <a:cs typeface="Times New Roman" panose="02020603050405020304" pitchFamily="18" charset="0"/>
                        </a:rPr>
                        <a:t>Bộ nhớ lưu trữ</a:t>
                      </a:r>
                      <a:endParaRPr lang="vi-VN" sz="2800" b="0" i="0" u="none" strike="noStrike">
                        <a:solidFill>
                          <a:srgbClr val="000000"/>
                        </a:solidFill>
                        <a:effectLst/>
                        <a:latin typeface="Times New Roman" panose="02020603050405020304" pitchFamily="18" charset="0"/>
                        <a:cs typeface="Times New Roman" panose="02020603050405020304" pitchFamily="18" charset="0"/>
                      </a:endParaRPr>
                    </a:p>
                  </a:txBody>
                  <a:tcPr marL="8140" marR="8140" marT="81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n-US" sz="2800" u="none" strike="noStrike" dirty="0">
                          <a:effectLst/>
                          <a:latin typeface="Times New Roman" panose="02020603050405020304" pitchFamily="18" charset="0"/>
                          <a:cs typeface="Times New Roman" panose="02020603050405020304" pitchFamily="18" charset="0"/>
                        </a:rPr>
                        <a:t>0.</a:t>
                      </a:r>
                      <a:r>
                        <a:rPr lang="vi-VN" sz="2800" u="none" strike="noStrike" dirty="0">
                          <a:effectLst/>
                          <a:latin typeface="Times New Roman" panose="02020603050405020304" pitchFamily="18" charset="0"/>
                          <a:cs typeface="Times New Roman" panose="02020603050405020304" pitchFamily="18" charset="0"/>
                        </a:rPr>
                        <a:t>07</a:t>
                      </a:r>
                      <a:endParaRPr lang="vi-VN" sz="2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8140" marR="8140" marT="81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n-US" sz="2800" u="none" strike="noStrike">
                          <a:effectLst/>
                          <a:latin typeface="Times New Roman" panose="02020603050405020304" pitchFamily="18" charset="0"/>
                          <a:cs typeface="Times New Roman" panose="02020603050405020304" pitchFamily="18" charset="0"/>
                        </a:rPr>
                        <a:t>9</a:t>
                      </a:r>
                      <a:endParaRPr lang="vi-VN" sz="2800" b="0" i="0" u="none" strike="noStrike">
                        <a:solidFill>
                          <a:srgbClr val="000000"/>
                        </a:solidFill>
                        <a:effectLst/>
                        <a:latin typeface="Times New Roman" panose="02020603050405020304" pitchFamily="18" charset="0"/>
                        <a:cs typeface="Times New Roman" panose="02020603050405020304" pitchFamily="18" charset="0"/>
                      </a:endParaRPr>
                    </a:p>
                  </a:txBody>
                  <a:tcPr marL="8140" marR="8140" marT="81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vi-VN" sz="2800" u="none" strike="noStrike" dirty="0">
                          <a:solidFill>
                            <a:schemeClr val="tx2">
                              <a:lumMod val="60000"/>
                              <a:lumOff val="40000"/>
                            </a:schemeClr>
                          </a:solidFill>
                          <a:effectLst/>
                          <a:latin typeface="Times New Roman" panose="02020603050405020304" pitchFamily="18" charset="0"/>
                          <a:cs typeface="Times New Roman" panose="02020603050405020304" pitchFamily="18" charset="0"/>
                        </a:rPr>
                        <a:t>0.63</a:t>
                      </a:r>
                      <a:endParaRPr lang="vi-VN" sz="2800" b="0" i="0" u="none" strike="noStrike" dirty="0">
                        <a:solidFill>
                          <a:schemeClr val="tx2">
                            <a:lumMod val="60000"/>
                            <a:lumOff val="40000"/>
                          </a:schemeClr>
                        </a:solidFill>
                        <a:effectLst/>
                        <a:latin typeface="Times New Roman" panose="02020603050405020304" pitchFamily="18" charset="0"/>
                        <a:cs typeface="Times New Roman" panose="02020603050405020304" pitchFamily="18" charset="0"/>
                      </a:endParaRPr>
                    </a:p>
                  </a:txBody>
                  <a:tcPr marL="8140" marR="8140" marT="81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n-US" sz="2800" u="none" strike="noStrike" dirty="0">
                          <a:effectLst/>
                          <a:latin typeface="Times New Roman" panose="02020603050405020304" pitchFamily="18" charset="0"/>
                          <a:cs typeface="Times New Roman" panose="02020603050405020304" pitchFamily="18" charset="0"/>
                        </a:rPr>
                        <a:t>9</a:t>
                      </a:r>
                      <a:endParaRPr lang="vi-VN" sz="2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8140" marR="8140" marT="81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vi-VN" sz="2800" b="0" i="0" u="none" strike="noStrike" dirty="0">
                          <a:solidFill>
                            <a:schemeClr val="tx2">
                              <a:lumMod val="60000"/>
                              <a:lumOff val="40000"/>
                            </a:schemeClr>
                          </a:solidFill>
                          <a:effectLst/>
                          <a:latin typeface="Times New Roman" panose="02020603050405020304" pitchFamily="18" charset="0"/>
                          <a:cs typeface="Times New Roman" panose="02020603050405020304" pitchFamily="18" charset="0"/>
                        </a:rPr>
                        <a:t>0.63</a:t>
                      </a:r>
                    </a:p>
                  </a:txBody>
                  <a:tcPr marL="8140" marR="8140" marT="81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n-US" sz="2800" u="none" strike="noStrike" dirty="0">
                          <a:effectLst/>
                          <a:latin typeface="Times New Roman" panose="02020603050405020304" pitchFamily="18" charset="0"/>
                          <a:cs typeface="Times New Roman" panose="02020603050405020304" pitchFamily="18" charset="0"/>
                        </a:rPr>
                        <a:t>3</a:t>
                      </a:r>
                      <a:endParaRPr lang="vi-VN" sz="2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8140" marR="8140" marT="81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n-US" sz="2800" u="none" strike="noStrike" dirty="0">
                          <a:solidFill>
                            <a:schemeClr val="tx2">
                              <a:lumMod val="60000"/>
                              <a:lumOff val="40000"/>
                            </a:schemeClr>
                          </a:solidFill>
                          <a:effectLst/>
                          <a:latin typeface="Times New Roman" panose="02020603050405020304" pitchFamily="18" charset="0"/>
                          <a:cs typeface="Times New Roman" panose="02020603050405020304" pitchFamily="18" charset="0"/>
                        </a:rPr>
                        <a:t>0.</a:t>
                      </a:r>
                      <a:r>
                        <a:rPr lang="vi-VN" sz="2800" u="none" strike="noStrike" dirty="0">
                          <a:solidFill>
                            <a:schemeClr val="tx2">
                              <a:lumMod val="60000"/>
                              <a:lumOff val="40000"/>
                            </a:schemeClr>
                          </a:solidFill>
                          <a:effectLst/>
                          <a:latin typeface="Times New Roman" panose="02020603050405020304" pitchFamily="18" charset="0"/>
                          <a:cs typeface="Times New Roman" panose="02020603050405020304" pitchFamily="18" charset="0"/>
                        </a:rPr>
                        <a:t>21</a:t>
                      </a:r>
                      <a:endParaRPr lang="vi-VN" sz="2800" b="0" i="0" u="none" strike="noStrike" dirty="0">
                        <a:solidFill>
                          <a:schemeClr val="tx2">
                            <a:lumMod val="60000"/>
                            <a:lumOff val="40000"/>
                          </a:schemeClr>
                        </a:solidFill>
                        <a:effectLst/>
                        <a:latin typeface="Times New Roman" panose="02020603050405020304" pitchFamily="18" charset="0"/>
                        <a:cs typeface="Times New Roman" panose="02020603050405020304" pitchFamily="18" charset="0"/>
                      </a:endParaRPr>
                    </a:p>
                  </a:txBody>
                  <a:tcPr marL="8140" marR="8140" marT="81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11434227"/>
                  </a:ext>
                </a:extLst>
              </a:tr>
              <a:tr h="1307723">
                <a:tc>
                  <a:txBody>
                    <a:bodyPr/>
                    <a:lstStyle/>
                    <a:p>
                      <a:pPr algn="ctr" fontAlgn="ctr">
                        <a:buNone/>
                      </a:pPr>
                      <a:r>
                        <a:rPr lang="en-US" sz="2800" u="none" strike="noStrike">
                          <a:effectLst/>
                          <a:latin typeface="Times New Roman" panose="02020603050405020304" pitchFamily="18" charset="0"/>
                          <a:cs typeface="Times New Roman" panose="02020603050405020304" pitchFamily="18" charset="0"/>
                        </a:rPr>
                        <a:t>SCORES</a:t>
                      </a:r>
                      <a:endParaRPr lang="vi-VN" sz="2800" b="1" i="0" u="none" strike="noStrike">
                        <a:solidFill>
                          <a:srgbClr val="000000"/>
                        </a:solidFill>
                        <a:effectLst/>
                        <a:latin typeface="Times New Roman" panose="02020603050405020304" pitchFamily="18" charset="0"/>
                        <a:cs typeface="Times New Roman" panose="02020603050405020304" pitchFamily="18" charset="0"/>
                      </a:endParaRPr>
                    </a:p>
                  </a:txBody>
                  <a:tcPr marL="8140" marR="8140" marT="81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n-US" sz="2800" u="none" strike="noStrike">
                          <a:effectLst/>
                          <a:latin typeface="Times New Roman" panose="02020603050405020304" pitchFamily="18" charset="0"/>
                          <a:cs typeface="Times New Roman" panose="02020603050405020304" pitchFamily="18" charset="0"/>
                        </a:rPr>
                        <a:t>Should Sum to 1.0 (1.00)</a:t>
                      </a:r>
                      <a:endParaRPr lang="vi-VN" sz="2800" b="1" i="0" u="none" strike="noStrike">
                        <a:solidFill>
                          <a:srgbClr val="000000"/>
                        </a:solidFill>
                        <a:effectLst/>
                        <a:latin typeface="Times New Roman" panose="02020603050405020304" pitchFamily="18" charset="0"/>
                        <a:cs typeface="Times New Roman" panose="02020603050405020304" pitchFamily="18" charset="0"/>
                      </a:endParaRPr>
                    </a:p>
                  </a:txBody>
                  <a:tcPr marL="8140" marR="8140" marT="81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n-US" sz="2800" u="none" strike="noStrike" dirty="0">
                          <a:effectLst/>
                          <a:latin typeface="Times New Roman" panose="02020603050405020304" pitchFamily="18" charset="0"/>
                          <a:cs typeface="Times New Roman" panose="02020603050405020304" pitchFamily="18" charset="0"/>
                        </a:rPr>
                        <a:t>36</a:t>
                      </a:r>
                      <a:endParaRPr lang="vi-VN" sz="2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8140" marR="8140" marT="81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vi-VN" sz="2800" u="none" strike="noStrike" dirty="0">
                          <a:solidFill>
                            <a:schemeClr val="tx2">
                              <a:lumMod val="60000"/>
                              <a:lumOff val="40000"/>
                            </a:schemeClr>
                          </a:solidFill>
                          <a:effectLst/>
                          <a:latin typeface="Times New Roman" panose="02020603050405020304" pitchFamily="18" charset="0"/>
                          <a:cs typeface="Times New Roman" panose="02020603050405020304" pitchFamily="18" charset="0"/>
                        </a:rPr>
                        <a:t>7.83</a:t>
                      </a:r>
                      <a:endParaRPr lang="vi-VN" sz="2800" b="1" i="0" u="none" strike="noStrike" dirty="0">
                        <a:solidFill>
                          <a:schemeClr val="tx2">
                            <a:lumMod val="60000"/>
                            <a:lumOff val="40000"/>
                          </a:schemeClr>
                        </a:solidFill>
                        <a:effectLst/>
                        <a:latin typeface="Times New Roman" panose="02020603050405020304" pitchFamily="18" charset="0"/>
                        <a:cs typeface="Times New Roman" panose="02020603050405020304" pitchFamily="18" charset="0"/>
                      </a:endParaRPr>
                    </a:p>
                  </a:txBody>
                  <a:tcPr marL="8140" marR="8140" marT="81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n-US" sz="2800" u="none" strike="noStrike" dirty="0">
                          <a:effectLst/>
                          <a:latin typeface="Times New Roman" panose="02020603050405020304" pitchFamily="18" charset="0"/>
                          <a:cs typeface="Times New Roman" panose="02020603050405020304" pitchFamily="18" charset="0"/>
                        </a:rPr>
                        <a:t>42</a:t>
                      </a:r>
                      <a:endParaRPr lang="vi-VN" sz="2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8140" marR="8140" marT="81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vi-VN" sz="2800" b="1" i="0" u="none" strike="noStrike" dirty="0">
                          <a:solidFill>
                            <a:schemeClr val="tx2">
                              <a:lumMod val="60000"/>
                              <a:lumOff val="40000"/>
                            </a:schemeClr>
                          </a:solidFill>
                          <a:effectLst/>
                          <a:latin typeface="Times New Roman" panose="02020603050405020304" pitchFamily="18" charset="0"/>
                          <a:cs typeface="Times New Roman" panose="02020603050405020304" pitchFamily="18" charset="0"/>
                        </a:rPr>
                        <a:t>8.54</a:t>
                      </a:r>
                    </a:p>
                  </a:txBody>
                  <a:tcPr marL="8140" marR="8140" marT="81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n-US" sz="2800" u="none" strike="noStrike" dirty="0">
                          <a:effectLst/>
                          <a:latin typeface="Times New Roman" panose="02020603050405020304" pitchFamily="18" charset="0"/>
                          <a:cs typeface="Times New Roman" panose="02020603050405020304" pitchFamily="18" charset="0"/>
                        </a:rPr>
                        <a:t>23</a:t>
                      </a:r>
                      <a:endParaRPr lang="vi-VN" sz="2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8140" marR="8140" marT="81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vi-VN" sz="2800" b="0" i="0" u="none" strike="noStrike" dirty="0">
                          <a:solidFill>
                            <a:schemeClr val="tx2">
                              <a:lumMod val="60000"/>
                              <a:lumOff val="40000"/>
                            </a:schemeClr>
                          </a:solidFill>
                          <a:effectLst/>
                          <a:latin typeface="Times New Roman" panose="02020603050405020304" pitchFamily="18" charset="0"/>
                          <a:cs typeface="Times New Roman" panose="02020603050405020304" pitchFamily="18" charset="0"/>
                        </a:rPr>
                        <a:t>4.28</a:t>
                      </a:r>
                    </a:p>
                  </a:txBody>
                  <a:tcPr marL="8140" marR="8140" marT="81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80455348"/>
                  </a:ext>
                </a:extLst>
              </a:tr>
            </a:tbl>
          </a:graphicData>
        </a:graphic>
      </p:graphicFrame>
    </p:spTree>
    <p:extLst>
      <p:ext uri="{BB962C8B-B14F-4D97-AF65-F5344CB8AC3E}">
        <p14:creationId xmlns:p14="http://schemas.microsoft.com/office/powerpoint/2010/main" val="4179468726"/>
      </p:ext>
    </p:extLst>
  </p:cSld>
  <p:clrMapOvr>
    <a:masterClrMapping/>
  </p:clrMapOvr>
  <mc:AlternateContent xmlns:mc="http://schemas.openxmlformats.org/markup-compatibility/2006" xmlns:p159="http://schemas.microsoft.com/office/powerpoint/2015/09/main">
    <mc:Choice Requires="p159">
      <p:transition>
        <p:fade/>
      </p:transition>
    </mc:Choice>
    <mc:Fallback xmlns="" xmlns:m="http://schemas.openxmlformats.org/officeDocument/2006/math" xmlns:w="http://schemas.openxmlformats.org/wordprocessingml/2006/main">
      <p:transition spd="fast" advClick="1">
        <p:fade thruBlk="0"/>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5E337AE1-B559-40C6-A332-11BD04B885F8}"/>
            </a:ext>
          </a:extLst>
        </p:cNvPr>
        <p:cNvGrpSpPr/>
        <p:nvPr/>
      </p:nvGrpSpPr>
      <p:grpSpPr bwMode="auto">
        <a:xfrm>
          <a:off x="0" y="0"/>
          <a:ext cx="0" cy="0"/>
          <a:chOff x="0" y="0"/>
          <a:chExt cx="0" cy="0"/>
        </a:xfrm>
      </p:grpSpPr>
      <p:grpSp>
        <p:nvGrpSpPr>
          <p:cNvPr id="454109980" name="Group 2">
            <a:extLst>
              <a:ext uri="{FF2B5EF4-FFF2-40B4-BE49-F238E27FC236}">
                <a16:creationId xmlns:a16="http://schemas.microsoft.com/office/drawing/2014/main" id="{48C43A4C-130B-43F1-CF0E-4979057D5F7D}"/>
              </a:ext>
            </a:extLst>
          </p:cNvPr>
          <p:cNvGrpSpPr/>
          <p:nvPr/>
        </p:nvGrpSpPr>
        <p:grpSpPr bwMode="auto">
          <a:xfrm>
            <a:off x="-2209799" y="35642"/>
            <a:ext cx="11111447" cy="2051022"/>
            <a:chOff x="-1833152" y="-104877"/>
            <a:chExt cx="8970826" cy="2734696"/>
          </a:xfrm>
        </p:grpSpPr>
        <p:sp>
          <p:nvSpPr>
            <p:cNvPr id="3" name="Freeform 3">
              <a:extLst>
                <a:ext uri="{FF2B5EF4-FFF2-40B4-BE49-F238E27FC236}">
                  <a16:creationId xmlns:a16="http://schemas.microsoft.com/office/drawing/2014/main" id="{2A9B9A51-70A6-FA1E-D6F0-F810B956801D}"/>
                </a:ext>
              </a:extLst>
            </p:cNvPr>
            <p:cNvSpPr/>
            <p:nvPr/>
          </p:nvSpPr>
          <p:spPr bwMode="auto">
            <a:xfrm>
              <a:off x="-1833152" y="-104877"/>
              <a:ext cx="8294106" cy="1794555"/>
            </a:xfrm>
            <a:custGeom>
              <a:avLst/>
              <a:gdLst/>
              <a:ahLst/>
              <a:cxnLst/>
              <a:rect l="l" t="t" r="r" b="b"/>
              <a:pathLst>
                <a:path w="8294107" h="1794553" extrusionOk="0">
                  <a:moveTo>
                    <a:pt x="0" y="0"/>
                  </a:moveTo>
                  <a:lnTo>
                    <a:pt x="8294107" y="0"/>
                  </a:lnTo>
                  <a:lnTo>
                    <a:pt x="8294107" y="1794553"/>
                  </a:lnTo>
                  <a:lnTo>
                    <a:pt x="0" y="1794553"/>
                  </a:lnTo>
                  <a:close/>
                </a:path>
              </a:pathLst>
            </a:custGeom>
            <a:blipFill rotWithShape="1">
              <a:blip r:embed="rId3">
                <a:alphaModFix amt="0"/>
              </a:blip>
              <a:stretch>
                <a:fillRect t="-180534" r="-153567" b="-176173"/>
              </a:stretch>
            </a:blipFill>
          </p:spPr>
          <p:txBody>
            <a:bodyPr anchor="ctr"/>
            <a:lstStyle/>
            <a:p>
              <a:pPr algn="ctr">
                <a:defRPr/>
              </a:pPr>
              <a:r>
                <a:rPr lang="vi-VN" dirty="0">
                  <a:latin typeface="Times New Roman"/>
                  <a:cs typeface="Times New Roman"/>
                </a:rPr>
                <a:t> </a:t>
              </a:r>
              <a:endParaRPr dirty="0">
                <a:latin typeface="Times New Roman"/>
                <a:cs typeface="Times New Roman"/>
              </a:endParaRPr>
            </a:p>
          </p:txBody>
        </p:sp>
        <p:sp>
          <p:nvSpPr>
            <p:cNvPr id="4" name="TextBox 4">
              <a:extLst>
                <a:ext uri="{FF2B5EF4-FFF2-40B4-BE49-F238E27FC236}">
                  <a16:creationId xmlns:a16="http://schemas.microsoft.com/office/drawing/2014/main" id="{261E4317-C77D-B7AB-AF82-A13931DC0354}"/>
                </a:ext>
              </a:extLst>
            </p:cNvPr>
            <p:cNvSpPr txBox="1"/>
            <p:nvPr/>
          </p:nvSpPr>
          <p:spPr bwMode="auto">
            <a:xfrm>
              <a:off x="-1156432" y="749535"/>
              <a:ext cx="8294106" cy="1880284"/>
            </a:xfrm>
            <a:prstGeom prst="rect">
              <a:avLst/>
            </a:prstGeom>
            <a:grpFill/>
          </p:spPr>
          <p:txBody>
            <a:bodyPr lIns="0" tIns="0" rIns="0" bIns="0" rtlCol="0" anchor="ctr"/>
            <a:lstStyle/>
            <a:p>
              <a:pPr algn="ctr">
                <a:lnSpc>
                  <a:spcPts val="7038"/>
                </a:lnSpc>
                <a:defRPr/>
              </a:pPr>
              <a:r>
                <a:rPr lang="vi-VN" sz="5100" b="1" dirty="0" err="1">
                  <a:solidFill>
                    <a:srgbClr val="153898"/>
                  </a:solidFill>
                  <a:latin typeface="Times New Roman"/>
                  <a:ea typeface="Times New Roman"/>
                  <a:cs typeface="Times New Roman"/>
                </a:rPr>
                <a:t>Decision</a:t>
              </a:r>
              <a:r>
                <a:rPr lang="vi-VN" sz="5100" b="1" dirty="0">
                  <a:solidFill>
                    <a:srgbClr val="153898"/>
                  </a:solidFill>
                  <a:latin typeface="Times New Roman"/>
                  <a:ea typeface="Times New Roman"/>
                  <a:cs typeface="Times New Roman"/>
                </a:rPr>
                <a:t> </a:t>
              </a:r>
              <a:r>
                <a:rPr lang="vi-VN" sz="5100" b="1" dirty="0" err="1">
                  <a:solidFill>
                    <a:srgbClr val="153898"/>
                  </a:solidFill>
                  <a:latin typeface="Times New Roman"/>
                  <a:ea typeface="Times New Roman"/>
                  <a:cs typeface="Times New Roman"/>
                </a:rPr>
                <a:t>Matrix</a:t>
              </a:r>
              <a:endParaRPr lang="vi-VN" sz="5100" b="1" dirty="0">
                <a:solidFill>
                  <a:srgbClr val="153898"/>
                </a:solidFill>
                <a:latin typeface="Times New Roman"/>
                <a:ea typeface="Times New Roman"/>
                <a:cs typeface="Times New Roman"/>
              </a:endParaRPr>
            </a:p>
            <a:p>
              <a:pPr algn="ctr">
                <a:lnSpc>
                  <a:spcPts val="7038"/>
                </a:lnSpc>
                <a:defRPr/>
              </a:pPr>
              <a:endParaRPr lang="en-US" dirty="0">
                <a:latin typeface="Times New Roman"/>
                <a:cs typeface="Times New Roman"/>
              </a:endParaRPr>
            </a:p>
          </p:txBody>
        </p:sp>
      </p:grpSp>
      <p:graphicFrame>
        <p:nvGraphicFramePr>
          <p:cNvPr id="6" name="Table 5">
            <a:extLst>
              <a:ext uri="{FF2B5EF4-FFF2-40B4-BE49-F238E27FC236}">
                <a16:creationId xmlns:a16="http://schemas.microsoft.com/office/drawing/2014/main" id="{8D57A931-808D-FD7E-0F5E-BEC95EE78F34}"/>
              </a:ext>
            </a:extLst>
          </p:cNvPr>
          <p:cNvGraphicFramePr>
            <a:graphicFrameLocks noGrp="1"/>
          </p:cNvGraphicFramePr>
          <p:nvPr>
            <p:extLst>
              <p:ext uri="{D42A27DB-BD31-4B8C-83A1-F6EECF244321}">
                <p14:modId xmlns:p14="http://schemas.microsoft.com/office/powerpoint/2010/main" val="1008047258"/>
              </p:ext>
            </p:extLst>
          </p:nvPr>
        </p:nvGraphicFramePr>
        <p:xfrm>
          <a:off x="457200" y="1600200"/>
          <a:ext cx="17373600" cy="8264242"/>
        </p:xfrm>
        <a:graphic>
          <a:graphicData uri="http://schemas.openxmlformats.org/drawingml/2006/table">
            <a:tbl>
              <a:tblPr>
                <a:tableStyleId>{5C22544A-7EE6-4342-B048-85BDC9FD1C3A}</a:tableStyleId>
              </a:tblPr>
              <a:tblGrid>
                <a:gridCol w="1835060">
                  <a:extLst>
                    <a:ext uri="{9D8B030D-6E8A-4147-A177-3AD203B41FA5}">
                      <a16:colId xmlns:a16="http://schemas.microsoft.com/office/drawing/2014/main" val="4016398995"/>
                    </a:ext>
                  </a:extLst>
                </a:gridCol>
                <a:gridCol w="4560441">
                  <a:extLst>
                    <a:ext uri="{9D8B030D-6E8A-4147-A177-3AD203B41FA5}">
                      <a16:colId xmlns:a16="http://schemas.microsoft.com/office/drawing/2014/main" val="165154099"/>
                    </a:ext>
                  </a:extLst>
                </a:gridCol>
                <a:gridCol w="5765579">
                  <a:extLst>
                    <a:ext uri="{9D8B030D-6E8A-4147-A177-3AD203B41FA5}">
                      <a16:colId xmlns:a16="http://schemas.microsoft.com/office/drawing/2014/main" val="1854178002"/>
                    </a:ext>
                  </a:extLst>
                </a:gridCol>
                <a:gridCol w="5212520">
                  <a:extLst>
                    <a:ext uri="{9D8B030D-6E8A-4147-A177-3AD203B41FA5}">
                      <a16:colId xmlns:a16="http://schemas.microsoft.com/office/drawing/2014/main" val="3287107014"/>
                    </a:ext>
                  </a:extLst>
                </a:gridCol>
              </a:tblGrid>
              <a:tr h="1132955">
                <a:tc>
                  <a:txBody>
                    <a:bodyPr/>
                    <a:lstStyle/>
                    <a:p>
                      <a:pPr algn="ctr" fontAlgn="ctr">
                        <a:buNone/>
                      </a:pPr>
                      <a:r>
                        <a:rPr lang="en-US" sz="2800" b="1" u="none" strike="noStrike" dirty="0" err="1">
                          <a:effectLst/>
                          <a:latin typeface="+mj-lt"/>
                        </a:rPr>
                        <a:t>Tiêu</a:t>
                      </a:r>
                      <a:r>
                        <a:rPr lang="en-US" sz="2800" b="1" u="none" strike="noStrike" dirty="0">
                          <a:effectLst/>
                          <a:latin typeface="+mj-lt"/>
                        </a:rPr>
                        <a:t> </a:t>
                      </a:r>
                      <a:r>
                        <a:rPr lang="en-US" sz="2800" b="1" u="none" strike="noStrike" dirty="0" err="1">
                          <a:effectLst/>
                          <a:latin typeface="+mj-lt"/>
                        </a:rPr>
                        <a:t>chí</a:t>
                      </a:r>
                      <a:endParaRPr lang="vi-VN" sz="2800" b="1" i="0" u="none" strike="noStrike" dirty="0">
                        <a:solidFill>
                          <a:srgbClr val="000000"/>
                        </a:solidFill>
                        <a:effectLst/>
                        <a:latin typeface="+mj-lt"/>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vi-VN" sz="2800" b="1" u="none" strike="noStrike" dirty="0">
                          <a:effectLst/>
                          <a:latin typeface="+mj-lt"/>
                        </a:rPr>
                        <a:t>Thiết kế 1: </a:t>
                      </a:r>
                      <a:r>
                        <a:rPr lang="vi-VN" sz="2800" b="1" u="none" strike="noStrike" dirty="0" err="1">
                          <a:effectLst/>
                          <a:latin typeface="+mj-lt"/>
                        </a:rPr>
                        <a:t>Pi</a:t>
                      </a:r>
                      <a:r>
                        <a:rPr lang="vi-VN" sz="2800" b="1" u="none" strike="noStrike" dirty="0">
                          <a:effectLst/>
                          <a:latin typeface="+mj-lt"/>
                        </a:rPr>
                        <a:t> 5 Đơn lẻ</a:t>
                      </a:r>
                      <a:br>
                        <a:rPr lang="en-US" sz="2800" b="1" u="none" strike="noStrike" dirty="0">
                          <a:effectLst/>
                          <a:latin typeface="+mj-lt"/>
                        </a:rPr>
                      </a:br>
                      <a:r>
                        <a:rPr lang="vi-VN" sz="2800" b="1" u="none" strike="noStrike" dirty="0">
                          <a:effectLst/>
                          <a:latin typeface="+mj-lt"/>
                        </a:rPr>
                        <a:t> (SCORE 8,8,6,9)</a:t>
                      </a:r>
                      <a:endParaRPr lang="vi-VN" sz="2800" b="1" i="0" u="none" strike="noStrike" dirty="0">
                        <a:solidFill>
                          <a:srgbClr val="000000"/>
                        </a:solidFill>
                        <a:effectLst/>
                        <a:latin typeface="+mj-lt"/>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vi-VN" sz="2800" b="1" u="none" strike="noStrike" dirty="0">
                          <a:effectLst/>
                          <a:latin typeface="+mj-lt"/>
                        </a:rPr>
                        <a:t>Thiết kế 2: </a:t>
                      </a:r>
                      <a:r>
                        <a:rPr lang="vi-VN" sz="2800" b="1" i="0" u="none" strike="noStrike" dirty="0">
                          <a:solidFill>
                            <a:srgbClr val="000000"/>
                          </a:solidFill>
                          <a:effectLst/>
                          <a:latin typeface="Times New Roman" panose="02020603050405020304" pitchFamily="18" charset="0"/>
                          <a:cs typeface="Times New Roman" panose="02020603050405020304" pitchFamily="18" charset="0"/>
                        </a:rPr>
                        <a:t>Pi5 + ESP32-S3</a:t>
                      </a:r>
                      <a:br>
                        <a:rPr lang="en-US" sz="2800" b="1" u="none" strike="noStrike" dirty="0">
                          <a:effectLst/>
                          <a:latin typeface="+mj-lt"/>
                        </a:rPr>
                      </a:br>
                      <a:r>
                        <a:rPr lang="vi-VN" sz="2800" b="1" u="none" strike="noStrike" dirty="0">
                          <a:effectLst/>
                          <a:latin typeface="+mj-lt"/>
                        </a:rPr>
                        <a:t>(SCORE 9,7,9,9)</a:t>
                      </a:r>
                      <a:endParaRPr lang="vi-VN" sz="2800" b="1" i="0" u="none" strike="noStrike" dirty="0">
                        <a:solidFill>
                          <a:srgbClr val="000000"/>
                        </a:solidFill>
                        <a:effectLst/>
                        <a:latin typeface="+mj-lt"/>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vi-VN" sz="2800" b="1" u="none" strike="noStrike" dirty="0">
                          <a:effectLst/>
                          <a:latin typeface="+mj-lt"/>
                        </a:rPr>
                        <a:t>Thiết kế 3: </a:t>
                      </a:r>
                      <a:r>
                        <a:rPr lang="vi-VN" sz="2800" b="1" i="0" u="none" strike="noStrike" dirty="0">
                          <a:solidFill>
                            <a:srgbClr val="000000"/>
                          </a:solidFill>
                          <a:effectLst/>
                          <a:latin typeface="Times New Roman" panose="02020603050405020304" pitchFamily="18" charset="0"/>
                          <a:cs typeface="Times New Roman" panose="02020603050405020304" pitchFamily="18" charset="0"/>
                        </a:rPr>
                        <a:t>ESP32-S3 + CAM</a:t>
                      </a:r>
                      <a:br>
                        <a:rPr lang="en-US" sz="2800" b="1" u="none" strike="noStrike" dirty="0">
                          <a:effectLst/>
                          <a:latin typeface="+mj-lt"/>
                        </a:rPr>
                      </a:br>
                      <a:r>
                        <a:rPr lang="vi-VN" sz="2800" b="1" u="none" strike="noStrike" dirty="0">
                          <a:effectLst/>
                          <a:latin typeface="+mj-lt"/>
                        </a:rPr>
                        <a:t> (SCORE 2,9,7,3)</a:t>
                      </a:r>
                      <a:endParaRPr lang="vi-VN" sz="2800" b="1" i="0" u="none" strike="noStrike" dirty="0">
                        <a:solidFill>
                          <a:srgbClr val="000000"/>
                        </a:solidFill>
                        <a:effectLst/>
                        <a:latin typeface="+mj-lt"/>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5133813"/>
                  </a:ext>
                </a:extLst>
              </a:tr>
              <a:tr h="3184638">
                <a:tc>
                  <a:txBody>
                    <a:bodyPr/>
                    <a:lstStyle/>
                    <a:p>
                      <a:pPr algn="ctr" fontAlgn="ctr">
                        <a:buNone/>
                      </a:pPr>
                      <a:r>
                        <a:rPr lang="vi-VN" sz="2800" b="0" i="0" u="none" strike="noStrike" dirty="0">
                          <a:solidFill>
                            <a:srgbClr val="000000"/>
                          </a:solidFill>
                          <a:effectLst/>
                          <a:latin typeface="+mj-lt"/>
                        </a:rPr>
                        <a:t>Khả năng nhận diện &amp; AI</a:t>
                      </a: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800" dirty="0"/>
                        <a:t>(Score: 8)</a:t>
                      </a:r>
                    </a:p>
                    <a:p>
                      <a:pPr algn="ctr"/>
                      <a:r>
                        <a:rPr lang="en-US" sz="2800" dirty="0"/>
                        <a:t>• Pi 5 </a:t>
                      </a:r>
                      <a:r>
                        <a:rPr lang="en-US" sz="2800" dirty="0" err="1"/>
                        <a:t>có</a:t>
                      </a:r>
                      <a:r>
                        <a:rPr lang="en-US" sz="2800" dirty="0"/>
                        <a:t> NPU/CPU </a:t>
                      </a:r>
                      <a:r>
                        <a:rPr lang="en-US" sz="2800" dirty="0" err="1"/>
                        <a:t>đủ</a:t>
                      </a:r>
                      <a:r>
                        <a:rPr lang="en-US" sz="2800" dirty="0"/>
                        <a:t> </a:t>
                      </a:r>
                      <a:r>
                        <a:rPr lang="en-US" sz="2800" dirty="0" err="1"/>
                        <a:t>mạnh</a:t>
                      </a:r>
                      <a:r>
                        <a:rPr lang="en-US" sz="2800" dirty="0"/>
                        <a:t> </a:t>
                      </a:r>
                      <a:r>
                        <a:rPr lang="en-US" sz="2800" dirty="0" err="1"/>
                        <a:t>để</a:t>
                      </a:r>
                      <a:r>
                        <a:rPr lang="en-US" sz="2800" dirty="0"/>
                        <a:t> </a:t>
                      </a:r>
                      <a:r>
                        <a:rPr lang="en-US" sz="2800" dirty="0" err="1"/>
                        <a:t>chạy</a:t>
                      </a:r>
                      <a:r>
                        <a:rPr lang="en-US" sz="2800" dirty="0"/>
                        <a:t> YOLOv11 </a:t>
                      </a:r>
                      <a:r>
                        <a:rPr lang="en-US" sz="2800" dirty="0" err="1"/>
                        <a:t>và</a:t>
                      </a:r>
                      <a:r>
                        <a:rPr lang="en-US" sz="2800" dirty="0"/>
                        <a:t> AI Agent.</a:t>
                      </a:r>
                    </a:p>
                    <a:p>
                      <a:pPr algn="ctr"/>
                      <a:r>
                        <a:rPr lang="en-US" sz="2800" dirty="0"/>
                        <a:t>• Tuy </a:t>
                      </a:r>
                      <a:r>
                        <a:rPr lang="en-US" sz="2800" dirty="0" err="1"/>
                        <a:t>nhiên</a:t>
                      </a:r>
                      <a:r>
                        <a:rPr lang="en-US" sz="2800" dirty="0"/>
                        <a:t>, </a:t>
                      </a:r>
                      <a:r>
                        <a:rPr lang="en-US" sz="2800" dirty="0" err="1"/>
                        <a:t>việc</a:t>
                      </a:r>
                      <a:r>
                        <a:rPr lang="en-US" sz="2800" dirty="0"/>
                        <a:t> </a:t>
                      </a:r>
                      <a:r>
                        <a:rPr lang="en-US" sz="2800" dirty="0" err="1"/>
                        <a:t>phải</a:t>
                      </a:r>
                      <a:r>
                        <a:rPr lang="en-US" sz="2800" dirty="0"/>
                        <a:t> chia </a:t>
                      </a:r>
                      <a:r>
                        <a:rPr lang="en-US" sz="2800" dirty="0" err="1"/>
                        <a:t>sẻ</a:t>
                      </a:r>
                      <a:r>
                        <a:rPr lang="en-US" sz="2800" dirty="0"/>
                        <a:t> </a:t>
                      </a:r>
                      <a:r>
                        <a:rPr lang="en-US" sz="2800" dirty="0" err="1"/>
                        <a:t>tài</a:t>
                      </a:r>
                      <a:r>
                        <a:rPr lang="en-US" sz="2800" dirty="0"/>
                        <a:t> </a:t>
                      </a:r>
                      <a:r>
                        <a:rPr lang="en-US" sz="2800" dirty="0" err="1"/>
                        <a:t>nguyên</a:t>
                      </a:r>
                      <a:r>
                        <a:rPr lang="en-US" sz="2800" dirty="0"/>
                        <a:t> </a:t>
                      </a:r>
                      <a:r>
                        <a:rPr lang="en-US" sz="2800" dirty="0" err="1"/>
                        <a:t>tính</a:t>
                      </a:r>
                      <a:r>
                        <a:rPr lang="en-US" sz="2800" dirty="0"/>
                        <a:t> </a:t>
                      </a:r>
                      <a:r>
                        <a:rPr lang="en-US" sz="2800" dirty="0" err="1"/>
                        <a:t>toán</a:t>
                      </a:r>
                      <a:r>
                        <a:rPr lang="en-US" sz="2800" dirty="0"/>
                        <a:t> </a:t>
                      </a:r>
                      <a:r>
                        <a:rPr lang="en-US" sz="2800" dirty="0" err="1"/>
                        <a:t>để</a:t>
                      </a:r>
                      <a:r>
                        <a:rPr lang="en-US" sz="2800" dirty="0"/>
                        <a:t> </a:t>
                      </a:r>
                      <a:r>
                        <a:rPr lang="en-US" sz="2800" dirty="0" err="1"/>
                        <a:t>xử</a:t>
                      </a:r>
                      <a:r>
                        <a:rPr lang="en-US" sz="2800" dirty="0"/>
                        <a:t> </a:t>
                      </a:r>
                      <a:r>
                        <a:rPr lang="en-US" sz="2800" dirty="0" err="1"/>
                        <a:t>lý</a:t>
                      </a:r>
                      <a:r>
                        <a:rPr lang="en-US" sz="2800" dirty="0"/>
                        <a:t> </a:t>
                      </a:r>
                      <a:r>
                        <a:rPr lang="en-US" sz="2800" dirty="0" err="1"/>
                        <a:t>phần</a:t>
                      </a:r>
                      <a:r>
                        <a:rPr lang="en-US" sz="2800" dirty="0"/>
                        <a:t> </a:t>
                      </a:r>
                      <a:r>
                        <a:rPr lang="en-US" sz="2800" dirty="0" err="1"/>
                        <a:t>cứng</a:t>
                      </a:r>
                      <a:r>
                        <a:rPr lang="en-US" sz="2800" dirty="0"/>
                        <a:t> (</a:t>
                      </a:r>
                      <a:r>
                        <a:rPr lang="en-US" sz="2800" dirty="0" err="1"/>
                        <a:t>đọc</a:t>
                      </a:r>
                      <a:r>
                        <a:rPr lang="en-US" sz="2800" dirty="0"/>
                        <a:t> </a:t>
                      </a:r>
                      <a:r>
                        <a:rPr lang="en-US" sz="2800" dirty="0" err="1"/>
                        <a:t>cảm</a:t>
                      </a:r>
                      <a:r>
                        <a:rPr lang="en-US" sz="2800" dirty="0"/>
                        <a:t> </a:t>
                      </a:r>
                      <a:r>
                        <a:rPr lang="en-US" sz="2800" dirty="0" err="1"/>
                        <a:t>biến</a:t>
                      </a:r>
                      <a:r>
                        <a:rPr lang="en-US" sz="2800" dirty="0"/>
                        <a:t>) </a:t>
                      </a:r>
                      <a:r>
                        <a:rPr lang="en-US" sz="2800" dirty="0" err="1"/>
                        <a:t>làm</a:t>
                      </a:r>
                      <a:r>
                        <a:rPr lang="en-US" sz="2800" dirty="0"/>
                        <a:t> </a:t>
                      </a:r>
                      <a:r>
                        <a:rPr lang="en-US" sz="2800" dirty="0" err="1"/>
                        <a:t>giảm</a:t>
                      </a:r>
                      <a:r>
                        <a:rPr lang="en-US" sz="2800" dirty="0"/>
                        <a:t> </a:t>
                      </a:r>
                      <a:r>
                        <a:rPr lang="en-US" sz="2800" dirty="0" err="1"/>
                        <a:t>nhẹ</a:t>
                      </a:r>
                      <a:r>
                        <a:rPr lang="en-US" sz="2800" dirty="0"/>
                        <a:t> </a:t>
                      </a:r>
                      <a:r>
                        <a:rPr lang="en-US" sz="2800" dirty="0" err="1"/>
                        <a:t>hiệu</a:t>
                      </a:r>
                      <a:r>
                        <a:rPr lang="en-US" sz="2800" dirty="0"/>
                        <a:t> </a:t>
                      </a:r>
                      <a:r>
                        <a:rPr lang="en-US" sz="2800" dirty="0" err="1"/>
                        <a:t>năng</a:t>
                      </a:r>
                      <a:r>
                        <a:rPr lang="en-US" sz="2800" dirty="0"/>
                        <a:t> AI.</a:t>
                      </a:r>
                    </a:p>
                    <a:p>
                      <a:pPr algn="ctr" fontAlgn="ctr">
                        <a:buNone/>
                      </a:pPr>
                      <a:endParaRPr lang="vi-VN" sz="2800" b="0" i="0" u="none" strike="noStrike" dirty="0">
                        <a:solidFill>
                          <a:srgbClr val="000000"/>
                        </a:solidFill>
                        <a:effectLst/>
                        <a:latin typeface="+mj-lt"/>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800" dirty="0"/>
                        <a:t>(Score: 9)</a:t>
                      </a:r>
                    </a:p>
                    <a:p>
                      <a:pPr algn="ctr"/>
                      <a:r>
                        <a:rPr lang="en-US" sz="2800" dirty="0"/>
                        <a:t>• Pi 5 </a:t>
                      </a:r>
                      <a:r>
                        <a:rPr lang="en-US" sz="2800" dirty="0" err="1"/>
                        <a:t>được</a:t>
                      </a:r>
                      <a:r>
                        <a:rPr lang="en-US" sz="2800" dirty="0"/>
                        <a:t> </a:t>
                      </a:r>
                      <a:r>
                        <a:rPr lang="en-US" sz="2800" dirty="0" err="1"/>
                        <a:t>giải</a:t>
                      </a:r>
                      <a:r>
                        <a:rPr lang="en-US" sz="2800" dirty="0"/>
                        <a:t> </a:t>
                      </a:r>
                      <a:r>
                        <a:rPr lang="en-US" sz="2800" dirty="0" err="1"/>
                        <a:t>phóng</a:t>
                      </a:r>
                      <a:r>
                        <a:rPr lang="en-US" sz="2800" dirty="0"/>
                        <a:t> </a:t>
                      </a:r>
                      <a:r>
                        <a:rPr lang="en-US" sz="2800" dirty="0" err="1"/>
                        <a:t>hoàn</a:t>
                      </a:r>
                      <a:r>
                        <a:rPr lang="en-US" sz="2800" dirty="0"/>
                        <a:t> </a:t>
                      </a:r>
                      <a:r>
                        <a:rPr lang="en-US" sz="2800" dirty="0" err="1"/>
                        <a:t>toàn</a:t>
                      </a:r>
                      <a:r>
                        <a:rPr lang="en-US" sz="2800" dirty="0"/>
                        <a:t> </a:t>
                      </a:r>
                      <a:r>
                        <a:rPr lang="en-US" sz="2800" dirty="0" err="1"/>
                        <a:t>khỏi</a:t>
                      </a:r>
                      <a:r>
                        <a:rPr lang="en-US" sz="2800" dirty="0"/>
                        <a:t> </a:t>
                      </a:r>
                      <a:r>
                        <a:rPr lang="en-US" sz="2800" dirty="0" err="1"/>
                        <a:t>các</a:t>
                      </a:r>
                      <a:r>
                        <a:rPr lang="en-US" sz="2800" dirty="0"/>
                        <a:t> </a:t>
                      </a:r>
                      <a:r>
                        <a:rPr lang="en-US" sz="2800" dirty="0" err="1"/>
                        <a:t>tác</a:t>
                      </a:r>
                      <a:r>
                        <a:rPr lang="en-US" sz="2800" dirty="0"/>
                        <a:t> </a:t>
                      </a:r>
                      <a:r>
                        <a:rPr lang="en-US" sz="2800" dirty="0" err="1"/>
                        <a:t>vụ</a:t>
                      </a:r>
                      <a:r>
                        <a:rPr lang="en-US" sz="2800" dirty="0"/>
                        <a:t> </a:t>
                      </a:r>
                      <a:r>
                        <a:rPr lang="en-US" sz="2800" dirty="0" err="1"/>
                        <a:t>đọc</a:t>
                      </a:r>
                      <a:r>
                        <a:rPr lang="en-US" sz="2800" dirty="0"/>
                        <a:t> </a:t>
                      </a:r>
                      <a:r>
                        <a:rPr lang="en-US" sz="2800" dirty="0" err="1"/>
                        <a:t>phần</a:t>
                      </a:r>
                      <a:r>
                        <a:rPr lang="en-US" sz="2800" dirty="0"/>
                        <a:t> </a:t>
                      </a:r>
                      <a:r>
                        <a:rPr lang="en-US" sz="2800" dirty="0" err="1"/>
                        <a:t>cứng</a:t>
                      </a:r>
                      <a:r>
                        <a:rPr lang="en-US" sz="2800" dirty="0"/>
                        <a:t>.</a:t>
                      </a:r>
                    </a:p>
                    <a:p>
                      <a:pPr algn="ctr"/>
                      <a:r>
                        <a:rPr lang="en-US" sz="2800" dirty="0"/>
                        <a:t>• </a:t>
                      </a:r>
                      <a:r>
                        <a:rPr lang="en-US" sz="2800" dirty="0" err="1"/>
                        <a:t>Dồn</a:t>
                      </a:r>
                      <a:r>
                        <a:rPr lang="en-US" sz="2800" dirty="0"/>
                        <a:t> 100% </a:t>
                      </a:r>
                      <a:r>
                        <a:rPr lang="en-US" sz="2800" dirty="0" err="1"/>
                        <a:t>tài</a:t>
                      </a:r>
                      <a:r>
                        <a:rPr lang="en-US" sz="2800" dirty="0"/>
                        <a:t> </a:t>
                      </a:r>
                      <a:r>
                        <a:rPr lang="en-US" sz="2800" dirty="0" err="1"/>
                        <a:t>nguyên</a:t>
                      </a:r>
                      <a:r>
                        <a:rPr lang="en-US" sz="2800" dirty="0"/>
                        <a:t> </a:t>
                      </a:r>
                      <a:r>
                        <a:rPr lang="en-US" sz="2800" dirty="0" err="1"/>
                        <a:t>cho</a:t>
                      </a:r>
                      <a:r>
                        <a:rPr lang="en-US" sz="2800" dirty="0"/>
                        <a:t> Computer Vision (OCR CCCD), </a:t>
                      </a:r>
                      <a:r>
                        <a:rPr lang="en-US" sz="2800" dirty="0" err="1"/>
                        <a:t>nhận</a:t>
                      </a:r>
                      <a:r>
                        <a:rPr lang="en-US" sz="2800" dirty="0"/>
                        <a:t> </a:t>
                      </a:r>
                      <a:r>
                        <a:rPr lang="en-US" sz="2800" dirty="0" err="1"/>
                        <a:t>diện</a:t>
                      </a:r>
                      <a:r>
                        <a:rPr lang="en-US" sz="2800" dirty="0"/>
                        <a:t> </a:t>
                      </a:r>
                      <a:r>
                        <a:rPr lang="en-US" sz="2800" dirty="0" err="1"/>
                        <a:t>tư</a:t>
                      </a:r>
                      <a:r>
                        <a:rPr lang="en-US" sz="2800" dirty="0"/>
                        <a:t> </a:t>
                      </a:r>
                      <a:r>
                        <a:rPr lang="en-US" sz="2800" dirty="0" err="1"/>
                        <a:t>thế</a:t>
                      </a:r>
                      <a:r>
                        <a:rPr lang="en-US" sz="2800" dirty="0"/>
                        <a:t> </a:t>
                      </a:r>
                      <a:r>
                        <a:rPr lang="en-US" sz="2800" dirty="0" err="1"/>
                        <a:t>và</a:t>
                      </a:r>
                      <a:r>
                        <a:rPr lang="en-US" sz="2800" dirty="0"/>
                        <a:t> </a:t>
                      </a:r>
                      <a:r>
                        <a:rPr lang="en-US" sz="2800" dirty="0" err="1"/>
                        <a:t>xử</a:t>
                      </a:r>
                      <a:r>
                        <a:rPr lang="en-US" sz="2800" dirty="0"/>
                        <a:t> </a:t>
                      </a:r>
                      <a:r>
                        <a:rPr lang="en-US" sz="2800" dirty="0" err="1"/>
                        <a:t>lý</a:t>
                      </a:r>
                      <a:r>
                        <a:rPr lang="en-US" sz="2800" dirty="0"/>
                        <a:t> RAG, </a:t>
                      </a:r>
                      <a:r>
                        <a:rPr lang="en-US" sz="2800" dirty="0" err="1"/>
                        <a:t>cho</a:t>
                      </a:r>
                      <a:r>
                        <a:rPr lang="en-US" sz="2800" dirty="0"/>
                        <a:t> </a:t>
                      </a:r>
                      <a:r>
                        <a:rPr lang="en-US" sz="2800" dirty="0" err="1"/>
                        <a:t>độ</a:t>
                      </a:r>
                      <a:r>
                        <a:rPr lang="en-US" sz="2800" dirty="0"/>
                        <a:t> </a:t>
                      </a:r>
                      <a:r>
                        <a:rPr lang="en-US" sz="2800" dirty="0" err="1"/>
                        <a:t>chính</a:t>
                      </a:r>
                      <a:r>
                        <a:rPr lang="en-US" sz="2800" dirty="0"/>
                        <a:t> </a:t>
                      </a:r>
                      <a:r>
                        <a:rPr lang="en-US" sz="2800" dirty="0" err="1"/>
                        <a:t>xác</a:t>
                      </a:r>
                      <a:r>
                        <a:rPr lang="en-US" sz="2800" dirty="0"/>
                        <a:t> </a:t>
                      </a:r>
                      <a:r>
                        <a:rPr lang="en-US" sz="2800" dirty="0" err="1"/>
                        <a:t>và</a:t>
                      </a:r>
                      <a:r>
                        <a:rPr lang="en-US" sz="2800" dirty="0"/>
                        <a:t> </a:t>
                      </a:r>
                      <a:r>
                        <a:rPr lang="en-US" sz="2800" dirty="0" err="1"/>
                        <a:t>ổn</a:t>
                      </a:r>
                      <a:r>
                        <a:rPr lang="en-US" sz="2800" dirty="0"/>
                        <a:t> </a:t>
                      </a:r>
                      <a:r>
                        <a:rPr lang="en-US" sz="2800" dirty="0" err="1"/>
                        <a:t>định</a:t>
                      </a:r>
                      <a:r>
                        <a:rPr lang="en-US" sz="2800" dirty="0"/>
                        <a:t> </a:t>
                      </a:r>
                      <a:r>
                        <a:rPr lang="en-US" sz="2800" dirty="0" err="1"/>
                        <a:t>cao</a:t>
                      </a:r>
                      <a:r>
                        <a:rPr lang="en-US" sz="2800" dirty="0"/>
                        <a:t> </a:t>
                      </a:r>
                      <a:r>
                        <a:rPr lang="en-US" sz="2800" dirty="0" err="1"/>
                        <a:t>nhất</a:t>
                      </a:r>
                      <a:r>
                        <a:rPr lang="en-US" sz="2800" dirty="0"/>
                        <a:t>.</a:t>
                      </a:r>
                    </a:p>
                    <a:p>
                      <a:pPr algn="ctr" fontAlgn="ctr">
                        <a:buNone/>
                      </a:pPr>
                      <a:endParaRPr lang="vi-VN" sz="2800" b="0" i="0" u="none" strike="noStrike" dirty="0">
                        <a:solidFill>
                          <a:srgbClr val="000000"/>
                        </a:solidFill>
                        <a:effectLst/>
                        <a:latin typeface="+mj-lt"/>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800" b="0" dirty="0"/>
                        <a:t>(Score: 2)</a:t>
                      </a:r>
                      <a:endParaRPr lang="vi-VN" sz="2800" b="0" dirty="0"/>
                    </a:p>
                    <a:p>
                      <a:pPr algn="ctr"/>
                      <a:endParaRPr lang="en-US" sz="2800" b="0" dirty="0"/>
                    </a:p>
                    <a:p>
                      <a:pPr algn="ctr"/>
                      <a:r>
                        <a:rPr lang="en-US" sz="2800" dirty="0"/>
                        <a:t>• </a:t>
                      </a:r>
                      <a:r>
                        <a:rPr lang="en-US" sz="2800" dirty="0" err="1"/>
                        <a:t>Dòng</a:t>
                      </a:r>
                      <a:r>
                        <a:rPr lang="en-US" sz="2800" dirty="0"/>
                        <a:t> vi </a:t>
                      </a:r>
                      <a:r>
                        <a:rPr lang="en-US" sz="2800" dirty="0" err="1"/>
                        <a:t>điều</a:t>
                      </a:r>
                      <a:r>
                        <a:rPr lang="en-US" sz="2800" dirty="0"/>
                        <a:t> </a:t>
                      </a:r>
                      <a:r>
                        <a:rPr lang="en-US" sz="2800" dirty="0" err="1"/>
                        <a:t>khiển</a:t>
                      </a:r>
                      <a:r>
                        <a:rPr lang="en-US" sz="2800" dirty="0"/>
                        <a:t> </a:t>
                      </a:r>
                      <a:r>
                        <a:rPr lang="en-US" sz="2800" dirty="0" err="1"/>
                        <a:t>không</a:t>
                      </a:r>
                      <a:r>
                        <a:rPr lang="en-US" sz="2800" dirty="0"/>
                        <a:t> </a:t>
                      </a:r>
                      <a:r>
                        <a:rPr lang="en-US" sz="2800" dirty="0" err="1"/>
                        <a:t>có</a:t>
                      </a:r>
                      <a:r>
                        <a:rPr lang="en-US" sz="2800" dirty="0"/>
                        <a:t> </a:t>
                      </a:r>
                      <a:r>
                        <a:rPr lang="en-US" sz="2800" dirty="0" err="1"/>
                        <a:t>khả</a:t>
                      </a:r>
                      <a:r>
                        <a:rPr lang="en-US" sz="2800" dirty="0"/>
                        <a:t> </a:t>
                      </a:r>
                      <a:r>
                        <a:rPr lang="en-US" sz="2800" dirty="0" err="1"/>
                        <a:t>năng</a:t>
                      </a:r>
                      <a:r>
                        <a:rPr lang="en-US" sz="2800" dirty="0"/>
                        <a:t> </a:t>
                      </a:r>
                      <a:r>
                        <a:rPr lang="en-US" sz="2800" dirty="0" err="1"/>
                        <a:t>chạy</a:t>
                      </a:r>
                      <a:r>
                        <a:rPr lang="en-US" sz="2800" dirty="0"/>
                        <a:t> </a:t>
                      </a:r>
                      <a:r>
                        <a:rPr lang="en-US" sz="2800" dirty="0" err="1"/>
                        <a:t>các</a:t>
                      </a:r>
                      <a:r>
                        <a:rPr lang="en-US" sz="2800" dirty="0"/>
                        <a:t> </a:t>
                      </a:r>
                      <a:r>
                        <a:rPr lang="en-US" sz="2800" dirty="0" err="1"/>
                        <a:t>mô</a:t>
                      </a:r>
                      <a:r>
                        <a:rPr lang="en-US" sz="2800" dirty="0"/>
                        <a:t> </a:t>
                      </a:r>
                      <a:r>
                        <a:rPr lang="en-US" sz="2800" dirty="0" err="1"/>
                        <a:t>hình</a:t>
                      </a:r>
                      <a:r>
                        <a:rPr lang="en-US" sz="2800" dirty="0"/>
                        <a:t> </a:t>
                      </a:r>
                      <a:r>
                        <a:rPr lang="en-US" sz="2800" dirty="0" err="1"/>
                        <a:t>học</a:t>
                      </a:r>
                      <a:r>
                        <a:rPr lang="en-US" sz="2800" dirty="0"/>
                        <a:t> </a:t>
                      </a:r>
                      <a:r>
                        <a:rPr lang="en-US" sz="2800" dirty="0" err="1"/>
                        <a:t>sâu</a:t>
                      </a:r>
                      <a:r>
                        <a:rPr lang="en-US" sz="2800" dirty="0"/>
                        <a:t> </a:t>
                      </a:r>
                      <a:r>
                        <a:rPr lang="en-US" sz="2800" dirty="0" err="1"/>
                        <a:t>phức</a:t>
                      </a:r>
                      <a:r>
                        <a:rPr lang="en-US" sz="2800" dirty="0"/>
                        <a:t> </a:t>
                      </a:r>
                      <a:r>
                        <a:rPr lang="en-US" sz="2800" dirty="0" err="1"/>
                        <a:t>tạp</a:t>
                      </a:r>
                      <a:r>
                        <a:rPr lang="en-US" sz="2800" dirty="0"/>
                        <a:t> (YOLOv11, AI Agent RAG) </a:t>
                      </a:r>
                      <a:r>
                        <a:rPr lang="en-US" sz="2800" dirty="0" err="1"/>
                        <a:t>trên</a:t>
                      </a:r>
                      <a:r>
                        <a:rPr lang="en-US" sz="2800" dirty="0"/>
                        <a:t> </a:t>
                      </a:r>
                      <a:r>
                        <a:rPr lang="en-US" sz="2800" dirty="0" err="1"/>
                        <a:t>thiết</a:t>
                      </a:r>
                      <a:r>
                        <a:rPr lang="en-US" sz="2800" dirty="0"/>
                        <a:t> </a:t>
                      </a:r>
                      <a:r>
                        <a:rPr lang="en-US" sz="2800" dirty="0" err="1"/>
                        <a:t>bị</a:t>
                      </a:r>
                      <a:r>
                        <a:rPr lang="en-US" sz="2800" dirty="0"/>
                        <a:t> </a:t>
                      </a:r>
                      <a:r>
                        <a:rPr lang="en-US" sz="2800" dirty="0" err="1"/>
                        <a:t>biên</a:t>
                      </a:r>
                      <a:r>
                        <a:rPr lang="en-US" sz="2800" dirty="0"/>
                        <a:t>.</a:t>
                      </a:r>
                    </a:p>
                    <a:p>
                      <a:pPr algn="ctr" fontAlgn="ctr">
                        <a:buNone/>
                      </a:pPr>
                      <a:endParaRPr lang="vi-VN" sz="2800" b="0" i="0" u="none" strike="noStrike" dirty="0">
                        <a:solidFill>
                          <a:srgbClr val="000000"/>
                        </a:solidFill>
                        <a:effectLst/>
                        <a:latin typeface="+mj-lt"/>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86092172"/>
                  </a:ext>
                </a:extLst>
              </a:tr>
              <a:tr h="3711981">
                <a:tc>
                  <a:txBody>
                    <a:bodyPr/>
                    <a:lstStyle/>
                    <a:p>
                      <a:pPr algn="ctr" fontAlgn="ctr">
                        <a:buNone/>
                      </a:pPr>
                      <a:r>
                        <a:rPr lang="vi-VN" sz="2800" b="0" i="0" u="none" strike="noStrike" dirty="0">
                          <a:solidFill>
                            <a:srgbClr val="000000"/>
                          </a:solidFill>
                          <a:effectLst/>
                          <a:latin typeface="+mj-lt"/>
                        </a:rPr>
                        <a:t>Giá thành</a:t>
                      </a: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800" b="0" dirty="0"/>
                        <a:t>(Score: </a:t>
                      </a:r>
                      <a:r>
                        <a:rPr lang="vi-VN" sz="2800" b="0" dirty="0"/>
                        <a:t>8</a:t>
                      </a:r>
                      <a:r>
                        <a:rPr lang="en-US" sz="2800" b="0" dirty="0"/>
                        <a:t>)</a:t>
                      </a:r>
                      <a:br>
                        <a:rPr lang="en-US" sz="2800" b="0" dirty="0"/>
                      </a:br>
                      <a:endParaRPr lang="en-US" sz="2800" b="0" dirty="0"/>
                    </a:p>
                    <a:p>
                      <a:pPr algn="ctr"/>
                      <a:r>
                        <a:rPr lang="en-US" sz="2800" b="0" dirty="0"/>
                        <a:t>• </a:t>
                      </a:r>
                      <a:r>
                        <a:rPr lang="en-US" sz="2800" b="0" dirty="0" err="1"/>
                        <a:t>Chỉ</a:t>
                      </a:r>
                      <a:r>
                        <a:rPr lang="en-US" sz="2800" b="0" dirty="0"/>
                        <a:t> </a:t>
                      </a:r>
                      <a:r>
                        <a:rPr lang="en-US" sz="2800" b="0" dirty="0" err="1"/>
                        <a:t>tốn</a:t>
                      </a:r>
                      <a:r>
                        <a:rPr lang="en-US" sz="2800" b="0" dirty="0"/>
                        <a:t> chi </a:t>
                      </a:r>
                      <a:r>
                        <a:rPr lang="en-US" sz="2800" b="0" dirty="0" err="1"/>
                        <a:t>phí</a:t>
                      </a:r>
                      <a:r>
                        <a:rPr lang="en-US" sz="2800" b="0" dirty="0"/>
                        <a:t> </a:t>
                      </a:r>
                      <a:r>
                        <a:rPr lang="en-US" sz="2800" b="0" dirty="0" err="1"/>
                        <a:t>mua</a:t>
                      </a:r>
                      <a:r>
                        <a:rPr lang="en-US" sz="2800" b="0" dirty="0"/>
                        <a:t> </a:t>
                      </a:r>
                      <a:r>
                        <a:rPr lang="en-US" sz="2800" b="0" dirty="0" err="1"/>
                        <a:t>một</a:t>
                      </a:r>
                      <a:r>
                        <a:rPr lang="en-US" sz="2800" b="0" dirty="0"/>
                        <a:t> </a:t>
                      </a:r>
                      <a:r>
                        <a:rPr lang="en-US" sz="2800" b="0" dirty="0" err="1"/>
                        <a:t>bo</a:t>
                      </a:r>
                      <a:r>
                        <a:rPr lang="en-US" sz="2800" b="0" dirty="0"/>
                        <a:t> </a:t>
                      </a:r>
                      <a:r>
                        <a:rPr lang="en-US" sz="2800" b="0" dirty="0" err="1"/>
                        <a:t>mạch</a:t>
                      </a:r>
                      <a:r>
                        <a:rPr lang="en-US" sz="2800" b="0" dirty="0"/>
                        <a:t> </a:t>
                      </a:r>
                      <a:r>
                        <a:rPr lang="en-US" sz="2800" b="0" dirty="0" err="1"/>
                        <a:t>xử</a:t>
                      </a:r>
                      <a:r>
                        <a:rPr lang="en-US" sz="2800" b="0" dirty="0"/>
                        <a:t> </a:t>
                      </a:r>
                      <a:r>
                        <a:rPr lang="en-US" sz="2800" b="0" dirty="0" err="1"/>
                        <a:t>lý</a:t>
                      </a:r>
                      <a:r>
                        <a:rPr lang="en-US" sz="2800" b="0" dirty="0"/>
                        <a:t> </a:t>
                      </a:r>
                      <a:r>
                        <a:rPr lang="en-US" sz="2800" b="0" dirty="0" err="1"/>
                        <a:t>trung</a:t>
                      </a:r>
                      <a:r>
                        <a:rPr lang="en-US" sz="2800" b="0" dirty="0"/>
                        <a:t> </a:t>
                      </a:r>
                      <a:r>
                        <a:rPr lang="en-US" sz="2800" b="0" dirty="0" err="1"/>
                        <a:t>tâm</a:t>
                      </a:r>
                      <a:r>
                        <a:rPr lang="en-US" sz="2800" b="0" dirty="0"/>
                        <a:t> </a:t>
                      </a:r>
                      <a:r>
                        <a:rPr lang="en-US" sz="2800" b="0" dirty="0" err="1"/>
                        <a:t>là</a:t>
                      </a:r>
                      <a:r>
                        <a:rPr lang="en-US" sz="2800" b="0" dirty="0"/>
                        <a:t> Raspberry Pi 5.</a:t>
                      </a:r>
                    </a:p>
                    <a:p>
                      <a:pPr algn="ctr" fontAlgn="ctr">
                        <a:buNone/>
                      </a:pPr>
                      <a:endParaRPr lang="vi-VN" sz="2800" b="0" i="0" u="none" strike="noStrike" dirty="0">
                        <a:solidFill>
                          <a:srgbClr val="000000"/>
                        </a:solidFill>
                        <a:effectLst/>
                        <a:latin typeface="+mj-lt"/>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800" b="0" dirty="0"/>
                        <a:t>(Score: 7)</a:t>
                      </a:r>
                      <a:endParaRPr lang="vi-VN" sz="2800" b="0" dirty="0"/>
                    </a:p>
                    <a:p>
                      <a:pPr algn="ctr"/>
                      <a:endParaRPr lang="en-US" sz="2800" b="0" dirty="0"/>
                    </a:p>
                    <a:p>
                      <a:pPr algn="ctr"/>
                      <a:r>
                        <a:rPr lang="en-US" sz="2800" dirty="0"/>
                        <a:t>• Mua </a:t>
                      </a:r>
                      <a:r>
                        <a:rPr lang="en-US" sz="2800" dirty="0" err="1"/>
                        <a:t>thêm</a:t>
                      </a:r>
                      <a:r>
                        <a:rPr lang="en-US" sz="2800" dirty="0"/>
                        <a:t> ESP32-S3 </a:t>
                      </a:r>
                      <a:r>
                        <a:rPr lang="en-US" sz="2800" dirty="0" err="1"/>
                        <a:t>tốn</a:t>
                      </a:r>
                      <a:r>
                        <a:rPr lang="en-US" sz="2800" dirty="0"/>
                        <a:t> </a:t>
                      </a:r>
                      <a:r>
                        <a:rPr lang="en-US" sz="2800" dirty="0" err="1"/>
                        <a:t>thêm</a:t>
                      </a:r>
                      <a:r>
                        <a:rPr lang="en-US" sz="2800" dirty="0"/>
                        <a:t> </a:t>
                      </a:r>
                      <a:r>
                        <a:rPr lang="en-US" sz="2800" dirty="0" err="1"/>
                        <a:t>một</a:t>
                      </a:r>
                      <a:r>
                        <a:rPr lang="en-US" sz="2800" dirty="0"/>
                        <a:t> </a:t>
                      </a:r>
                      <a:r>
                        <a:rPr lang="en-US" sz="2800" dirty="0" err="1"/>
                        <a:t>chút</a:t>
                      </a:r>
                      <a:r>
                        <a:rPr lang="en-US" sz="2800" dirty="0"/>
                        <a:t> chi </a:t>
                      </a:r>
                      <a:r>
                        <a:rPr lang="en-US" sz="2800" dirty="0" err="1"/>
                        <a:t>phí</a:t>
                      </a:r>
                      <a:r>
                        <a:rPr lang="en-US" sz="2800" dirty="0"/>
                        <a:t>, </a:t>
                      </a:r>
                      <a:r>
                        <a:rPr lang="en-US" sz="2800" dirty="0" err="1"/>
                        <a:t>nhưng</a:t>
                      </a:r>
                      <a:r>
                        <a:rPr lang="en-US" sz="2800" dirty="0"/>
                        <a:t> </a:t>
                      </a:r>
                      <a:r>
                        <a:rPr lang="en-US" sz="2800" dirty="0" err="1"/>
                        <a:t>tổng</a:t>
                      </a:r>
                      <a:r>
                        <a:rPr lang="en-US" sz="2800" dirty="0"/>
                        <a:t> </a:t>
                      </a:r>
                      <a:r>
                        <a:rPr lang="en-US" sz="2800" dirty="0" err="1"/>
                        <a:t>giá</a:t>
                      </a:r>
                      <a:r>
                        <a:rPr lang="en-US" sz="2800" dirty="0"/>
                        <a:t> </a:t>
                      </a:r>
                      <a:r>
                        <a:rPr lang="en-US" sz="2800" dirty="0" err="1"/>
                        <a:t>thành</a:t>
                      </a:r>
                      <a:r>
                        <a:rPr lang="en-US" sz="2800" dirty="0"/>
                        <a:t> </a:t>
                      </a:r>
                      <a:r>
                        <a:rPr lang="en-US" sz="2800" dirty="0" err="1"/>
                        <a:t>phần</a:t>
                      </a:r>
                      <a:r>
                        <a:rPr lang="en-US" sz="2800" dirty="0"/>
                        <a:t> </a:t>
                      </a:r>
                      <a:r>
                        <a:rPr lang="en-US" sz="2800" dirty="0" err="1"/>
                        <a:t>cứng</a:t>
                      </a:r>
                      <a:r>
                        <a:rPr lang="en-US" sz="2800" dirty="0"/>
                        <a:t> </a:t>
                      </a:r>
                      <a:r>
                        <a:rPr lang="en-US" sz="2800" dirty="0" err="1"/>
                        <a:t>vẫn</a:t>
                      </a:r>
                      <a:r>
                        <a:rPr lang="en-US" sz="2800" dirty="0"/>
                        <a:t> ở </a:t>
                      </a:r>
                      <a:r>
                        <a:rPr lang="en-US" sz="2800" dirty="0" err="1"/>
                        <a:t>mức</a:t>
                      </a:r>
                      <a:r>
                        <a:rPr lang="en-US" sz="2800" dirty="0"/>
                        <a:t> </a:t>
                      </a:r>
                      <a:r>
                        <a:rPr lang="en-US" sz="2800" dirty="0" err="1"/>
                        <a:t>tương</a:t>
                      </a:r>
                      <a:r>
                        <a:rPr lang="en-US" sz="2800" dirty="0"/>
                        <a:t> </a:t>
                      </a:r>
                      <a:r>
                        <a:rPr lang="en-US" sz="2800" dirty="0" err="1"/>
                        <a:t>đương</a:t>
                      </a:r>
                      <a:r>
                        <a:rPr lang="en-US" sz="2800" dirty="0"/>
                        <a:t> </a:t>
                      </a:r>
                      <a:r>
                        <a:rPr lang="en-US" sz="2800" dirty="0" err="1"/>
                        <a:t>và</a:t>
                      </a:r>
                      <a:r>
                        <a:rPr lang="en-US" sz="2800" dirty="0"/>
                        <a:t> </a:t>
                      </a:r>
                      <a:r>
                        <a:rPr lang="en-US" sz="2800" dirty="0" err="1"/>
                        <a:t>rất</a:t>
                      </a:r>
                      <a:r>
                        <a:rPr lang="en-US" sz="2800" dirty="0"/>
                        <a:t> </a:t>
                      </a:r>
                      <a:r>
                        <a:rPr lang="en-US" sz="2800" dirty="0" err="1"/>
                        <a:t>tối</a:t>
                      </a:r>
                      <a:r>
                        <a:rPr lang="en-US" sz="2800" dirty="0"/>
                        <a:t> </a:t>
                      </a:r>
                      <a:r>
                        <a:rPr lang="en-US" sz="2800" dirty="0" err="1"/>
                        <a:t>ưu</a:t>
                      </a:r>
                      <a:r>
                        <a:rPr lang="en-US" sz="2800" dirty="0"/>
                        <a:t> (</a:t>
                      </a:r>
                      <a:r>
                        <a:rPr lang="en-US" sz="2800" dirty="0" err="1"/>
                        <a:t>đều</a:t>
                      </a:r>
                      <a:r>
                        <a:rPr lang="en-US" sz="2800" dirty="0"/>
                        <a:t> </a:t>
                      </a:r>
                      <a:r>
                        <a:rPr lang="en-US" sz="2800" dirty="0" err="1"/>
                        <a:t>cho</a:t>
                      </a:r>
                      <a:r>
                        <a:rPr lang="en-US" sz="2800" dirty="0"/>
                        <a:t> </a:t>
                      </a:r>
                      <a:r>
                        <a:rPr lang="en-US" sz="2800" dirty="0" err="1"/>
                        <a:t>điểm</a:t>
                      </a:r>
                      <a:r>
                        <a:rPr lang="en-US" sz="2800" dirty="0"/>
                        <a:t> 7).</a:t>
                      </a:r>
                    </a:p>
                    <a:p>
                      <a:pPr algn="ctr" fontAlgn="ctr">
                        <a:buNone/>
                      </a:pPr>
                      <a:br>
                        <a:rPr lang="vi-VN" sz="2800" u="none" strike="noStrike" dirty="0">
                          <a:effectLst/>
                          <a:latin typeface="+mj-lt"/>
                        </a:rPr>
                      </a:br>
                      <a:endParaRPr lang="vi-VN" sz="2800" b="0" i="0" u="none" strike="noStrike" dirty="0">
                        <a:solidFill>
                          <a:srgbClr val="000000"/>
                        </a:solidFill>
                        <a:effectLst/>
                        <a:latin typeface="+mj-lt"/>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800" dirty="0"/>
                        <a:t>(Score: 9)</a:t>
                      </a:r>
                      <a:br>
                        <a:rPr lang="en-US" sz="2800" dirty="0"/>
                      </a:br>
                      <a:endParaRPr lang="en-US" sz="2800" dirty="0"/>
                    </a:p>
                    <a:p>
                      <a:pPr algn="ctr"/>
                      <a:r>
                        <a:rPr lang="en-US" sz="2800" dirty="0"/>
                        <a:t>• </a:t>
                      </a:r>
                      <a:r>
                        <a:rPr lang="en-US" sz="2800" dirty="0" err="1"/>
                        <a:t>Mạch</a:t>
                      </a:r>
                      <a:r>
                        <a:rPr lang="en-US" sz="2800" dirty="0"/>
                        <a:t> ESP32 </a:t>
                      </a:r>
                      <a:r>
                        <a:rPr lang="en-US" sz="2800" dirty="0" err="1"/>
                        <a:t>cực</a:t>
                      </a:r>
                      <a:r>
                        <a:rPr lang="en-US" sz="2800" dirty="0"/>
                        <a:t> </a:t>
                      </a:r>
                      <a:r>
                        <a:rPr lang="en-US" sz="2800" dirty="0" err="1"/>
                        <a:t>kỳ</a:t>
                      </a:r>
                      <a:r>
                        <a:rPr lang="en-US" sz="2800" dirty="0"/>
                        <a:t> </a:t>
                      </a:r>
                      <a:r>
                        <a:rPr lang="en-US" sz="2800" dirty="0" err="1"/>
                        <a:t>rẻ</a:t>
                      </a:r>
                      <a:r>
                        <a:rPr lang="en-US" sz="2800" dirty="0"/>
                        <a:t>, </a:t>
                      </a:r>
                      <a:r>
                        <a:rPr lang="en-US" sz="2800" dirty="0" err="1"/>
                        <a:t>tối</a:t>
                      </a:r>
                      <a:r>
                        <a:rPr lang="en-US" sz="2800" dirty="0"/>
                        <a:t> </a:t>
                      </a:r>
                      <a:r>
                        <a:rPr lang="en-US" sz="2800" dirty="0" err="1"/>
                        <a:t>ưu</a:t>
                      </a:r>
                      <a:r>
                        <a:rPr lang="en-US" sz="2800" dirty="0"/>
                        <a:t> </a:t>
                      </a:r>
                      <a:r>
                        <a:rPr lang="en-US" sz="2800" dirty="0" err="1"/>
                        <a:t>tuyệt</a:t>
                      </a:r>
                      <a:r>
                        <a:rPr lang="en-US" sz="2800" dirty="0"/>
                        <a:t> </a:t>
                      </a:r>
                      <a:r>
                        <a:rPr lang="en-US" sz="2800" dirty="0" err="1"/>
                        <a:t>đối</a:t>
                      </a:r>
                      <a:r>
                        <a:rPr lang="en-US" sz="2800" dirty="0"/>
                        <a:t> </a:t>
                      </a:r>
                      <a:r>
                        <a:rPr lang="en-US" sz="2800" dirty="0" err="1"/>
                        <a:t>về</a:t>
                      </a:r>
                      <a:r>
                        <a:rPr lang="en-US" sz="2800" dirty="0"/>
                        <a:t> </a:t>
                      </a:r>
                      <a:r>
                        <a:rPr lang="en-US" sz="2800" dirty="0" err="1"/>
                        <a:t>mặt</a:t>
                      </a:r>
                      <a:r>
                        <a:rPr lang="en-US" sz="2800" dirty="0"/>
                        <a:t> chi </a:t>
                      </a:r>
                      <a:r>
                        <a:rPr lang="en-US" sz="2800" dirty="0" err="1"/>
                        <a:t>phí</a:t>
                      </a:r>
                      <a:r>
                        <a:rPr lang="en-US" sz="2800" dirty="0"/>
                        <a:t> </a:t>
                      </a:r>
                      <a:r>
                        <a:rPr lang="en-US" sz="2800" dirty="0" err="1"/>
                        <a:t>đầu</a:t>
                      </a:r>
                      <a:r>
                        <a:rPr lang="en-US" sz="2800" dirty="0"/>
                        <a:t> </a:t>
                      </a:r>
                      <a:r>
                        <a:rPr lang="en-US" sz="2800" dirty="0" err="1"/>
                        <a:t>tư</a:t>
                      </a:r>
                      <a:r>
                        <a:rPr lang="en-US" sz="2800" dirty="0"/>
                        <a:t>.</a:t>
                      </a:r>
                    </a:p>
                    <a:p>
                      <a:pPr algn="ctr" fontAlgn="ctr">
                        <a:buNone/>
                      </a:pPr>
                      <a:endParaRPr lang="vi-VN" sz="2800" b="0" i="0" u="none" strike="noStrike" dirty="0">
                        <a:solidFill>
                          <a:srgbClr val="000000"/>
                        </a:solidFill>
                        <a:effectLst/>
                        <a:latin typeface="+mj-lt"/>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64719401"/>
                  </a:ext>
                </a:extLst>
              </a:tr>
            </a:tbl>
          </a:graphicData>
        </a:graphic>
      </p:graphicFrame>
    </p:spTree>
    <p:extLst>
      <p:ext uri="{BB962C8B-B14F-4D97-AF65-F5344CB8AC3E}">
        <p14:creationId xmlns:p14="http://schemas.microsoft.com/office/powerpoint/2010/main" val="3805804057"/>
      </p:ext>
    </p:extLst>
  </p:cSld>
  <p:clrMapOvr>
    <a:masterClrMapping/>
  </p:clrMapOvr>
  <mc:AlternateContent xmlns:mc="http://schemas.openxmlformats.org/markup-compatibility/2006" xmlns:p159="http://schemas.microsoft.com/office/powerpoint/2015/09/main">
    <mc:Choice Requires="p159">
      <p:transition>
        <p:fade/>
      </p:transition>
    </mc:Choice>
    <mc:Fallback xmlns="" xmlns:m="http://schemas.openxmlformats.org/officeDocument/2006/math" xmlns:w="http://schemas.openxmlformats.org/wordprocessingml/2006/main">
      <p:transition spd="fast" advClick="1">
        <p:fade thruBlk="0"/>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6A50498E-8E09-AA15-1710-3F129DF08353}"/>
            </a:ext>
          </a:extLst>
        </p:cNvPr>
        <p:cNvGrpSpPr/>
        <p:nvPr/>
      </p:nvGrpSpPr>
      <p:grpSpPr bwMode="auto">
        <a:xfrm>
          <a:off x="0" y="0"/>
          <a:ext cx="0" cy="0"/>
          <a:chOff x="0" y="0"/>
          <a:chExt cx="0" cy="0"/>
        </a:xfrm>
      </p:grpSpPr>
      <p:grpSp>
        <p:nvGrpSpPr>
          <p:cNvPr id="454109980" name="Group 2">
            <a:extLst>
              <a:ext uri="{FF2B5EF4-FFF2-40B4-BE49-F238E27FC236}">
                <a16:creationId xmlns:a16="http://schemas.microsoft.com/office/drawing/2014/main" id="{50430A78-0F85-A740-1D55-B1A42F15D03E}"/>
              </a:ext>
            </a:extLst>
          </p:cNvPr>
          <p:cNvGrpSpPr/>
          <p:nvPr/>
        </p:nvGrpSpPr>
        <p:grpSpPr bwMode="auto">
          <a:xfrm>
            <a:off x="-2209799" y="35642"/>
            <a:ext cx="11111447" cy="2051022"/>
            <a:chOff x="-1833152" y="-104877"/>
            <a:chExt cx="8970826" cy="2734696"/>
          </a:xfrm>
        </p:grpSpPr>
        <p:sp>
          <p:nvSpPr>
            <p:cNvPr id="3" name="Freeform 3">
              <a:extLst>
                <a:ext uri="{FF2B5EF4-FFF2-40B4-BE49-F238E27FC236}">
                  <a16:creationId xmlns:a16="http://schemas.microsoft.com/office/drawing/2014/main" id="{50E82749-AA06-3867-C5EA-07671F73190C}"/>
                </a:ext>
              </a:extLst>
            </p:cNvPr>
            <p:cNvSpPr/>
            <p:nvPr/>
          </p:nvSpPr>
          <p:spPr bwMode="auto">
            <a:xfrm>
              <a:off x="-1833152" y="-104877"/>
              <a:ext cx="8294106" cy="1794555"/>
            </a:xfrm>
            <a:custGeom>
              <a:avLst/>
              <a:gdLst/>
              <a:ahLst/>
              <a:cxnLst/>
              <a:rect l="l" t="t" r="r" b="b"/>
              <a:pathLst>
                <a:path w="8294107" h="1794553" extrusionOk="0">
                  <a:moveTo>
                    <a:pt x="0" y="0"/>
                  </a:moveTo>
                  <a:lnTo>
                    <a:pt x="8294107" y="0"/>
                  </a:lnTo>
                  <a:lnTo>
                    <a:pt x="8294107" y="1794553"/>
                  </a:lnTo>
                  <a:lnTo>
                    <a:pt x="0" y="1794553"/>
                  </a:lnTo>
                  <a:close/>
                </a:path>
              </a:pathLst>
            </a:custGeom>
            <a:blipFill rotWithShape="1">
              <a:blip r:embed="rId3">
                <a:alphaModFix amt="0"/>
              </a:blip>
              <a:stretch>
                <a:fillRect t="-180534" r="-153567" b="-176173"/>
              </a:stretch>
            </a:blipFill>
          </p:spPr>
          <p:txBody>
            <a:bodyPr anchor="ctr"/>
            <a:lstStyle/>
            <a:p>
              <a:pPr algn="ctr">
                <a:defRPr/>
              </a:pPr>
              <a:r>
                <a:rPr lang="vi-VN" dirty="0">
                  <a:latin typeface="Times New Roman"/>
                  <a:cs typeface="Times New Roman"/>
                </a:rPr>
                <a:t> </a:t>
              </a:r>
              <a:endParaRPr dirty="0">
                <a:latin typeface="Times New Roman"/>
                <a:cs typeface="Times New Roman"/>
              </a:endParaRPr>
            </a:p>
          </p:txBody>
        </p:sp>
        <p:sp>
          <p:nvSpPr>
            <p:cNvPr id="4" name="TextBox 4">
              <a:extLst>
                <a:ext uri="{FF2B5EF4-FFF2-40B4-BE49-F238E27FC236}">
                  <a16:creationId xmlns:a16="http://schemas.microsoft.com/office/drawing/2014/main" id="{23F68500-06D3-A28F-E0FC-61B66901FBEB}"/>
                </a:ext>
              </a:extLst>
            </p:cNvPr>
            <p:cNvSpPr txBox="1"/>
            <p:nvPr/>
          </p:nvSpPr>
          <p:spPr bwMode="auto">
            <a:xfrm>
              <a:off x="-1156432" y="749535"/>
              <a:ext cx="8294106" cy="1880284"/>
            </a:xfrm>
            <a:prstGeom prst="rect">
              <a:avLst/>
            </a:prstGeom>
            <a:grpFill/>
          </p:spPr>
          <p:txBody>
            <a:bodyPr lIns="0" tIns="0" rIns="0" bIns="0" rtlCol="0" anchor="ctr"/>
            <a:lstStyle/>
            <a:p>
              <a:pPr algn="ctr">
                <a:lnSpc>
                  <a:spcPts val="7038"/>
                </a:lnSpc>
                <a:defRPr/>
              </a:pPr>
              <a:r>
                <a:rPr lang="vi-VN" sz="5100" b="1" dirty="0" err="1">
                  <a:solidFill>
                    <a:srgbClr val="153898"/>
                  </a:solidFill>
                  <a:latin typeface="Times New Roman"/>
                  <a:ea typeface="Times New Roman"/>
                  <a:cs typeface="Times New Roman"/>
                </a:rPr>
                <a:t>Decision</a:t>
              </a:r>
              <a:r>
                <a:rPr lang="vi-VN" sz="5100" b="1" dirty="0">
                  <a:solidFill>
                    <a:srgbClr val="153898"/>
                  </a:solidFill>
                  <a:latin typeface="Times New Roman"/>
                  <a:ea typeface="Times New Roman"/>
                  <a:cs typeface="Times New Roman"/>
                </a:rPr>
                <a:t> </a:t>
              </a:r>
              <a:r>
                <a:rPr lang="vi-VN" sz="5100" b="1" dirty="0" err="1">
                  <a:solidFill>
                    <a:srgbClr val="153898"/>
                  </a:solidFill>
                  <a:latin typeface="Times New Roman"/>
                  <a:ea typeface="Times New Roman"/>
                  <a:cs typeface="Times New Roman"/>
                </a:rPr>
                <a:t>Matrix</a:t>
              </a:r>
              <a:endParaRPr lang="vi-VN" sz="5100" b="1" dirty="0">
                <a:solidFill>
                  <a:srgbClr val="153898"/>
                </a:solidFill>
                <a:latin typeface="Times New Roman"/>
                <a:ea typeface="Times New Roman"/>
                <a:cs typeface="Times New Roman"/>
              </a:endParaRPr>
            </a:p>
            <a:p>
              <a:pPr algn="ctr">
                <a:lnSpc>
                  <a:spcPts val="7038"/>
                </a:lnSpc>
                <a:defRPr/>
              </a:pPr>
              <a:endParaRPr lang="en-US" dirty="0">
                <a:latin typeface="Times New Roman"/>
                <a:cs typeface="Times New Roman"/>
              </a:endParaRPr>
            </a:p>
          </p:txBody>
        </p:sp>
      </p:grpSp>
      <p:graphicFrame>
        <p:nvGraphicFramePr>
          <p:cNvPr id="8" name="Table 7">
            <a:extLst>
              <a:ext uri="{FF2B5EF4-FFF2-40B4-BE49-F238E27FC236}">
                <a16:creationId xmlns:a16="http://schemas.microsoft.com/office/drawing/2014/main" id="{4E7C479F-1A4D-5296-5267-EE70DA0AE8AE}"/>
              </a:ext>
            </a:extLst>
          </p:cNvPr>
          <p:cNvGraphicFramePr>
            <a:graphicFrameLocks noGrp="1"/>
          </p:cNvGraphicFramePr>
          <p:nvPr>
            <p:extLst>
              <p:ext uri="{D42A27DB-BD31-4B8C-83A1-F6EECF244321}">
                <p14:modId xmlns:p14="http://schemas.microsoft.com/office/powerpoint/2010/main" val="3655803197"/>
              </p:ext>
            </p:extLst>
          </p:nvPr>
        </p:nvGraphicFramePr>
        <p:xfrm>
          <a:off x="457200" y="1600200"/>
          <a:ext cx="17373600" cy="8264242"/>
        </p:xfrm>
        <a:graphic>
          <a:graphicData uri="http://schemas.openxmlformats.org/drawingml/2006/table">
            <a:tbl>
              <a:tblPr>
                <a:tableStyleId>{5C22544A-7EE6-4342-B048-85BDC9FD1C3A}</a:tableStyleId>
              </a:tblPr>
              <a:tblGrid>
                <a:gridCol w="1835060">
                  <a:extLst>
                    <a:ext uri="{9D8B030D-6E8A-4147-A177-3AD203B41FA5}">
                      <a16:colId xmlns:a16="http://schemas.microsoft.com/office/drawing/2014/main" val="4016398995"/>
                    </a:ext>
                  </a:extLst>
                </a:gridCol>
                <a:gridCol w="4560441">
                  <a:extLst>
                    <a:ext uri="{9D8B030D-6E8A-4147-A177-3AD203B41FA5}">
                      <a16:colId xmlns:a16="http://schemas.microsoft.com/office/drawing/2014/main" val="165154099"/>
                    </a:ext>
                  </a:extLst>
                </a:gridCol>
                <a:gridCol w="5765579">
                  <a:extLst>
                    <a:ext uri="{9D8B030D-6E8A-4147-A177-3AD203B41FA5}">
                      <a16:colId xmlns:a16="http://schemas.microsoft.com/office/drawing/2014/main" val="1854178002"/>
                    </a:ext>
                  </a:extLst>
                </a:gridCol>
                <a:gridCol w="5212520">
                  <a:extLst>
                    <a:ext uri="{9D8B030D-6E8A-4147-A177-3AD203B41FA5}">
                      <a16:colId xmlns:a16="http://schemas.microsoft.com/office/drawing/2014/main" val="3287107014"/>
                    </a:ext>
                  </a:extLst>
                </a:gridCol>
              </a:tblGrid>
              <a:tr h="1132955">
                <a:tc>
                  <a:txBody>
                    <a:bodyPr/>
                    <a:lstStyle/>
                    <a:p>
                      <a:pPr algn="ctr" fontAlgn="ctr">
                        <a:buNone/>
                      </a:pPr>
                      <a:r>
                        <a:rPr lang="en-US" sz="2800" b="1" u="none" strike="noStrike" dirty="0" err="1">
                          <a:effectLst/>
                          <a:latin typeface="+mj-lt"/>
                        </a:rPr>
                        <a:t>Tiêu</a:t>
                      </a:r>
                      <a:r>
                        <a:rPr lang="en-US" sz="2800" b="1" u="none" strike="noStrike" dirty="0">
                          <a:effectLst/>
                          <a:latin typeface="+mj-lt"/>
                        </a:rPr>
                        <a:t> </a:t>
                      </a:r>
                      <a:r>
                        <a:rPr lang="en-US" sz="2800" b="1" u="none" strike="noStrike" dirty="0" err="1">
                          <a:effectLst/>
                          <a:latin typeface="+mj-lt"/>
                        </a:rPr>
                        <a:t>chí</a:t>
                      </a:r>
                      <a:endParaRPr lang="vi-VN" sz="2800" b="1" i="0" u="none" strike="noStrike" dirty="0">
                        <a:solidFill>
                          <a:srgbClr val="000000"/>
                        </a:solidFill>
                        <a:effectLst/>
                        <a:latin typeface="+mj-lt"/>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vi-VN" sz="2800" b="1" u="none" strike="noStrike" dirty="0">
                          <a:effectLst/>
                          <a:latin typeface="+mj-lt"/>
                        </a:rPr>
                        <a:t>Thiết kế 1: </a:t>
                      </a:r>
                      <a:r>
                        <a:rPr lang="vi-VN" sz="2800" b="1" u="none" strike="noStrike" dirty="0" err="1">
                          <a:effectLst/>
                          <a:latin typeface="+mj-lt"/>
                        </a:rPr>
                        <a:t>Pi</a:t>
                      </a:r>
                      <a:r>
                        <a:rPr lang="vi-VN" sz="2800" b="1" u="none" strike="noStrike" dirty="0">
                          <a:effectLst/>
                          <a:latin typeface="+mj-lt"/>
                        </a:rPr>
                        <a:t> 5 Đơn lẻ</a:t>
                      </a:r>
                      <a:br>
                        <a:rPr lang="en-US" sz="2800" b="1" u="none" strike="noStrike" dirty="0">
                          <a:effectLst/>
                          <a:latin typeface="+mj-lt"/>
                        </a:rPr>
                      </a:br>
                      <a:r>
                        <a:rPr lang="vi-VN" sz="2800" b="1" u="none" strike="noStrike" dirty="0">
                          <a:effectLst/>
                          <a:latin typeface="+mj-lt"/>
                        </a:rPr>
                        <a:t> (SCORE 8,8,6,9)</a:t>
                      </a:r>
                      <a:endParaRPr lang="vi-VN" sz="2800" b="1" i="0" u="none" strike="noStrike" dirty="0">
                        <a:solidFill>
                          <a:srgbClr val="000000"/>
                        </a:solidFill>
                        <a:effectLst/>
                        <a:latin typeface="+mj-lt"/>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vi-VN" sz="2800" b="1" u="none" strike="noStrike" dirty="0">
                          <a:effectLst/>
                          <a:latin typeface="+mj-lt"/>
                        </a:rPr>
                        <a:t>Thiết kế 2: </a:t>
                      </a:r>
                      <a:r>
                        <a:rPr lang="vi-VN" sz="2800" b="1" i="0" u="none" strike="noStrike" dirty="0">
                          <a:solidFill>
                            <a:srgbClr val="000000"/>
                          </a:solidFill>
                          <a:effectLst/>
                          <a:latin typeface="Times New Roman" panose="02020603050405020304" pitchFamily="18" charset="0"/>
                          <a:cs typeface="Times New Roman" panose="02020603050405020304" pitchFamily="18" charset="0"/>
                        </a:rPr>
                        <a:t>Pi5 + ESP32-S3</a:t>
                      </a:r>
                      <a:br>
                        <a:rPr lang="en-US" sz="2800" b="1" u="none" strike="noStrike" dirty="0">
                          <a:effectLst/>
                          <a:latin typeface="+mj-lt"/>
                        </a:rPr>
                      </a:br>
                      <a:r>
                        <a:rPr lang="vi-VN" sz="2800" b="1" u="none" strike="noStrike" dirty="0">
                          <a:effectLst/>
                          <a:latin typeface="+mj-lt"/>
                        </a:rPr>
                        <a:t>(SCORE 9,7,9,9)</a:t>
                      </a:r>
                      <a:endParaRPr lang="vi-VN" sz="2800" b="1" i="0" u="none" strike="noStrike" dirty="0">
                        <a:solidFill>
                          <a:srgbClr val="000000"/>
                        </a:solidFill>
                        <a:effectLst/>
                        <a:latin typeface="+mj-lt"/>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vi-VN" sz="2800" b="1" u="none" strike="noStrike" dirty="0">
                          <a:effectLst/>
                          <a:latin typeface="+mj-lt"/>
                        </a:rPr>
                        <a:t>Thiết kế 3: </a:t>
                      </a:r>
                      <a:r>
                        <a:rPr lang="vi-VN" sz="2800" b="1" i="0" u="none" strike="noStrike" dirty="0">
                          <a:solidFill>
                            <a:srgbClr val="000000"/>
                          </a:solidFill>
                          <a:effectLst/>
                          <a:latin typeface="Times New Roman" panose="02020603050405020304" pitchFamily="18" charset="0"/>
                          <a:cs typeface="Times New Roman" panose="02020603050405020304" pitchFamily="18" charset="0"/>
                        </a:rPr>
                        <a:t>ESP32-S3 + CAM</a:t>
                      </a:r>
                      <a:br>
                        <a:rPr lang="en-US" sz="2800" b="1" u="none" strike="noStrike" dirty="0">
                          <a:effectLst/>
                          <a:latin typeface="+mj-lt"/>
                        </a:rPr>
                      </a:br>
                      <a:r>
                        <a:rPr lang="vi-VN" sz="2800" b="1" u="none" strike="noStrike" dirty="0">
                          <a:effectLst/>
                          <a:latin typeface="+mj-lt"/>
                        </a:rPr>
                        <a:t> (SCORE 2,9,7,3)</a:t>
                      </a:r>
                      <a:endParaRPr lang="vi-VN" sz="2800" b="1" i="0" u="none" strike="noStrike" dirty="0">
                        <a:solidFill>
                          <a:srgbClr val="000000"/>
                        </a:solidFill>
                        <a:effectLst/>
                        <a:latin typeface="+mj-lt"/>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5133813"/>
                  </a:ext>
                </a:extLst>
              </a:tr>
              <a:tr h="3184638">
                <a:tc>
                  <a:txBody>
                    <a:bodyPr/>
                    <a:lstStyle/>
                    <a:p>
                      <a:pPr algn="ctr" fontAlgn="ctr">
                        <a:buNone/>
                      </a:pPr>
                      <a:r>
                        <a:rPr lang="vi-VN" sz="2800" u="none" strike="noStrike" dirty="0">
                          <a:effectLst/>
                          <a:latin typeface="+mj-lt"/>
                        </a:rPr>
                        <a:t>Tốc độ xử lý &amp; phản hồi</a:t>
                      </a:r>
                      <a:endParaRPr lang="vi-VN" sz="2800" b="1" i="0" u="none" strike="noStrike" dirty="0">
                        <a:solidFill>
                          <a:srgbClr val="000000"/>
                        </a:solidFill>
                        <a:effectLst/>
                        <a:latin typeface="+mj-lt"/>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800" dirty="0"/>
                        <a:t>(Score: 6)</a:t>
                      </a:r>
                    </a:p>
                    <a:p>
                      <a:pPr algn="ctr"/>
                      <a:r>
                        <a:rPr lang="en-US" sz="2800" dirty="0"/>
                        <a:t>• </a:t>
                      </a:r>
                      <a:r>
                        <a:rPr lang="en-US" sz="2800" dirty="0" err="1"/>
                        <a:t>Rất</a:t>
                      </a:r>
                      <a:r>
                        <a:rPr lang="en-US" sz="2800" dirty="0"/>
                        <a:t> </a:t>
                      </a:r>
                      <a:r>
                        <a:rPr lang="en-US" sz="2800" dirty="0" err="1"/>
                        <a:t>dễ</a:t>
                      </a:r>
                      <a:r>
                        <a:rPr lang="en-US" sz="2800" dirty="0"/>
                        <a:t> </a:t>
                      </a:r>
                      <a:r>
                        <a:rPr lang="en-US" sz="2800" dirty="0" err="1"/>
                        <a:t>phát</a:t>
                      </a:r>
                      <a:r>
                        <a:rPr lang="en-US" sz="2800" dirty="0"/>
                        <a:t> </a:t>
                      </a:r>
                      <a:r>
                        <a:rPr lang="en-US" sz="2800" dirty="0" err="1"/>
                        <a:t>sinh</a:t>
                      </a:r>
                      <a:r>
                        <a:rPr lang="en-US" sz="2800" dirty="0"/>
                        <a:t> </a:t>
                      </a:r>
                      <a:r>
                        <a:rPr lang="en-US" sz="2800" dirty="0" err="1"/>
                        <a:t>độ</a:t>
                      </a:r>
                      <a:r>
                        <a:rPr lang="en-US" sz="2800" dirty="0"/>
                        <a:t> </a:t>
                      </a:r>
                      <a:r>
                        <a:rPr lang="en-US" sz="2800" dirty="0" err="1"/>
                        <a:t>trễ</a:t>
                      </a:r>
                      <a:r>
                        <a:rPr lang="en-US" sz="2800" dirty="0"/>
                        <a:t> (delay) </a:t>
                      </a:r>
                      <a:r>
                        <a:rPr lang="en-US" sz="2800" dirty="0" err="1"/>
                        <a:t>khi</a:t>
                      </a:r>
                      <a:r>
                        <a:rPr lang="en-US" sz="2800" dirty="0"/>
                        <a:t> Pi 5 </a:t>
                      </a:r>
                      <a:r>
                        <a:rPr lang="en-US" sz="2800" dirty="0" err="1"/>
                        <a:t>đang</a:t>
                      </a:r>
                      <a:r>
                        <a:rPr lang="en-US" sz="2800" dirty="0"/>
                        <a:t> </a:t>
                      </a:r>
                      <a:r>
                        <a:rPr lang="en-US" sz="2800" dirty="0" err="1"/>
                        <a:t>chạy</a:t>
                      </a:r>
                      <a:r>
                        <a:rPr lang="en-US" sz="2800" dirty="0"/>
                        <a:t> </a:t>
                      </a:r>
                      <a:r>
                        <a:rPr lang="en-US" sz="2800" dirty="0" err="1"/>
                        <a:t>nặng</a:t>
                      </a:r>
                      <a:r>
                        <a:rPr lang="en-US" sz="2800" dirty="0"/>
                        <a:t> </a:t>
                      </a:r>
                      <a:r>
                        <a:rPr lang="en-US" sz="2800" dirty="0" err="1"/>
                        <a:t>phần</a:t>
                      </a:r>
                      <a:r>
                        <a:rPr lang="en-US" sz="2800" dirty="0"/>
                        <a:t> AI </a:t>
                      </a:r>
                      <a:r>
                        <a:rPr lang="en-US" sz="2800" dirty="0" err="1"/>
                        <a:t>mà</a:t>
                      </a:r>
                      <a:r>
                        <a:rPr lang="en-US" sz="2800" dirty="0"/>
                        <a:t> </a:t>
                      </a:r>
                      <a:r>
                        <a:rPr lang="en-US" sz="2800" dirty="0" err="1"/>
                        <a:t>bị</a:t>
                      </a:r>
                      <a:r>
                        <a:rPr lang="en-US" sz="2800" dirty="0"/>
                        <a:t> </a:t>
                      </a:r>
                      <a:r>
                        <a:rPr lang="en-US" sz="2800" dirty="0" err="1"/>
                        <a:t>ngắt</a:t>
                      </a:r>
                      <a:r>
                        <a:rPr lang="en-US" sz="2800" dirty="0"/>
                        <a:t> </a:t>
                      </a:r>
                      <a:r>
                        <a:rPr lang="en-US" sz="2800" dirty="0" err="1"/>
                        <a:t>quãng</a:t>
                      </a:r>
                      <a:r>
                        <a:rPr lang="en-US" sz="2800" dirty="0"/>
                        <a:t> </a:t>
                      </a:r>
                      <a:r>
                        <a:rPr lang="en-US" sz="2800" dirty="0" err="1"/>
                        <a:t>để</a:t>
                      </a:r>
                      <a:r>
                        <a:rPr lang="en-US" sz="2800" dirty="0"/>
                        <a:t> </a:t>
                      </a:r>
                      <a:r>
                        <a:rPr lang="en-US" sz="2800" dirty="0" err="1"/>
                        <a:t>đọc</a:t>
                      </a:r>
                      <a:r>
                        <a:rPr lang="en-US" sz="2800" dirty="0"/>
                        <a:t> </a:t>
                      </a:r>
                      <a:r>
                        <a:rPr lang="en-US" sz="2800" dirty="0" err="1"/>
                        <a:t>dữ</a:t>
                      </a:r>
                      <a:r>
                        <a:rPr lang="en-US" sz="2800" dirty="0"/>
                        <a:t> </a:t>
                      </a:r>
                      <a:r>
                        <a:rPr lang="en-US" sz="2800" dirty="0" err="1"/>
                        <a:t>liệu</a:t>
                      </a:r>
                      <a:r>
                        <a:rPr lang="en-US" sz="2800" dirty="0"/>
                        <a:t> I2C </a:t>
                      </a:r>
                      <a:r>
                        <a:rPr lang="en-US" sz="2800" dirty="0" err="1"/>
                        <a:t>từ</a:t>
                      </a:r>
                      <a:r>
                        <a:rPr lang="en-US" sz="2800" dirty="0"/>
                        <a:t> MLX90614 (</a:t>
                      </a:r>
                      <a:r>
                        <a:rPr lang="en-US" sz="2800" dirty="0" err="1"/>
                        <a:t>nhiệt</a:t>
                      </a:r>
                      <a:r>
                        <a:rPr lang="en-US" sz="2800" dirty="0"/>
                        <a:t> </a:t>
                      </a:r>
                      <a:r>
                        <a:rPr lang="en-US" sz="2800" dirty="0" err="1"/>
                        <a:t>độ</a:t>
                      </a:r>
                      <a:r>
                        <a:rPr lang="en-US" sz="2800" dirty="0"/>
                        <a:t>) </a:t>
                      </a:r>
                      <a:r>
                        <a:rPr lang="en-US" sz="2800" dirty="0" err="1"/>
                        <a:t>và</a:t>
                      </a:r>
                      <a:r>
                        <a:rPr lang="en-US" sz="2800" dirty="0"/>
                        <a:t> MAX30102 (</a:t>
                      </a:r>
                      <a:r>
                        <a:rPr lang="en-US" sz="2800" dirty="0" err="1"/>
                        <a:t>nhịp</a:t>
                      </a:r>
                      <a:r>
                        <a:rPr lang="en-US" sz="2800" dirty="0"/>
                        <a:t> </a:t>
                      </a:r>
                      <a:r>
                        <a:rPr lang="en-US" sz="2800" dirty="0" err="1"/>
                        <a:t>tim</a:t>
                      </a:r>
                      <a:r>
                        <a:rPr lang="en-US" sz="2800" dirty="0"/>
                        <a:t>).</a:t>
                      </a:r>
                    </a:p>
                    <a:p>
                      <a:pPr algn="ctr" fontAlgn="ctr">
                        <a:buNone/>
                      </a:pPr>
                      <a:endParaRPr lang="vi-VN" sz="2800" b="0" i="0" u="none" strike="noStrike" dirty="0">
                        <a:solidFill>
                          <a:srgbClr val="000000"/>
                        </a:solidFill>
                        <a:effectLst/>
                        <a:latin typeface="+mj-lt"/>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800" dirty="0"/>
                        <a:t>(Score: 9)</a:t>
                      </a:r>
                    </a:p>
                    <a:p>
                      <a:pPr algn="ctr"/>
                      <a:r>
                        <a:rPr lang="en-US" sz="2800" dirty="0"/>
                        <a:t>• Phối </a:t>
                      </a:r>
                      <a:r>
                        <a:rPr lang="en-US" sz="2800" dirty="0" err="1"/>
                        <a:t>hợp</a:t>
                      </a:r>
                      <a:r>
                        <a:rPr lang="en-US" sz="2800" dirty="0"/>
                        <a:t> </a:t>
                      </a:r>
                      <a:r>
                        <a:rPr lang="en-US" sz="2800" dirty="0" err="1"/>
                        <a:t>phân</a:t>
                      </a:r>
                      <a:r>
                        <a:rPr lang="en-US" sz="2800" dirty="0"/>
                        <a:t> </a:t>
                      </a:r>
                      <a:r>
                        <a:rPr lang="en-US" sz="2800" dirty="0" err="1"/>
                        <a:t>tầng</a:t>
                      </a:r>
                      <a:r>
                        <a:rPr lang="en-US" sz="2800" dirty="0"/>
                        <a:t> </a:t>
                      </a:r>
                      <a:r>
                        <a:rPr lang="en-US" sz="2800" dirty="0" err="1"/>
                        <a:t>tối</a:t>
                      </a:r>
                      <a:r>
                        <a:rPr lang="en-US" sz="2800" dirty="0"/>
                        <a:t> </a:t>
                      </a:r>
                      <a:r>
                        <a:rPr lang="en-US" sz="2800" dirty="0" err="1"/>
                        <a:t>ưu</a:t>
                      </a:r>
                      <a:r>
                        <a:rPr lang="en-US" sz="2800" dirty="0"/>
                        <a:t>: ESP32-S3 </a:t>
                      </a:r>
                      <a:r>
                        <a:rPr lang="en-US" sz="2800" dirty="0" err="1"/>
                        <a:t>chuyên</a:t>
                      </a:r>
                      <a:r>
                        <a:rPr lang="en-US" sz="2800" dirty="0"/>
                        <a:t> </a:t>
                      </a:r>
                      <a:r>
                        <a:rPr lang="en-US" sz="2800" dirty="0" err="1"/>
                        <a:t>trách</a:t>
                      </a:r>
                      <a:r>
                        <a:rPr lang="en-US" sz="2800" dirty="0"/>
                        <a:t> </a:t>
                      </a:r>
                      <a:r>
                        <a:rPr lang="en-US" sz="2800" dirty="0" err="1"/>
                        <a:t>đọc</a:t>
                      </a:r>
                      <a:r>
                        <a:rPr lang="en-US" sz="2800" dirty="0"/>
                        <a:t> I2C </a:t>
                      </a:r>
                      <a:r>
                        <a:rPr lang="en-US" sz="2800" dirty="0" err="1"/>
                        <a:t>theo</a:t>
                      </a:r>
                      <a:r>
                        <a:rPr lang="en-US" sz="2800" dirty="0"/>
                        <a:t> </a:t>
                      </a:r>
                      <a:r>
                        <a:rPr lang="en-US" sz="2800" dirty="0" err="1"/>
                        <a:t>thời</a:t>
                      </a:r>
                      <a:r>
                        <a:rPr lang="en-US" sz="2800" dirty="0"/>
                        <a:t> </a:t>
                      </a:r>
                      <a:r>
                        <a:rPr lang="en-US" sz="2800" dirty="0" err="1"/>
                        <a:t>gian</a:t>
                      </a:r>
                      <a:r>
                        <a:rPr lang="en-US" sz="2800" dirty="0"/>
                        <a:t> </a:t>
                      </a:r>
                      <a:r>
                        <a:rPr lang="en-US" sz="2800" dirty="0" err="1"/>
                        <a:t>thực</a:t>
                      </a:r>
                      <a:r>
                        <a:rPr lang="en-US" sz="2800" dirty="0"/>
                        <a:t> </a:t>
                      </a:r>
                      <a:r>
                        <a:rPr lang="en-US" sz="2800" dirty="0" err="1"/>
                        <a:t>không</a:t>
                      </a:r>
                      <a:r>
                        <a:rPr lang="en-US" sz="2800" dirty="0"/>
                        <a:t> </a:t>
                      </a:r>
                      <a:r>
                        <a:rPr lang="en-US" sz="2800" dirty="0" err="1"/>
                        <a:t>độ</a:t>
                      </a:r>
                      <a:r>
                        <a:rPr lang="en-US" sz="2800" dirty="0"/>
                        <a:t> </a:t>
                      </a:r>
                      <a:r>
                        <a:rPr lang="en-US" sz="2800" dirty="0" err="1"/>
                        <a:t>trễ</a:t>
                      </a:r>
                      <a:r>
                        <a:rPr lang="en-US" sz="2800" dirty="0"/>
                        <a:t>.</a:t>
                      </a:r>
                    </a:p>
                    <a:p>
                      <a:pPr algn="ctr"/>
                      <a:r>
                        <a:rPr lang="en-US" sz="2800" dirty="0"/>
                        <a:t>• </a:t>
                      </a:r>
                      <a:r>
                        <a:rPr lang="en-US" sz="2800" dirty="0" err="1"/>
                        <a:t>Truyền</a:t>
                      </a:r>
                      <a:r>
                        <a:rPr lang="en-US" sz="2800" dirty="0"/>
                        <a:t> </a:t>
                      </a:r>
                      <a:r>
                        <a:rPr lang="en-US" sz="2800" dirty="0" err="1"/>
                        <a:t>gói</a:t>
                      </a:r>
                      <a:r>
                        <a:rPr lang="en-US" sz="2800" dirty="0"/>
                        <a:t> tin qua </a:t>
                      </a:r>
                      <a:r>
                        <a:rPr lang="en-US" sz="2800" dirty="0" err="1"/>
                        <a:t>giao</a:t>
                      </a:r>
                      <a:r>
                        <a:rPr lang="en-US" sz="2800" dirty="0"/>
                        <a:t> </a:t>
                      </a:r>
                      <a:r>
                        <a:rPr lang="en-US" sz="2800" dirty="0" err="1"/>
                        <a:t>thức</a:t>
                      </a:r>
                      <a:r>
                        <a:rPr lang="en-US" sz="2800" dirty="0"/>
                        <a:t> MQTT </a:t>
                      </a:r>
                      <a:r>
                        <a:rPr lang="en-US" sz="2800" dirty="0" err="1"/>
                        <a:t>lên</a:t>
                      </a:r>
                      <a:r>
                        <a:rPr lang="en-US" sz="2800" dirty="0"/>
                        <a:t> Node.js </a:t>
                      </a:r>
                      <a:r>
                        <a:rPr lang="en-US" sz="2800" dirty="0" err="1"/>
                        <a:t>ngay</a:t>
                      </a:r>
                      <a:r>
                        <a:rPr lang="en-US" sz="2800" dirty="0"/>
                        <a:t> </a:t>
                      </a:r>
                      <a:r>
                        <a:rPr lang="en-US" sz="2800" dirty="0" err="1"/>
                        <a:t>lập</a:t>
                      </a:r>
                      <a:r>
                        <a:rPr lang="en-US" sz="2800" dirty="0"/>
                        <a:t> </a:t>
                      </a:r>
                      <a:r>
                        <a:rPr lang="en-US" sz="2800" dirty="0" err="1"/>
                        <a:t>tức</a:t>
                      </a:r>
                      <a:r>
                        <a:rPr lang="en-US" sz="2800" dirty="0"/>
                        <a:t>.</a:t>
                      </a:r>
                    </a:p>
                    <a:p>
                      <a:pPr algn="ctr" fontAlgn="ctr">
                        <a:buNone/>
                      </a:pPr>
                      <a:endParaRPr lang="vi-VN" sz="2800" b="0" i="0" u="none" strike="noStrike" dirty="0">
                        <a:solidFill>
                          <a:srgbClr val="000000"/>
                        </a:solidFill>
                        <a:effectLst/>
                        <a:latin typeface="+mj-lt"/>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800" dirty="0"/>
                        <a:t>(Score: 7)</a:t>
                      </a:r>
                    </a:p>
                    <a:p>
                      <a:pPr algn="ctr"/>
                      <a:r>
                        <a:rPr lang="en-US" sz="2800" dirty="0"/>
                        <a:t>• </a:t>
                      </a:r>
                      <a:r>
                        <a:rPr lang="en-US" sz="2800" dirty="0" err="1"/>
                        <a:t>Đọc</a:t>
                      </a:r>
                      <a:r>
                        <a:rPr lang="en-US" sz="2800" dirty="0"/>
                        <a:t> </a:t>
                      </a:r>
                      <a:r>
                        <a:rPr lang="en-US" sz="2800" dirty="0" err="1"/>
                        <a:t>cảm</a:t>
                      </a:r>
                      <a:r>
                        <a:rPr lang="en-US" sz="2800" dirty="0"/>
                        <a:t> </a:t>
                      </a:r>
                      <a:r>
                        <a:rPr lang="en-US" sz="2800" dirty="0" err="1"/>
                        <a:t>biến</a:t>
                      </a:r>
                      <a:r>
                        <a:rPr lang="en-US" sz="2800" dirty="0"/>
                        <a:t> </a:t>
                      </a:r>
                      <a:r>
                        <a:rPr lang="en-US" sz="2800" dirty="0" err="1"/>
                        <a:t>nhanh</a:t>
                      </a:r>
                      <a:r>
                        <a:rPr lang="en-US" sz="2800" dirty="0"/>
                        <a:t> </a:t>
                      </a:r>
                      <a:r>
                        <a:rPr lang="en-US" sz="2800" dirty="0" err="1"/>
                        <a:t>nhưng</a:t>
                      </a:r>
                      <a:r>
                        <a:rPr lang="en-US" sz="2800" dirty="0"/>
                        <a:t> </a:t>
                      </a:r>
                      <a:r>
                        <a:rPr lang="en-US" sz="2800" dirty="0" err="1"/>
                        <a:t>tốc</a:t>
                      </a:r>
                      <a:r>
                        <a:rPr lang="en-US" sz="2800" dirty="0"/>
                        <a:t> </a:t>
                      </a:r>
                      <a:r>
                        <a:rPr lang="en-US" sz="2800" dirty="0" err="1"/>
                        <a:t>độ</a:t>
                      </a:r>
                      <a:r>
                        <a:rPr lang="en-US" sz="2800" dirty="0"/>
                        <a:t> </a:t>
                      </a:r>
                      <a:r>
                        <a:rPr lang="en-US" sz="2800" dirty="0" err="1"/>
                        <a:t>tổng</a:t>
                      </a:r>
                      <a:r>
                        <a:rPr lang="en-US" sz="2800" dirty="0"/>
                        <a:t> </a:t>
                      </a:r>
                      <a:r>
                        <a:rPr lang="en-US" sz="2800" dirty="0" err="1"/>
                        <a:t>thể</a:t>
                      </a:r>
                      <a:r>
                        <a:rPr lang="en-US" sz="2800" dirty="0"/>
                        <a:t> </a:t>
                      </a:r>
                      <a:r>
                        <a:rPr lang="en-US" sz="2800" dirty="0" err="1"/>
                        <a:t>của</a:t>
                      </a:r>
                      <a:r>
                        <a:rPr lang="en-US" sz="2800" dirty="0"/>
                        <a:t> </a:t>
                      </a:r>
                      <a:r>
                        <a:rPr lang="en-US" sz="2800" dirty="0" err="1"/>
                        <a:t>toàn</a:t>
                      </a:r>
                      <a:r>
                        <a:rPr lang="en-US" sz="2800" dirty="0"/>
                        <a:t> </a:t>
                      </a:r>
                      <a:r>
                        <a:rPr lang="en-US" sz="2800" dirty="0" err="1"/>
                        <a:t>hệ</a:t>
                      </a:r>
                      <a:r>
                        <a:rPr lang="en-US" sz="2800" dirty="0"/>
                        <a:t> </a:t>
                      </a:r>
                      <a:r>
                        <a:rPr lang="en-US" sz="2800" dirty="0" err="1"/>
                        <a:t>thống</a:t>
                      </a:r>
                      <a:r>
                        <a:rPr lang="en-US" sz="2800" dirty="0"/>
                        <a:t> y </a:t>
                      </a:r>
                      <a:r>
                        <a:rPr lang="en-US" sz="2800" dirty="0" err="1"/>
                        <a:t>tế</a:t>
                      </a:r>
                      <a:r>
                        <a:rPr lang="en-US" sz="2800" dirty="0"/>
                        <a:t> </a:t>
                      </a:r>
                      <a:r>
                        <a:rPr lang="en-US" sz="2800" dirty="0" err="1"/>
                        <a:t>bị</a:t>
                      </a:r>
                      <a:r>
                        <a:rPr lang="en-US" sz="2800" dirty="0"/>
                        <a:t> </a:t>
                      </a:r>
                      <a:r>
                        <a:rPr lang="en-US" sz="2800" dirty="0" err="1"/>
                        <a:t>nghẽn</a:t>
                      </a:r>
                      <a:r>
                        <a:rPr lang="en-US" sz="2800" dirty="0"/>
                        <a:t> do </a:t>
                      </a:r>
                      <a:r>
                        <a:rPr lang="en-US" sz="2800" dirty="0" err="1"/>
                        <a:t>không</a:t>
                      </a:r>
                      <a:r>
                        <a:rPr lang="en-US" sz="2800" dirty="0"/>
                        <a:t> </a:t>
                      </a:r>
                      <a:r>
                        <a:rPr lang="en-US" sz="2800" dirty="0" err="1"/>
                        <a:t>thể</a:t>
                      </a:r>
                      <a:r>
                        <a:rPr lang="en-US" sz="2800" dirty="0"/>
                        <a:t> </a:t>
                      </a:r>
                      <a:r>
                        <a:rPr lang="en-US" sz="2800" dirty="0" err="1"/>
                        <a:t>xử</a:t>
                      </a:r>
                      <a:r>
                        <a:rPr lang="en-US" sz="2800" dirty="0"/>
                        <a:t> </a:t>
                      </a:r>
                      <a:r>
                        <a:rPr lang="en-US" sz="2800" dirty="0" err="1"/>
                        <a:t>lý</a:t>
                      </a:r>
                      <a:r>
                        <a:rPr lang="en-US" sz="2800" dirty="0"/>
                        <a:t> </a:t>
                      </a:r>
                      <a:r>
                        <a:rPr lang="en-US" sz="2800" dirty="0" err="1"/>
                        <a:t>đa</a:t>
                      </a:r>
                      <a:r>
                        <a:rPr lang="en-US" sz="2800" dirty="0"/>
                        <a:t> </a:t>
                      </a:r>
                      <a:r>
                        <a:rPr lang="en-US" sz="2800" dirty="0" err="1"/>
                        <a:t>luồng</a:t>
                      </a:r>
                      <a:r>
                        <a:rPr lang="en-US" sz="2800" dirty="0"/>
                        <a:t> </a:t>
                      </a:r>
                      <a:r>
                        <a:rPr lang="en-US" sz="2800" dirty="0" err="1"/>
                        <a:t>mạnh</a:t>
                      </a:r>
                      <a:r>
                        <a:rPr lang="en-US" sz="2800" dirty="0"/>
                        <a:t> </a:t>
                      </a:r>
                      <a:r>
                        <a:rPr lang="en-US" sz="2800" dirty="0" err="1"/>
                        <a:t>mẽ</a:t>
                      </a:r>
                      <a:r>
                        <a:rPr lang="en-US" sz="2800" dirty="0"/>
                        <a:t>.</a:t>
                      </a:r>
                    </a:p>
                    <a:p>
                      <a:pPr algn="ctr" fontAlgn="ctr">
                        <a:buNone/>
                      </a:pPr>
                      <a:endParaRPr lang="vi-VN" sz="2800" b="0" i="0" u="none" strike="noStrike" dirty="0">
                        <a:solidFill>
                          <a:srgbClr val="000000"/>
                        </a:solidFill>
                        <a:effectLst/>
                        <a:latin typeface="+mj-lt"/>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86092172"/>
                  </a:ext>
                </a:extLst>
              </a:tr>
              <a:tr h="3711981">
                <a:tc>
                  <a:txBody>
                    <a:bodyPr/>
                    <a:lstStyle/>
                    <a:p>
                      <a:pPr algn="ctr" fontAlgn="ctr">
                        <a:buNone/>
                      </a:pPr>
                      <a:r>
                        <a:rPr lang="vi-VN" sz="2800" b="0" i="0" u="none" strike="noStrike" dirty="0">
                          <a:solidFill>
                            <a:srgbClr val="000000"/>
                          </a:solidFill>
                          <a:effectLst/>
                          <a:latin typeface="+mj-lt"/>
                        </a:rPr>
                        <a:t>Bộ nhớ lưu trữ</a:t>
                      </a: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800" b="0" dirty="0"/>
                        <a:t>(Score: 9)</a:t>
                      </a:r>
                    </a:p>
                    <a:p>
                      <a:pPr algn="ctr"/>
                      <a:endParaRPr lang="en-US" sz="2800" dirty="0"/>
                    </a:p>
                    <a:p>
                      <a:pPr algn="ctr"/>
                      <a:r>
                        <a:rPr lang="en-US" sz="2800" dirty="0"/>
                        <a:t>• </a:t>
                      </a:r>
                      <a:r>
                        <a:rPr lang="en-US" sz="2800" dirty="0" err="1"/>
                        <a:t>Có</a:t>
                      </a:r>
                      <a:r>
                        <a:rPr lang="en-US" sz="2800" dirty="0"/>
                        <a:t> RAM </a:t>
                      </a:r>
                      <a:r>
                        <a:rPr lang="en-US" sz="2800" dirty="0" err="1"/>
                        <a:t>lớn</a:t>
                      </a:r>
                      <a:r>
                        <a:rPr lang="en-US" sz="2800" dirty="0"/>
                        <a:t> </a:t>
                      </a:r>
                      <a:r>
                        <a:rPr lang="en-US" sz="2800" dirty="0" err="1"/>
                        <a:t>và</a:t>
                      </a:r>
                      <a:r>
                        <a:rPr lang="en-US" sz="2800" dirty="0"/>
                        <a:t> </a:t>
                      </a:r>
                      <a:r>
                        <a:rPr lang="en-US" sz="2800" dirty="0" err="1"/>
                        <a:t>hỗ</a:t>
                      </a:r>
                      <a:r>
                        <a:rPr lang="en-US" sz="2800" dirty="0"/>
                        <a:t> </a:t>
                      </a:r>
                      <a:r>
                        <a:rPr lang="en-US" sz="2800" dirty="0" err="1"/>
                        <a:t>trợ</a:t>
                      </a:r>
                      <a:r>
                        <a:rPr lang="en-US" sz="2800" dirty="0"/>
                        <a:t> </a:t>
                      </a:r>
                      <a:r>
                        <a:rPr lang="en-US" sz="2800" dirty="0" err="1"/>
                        <a:t>thẻ</a:t>
                      </a:r>
                      <a:r>
                        <a:rPr lang="en-US" sz="2800" dirty="0"/>
                        <a:t> </a:t>
                      </a:r>
                      <a:r>
                        <a:rPr lang="en-US" sz="2800" dirty="0" err="1"/>
                        <a:t>nhớ</a:t>
                      </a:r>
                      <a:r>
                        <a:rPr lang="en-US" sz="2800" dirty="0"/>
                        <a:t> </a:t>
                      </a:r>
                      <a:r>
                        <a:rPr lang="en-US" sz="2800" dirty="0" err="1"/>
                        <a:t>tốc</a:t>
                      </a:r>
                      <a:r>
                        <a:rPr lang="en-US" sz="2800" dirty="0"/>
                        <a:t> </a:t>
                      </a:r>
                      <a:r>
                        <a:rPr lang="en-US" sz="2800" dirty="0" err="1"/>
                        <a:t>độ</a:t>
                      </a:r>
                      <a:r>
                        <a:rPr lang="en-US" sz="2800" dirty="0"/>
                        <a:t> </a:t>
                      </a:r>
                      <a:r>
                        <a:rPr lang="en-US" sz="2800" dirty="0" err="1"/>
                        <a:t>cao</a:t>
                      </a:r>
                      <a:r>
                        <a:rPr lang="en-US" sz="2800" dirty="0"/>
                        <a:t>, </a:t>
                      </a:r>
                      <a:r>
                        <a:rPr lang="en-US" sz="2800" dirty="0" err="1"/>
                        <a:t>thoải</a:t>
                      </a:r>
                      <a:r>
                        <a:rPr lang="en-US" sz="2800" dirty="0"/>
                        <a:t> </a:t>
                      </a:r>
                      <a:r>
                        <a:rPr lang="en-US" sz="2800" dirty="0" err="1"/>
                        <a:t>mái</a:t>
                      </a:r>
                      <a:r>
                        <a:rPr lang="en-US" sz="2800" dirty="0"/>
                        <a:t> </a:t>
                      </a:r>
                      <a:r>
                        <a:rPr lang="en-US" sz="2800" dirty="0" err="1"/>
                        <a:t>lưu</a:t>
                      </a:r>
                      <a:r>
                        <a:rPr lang="en-US" sz="2800" dirty="0"/>
                        <a:t> </a:t>
                      </a:r>
                      <a:r>
                        <a:rPr lang="en-US" sz="2800" dirty="0" err="1"/>
                        <a:t>trữ</a:t>
                      </a:r>
                      <a:r>
                        <a:rPr lang="en-US" sz="2800" dirty="0"/>
                        <a:t> Local Vector Store </a:t>
                      </a:r>
                      <a:r>
                        <a:rPr lang="en-US" sz="2800" dirty="0" err="1"/>
                        <a:t>và</a:t>
                      </a:r>
                      <a:r>
                        <a:rPr lang="en-US" sz="2800" dirty="0"/>
                        <a:t> </a:t>
                      </a:r>
                      <a:r>
                        <a:rPr lang="en-US" sz="2800" dirty="0" err="1"/>
                        <a:t>cơ</a:t>
                      </a:r>
                      <a:r>
                        <a:rPr lang="en-US" sz="2800" dirty="0"/>
                        <a:t> </a:t>
                      </a:r>
                      <a:r>
                        <a:rPr lang="en-US" sz="2800" dirty="0" err="1"/>
                        <a:t>sở</a:t>
                      </a:r>
                      <a:r>
                        <a:rPr lang="en-US" sz="2800" dirty="0"/>
                        <a:t> </a:t>
                      </a:r>
                      <a:r>
                        <a:rPr lang="en-US" sz="2800" dirty="0" err="1"/>
                        <a:t>dữ</a:t>
                      </a:r>
                      <a:r>
                        <a:rPr lang="en-US" sz="2800" dirty="0"/>
                        <a:t> </a:t>
                      </a:r>
                      <a:r>
                        <a:rPr lang="en-US" sz="2800" dirty="0" err="1"/>
                        <a:t>liệu</a:t>
                      </a:r>
                      <a:r>
                        <a:rPr lang="en-US" sz="2800" dirty="0"/>
                        <a:t> </a:t>
                      </a:r>
                      <a:r>
                        <a:rPr lang="en-US" sz="2800" dirty="0" err="1"/>
                        <a:t>bệnh</a:t>
                      </a:r>
                      <a:r>
                        <a:rPr lang="en-US" sz="2800" dirty="0"/>
                        <a:t> </a:t>
                      </a:r>
                      <a:r>
                        <a:rPr lang="en-US" sz="2800" dirty="0" err="1"/>
                        <a:t>nhân</a:t>
                      </a:r>
                      <a:r>
                        <a:rPr lang="en-US" sz="2800" dirty="0"/>
                        <a:t>.</a:t>
                      </a:r>
                    </a:p>
                    <a:p>
                      <a:pPr algn="ctr" fontAlgn="ctr">
                        <a:buNone/>
                      </a:pPr>
                      <a:endParaRPr lang="vi-VN" sz="2800" b="0" i="0" u="none" strike="noStrike" dirty="0">
                        <a:solidFill>
                          <a:srgbClr val="000000"/>
                        </a:solidFill>
                        <a:effectLst/>
                        <a:latin typeface="+mj-lt"/>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800" dirty="0"/>
                        <a:t>(Score: 9)</a:t>
                      </a:r>
                      <a:endParaRPr lang="vi-VN" sz="2800" dirty="0"/>
                    </a:p>
                    <a:p>
                      <a:pPr algn="ctr"/>
                      <a:endParaRPr lang="en-US" sz="2800" dirty="0"/>
                    </a:p>
                    <a:p>
                      <a:pPr algn="ctr"/>
                      <a:r>
                        <a:rPr lang="en-US" sz="2800" dirty="0"/>
                        <a:t>• </a:t>
                      </a:r>
                      <a:r>
                        <a:rPr lang="en-US" sz="2800" dirty="0" err="1"/>
                        <a:t>Tận</a:t>
                      </a:r>
                      <a:r>
                        <a:rPr lang="en-US" sz="2800" dirty="0"/>
                        <a:t> </a:t>
                      </a:r>
                      <a:r>
                        <a:rPr lang="en-US" sz="2800" dirty="0" err="1"/>
                        <a:t>dụng</a:t>
                      </a:r>
                      <a:r>
                        <a:rPr lang="en-US" sz="2800" dirty="0"/>
                        <a:t> </a:t>
                      </a:r>
                      <a:r>
                        <a:rPr lang="en-US" sz="2800" dirty="0" err="1"/>
                        <a:t>hoàn</a:t>
                      </a:r>
                      <a:r>
                        <a:rPr lang="en-US" sz="2800" dirty="0"/>
                        <a:t> </a:t>
                      </a:r>
                      <a:r>
                        <a:rPr lang="en-US" sz="2800" dirty="0" err="1"/>
                        <a:t>toàn</a:t>
                      </a:r>
                      <a:r>
                        <a:rPr lang="en-US" sz="2800" dirty="0"/>
                        <a:t> </a:t>
                      </a:r>
                      <a:r>
                        <a:rPr lang="en-US" sz="2800" dirty="0" err="1"/>
                        <a:t>khả</a:t>
                      </a:r>
                      <a:r>
                        <a:rPr lang="en-US" sz="2800" dirty="0"/>
                        <a:t> </a:t>
                      </a:r>
                      <a:r>
                        <a:rPr lang="en-US" sz="2800" dirty="0" err="1"/>
                        <a:t>năng</a:t>
                      </a:r>
                      <a:r>
                        <a:rPr lang="en-US" sz="2800" dirty="0"/>
                        <a:t> </a:t>
                      </a:r>
                      <a:r>
                        <a:rPr lang="en-US" sz="2800" dirty="0" err="1"/>
                        <a:t>lưu</a:t>
                      </a:r>
                      <a:r>
                        <a:rPr lang="en-US" sz="2800" dirty="0"/>
                        <a:t> </a:t>
                      </a:r>
                      <a:r>
                        <a:rPr lang="en-US" sz="2800" dirty="0" err="1"/>
                        <a:t>trữ</a:t>
                      </a:r>
                      <a:r>
                        <a:rPr lang="en-US" sz="2800" dirty="0"/>
                        <a:t> </a:t>
                      </a:r>
                      <a:r>
                        <a:rPr lang="en-US" sz="2800" dirty="0" err="1"/>
                        <a:t>mạnh</a:t>
                      </a:r>
                      <a:r>
                        <a:rPr lang="en-US" sz="2800" dirty="0"/>
                        <a:t> </a:t>
                      </a:r>
                      <a:r>
                        <a:rPr lang="en-US" sz="2800" dirty="0" err="1"/>
                        <a:t>mẽ</a:t>
                      </a:r>
                      <a:r>
                        <a:rPr lang="en-US" sz="2800" dirty="0"/>
                        <a:t> </a:t>
                      </a:r>
                      <a:r>
                        <a:rPr lang="en-US" sz="2800" dirty="0" err="1"/>
                        <a:t>của</a:t>
                      </a:r>
                      <a:r>
                        <a:rPr lang="en-US" sz="2800" dirty="0"/>
                        <a:t> Pi 5 </a:t>
                      </a:r>
                      <a:r>
                        <a:rPr lang="en-US" sz="2800" dirty="0" err="1"/>
                        <a:t>cho</a:t>
                      </a:r>
                      <a:r>
                        <a:rPr lang="en-US" sz="2800" dirty="0"/>
                        <a:t> CSDL </a:t>
                      </a:r>
                      <a:r>
                        <a:rPr lang="en-US" sz="2800" dirty="0" err="1"/>
                        <a:t>và</a:t>
                      </a:r>
                      <a:r>
                        <a:rPr lang="en-US" sz="2800" dirty="0"/>
                        <a:t> </a:t>
                      </a:r>
                      <a:r>
                        <a:rPr lang="en-US" sz="2800" dirty="0" err="1"/>
                        <a:t>hệ</a:t>
                      </a:r>
                      <a:r>
                        <a:rPr lang="en-US" sz="2800" dirty="0"/>
                        <a:t> </a:t>
                      </a:r>
                      <a:r>
                        <a:rPr lang="en-US" sz="2800" dirty="0" err="1"/>
                        <a:t>điều</a:t>
                      </a:r>
                      <a:r>
                        <a:rPr lang="en-US" sz="2800" dirty="0"/>
                        <a:t> </a:t>
                      </a:r>
                      <a:r>
                        <a:rPr lang="en-US" sz="2800" dirty="0" err="1"/>
                        <a:t>hành</a:t>
                      </a:r>
                      <a:r>
                        <a:rPr lang="en-US" sz="2800" dirty="0"/>
                        <a:t> Agent.</a:t>
                      </a:r>
                    </a:p>
                    <a:p>
                      <a:pPr algn="ctr" fontAlgn="ctr">
                        <a:buNone/>
                      </a:pPr>
                      <a:br>
                        <a:rPr lang="vi-VN" sz="2800" u="none" strike="noStrike" dirty="0">
                          <a:effectLst/>
                          <a:latin typeface="+mj-lt"/>
                        </a:rPr>
                      </a:br>
                      <a:endParaRPr lang="vi-VN" sz="2800" b="0" i="0" u="none" strike="noStrike" dirty="0">
                        <a:solidFill>
                          <a:srgbClr val="000000"/>
                        </a:solidFill>
                        <a:effectLst/>
                        <a:latin typeface="+mj-lt"/>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800" dirty="0"/>
                        <a:t>(Score: 3)</a:t>
                      </a:r>
                      <a:br>
                        <a:rPr lang="en-US" sz="2800" dirty="0"/>
                      </a:br>
                      <a:endParaRPr lang="en-US" sz="2800" dirty="0"/>
                    </a:p>
                    <a:p>
                      <a:pPr algn="ctr"/>
                      <a:r>
                        <a:rPr lang="en-US" sz="2800" dirty="0"/>
                        <a:t>• Dung </a:t>
                      </a:r>
                      <a:r>
                        <a:rPr lang="en-US" sz="2800" dirty="0" err="1"/>
                        <a:t>lượng</a:t>
                      </a:r>
                      <a:r>
                        <a:rPr lang="en-US" sz="2800" dirty="0"/>
                        <a:t> Flash/SRAM </a:t>
                      </a:r>
                      <a:r>
                        <a:rPr lang="en-US" sz="2800" dirty="0" err="1"/>
                        <a:t>của</a:t>
                      </a:r>
                      <a:r>
                        <a:rPr lang="en-US" sz="2800" dirty="0"/>
                        <a:t> vi </a:t>
                      </a:r>
                      <a:r>
                        <a:rPr lang="en-US" sz="2800" dirty="0" err="1"/>
                        <a:t>điều</a:t>
                      </a:r>
                      <a:r>
                        <a:rPr lang="en-US" sz="2800" dirty="0"/>
                        <a:t> </a:t>
                      </a:r>
                      <a:r>
                        <a:rPr lang="en-US" sz="2800" dirty="0" err="1"/>
                        <a:t>khiển</a:t>
                      </a:r>
                      <a:r>
                        <a:rPr lang="en-US" sz="2800" dirty="0"/>
                        <a:t> </a:t>
                      </a:r>
                      <a:r>
                        <a:rPr lang="en-US" sz="2800" dirty="0" err="1"/>
                        <a:t>quá</a:t>
                      </a:r>
                      <a:r>
                        <a:rPr lang="en-US" sz="2800" dirty="0"/>
                        <a:t> </a:t>
                      </a:r>
                      <a:r>
                        <a:rPr lang="en-US" sz="2800" dirty="0" err="1"/>
                        <a:t>nhỏ</a:t>
                      </a:r>
                      <a:r>
                        <a:rPr lang="en-US" sz="2800" dirty="0"/>
                        <a:t>, </a:t>
                      </a:r>
                      <a:r>
                        <a:rPr lang="en-US" sz="2800" dirty="0" err="1"/>
                        <a:t>không</a:t>
                      </a:r>
                      <a:r>
                        <a:rPr lang="en-US" sz="2800" dirty="0"/>
                        <a:t> </a:t>
                      </a:r>
                      <a:r>
                        <a:rPr lang="en-US" sz="2800" dirty="0" err="1"/>
                        <a:t>thể</a:t>
                      </a:r>
                      <a:r>
                        <a:rPr lang="en-US" sz="2800" dirty="0"/>
                        <a:t> </a:t>
                      </a:r>
                      <a:r>
                        <a:rPr lang="en-US" sz="2800" dirty="0" err="1"/>
                        <a:t>lưu</a:t>
                      </a:r>
                      <a:r>
                        <a:rPr lang="en-US" sz="2800" dirty="0"/>
                        <a:t> </a:t>
                      </a:r>
                      <a:r>
                        <a:rPr lang="en-US" sz="2800" dirty="0" err="1"/>
                        <a:t>trữ</a:t>
                      </a:r>
                      <a:r>
                        <a:rPr lang="en-US" sz="2800" dirty="0"/>
                        <a:t> Vector Store y </a:t>
                      </a:r>
                      <a:r>
                        <a:rPr lang="en-US" sz="2800" dirty="0" err="1"/>
                        <a:t>tế</a:t>
                      </a:r>
                      <a:r>
                        <a:rPr lang="en-US" sz="2800" dirty="0"/>
                        <a:t>.</a:t>
                      </a:r>
                    </a:p>
                    <a:p>
                      <a:pPr algn="ctr" fontAlgn="ctr">
                        <a:buNone/>
                      </a:pPr>
                      <a:endParaRPr lang="vi-VN" sz="2800" b="0" i="0" u="none" strike="noStrike" dirty="0">
                        <a:solidFill>
                          <a:srgbClr val="000000"/>
                        </a:solidFill>
                        <a:effectLst/>
                        <a:latin typeface="+mj-lt"/>
                      </a:endParaRPr>
                    </a:p>
                  </a:txBody>
                  <a:tcPr marL="5546" marR="5546" marT="554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64719401"/>
                  </a:ext>
                </a:extLst>
              </a:tr>
            </a:tbl>
          </a:graphicData>
        </a:graphic>
      </p:graphicFrame>
    </p:spTree>
    <p:extLst>
      <p:ext uri="{BB962C8B-B14F-4D97-AF65-F5344CB8AC3E}">
        <p14:creationId xmlns:p14="http://schemas.microsoft.com/office/powerpoint/2010/main" val="4139195846"/>
      </p:ext>
    </p:extLst>
  </p:cSld>
  <p:clrMapOvr>
    <a:masterClrMapping/>
  </p:clrMapOvr>
  <mc:AlternateContent xmlns:mc="http://schemas.openxmlformats.org/markup-compatibility/2006" xmlns:p159="http://schemas.microsoft.com/office/powerpoint/2015/09/main">
    <mc:Choice Requires="p159">
      <p:transition>
        <p:fade/>
      </p:transition>
    </mc:Choice>
    <mc:Fallback xmlns="" xmlns:m="http://schemas.openxmlformats.org/officeDocument/2006/math" xmlns:w="http://schemas.openxmlformats.org/wordprocessingml/2006/main">
      <p:transition spd="fast" advClick="1">
        <p:fade thruBlk="0"/>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grpSp>
        <p:nvGrpSpPr>
          <p:cNvPr id="1242583752" name="Group 2"/>
          <p:cNvGrpSpPr/>
          <p:nvPr/>
        </p:nvGrpSpPr>
        <p:grpSpPr bwMode="auto">
          <a:xfrm>
            <a:off x="612383" y="213326"/>
            <a:ext cx="8661983" cy="1203702"/>
            <a:chOff x="0" y="0"/>
            <a:chExt cx="11549310" cy="1604936"/>
          </a:xfrm>
        </p:grpSpPr>
        <p:sp>
          <p:nvSpPr>
            <p:cNvPr id="3" name="Freeform 3"/>
            <p:cNvSpPr/>
            <p:nvPr/>
          </p:nvSpPr>
          <p:spPr bwMode="auto">
            <a:xfrm>
              <a:off x="0" y="0"/>
              <a:ext cx="11549311" cy="1604930"/>
            </a:xfrm>
            <a:custGeom>
              <a:avLst/>
              <a:gdLst/>
              <a:ahLst/>
              <a:cxnLst/>
              <a:rect l="l" t="t" r="r" b="b"/>
              <a:pathLst>
                <a:path w="11549311" h="1604930" extrusionOk="0">
                  <a:moveTo>
                    <a:pt x="0" y="0"/>
                  </a:moveTo>
                  <a:lnTo>
                    <a:pt x="11549311" y="0"/>
                  </a:lnTo>
                  <a:lnTo>
                    <a:pt x="11549311" y="1604930"/>
                  </a:lnTo>
                  <a:lnTo>
                    <a:pt x="0" y="1604930"/>
                  </a:lnTo>
                  <a:close/>
                </a:path>
              </a:pathLst>
            </a:custGeom>
            <a:blipFill rotWithShape="1">
              <a:blip r:embed="rId3">
                <a:alphaModFix amt="0"/>
              </a:blip>
              <a:stretch>
                <a:fillRect t="-201864" r="-82098" b="-208803"/>
              </a:stretch>
            </a:blipFill>
          </p:spPr>
          <p:txBody>
            <a:bodyPr/>
            <a:lstStyle/>
            <a:p>
              <a:endParaRPr lang="en-US"/>
            </a:p>
          </p:txBody>
        </p:sp>
        <p:sp>
          <p:nvSpPr>
            <p:cNvPr id="4" name="TextBox 4"/>
            <p:cNvSpPr txBox="1"/>
            <p:nvPr/>
          </p:nvSpPr>
          <p:spPr bwMode="auto">
            <a:xfrm>
              <a:off x="0" y="-85725"/>
              <a:ext cx="11549310" cy="1690661"/>
            </a:xfrm>
            <a:prstGeom prst="rect">
              <a:avLst/>
            </a:prstGeom>
            <a:grpFill/>
          </p:spPr>
          <p:txBody>
            <a:bodyPr lIns="0" tIns="0" rIns="0" bIns="0" rtlCol="0" anchor="ctr"/>
            <a:lstStyle/>
            <a:p>
              <a:pPr algn="ctr">
                <a:lnSpc>
                  <a:spcPts val="7038"/>
                </a:lnSpc>
                <a:defRPr/>
              </a:pPr>
              <a:r>
                <a:rPr lang="en-US" sz="5100" b="1">
                  <a:solidFill>
                    <a:srgbClr val="153898"/>
                  </a:solidFill>
                  <a:latin typeface="Times New Roman"/>
                  <a:ea typeface="Times New Roman"/>
                  <a:cs typeface="Times New Roman"/>
                </a:rPr>
                <a:t>Bảng dữ trù kinh phí</a:t>
              </a:r>
              <a:endParaRPr>
                <a:latin typeface="Times New Roman"/>
                <a:cs typeface="Times New Roman"/>
              </a:endParaRPr>
            </a:p>
          </p:txBody>
        </p:sp>
      </p:grpSp>
      <p:graphicFrame>
        <p:nvGraphicFramePr>
          <p:cNvPr id="2013640005" name="Table 2013640004"/>
          <p:cNvGraphicFramePr>
            <a:graphicFrameLocks/>
          </p:cNvGraphicFramePr>
          <p:nvPr/>
        </p:nvGraphicFramePr>
        <p:xfrm>
          <a:off x="230549" y="1552799"/>
          <a:ext cx="17792696" cy="8562744"/>
        </p:xfrm>
        <a:graphic>
          <a:graphicData uri="http://schemas.openxmlformats.org/drawingml/2006/table">
            <a:tbl>
              <a:tblPr firstRow="1" firstCol="1" bandRow="1"/>
              <a:tblGrid>
                <a:gridCol w="1827205">
                  <a:extLst>
                    <a:ext uri="{9D8B030D-6E8A-4147-A177-3AD203B41FA5}">
                      <a16:colId xmlns:a16="http://schemas.microsoft.com/office/drawing/2014/main" val="20000"/>
                    </a:ext>
                  </a:extLst>
                </a:gridCol>
                <a:gridCol w="7268536">
                  <a:extLst>
                    <a:ext uri="{9D8B030D-6E8A-4147-A177-3AD203B41FA5}">
                      <a16:colId xmlns:a16="http://schemas.microsoft.com/office/drawing/2014/main" val="20001"/>
                    </a:ext>
                  </a:extLst>
                </a:gridCol>
                <a:gridCol w="1827205">
                  <a:extLst>
                    <a:ext uri="{9D8B030D-6E8A-4147-A177-3AD203B41FA5}">
                      <a16:colId xmlns:a16="http://schemas.microsoft.com/office/drawing/2014/main" val="20002"/>
                    </a:ext>
                  </a:extLst>
                </a:gridCol>
                <a:gridCol w="3311196">
                  <a:extLst>
                    <a:ext uri="{9D8B030D-6E8A-4147-A177-3AD203B41FA5}">
                      <a16:colId xmlns:a16="http://schemas.microsoft.com/office/drawing/2014/main" val="20003"/>
                    </a:ext>
                  </a:extLst>
                </a:gridCol>
                <a:gridCol w="3558554">
                  <a:extLst>
                    <a:ext uri="{9D8B030D-6E8A-4147-A177-3AD203B41FA5}">
                      <a16:colId xmlns:a16="http://schemas.microsoft.com/office/drawing/2014/main" val="20004"/>
                    </a:ext>
                  </a:extLst>
                </a:gridCol>
              </a:tblGrid>
              <a:tr h="713562">
                <a:tc>
                  <a:txBody>
                    <a:bodyPr/>
                    <a:lstStyle/>
                    <a:p>
                      <a:pPr algn="ctr">
                        <a:defRPr/>
                      </a:pPr>
                      <a:r>
                        <a:rPr sz="2800" b="1" i="0" u="none">
                          <a:solidFill>
                            <a:srgbClr val="FFFFFF"/>
                          </a:solidFill>
                          <a:latin typeface="Times New Roman"/>
                          <a:ea typeface="Times New Roman"/>
                          <a:cs typeface="Times New Roman"/>
                        </a:rPr>
                        <a:t>STT</a:t>
                      </a:r>
                      <a:endParaRPr sz="2200"/>
                    </a:p>
                  </a:txBody>
                  <a:tcPr marL="9524" marR="9524" marT="9524" marB="9524" anchor="ctr">
                    <a:lnL w="12667" algn="ctr">
                      <a:solidFill>
                        <a:srgbClr val="FFFFFF"/>
                      </a:solidFill>
                    </a:lnL>
                    <a:lnR w="12667" algn="ctr">
                      <a:solidFill>
                        <a:srgbClr val="FFFFFF"/>
                      </a:solidFill>
                    </a:lnR>
                    <a:lnT w="12667" algn="ctr">
                      <a:solidFill>
                        <a:srgbClr val="FFFFFF"/>
                      </a:solidFill>
                    </a:lnT>
                    <a:lnB w="38099" algn="ctr">
                      <a:solidFill>
                        <a:srgbClr val="FFFFFF"/>
                      </a:solidFill>
                    </a:lnB>
                    <a:solidFill>
                      <a:srgbClr val="142D4E"/>
                    </a:solidFill>
                  </a:tcPr>
                </a:tc>
                <a:tc>
                  <a:txBody>
                    <a:bodyPr/>
                    <a:lstStyle/>
                    <a:p>
                      <a:pPr algn="ctr">
                        <a:defRPr/>
                      </a:pPr>
                      <a:r>
                        <a:rPr sz="2800" b="1" i="0" u="none">
                          <a:solidFill>
                            <a:srgbClr val="FFFFFF"/>
                          </a:solidFill>
                          <a:latin typeface="Times New Roman"/>
                          <a:ea typeface="Times New Roman"/>
                          <a:cs typeface="Times New Roman"/>
                        </a:rPr>
                        <a:t>Thiết bị</a:t>
                      </a:r>
                      <a:endParaRPr sz="2200"/>
                    </a:p>
                  </a:txBody>
                  <a:tcPr marL="9524" marR="9524" marT="9524" marB="9524" anchor="ctr">
                    <a:lnL w="12667" algn="ctr">
                      <a:solidFill>
                        <a:srgbClr val="FFFFFF"/>
                      </a:solidFill>
                    </a:lnL>
                    <a:lnR w="12667" algn="ctr">
                      <a:solidFill>
                        <a:srgbClr val="FFFFFF"/>
                      </a:solidFill>
                    </a:lnR>
                    <a:lnT w="12667" algn="ctr">
                      <a:solidFill>
                        <a:srgbClr val="FFFFFF"/>
                      </a:solidFill>
                    </a:lnT>
                    <a:lnB w="38099" algn="ctr">
                      <a:solidFill>
                        <a:srgbClr val="FFFFFF"/>
                      </a:solidFill>
                    </a:lnB>
                    <a:solidFill>
                      <a:srgbClr val="142D4E"/>
                    </a:solidFill>
                  </a:tcPr>
                </a:tc>
                <a:tc>
                  <a:txBody>
                    <a:bodyPr/>
                    <a:lstStyle/>
                    <a:p>
                      <a:pPr algn="ctr">
                        <a:defRPr/>
                      </a:pPr>
                      <a:r>
                        <a:rPr sz="2800" b="1" i="0" u="none">
                          <a:solidFill>
                            <a:srgbClr val="FFFFFF"/>
                          </a:solidFill>
                          <a:latin typeface="Times New Roman"/>
                          <a:ea typeface="Times New Roman"/>
                          <a:cs typeface="Times New Roman"/>
                        </a:rPr>
                        <a:t>SL</a:t>
                      </a:r>
                      <a:endParaRPr sz="2200"/>
                    </a:p>
                  </a:txBody>
                  <a:tcPr marL="9524" marR="9524" marT="9524" marB="9524" anchor="ctr">
                    <a:lnL w="12667" algn="ctr">
                      <a:solidFill>
                        <a:srgbClr val="FFFFFF"/>
                      </a:solidFill>
                    </a:lnL>
                    <a:lnR w="12667" algn="ctr">
                      <a:solidFill>
                        <a:srgbClr val="FFFFFF"/>
                      </a:solidFill>
                    </a:lnR>
                    <a:lnT w="12667" algn="ctr">
                      <a:solidFill>
                        <a:srgbClr val="FFFFFF"/>
                      </a:solidFill>
                    </a:lnT>
                    <a:lnB w="38099" algn="ctr">
                      <a:solidFill>
                        <a:srgbClr val="FFFFFF"/>
                      </a:solidFill>
                    </a:lnB>
                    <a:solidFill>
                      <a:srgbClr val="142D4E"/>
                    </a:solidFill>
                  </a:tcPr>
                </a:tc>
                <a:tc>
                  <a:txBody>
                    <a:bodyPr/>
                    <a:lstStyle/>
                    <a:p>
                      <a:pPr algn="ctr">
                        <a:defRPr/>
                      </a:pPr>
                      <a:r>
                        <a:rPr sz="2800" b="1" i="0" u="none">
                          <a:solidFill>
                            <a:srgbClr val="FFFFFF"/>
                          </a:solidFill>
                          <a:latin typeface="Times New Roman"/>
                          <a:ea typeface="Times New Roman"/>
                          <a:cs typeface="Times New Roman"/>
                        </a:rPr>
                        <a:t>Đơn giá (đ)</a:t>
                      </a:r>
                      <a:endParaRPr sz="2200"/>
                    </a:p>
                  </a:txBody>
                  <a:tcPr marL="9524" marR="9524" marT="9524" marB="9524" anchor="ctr">
                    <a:lnL w="12667" algn="ctr">
                      <a:solidFill>
                        <a:srgbClr val="FFFFFF"/>
                      </a:solidFill>
                    </a:lnL>
                    <a:lnR w="12667" algn="ctr">
                      <a:solidFill>
                        <a:srgbClr val="FFFFFF"/>
                      </a:solidFill>
                    </a:lnR>
                    <a:lnT w="12667" algn="ctr">
                      <a:solidFill>
                        <a:srgbClr val="FFFFFF"/>
                      </a:solidFill>
                    </a:lnT>
                    <a:lnB w="38099" algn="ctr">
                      <a:solidFill>
                        <a:srgbClr val="FFFFFF"/>
                      </a:solidFill>
                    </a:lnB>
                    <a:solidFill>
                      <a:srgbClr val="142D4E"/>
                    </a:solidFill>
                  </a:tcPr>
                </a:tc>
                <a:tc>
                  <a:txBody>
                    <a:bodyPr/>
                    <a:lstStyle/>
                    <a:p>
                      <a:pPr algn="ctr">
                        <a:defRPr/>
                      </a:pPr>
                      <a:r>
                        <a:rPr sz="2800" b="1" i="0" u="none">
                          <a:solidFill>
                            <a:srgbClr val="FFFFFF"/>
                          </a:solidFill>
                          <a:latin typeface="Times New Roman"/>
                          <a:ea typeface="Times New Roman"/>
                          <a:cs typeface="Times New Roman"/>
                        </a:rPr>
                        <a:t>Thành tiền</a:t>
                      </a:r>
                      <a:endParaRPr sz="2200"/>
                    </a:p>
                  </a:txBody>
                  <a:tcPr marL="9524" marR="9524" marT="9524" marB="9524" anchor="ctr">
                    <a:lnL w="12667" algn="ctr">
                      <a:solidFill>
                        <a:srgbClr val="FFFFFF"/>
                      </a:solidFill>
                    </a:lnL>
                    <a:lnR w="12667" algn="ctr">
                      <a:solidFill>
                        <a:srgbClr val="FFFFFF"/>
                      </a:solidFill>
                    </a:lnR>
                    <a:lnT w="12667" algn="ctr">
                      <a:solidFill>
                        <a:srgbClr val="FFFFFF"/>
                      </a:solidFill>
                    </a:lnT>
                    <a:lnB w="38099" algn="ctr">
                      <a:solidFill>
                        <a:srgbClr val="FFFFFF"/>
                      </a:solidFill>
                    </a:lnB>
                    <a:solidFill>
                      <a:srgbClr val="142D4E"/>
                    </a:solidFill>
                  </a:tcPr>
                </a:tc>
                <a:extLst>
                  <a:ext uri="{0D108BD9-81ED-4DB2-BD59-A6C34878D82A}">
                    <a16:rowId xmlns:a16="http://schemas.microsoft.com/office/drawing/2014/main" val="10000"/>
                  </a:ext>
                </a:extLst>
              </a:tr>
              <a:tr h="713562">
                <a:tc>
                  <a:txBody>
                    <a:bodyPr/>
                    <a:lstStyle/>
                    <a:p>
                      <a:pPr algn="ctr">
                        <a:defRPr/>
                      </a:pPr>
                      <a:r>
                        <a:rPr sz="2800" b="0" i="0" u="none">
                          <a:solidFill>
                            <a:srgbClr val="282D32"/>
                          </a:solidFill>
                          <a:latin typeface="Times New Roman"/>
                          <a:ea typeface="Times New Roman"/>
                          <a:cs typeface="Times New Roman"/>
                        </a:rPr>
                        <a:t>1</a:t>
                      </a:r>
                      <a:endParaRPr sz="2200"/>
                    </a:p>
                  </a:txBody>
                  <a:tcPr marL="9524" marR="9524" marT="9524" marB="9524" anchor="ctr">
                    <a:lnL w="12667" algn="ctr">
                      <a:solidFill>
                        <a:srgbClr val="FFFFFF"/>
                      </a:solidFill>
                    </a:lnL>
                    <a:lnR w="12667" algn="ctr">
                      <a:solidFill>
                        <a:srgbClr val="FFFFFF"/>
                      </a:solidFill>
                    </a:lnR>
                    <a:lnT w="38099" algn="ctr">
                      <a:solidFill>
                        <a:srgbClr val="FFFFFF"/>
                      </a:solidFill>
                    </a:lnT>
                    <a:lnB w="12667" algn="ctr">
                      <a:solidFill>
                        <a:srgbClr val="FFFFFF"/>
                      </a:solidFill>
                    </a:lnB>
                    <a:solidFill>
                      <a:srgbClr val="D0D8E8"/>
                    </a:solidFill>
                  </a:tcPr>
                </a:tc>
                <a:tc>
                  <a:txBody>
                    <a:bodyPr/>
                    <a:lstStyle/>
                    <a:p>
                      <a:pPr algn="ctr">
                        <a:defRPr/>
                      </a:pPr>
                      <a:r>
                        <a:rPr sz="2800" b="0" i="0" u="none">
                          <a:solidFill>
                            <a:srgbClr val="282D32"/>
                          </a:solidFill>
                          <a:latin typeface="Times New Roman"/>
                          <a:ea typeface="Times New Roman"/>
                          <a:cs typeface="Times New Roman"/>
                        </a:rPr>
                        <a:t>Raspberry Pi 5</a:t>
                      </a:r>
                      <a:endParaRPr sz="2200"/>
                    </a:p>
                  </a:txBody>
                  <a:tcPr marL="9524" marR="9524" marT="9524" marB="9524" anchor="ctr">
                    <a:lnL w="12667" algn="ctr">
                      <a:solidFill>
                        <a:srgbClr val="FFFFFF"/>
                      </a:solidFill>
                    </a:lnL>
                    <a:lnR w="12667" algn="ctr">
                      <a:solidFill>
                        <a:srgbClr val="FFFFFF"/>
                      </a:solidFill>
                    </a:lnR>
                    <a:lnT w="38099" algn="ctr">
                      <a:solidFill>
                        <a:srgbClr val="FFFFFF"/>
                      </a:solidFill>
                    </a:lnT>
                    <a:lnB w="12667" algn="ctr">
                      <a:solidFill>
                        <a:srgbClr val="FFFFFF"/>
                      </a:solidFill>
                    </a:lnB>
                    <a:solidFill>
                      <a:srgbClr val="D0D8E8"/>
                    </a:solidFill>
                  </a:tcPr>
                </a:tc>
                <a:tc>
                  <a:txBody>
                    <a:bodyPr/>
                    <a:lstStyle/>
                    <a:p>
                      <a:pPr algn="ctr">
                        <a:defRPr/>
                      </a:pPr>
                      <a:r>
                        <a:rPr sz="2800" b="0" i="0" u="none">
                          <a:solidFill>
                            <a:srgbClr val="282D32"/>
                          </a:solidFill>
                          <a:latin typeface="Times New Roman"/>
                          <a:ea typeface="Times New Roman"/>
                          <a:cs typeface="Times New Roman"/>
                        </a:rPr>
                        <a:t>1</a:t>
                      </a:r>
                      <a:endParaRPr sz="2200"/>
                    </a:p>
                  </a:txBody>
                  <a:tcPr marL="9524" marR="9524" marT="9524" marB="9524" anchor="ctr">
                    <a:lnL w="12667" algn="ctr">
                      <a:solidFill>
                        <a:srgbClr val="FFFFFF"/>
                      </a:solidFill>
                    </a:lnL>
                    <a:lnR w="12667" algn="ctr">
                      <a:solidFill>
                        <a:srgbClr val="FFFFFF"/>
                      </a:solidFill>
                    </a:lnR>
                    <a:lnT w="38099" algn="ctr">
                      <a:solidFill>
                        <a:srgbClr val="FFFFFF"/>
                      </a:solidFill>
                    </a:lnT>
                    <a:lnB w="12667" algn="ctr">
                      <a:solidFill>
                        <a:srgbClr val="FFFFFF"/>
                      </a:solidFill>
                    </a:lnB>
                    <a:solidFill>
                      <a:srgbClr val="D0D8E8"/>
                    </a:solidFill>
                  </a:tcPr>
                </a:tc>
                <a:tc>
                  <a:txBody>
                    <a:bodyPr/>
                    <a:lstStyle/>
                    <a:p>
                      <a:pPr algn="ctr">
                        <a:defRPr/>
                      </a:pPr>
                      <a:r>
                        <a:rPr sz="2800" b="0" i="0" u="none">
                          <a:solidFill>
                            <a:srgbClr val="282D32"/>
                          </a:solidFill>
                          <a:latin typeface="Times New Roman"/>
                          <a:ea typeface="Times New Roman"/>
                          <a:cs typeface="Times New Roman"/>
                        </a:rPr>
                        <a:t>6.480.000</a:t>
                      </a:r>
                      <a:endParaRPr sz="2200"/>
                    </a:p>
                  </a:txBody>
                  <a:tcPr marL="9524" marR="9524" marT="9524" marB="9524" anchor="ctr">
                    <a:lnL w="12667" algn="ctr">
                      <a:solidFill>
                        <a:srgbClr val="FFFFFF"/>
                      </a:solidFill>
                    </a:lnL>
                    <a:lnR w="12667" algn="ctr">
                      <a:solidFill>
                        <a:srgbClr val="FFFFFF"/>
                      </a:solidFill>
                    </a:lnR>
                    <a:lnT w="38099" algn="ctr">
                      <a:solidFill>
                        <a:srgbClr val="FFFFFF"/>
                      </a:solidFill>
                    </a:lnT>
                    <a:lnB w="12667" algn="ctr">
                      <a:solidFill>
                        <a:srgbClr val="FFFFFF"/>
                      </a:solidFill>
                    </a:lnB>
                    <a:solidFill>
                      <a:srgbClr val="D0D8E8"/>
                    </a:solidFill>
                  </a:tcPr>
                </a:tc>
                <a:tc>
                  <a:txBody>
                    <a:bodyPr/>
                    <a:lstStyle/>
                    <a:p>
                      <a:pPr algn="ctr">
                        <a:defRPr/>
                      </a:pPr>
                      <a:r>
                        <a:rPr sz="2800" b="0" i="0" u="none">
                          <a:solidFill>
                            <a:srgbClr val="282D32"/>
                          </a:solidFill>
                          <a:latin typeface="Times New Roman"/>
                          <a:ea typeface="Times New Roman"/>
                          <a:cs typeface="Times New Roman"/>
                        </a:rPr>
                        <a:t>6.480.000</a:t>
                      </a:r>
                      <a:endParaRPr sz="2200"/>
                    </a:p>
                  </a:txBody>
                  <a:tcPr marL="9524" marR="9524" marT="9524" marB="9524" anchor="ctr">
                    <a:lnL w="12667" algn="ctr">
                      <a:solidFill>
                        <a:srgbClr val="FFFFFF"/>
                      </a:solidFill>
                    </a:lnL>
                    <a:lnR w="12667" algn="ctr">
                      <a:solidFill>
                        <a:srgbClr val="FFFFFF"/>
                      </a:solidFill>
                    </a:lnR>
                    <a:lnT w="38099" algn="ctr">
                      <a:solidFill>
                        <a:srgbClr val="FFFFFF"/>
                      </a:solidFill>
                    </a:lnT>
                    <a:lnB w="12667" algn="ctr">
                      <a:solidFill>
                        <a:srgbClr val="FFFFFF"/>
                      </a:solidFill>
                    </a:lnB>
                    <a:solidFill>
                      <a:srgbClr val="D0D8E8"/>
                    </a:solidFill>
                  </a:tcPr>
                </a:tc>
                <a:extLst>
                  <a:ext uri="{0D108BD9-81ED-4DB2-BD59-A6C34878D82A}">
                    <a16:rowId xmlns:a16="http://schemas.microsoft.com/office/drawing/2014/main" val="10001"/>
                  </a:ext>
                </a:extLst>
              </a:tr>
              <a:tr h="713562">
                <a:tc>
                  <a:txBody>
                    <a:bodyPr/>
                    <a:lstStyle/>
                    <a:p>
                      <a:pPr algn="ctr">
                        <a:defRPr/>
                      </a:pPr>
                      <a:r>
                        <a:rPr sz="2800" b="0" i="0" u="none">
                          <a:solidFill>
                            <a:srgbClr val="282D32"/>
                          </a:solidFill>
                          <a:latin typeface="Times New Roman"/>
                          <a:ea typeface="Times New Roman"/>
                          <a:cs typeface="Times New Roman"/>
                        </a:rPr>
                        <a:t>2</a:t>
                      </a:r>
                      <a:endParaRPr sz="2200"/>
                    </a:p>
                  </a:txBody>
                  <a:tcPr marL="9524" marR="9524" marT="9524" marB="9524" anchor="ctr">
                    <a:lnL w="12667" algn="ctr">
                      <a:solidFill>
                        <a:srgbClr val="FFFFFF"/>
                      </a:solidFill>
                    </a:lnL>
                    <a:lnR w="12667" algn="ctr">
                      <a:solidFill>
                        <a:srgbClr val="FFFFFF"/>
                      </a:solidFill>
                    </a:lnR>
                    <a:lnT w="12667" algn="ctr">
                      <a:solidFill>
                        <a:srgbClr val="FFFFFF"/>
                      </a:solidFill>
                    </a:lnT>
                    <a:lnB w="12667" algn="ctr">
                      <a:solidFill>
                        <a:srgbClr val="FFFFFF"/>
                      </a:solidFill>
                    </a:lnB>
                    <a:solidFill>
                      <a:srgbClr val="F2F6FA"/>
                    </a:solidFill>
                  </a:tcPr>
                </a:tc>
                <a:tc>
                  <a:txBody>
                    <a:bodyPr/>
                    <a:lstStyle/>
                    <a:p>
                      <a:pPr algn="ctr">
                        <a:defRPr/>
                      </a:pPr>
                      <a:r>
                        <a:rPr sz="2800" b="0" i="0" u="none">
                          <a:solidFill>
                            <a:srgbClr val="282D32"/>
                          </a:solidFill>
                          <a:latin typeface="Times New Roman"/>
                          <a:ea typeface="Times New Roman"/>
                          <a:cs typeface="Times New Roman"/>
                        </a:rPr>
                        <a:t>Raspberry Pi Camera Module 3</a:t>
                      </a:r>
                      <a:endParaRPr sz="2200"/>
                    </a:p>
                  </a:txBody>
                  <a:tcPr marL="9524" marR="9524" marT="9524" marB="9524" anchor="ctr">
                    <a:lnL w="12667" algn="ctr">
                      <a:solidFill>
                        <a:srgbClr val="FFFFFF"/>
                      </a:solidFill>
                    </a:lnL>
                    <a:lnR w="12667" algn="ctr">
                      <a:solidFill>
                        <a:srgbClr val="FFFFFF"/>
                      </a:solidFill>
                    </a:lnR>
                    <a:lnT w="12667" algn="ctr">
                      <a:solidFill>
                        <a:srgbClr val="FFFFFF"/>
                      </a:solidFill>
                    </a:lnT>
                    <a:lnB w="12667" algn="ctr">
                      <a:solidFill>
                        <a:srgbClr val="FFFFFF"/>
                      </a:solidFill>
                    </a:lnB>
                    <a:solidFill>
                      <a:srgbClr val="F2F6FA"/>
                    </a:solidFill>
                  </a:tcPr>
                </a:tc>
                <a:tc>
                  <a:txBody>
                    <a:bodyPr/>
                    <a:lstStyle/>
                    <a:p>
                      <a:pPr algn="ctr">
                        <a:defRPr/>
                      </a:pPr>
                      <a:r>
                        <a:rPr sz="2800" b="0" i="0" u="none">
                          <a:solidFill>
                            <a:srgbClr val="282D32"/>
                          </a:solidFill>
                          <a:latin typeface="Times New Roman"/>
                          <a:ea typeface="Times New Roman"/>
                          <a:cs typeface="Times New Roman"/>
                        </a:rPr>
                        <a:t>1</a:t>
                      </a:r>
                      <a:endParaRPr sz="2200"/>
                    </a:p>
                  </a:txBody>
                  <a:tcPr marL="9524" marR="9524" marT="9524" marB="9524" anchor="ctr">
                    <a:lnL w="12667" algn="ctr">
                      <a:solidFill>
                        <a:srgbClr val="FFFFFF"/>
                      </a:solidFill>
                    </a:lnL>
                    <a:lnR w="12667" algn="ctr">
                      <a:solidFill>
                        <a:srgbClr val="FFFFFF"/>
                      </a:solidFill>
                    </a:lnR>
                    <a:lnT w="12667" algn="ctr">
                      <a:solidFill>
                        <a:srgbClr val="FFFFFF"/>
                      </a:solidFill>
                    </a:lnT>
                    <a:lnB w="12667" algn="ctr">
                      <a:solidFill>
                        <a:srgbClr val="FFFFFF"/>
                      </a:solidFill>
                    </a:lnB>
                    <a:solidFill>
                      <a:srgbClr val="F2F6FA"/>
                    </a:solidFill>
                  </a:tcPr>
                </a:tc>
                <a:tc>
                  <a:txBody>
                    <a:bodyPr/>
                    <a:lstStyle/>
                    <a:p>
                      <a:pPr algn="ctr">
                        <a:defRPr/>
                      </a:pPr>
                      <a:r>
                        <a:rPr sz="2800" b="0" i="0" u="none">
                          <a:solidFill>
                            <a:srgbClr val="282D32"/>
                          </a:solidFill>
                          <a:latin typeface="Times New Roman"/>
                          <a:ea typeface="Times New Roman"/>
                          <a:cs typeface="Times New Roman"/>
                        </a:rPr>
                        <a:t>900.000</a:t>
                      </a:r>
                      <a:endParaRPr sz="2200"/>
                    </a:p>
                  </a:txBody>
                  <a:tcPr marL="9524" marR="9524" marT="9524" marB="9524" anchor="ctr">
                    <a:lnL w="12667" algn="ctr">
                      <a:solidFill>
                        <a:srgbClr val="FFFFFF"/>
                      </a:solidFill>
                    </a:lnL>
                    <a:lnR w="12667" algn="ctr">
                      <a:solidFill>
                        <a:srgbClr val="FFFFFF"/>
                      </a:solidFill>
                    </a:lnR>
                    <a:lnT w="12667" algn="ctr">
                      <a:solidFill>
                        <a:srgbClr val="FFFFFF"/>
                      </a:solidFill>
                    </a:lnT>
                    <a:lnB w="12667" algn="ctr">
                      <a:solidFill>
                        <a:srgbClr val="FFFFFF"/>
                      </a:solidFill>
                    </a:lnB>
                    <a:solidFill>
                      <a:srgbClr val="F2F6FA"/>
                    </a:solidFill>
                  </a:tcPr>
                </a:tc>
                <a:tc>
                  <a:txBody>
                    <a:bodyPr/>
                    <a:lstStyle/>
                    <a:p>
                      <a:pPr algn="ctr">
                        <a:defRPr/>
                      </a:pPr>
                      <a:r>
                        <a:rPr sz="2800" b="0" i="0" u="none">
                          <a:solidFill>
                            <a:srgbClr val="282D32"/>
                          </a:solidFill>
                          <a:latin typeface="Times New Roman"/>
                          <a:ea typeface="Times New Roman"/>
                          <a:cs typeface="Times New Roman"/>
                        </a:rPr>
                        <a:t>900.000</a:t>
                      </a:r>
                      <a:endParaRPr sz="2200"/>
                    </a:p>
                  </a:txBody>
                  <a:tcPr marL="9524" marR="9524" marT="9524" marB="9524" anchor="ctr">
                    <a:lnL w="12667" algn="ctr">
                      <a:solidFill>
                        <a:srgbClr val="FFFFFF"/>
                      </a:solidFill>
                    </a:lnL>
                    <a:lnR w="12667" algn="ctr">
                      <a:solidFill>
                        <a:srgbClr val="FFFFFF"/>
                      </a:solidFill>
                    </a:lnR>
                    <a:lnT w="12667" algn="ctr">
                      <a:solidFill>
                        <a:srgbClr val="FFFFFF"/>
                      </a:solidFill>
                    </a:lnT>
                    <a:lnB w="12667" algn="ctr">
                      <a:solidFill>
                        <a:srgbClr val="FFFFFF"/>
                      </a:solidFill>
                    </a:lnB>
                    <a:solidFill>
                      <a:srgbClr val="F2F6FA"/>
                    </a:solidFill>
                  </a:tcPr>
                </a:tc>
                <a:extLst>
                  <a:ext uri="{0D108BD9-81ED-4DB2-BD59-A6C34878D82A}">
                    <a16:rowId xmlns:a16="http://schemas.microsoft.com/office/drawing/2014/main" val="10002"/>
                  </a:ext>
                </a:extLst>
              </a:tr>
              <a:tr h="713562">
                <a:tc>
                  <a:txBody>
                    <a:bodyPr/>
                    <a:lstStyle/>
                    <a:p>
                      <a:pPr algn="ctr">
                        <a:defRPr/>
                      </a:pPr>
                      <a:r>
                        <a:rPr sz="2800" b="0" i="0" u="none">
                          <a:solidFill>
                            <a:srgbClr val="282D32"/>
                          </a:solidFill>
                          <a:latin typeface="Times New Roman"/>
                          <a:ea typeface="Times New Roman"/>
                          <a:cs typeface="Times New Roman"/>
                        </a:rPr>
                        <a:t>3</a:t>
                      </a:r>
                      <a:endParaRPr sz="2200"/>
                    </a:p>
                  </a:txBody>
                  <a:tcPr marL="9524" marR="9524" marT="9524" marB="9524" anchor="ctr">
                    <a:lnL w="12667" algn="ctr">
                      <a:solidFill>
                        <a:srgbClr val="FFFFFF"/>
                      </a:solidFill>
                    </a:lnL>
                    <a:lnR w="12667" algn="ctr">
                      <a:solidFill>
                        <a:srgbClr val="FFFFFF"/>
                      </a:solidFill>
                    </a:lnR>
                    <a:lnT w="12667" algn="ctr">
                      <a:solidFill>
                        <a:srgbClr val="FFFFFF"/>
                      </a:solidFill>
                    </a:lnT>
                    <a:lnB w="12667" algn="ctr">
                      <a:solidFill>
                        <a:srgbClr val="FFFFFF"/>
                      </a:solidFill>
                    </a:lnB>
                    <a:solidFill>
                      <a:srgbClr val="D0D8E8"/>
                    </a:solidFill>
                  </a:tcPr>
                </a:tc>
                <a:tc>
                  <a:txBody>
                    <a:bodyPr/>
                    <a:lstStyle/>
                    <a:p>
                      <a:pPr algn="ctr">
                        <a:defRPr/>
                      </a:pPr>
                      <a:r>
                        <a:rPr sz="2800" b="0" i="0" u="none">
                          <a:solidFill>
                            <a:srgbClr val="282D32"/>
                          </a:solidFill>
                          <a:latin typeface="Times New Roman"/>
                          <a:ea typeface="Times New Roman"/>
                          <a:cs typeface="Times New Roman"/>
                        </a:rPr>
                        <a:t>ESP32-S3 N16R8</a:t>
                      </a:r>
                      <a:endParaRPr sz="2200"/>
                    </a:p>
                  </a:txBody>
                  <a:tcPr marL="9524" marR="9524" marT="9524" marB="9524" anchor="ctr">
                    <a:lnL w="12667" algn="ctr">
                      <a:solidFill>
                        <a:srgbClr val="FFFFFF"/>
                      </a:solidFill>
                    </a:lnL>
                    <a:lnR w="12667" algn="ctr">
                      <a:solidFill>
                        <a:srgbClr val="FFFFFF"/>
                      </a:solidFill>
                    </a:lnR>
                    <a:lnT w="12667" algn="ctr">
                      <a:solidFill>
                        <a:srgbClr val="FFFFFF"/>
                      </a:solidFill>
                    </a:lnT>
                    <a:lnB w="12667" algn="ctr">
                      <a:solidFill>
                        <a:srgbClr val="FFFFFF"/>
                      </a:solidFill>
                    </a:lnB>
                    <a:solidFill>
                      <a:srgbClr val="D0D8E8"/>
                    </a:solidFill>
                  </a:tcPr>
                </a:tc>
                <a:tc>
                  <a:txBody>
                    <a:bodyPr/>
                    <a:lstStyle/>
                    <a:p>
                      <a:pPr algn="ctr">
                        <a:defRPr/>
                      </a:pPr>
                      <a:r>
                        <a:rPr sz="2800" b="0" i="0" u="none">
                          <a:solidFill>
                            <a:srgbClr val="282D32"/>
                          </a:solidFill>
                          <a:latin typeface="Times New Roman"/>
                          <a:ea typeface="Times New Roman"/>
                          <a:cs typeface="Times New Roman"/>
                        </a:rPr>
                        <a:t>1</a:t>
                      </a:r>
                      <a:endParaRPr sz="2200"/>
                    </a:p>
                  </a:txBody>
                  <a:tcPr marL="9524" marR="9524" marT="9524" marB="9524" anchor="ctr">
                    <a:lnL w="12667" algn="ctr">
                      <a:solidFill>
                        <a:srgbClr val="FFFFFF"/>
                      </a:solidFill>
                    </a:lnL>
                    <a:lnR w="12667" algn="ctr">
                      <a:solidFill>
                        <a:srgbClr val="FFFFFF"/>
                      </a:solidFill>
                    </a:lnR>
                    <a:lnT w="12667" algn="ctr">
                      <a:solidFill>
                        <a:srgbClr val="FFFFFF"/>
                      </a:solidFill>
                    </a:lnT>
                    <a:lnB w="12667" algn="ctr">
                      <a:solidFill>
                        <a:srgbClr val="FFFFFF"/>
                      </a:solidFill>
                    </a:lnB>
                    <a:solidFill>
                      <a:srgbClr val="D0D8E8"/>
                    </a:solidFill>
                  </a:tcPr>
                </a:tc>
                <a:tc>
                  <a:txBody>
                    <a:bodyPr/>
                    <a:lstStyle/>
                    <a:p>
                      <a:pPr algn="ctr">
                        <a:defRPr/>
                      </a:pPr>
                      <a:r>
                        <a:rPr sz="2800" b="0" i="0" u="none">
                          <a:solidFill>
                            <a:srgbClr val="282D32"/>
                          </a:solidFill>
                          <a:latin typeface="Times New Roman"/>
                          <a:ea typeface="Times New Roman"/>
                          <a:cs typeface="Times New Roman"/>
                        </a:rPr>
                        <a:t>0*</a:t>
                      </a:r>
                      <a:endParaRPr sz="2200"/>
                    </a:p>
                  </a:txBody>
                  <a:tcPr marL="9524" marR="9524" marT="9524" marB="9524" anchor="ctr">
                    <a:lnL w="12667" algn="ctr">
                      <a:solidFill>
                        <a:srgbClr val="FFFFFF"/>
                      </a:solidFill>
                    </a:lnL>
                    <a:lnR w="12667" algn="ctr">
                      <a:solidFill>
                        <a:srgbClr val="FFFFFF"/>
                      </a:solidFill>
                    </a:lnR>
                    <a:lnT w="12667" algn="ctr">
                      <a:solidFill>
                        <a:srgbClr val="FFFFFF"/>
                      </a:solidFill>
                    </a:lnT>
                    <a:lnB w="12667" algn="ctr">
                      <a:solidFill>
                        <a:srgbClr val="FFFFFF"/>
                      </a:solidFill>
                    </a:lnB>
                    <a:solidFill>
                      <a:srgbClr val="D0D8E8"/>
                    </a:solidFill>
                  </a:tcPr>
                </a:tc>
                <a:tc>
                  <a:txBody>
                    <a:bodyPr/>
                    <a:lstStyle/>
                    <a:p>
                      <a:pPr algn="ctr">
                        <a:defRPr/>
                      </a:pPr>
                      <a:r>
                        <a:rPr sz="2800" b="0" i="0" u="none">
                          <a:solidFill>
                            <a:srgbClr val="282D32"/>
                          </a:solidFill>
                          <a:latin typeface="Times New Roman"/>
                          <a:ea typeface="Times New Roman"/>
                          <a:cs typeface="Times New Roman"/>
                        </a:rPr>
                        <a:t>0</a:t>
                      </a:r>
                      <a:endParaRPr sz="2200"/>
                    </a:p>
                  </a:txBody>
                  <a:tcPr marL="9524" marR="9524" marT="9524" marB="9524" anchor="ctr">
                    <a:lnL w="12667" algn="ctr">
                      <a:solidFill>
                        <a:srgbClr val="FFFFFF"/>
                      </a:solidFill>
                    </a:lnL>
                    <a:lnR w="12667" algn="ctr">
                      <a:solidFill>
                        <a:srgbClr val="FFFFFF"/>
                      </a:solidFill>
                    </a:lnR>
                    <a:lnT w="12667" algn="ctr">
                      <a:solidFill>
                        <a:srgbClr val="FFFFFF"/>
                      </a:solidFill>
                    </a:lnT>
                    <a:lnB w="12667" algn="ctr">
                      <a:solidFill>
                        <a:srgbClr val="FFFFFF"/>
                      </a:solidFill>
                    </a:lnB>
                    <a:solidFill>
                      <a:srgbClr val="D0D8E8"/>
                    </a:solidFill>
                  </a:tcPr>
                </a:tc>
                <a:extLst>
                  <a:ext uri="{0D108BD9-81ED-4DB2-BD59-A6C34878D82A}">
                    <a16:rowId xmlns:a16="http://schemas.microsoft.com/office/drawing/2014/main" val="10003"/>
                  </a:ext>
                </a:extLst>
              </a:tr>
              <a:tr h="713562">
                <a:tc>
                  <a:txBody>
                    <a:bodyPr/>
                    <a:lstStyle/>
                    <a:p>
                      <a:pPr algn="ctr">
                        <a:defRPr/>
                      </a:pPr>
                      <a:r>
                        <a:rPr sz="2800" b="0" i="0" u="none">
                          <a:solidFill>
                            <a:srgbClr val="282D32"/>
                          </a:solidFill>
                          <a:latin typeface="Times New Roman"/>
                          <a:ea typeface="Times New Roman"/>
                          <a:cs typeface="Times New Roman"/>
                        </a:rPr>
                        <a:t>4</a:t>
                      </a:r>
                      <a:endParaRPr sz="2200"/>
                    </a:p>
                  </a:txBody>
                  <a:tcPr marL="9524" marR="9524" marT="9524" marB="9524" anchor="ctr">
                    <a:lnL w="12667" algn="ctr">
                      <a:solidFill>
                        <a:srgbClr val="FFFFFF"/>
                      </a:solidFill>
                    </a:lnL>
                    <a:lnR w="12667" algn="ctr">
                      <a:solidFill>
                        <a:srgbClr val="FFFFFF"/>
                      </a:solidFill>
                    </a:lnR>
                    <a:lnT w="12667" algn="ctr">
                      <a:solidFill>
                        <a:srgbClr val="FFFFFF"/>
                      </a:solidFill>
                    </a:lnT>
                    <a:lnB w="12667" algn="ctr">
                      <a:solidFill>
                        <a:srgbClr val="FFFFFF"/>
                      </a:solidFill>
                    </a:lnB>
                    <a:solidFill>
                      <a:srgbClr val="F2F6FA"/>
                    </a:solidFill>
                  </a:tcPr>
                </a:tc>
                <a:tc>
                  <a:txBody>
                    <a:bodyPr/>
                    <a:lstStyle/>
                    <a:p>
                      <a:pPr algn="ctr">
                        <a:defRPr/>
                      </a:pPr>
                      <a:r>
                        <a:rPr sz="2800" b="0" i="0" u="none">
                          <a:solidFill>
                            <a:srgbClr val="282D32"/>
                          </a:solidFill>
                          <a:latin typeface="Times New Roman"/>
                          <a:ea typeface="Times New Roman"/>
                          <a:cs typeface="Times New Roman"/>
                        </a:rPr>
                        <a:t>MLX90614 / GY-906</a:t>
                      </a:r>
                      <a:endParaRPr sz="2200"/>
                    </a:p>
                  </a:txBody>
                  <a:tcPr marL="9524" marR="9524" marT="9524" marB="9524" anchor="ctr">
                    <a:lnL w="12667" algn="ctr">
                      <a:solidFill>
                        <a:srgbClr val="FFFFFF"/>
                      </a:solidFill>
                    </a:lnL>
                    <a:lnR w="12667" algn="ctr">
                      <a:solidFill>
                        <a:srgbClr val="FFFFFF"/>
                      </a:solidFill>
                    </a:lnR>
                    <a:lnT w="12667" algn="ctr">
                      <a:solidFill>
                        <a:srgbClr val="FFFFFF"/>
                      </a:solidFill>
                    </a:lnT>
                    <a:lnB w="12667" algn="ctr">
                      <a:solidFill>
                        <a:srgbClr val="FFFFFF"/>
                      </a:solidFill>
                    </a:lnB>
                    <a:solidFill>
                      <a:srgbClr val="F2F6FA"/>
                    </a:solidFill>
                  </a:tcPr>
                </a:tc>
                <a:tc>
                  <a:txBody>
                    <a:bodyPr/>
                    <a:lstStyle/>
                    <a:p>
                      <a:pPr algn="ctr">
                        <a:defRPr/>
                      </a:pPr>
                      <a:r>
                        <a:rPr sz="2800" b="0" i="0" u="none">
                          <a:solidFill>
                            <a:srgbClr val="282D32"/>
                          </a:solidFill>
                          <a:latin typeface="Times New Roman"/>
                          <a:ea typeface="Times New Roman"/>
                          <a:cs typeface="Times New Roman"/>
                        </a:rPr>
                        <a:t>1</a:t>
                      </a:r>
                      <a:endParaRPr sz="2200"/>
                    </a:p>
                  </a:txBody>
                  <a:tcPr marL="9524" marR="9524" marT="9524" marB="9524" anchor="ctr">
                    <a:lnL w="12667" algn="ctr">
                      <a:solidFill>
                        <a:srgbClr val="FFFFFF"/>
                      </a:solidFill>
                    </a:lnL>
                    <a:lnR w="12667" algn="ctr">
                      <a:solidFill>
                        <a:srgbClr val="FFFFFF"/>
                      </a:solidFill>
                    </a:lnR>
                    <a:lnT w="12667" algn="ctr">
                      <a:solidFill>
                        <a:srgbClr val="FFFFFF"/>
                      </a:solidFill>
                    </a:lnT>
                    <a:lnB w="12667" algn="ctr">
                      <a:solidFill>
                        <a:srgbClr val="FFFFFF"/>
                      </a:solidFill>
                    </a:lnB>
                    <a:solidFill>
                      <a:srgbClr val="F2F6FA"/>
                    </a:solidFill>
                  </a:tcPr>
                </a:tc>
                <a:tc>
                  <a:txBody>
                    <a:bodyPr/>
                    <a:lstStyle/>
                    <a:p>
                      <a:pPr algn="ctr">
                        <a:defRPr/>
                      </a:pPr>
                      <a:r>
                        <a:rPr sz="2800" b="0" i="0" u="none">
                          <a:solidFill>
                            <a:srgbClr val="282D32"/>
                          </a:solidFill>
                          <a:latin typeface="Times New Roman"/>
                          <a:ea typeface="Times New Roman"/>
                          <a:cs typeface="Times New Roman"/>
                        </a:rPr>
                        <a:t>300.000</a:t>
                      </a:r>
                      <a:endParaRPr sz="2200"/>
                    </a:p>
                  </a:txBody>
                  <a:tcPr marL="9524" marR="9524" marT="9524" marB="9524" anchor="ctr">
                    <a:lnL w="12667" algn="ctr">
                      <a:solidFill>
                        <a:srgbClr val="FFFFFF"/>
                      </a:solidFill>
                    </a:lnL>
                    <a:lnR w="12667" algn="ctr">
                      <a:solidFill>
                        <a:srgbClr val="FFFFFF"/>
                      </a:solidFill>
                    </a:lnR>
                    <a:lnT w="12667" algn="ctr">
                      <a:solidFill>
                        <a:srgbClr val="FFFFFF"/>
                      </a:solidFill>
                    </a:lnT>
                    <a:lnB w="12667" algn="ctr">
                      <a:solidFill>
                        <a:srgbClr val="FFFFFF"/>
                      </a:solidFill>
                    </a:lnB>
                    <a:solidFill>
                      <a:srgbClr val="F2F6FA"/>
                    </a:solidFill>
                  </a:tcPr>
                </a:tc>
                <a:tc>
                  <a:txBody>
                    <a:bodyPr/>
                    <a:lstStyle/>
                    <a:p>
                      <a:pPr algn="ctr">
                        <a:defRPr/>
                      </a:pPr>
                      <a:r>
                        <a:rPr sz="2800" b="0" i="0" u="none">
                          <a:solidFill>
                            <a:srgbClr val="282D32"/>
                          </a:solidFill>
                          <a:latin typeface="Times New Roman"/>
                          <a:ea typeface="Times New Roman"/>
                          <a:cs typeface="Times New Roman"/>
                        </a:rPr>
                        <a:t>300.000</a:t>
                      </a:r>
                      <a:endParaRPr sz="2200"/>
                    </a:p>
                  </a:txBody>
                  <a:tcPr marL="9524" marR="9524" marT="9524" marB="9524" anchor="ctr">
                    <a:lnL w="12667" algn="ctr">
                      <a:solidFill>
                        <a:srgbClr val="FFFFFF"/>
                      </a:solidFill>
                    </a:lnL>
                    <a:lnR w="12667" algn="ctr">
                      <a:solidFill>
                        <a:srgbClr val="FFFFFF"/>
                      </a:solidFill>
                    </a:lnR>
                    <a:lnT w="12667" algn="ctr">
                      <a:solidFill>
                        <a:srgbClr val="FFFFFF"/>
                      </a:solidFill>
                    </a:lnT>
                    <a:lnB w="12667" algn="ctr">
                      <a:solidFill>
                        <a:srgbClr val="FFFFFF"/>
                      </a:solidFill>
                    </a:lnB>
                    <a:solidFill>
                      <a:srgbClr val="F2F6FA"/>
                    </a:solidFill>
                  </a:tcPr>
                </a:tc>
                <a:extLst>
                  <a:ext uri="{0D108BD9-81ED-4DB2-BD59-A6C34878D82A}">
                    <a16:rowId xmlns:a16="http://schemas.microsoft.com/office/drawing/2014/main" val="10004"/>
                  </a:ext>
                </a:extLst>
              </a:tr>
              <a:tr h="713562">
                <a:tc>
                  <a:txBody>
                    <a:bodyPr/>
                    <a:lstStyle/>
                    <a:p>
                      <a:pPr algn="ctr">
                        <a:defRPr/>
                      </a:pPr>
                      <a:r>
                        <a:rPr sz="2800" b="0" i="0" u="none">
                          <a:solidFill>
                            <a:srgbClr val="282D32"/>
                          </a:solidFill>
                          <a:latin typeface="Times New Roman"/>
                          <a:ea typeface="Times New Roman"/>
                          <a:cs typeface="Times New Roman"/>
                        </a:rPr>
                        <a:t>5</a:t>
                      </a:r>
                      <a:endParaRPr sz="2200"/>
                    </a:p>
                  </a:txBody>
                  <a:tcPr marL="9524" marR="9524" marT="9524" marB="9524" anchor="ctr">
                    <a:lnL w="12667" algn="ctr">
                      <a:solidFill>
                        <a:srgbClr val="FFFFFF"/>
                      </a:solidFill>
                    </a:lnL>
                    <a:lnR w="12667" algn="ctr">
                      <a:solidFill>
                        <a:srgbClr val="FFFFFF"/>
                      </a:solidFill>
                    </a:lnR>
                    <a:lnT w="12667" algn="ctr">
                      <a:solidFill>
                        <a:srgbClr val="FFFFFF"/>
                      </a:solidFill>
                    </a:lnT>
                    <a:lnB w="12667" algn="ctr">
                      <a:solidFill>
                        <a:srgbClr val="FFFFFF"/>
                      </a:solidFill>
                    </a:lnB>
                    <a:solidFill>
                      <a:srgbClr val="D0D8E8"/>
                    </a:solidFill>
                  </a:tcPr>
                </a:tc>
                <a:tc>
                  <a:txBody>
                    <a:bodyPr/>
                    <a:lstStyle/>
                    <a:p>
                      <a:pPr algn="ctr">
                        <a:defRPr/>
                      </a:pPr>
                      <a:r>
                        <a:rPr sz="2800" b="0" i="0" u="none">
                          <a:solidFill>
                            <a:srgbClr val="282D32"/>
                          </a:solidFill>
                          <a:latin typeface="Times New Roman"/>
                          <a:ea typeface="Times New Roman"/>
                          <a:cs typeface="Times New Roman"/>
                        </a:rPr>
                        <a:t>MAX30102</a:t>
                      </a:r>
                      <a:endParaRPr sz="2200"/>
                    </a:p>
                  </a:txBody>
                  <a:tcPr marL="9524" marR="9524" marT="9524" marB="9524" anchor="ctr">
                    <a:lnL w="12667" algn="ctr">
                      <a:solidFill>
                        <a:srgbClr val="FFFFFF"/>
                      </a:solidFill>
                    </a:lnL>
                    <a:lnR w="12667" algn="ctr">
                      <a:solidFill>
                        <a:srgbClr val="FFFFFF"/>
                      </a:solidFill>
                    </a:lnR>
                    <a:lnT w="12667" algn="ctr">
                      <a:solidFill>
                        <a:srgbClr val="FFFFFF"/>
                      </a:solidFill>
                    </a:lnT>
                    <a:lnB w="12667" algn="ctr">
                      <a:solidFill>
                        <a:srgbClr val="FFFFFF"/>
                      </a:solidFill>
                    </a:lnB>
                    <a:solidFill>
                      <a:srgbClr val="D0D8E8"/>
                    </a:solidFill>
                  </a:tcPr>
                </a:tc>
                <a:tc>
                  <a:txBody>
                    <a:bodyPr/>
                    <a:lstStyle/>
                    <a:p>
                      <a:pPr algn="ctr">
                        <a:defRPr/>
                      </a:pPr>
                      <a:r>
                        <a:rPr sz="2800" b="0" i="0" u="none">
                          <a:solidFill>
                            <a:srgbClr val="282D32"/>
                          </a:solidFill>
                          <a:latin typeface="Times New Roman"/>
                          <a:ea typeface="Times New Roman"/>
                          <a:cs typeface="Times New Roman"/>
                        </a:rPr>
                        <a:t>1</a:t>
                      </a:r>
                      <a:endParaRPr sz="2200"/>
                    </a:p>
                  </a:txBody>
                  <a:tcPr marL="9524" marR="9524" marT="9524" marB="9524" anchor="ctr">
                    <a:lnL w="12667" algn="ctr">
                      <a:solidFill>
                        <a:srgbClr val="FFFFFF"/>
                      </a:solidFill>
                    </a:lnL>
                    <a:lnR w="12667" algn="ctr">
                      <a:solidFill>
                        <a:srgbClr val="FFFFFF"/>
                      </a:solidFill>
                    </a:lnR>
                    <a:lnT w="12667" algn="ctr">
                      <a:solidFill>
                        <a:srgbClr val="FFFFFF"/>
                      </a:solidFill>
                    </a:lnT>
                    <a:lnB w="12667" algn="ctr">
                      <a:solidFill>
                        <a:srgbClr val="FFFFFF"/>
                      </a:solidFill>
                    </a:lnB>
                    <a:solidFill>
                      <a:srgbClr val="D0D8E8"/>
                    </a:solidFill>
                  </a:tcPr>
                </a:tc>
                <a:tc>
                  <a:txBody>
                    <a:bodyPr/>
                    <a:lstStyle/>
                    <a:p>
                      <a:pPr algn="ctr">
                        <a:defRPr/>
                      </a:pPr>
                      <a:r>
                        <a:rPr sz="2800" b="0" i="0" u="none">
                          <a:solidFill>
                            <a:srgbClr val="282D32"/>
                          </a:solidFill>
                          <a:latin typeface="Times New Roman"/>
                          <a:ea typeface="Times New Roman"/>
                          <a:cs typeface="Times New Roman"/>
                        </a:rPr>
                        <a:t>40.000</a:t>
                      </a:r>
                      <a:endParaRPr sz="2200"/>
                    </a:p>
                  </a:txBody>
                  <a:tcPr marL="9524" marR="9524" marT="9524" marB="9524" anchor="ctr">
                    <a:lnL w="12667" algn="ctr">
                      <a:solidFill>
                        <a:srgbClr val="FFFFFF"/>
                      </a:solidFill>
                    </a:lnL>
                    <a:lnR w="12667" algn="ctr">
                      <a:solidFill>
                        <a:srgbClr val="FFFFFF"/>
                      </a:solidFill>
                    </a:lnR>
                    <a:lnT w="12667" algn="ctr">
                      <a:solidFill>
                        <a:srgbClr val="FFFFFF"/>
                      </a:solidFill>
                    </a:lnT>
                    <a:lnB w="12667" algn="ctr">
                      <a:solidFill>
                        <a:srgbClr val="FFFFFF"/>
                      </a:solidFill>
                    </a:lnB>
                    <a:solidFill>
                      <a:srgbClr val="D0D8E8"/>
                    </a:solidFill>
                  </a:tcPr>
                </a:tc>
                <a:tc>
                  <a:txBody>
                    <a:bodyPr/>
                    <a:lstStyle/>
                    <a:p>
                      <a:pPr algn="ctr">
                        <a:defRPr/>
                      </a:pPr>
                      <a:r>
                        <a:rPr sz="2800" b="0" i="0" u="none">
                          <a:solidFill>
                            <a:srgbClr val="282D32"/>
                          </a:solidFill>
                          <a:latin typeface="Times New Roman"/>
                          <a:ea typeface="Times New Roman"/>
                          <a:cs typeface="Times New Roman"/>
                        </a:rPr>
                        <a:t>40.000</a:t>
                      </a:r>
                      <a:endParaRPr sz="2200"/>
                    </a:p>
                  </a:txBody>
                  <a:tcPr marL="9524" marR="9524" marT="9524" marB="9524" anchor="ctr">
                    <a:lnL w="12667" algn="ctr">
                      <a:solidFill>
                        <a:srgbClr val="FFFFFF"/>
                      </a:solidFill>
                    </a:lnL>
                    <a:lnR w="12667" algn="ctr">
                      <a:solidFill>
                        <a:srgbClr val="FFFFFF"/>
                      </a:solidFill>
                    </a:lnR>
                    <a:lnT w="12667" algn="ctr">
                      <a:solidFill>
                        <a:srgbClr val="FFFFFF"/>
                      </a:solidFill>
                    </a:lnT>
                    <a:lnB w="12667" algn="ctr">
                      <a:solidFill>
                        <a:srgbClr val="FFFFFF"/>
                      </a:solidFill>
                    </a:lnB>
                    <a:solidFill>
                      <a:srgbClr val="D0D8E8"/>
                    </a:solidFill>
                  </a:tcPr>
                </a:tc>
                <a:extLst>
                  <a:ext uri="{0D108BD9-81ED-4DB2-BD59-A6C34878D82A}">
                    <a16:rowId xmlns:a16="http://schemas.microsoft.com/office/drawing/2014/main" val="10005"/>
                  </a:ext>
                </a:extLst>
              </a:tr>
              <a:tr h="713562">
                <a:tc>
                  <a:txBody>
                    <a:bodyPr/>
                    <a:lstStyle/>
                    <a:p>
                      <a:pPr algn="ctr">
                        <a:defRPr/>
                      </a:pPr>
                      <a:r>
                        <a:rPr sz="2800" b="0" i="0" u="none">
                          <a:solidFill>
                            <a:srgbClr val="282D32"/>
                          </a:solidFill>
                          <a:latin typeface="Times New Roman"/>
                          <a:ea typeface="Times New Roman"/>
                          <a:cs typeface="Times New Roman"/>
                        </a:rPr>
                        <a:t>6</a:t>
                      </a:r>
                      <a:endParaRPr sz="2200"/>
                    </a:p>
                  </a:txBody>
                  <a:tcPr marL="9524" marR="9524" marT="9524" marB="9524" anchor="ctr">
                    <a:lnL w="12667" algn="ctr">
                      <a:solidFill>
                        <a:srgbClr val="FFFFFF"/>
                      </a:solidFill>
                    </a:lnL>
                    <a:lnR w="12667" algn="ctr">
                      <a:solidFill>
                        <a:srgbClr val="FFFFFF"/>
                      </a:solidFill>
                    </a:lnR>
                    <a:lnT w="12667" algn="ctr">
                      <a:solidFill>
                        <a:srgbClr val="FFFFFF"/>
                      </a:solidFill>
                    </a:lnT>
                    <a:lnB w="12667" algn="ctr">
                      <a:solidFill>
                        <a:srgbClr val="FFFFFF"/>
                      </a:solidFill>
                    </a:lnB>
                    <a:solidFill>
                      <a:srgbClr val="F2F6FA"/>
                    </a:solidFill>
                  </a:tcPr>
                </a:tc>
                <a:tc>
                  <a:txBody>
                    <a:bodyPr/>
                    <a:lstStyle/>
                    <a:p>
                      <a:pPr algn="ctr">
                        <a:defRPr/>
                      </a:pPr>
                      <a:r>
                        <a:rPr sz="2800" b="0" i="0" u="none">
                          <a:solidFill>
                            <a:srgbClr val="282D32"/>
                          </a:solidFill>
                          <a:latin typeface="Times New Roman"/>
                          <a:ea typeface="Times New Roman"/>
                          <a:cs typeface="Times New Roman"/>
                        </a:rPr>
                        <a:t>INMP441</a:t>
                      </a:r>
                      <a:endParaRPr sz="2200"/>
                    </a:p>
                  </a:txBody>
                  <a:tcPr marL="9524" marR="9524" marT="9524" marB="9524" anchor="ctr">
                    <a:lnL w="12667" algn="ctr">
                      <a:solidFill>
                        <a:srgbClr val="FFFFFF"/>
                      </a:solidFill>
                    </a:lnL>
                    <a:lnR w="12667" algn="ctr">
                      <a:solidFill>
                        <a:srgbClr val="FFFFFF"/>
                      </a:solidFill>
                    </a:lnR>
                    <a:lnT w="12667" algn="ctr">
                      <a:solidFill>
                        <a:srgbClr val="FFFFFF"/>
                      </a:solidFill>
                    </a:lnT>
                    <a:lnB w="12667" algn="ctr">
                      <a:solidFill>
                        <a:srgbClr val="FFFFFF"/>
                      </a:solidFill>
                    </a:lnB>
                    <a:solidFill>
                      <a:srgbClr val="F2F6FA"/>
                    </a:solidFill>
                  </a:tcPr>
                </a:tc>
                <a:tc>
                  <a:txBody>
                    <a:bodyPr/>
                    <a:lstStyle/>
                    <a:p>
                      <a:pPr algn="ctr">
                        <a:defRPr/>
                      </a:pPr>
                      <a:r>
                        <a:rPr sz="2800" b="0" i="0" u="none">
                          <a:solidFill>
                            <a:srgbClr val="282D32"/>
                          </a:solidFill>
                          <a:latin typeface="Times New Roman"/>
                          <a:ea typeface="Times New Roman"/>
                          <a:cs typeface="Times New Roman"/>
                        </a:rPr>
                        <a:t>1</a:t>
                      </a:r>
                      <a:endParaRPr sz="2200"/>
                    </a:p>
                  </a:txBody>
                  <a:tcPr marL="9524" marR="9524" marT="9524" marB="9524" anchor="ctr">
                    <a:lnL w="12667" algn="ctr">
                      <a:solidFill>
                        <a:srgbClr val="FFFFFF"/>
                      </a:solidFill>
                    </a:lnL>
                    <a:lnR w="12667" algn="ctr">
                      <a:solidFill>
                        <a:srgbClr val="FFFFFF"/>
                      </a:solidFill>
                    </a:lnR>
                    <a:lnT w="12667" algn="ctr">
                      <a:solidFill>
                        <a:srgbClr val="FFFFFF"/>
                      </a:solidFill>
                    </a:lnT>
                    <a:lnB w="12667" algn="ctr">
                      <a:solidFill>
                        <a:srgbClr val="FFFFFF"/>
                      </a:solidFill>
                    </a:lnB>
                    <a:solidFill>
                      <a:srgbClr val="F2F6FA"/>
                    </a:solidFill>
                  </a:tcPr>
                </a:tc>
                <a:tc>
                  <a:txBody>
                    <a:bodyPr/>
                    <a:lstStyle/>
                    <a:p>
                      <a:pPr algn="ctr">
                        <a:defRPr/>
                      </a:pPr>
                      <a:r>
                        <a:rPr sz="2800" b="0" i="0" u="none">
                          <a:solidFill>
                            <a:srgbClr val="282D32"/>
                          </a:solidFill>
                          <a:latin typeface="Times New Roman"/>
                          <a:ea typeface="Times New Roman"/>
                          <a:cs typeface="Times New Roman"/>
                        </a:rPr>
                        <a:t>40.000</a:t>
                      </a:r>
                      <a:endParaRPr sz="2200"/>
                    </a:p>
                  </a:txBody>
                  <a:tcPr marL="9524" marR="9524" marT="9524" marB="9524" anchor="ctr">
                    <a:lnL w="12667" algn="ctr">
                      <a:solidFill>
                        <a:srgbClr val="FFFFFF"/>
                      </a:solidFill>
                    </a:lnL>
                    <a:lnR w="12667" algn="ctr">
                      <a:solidFill>
                        <a:srgbClr val="FFFFFF"/>
                      </a:solidFill>
                    </a:lnR>
                    <a:lnT w="12667" algn="ctr">
                      <a:solidFill>
                        <a:srgbClr val="FFFFFF"/>
                      </a:solidFill>
                    </a:lnT>
                    <a:lnB w="12667" algn="ctr">
                      <a:solidFill>
                        <a:srgbClr val="FFFFFF"/>
                      </a:solidFill>
                    </a:lnB>
                    <a:solidFill>
                      <a:srgbClr val="F2F6FA"/>
                    </a:solidFill>
                  </a:tcPr>
                </a:tc>
                <a:tc>
                  <a:txBody>
                    <a:bodyPr/>
                    <a:lstStyle/>
                    <a:p>
                      <a:pPr algn="ctr">
                        <a:defRPr/>
                      </a:pPr>
                      <a:r>
                        <a:rPr sz="2800" b="0" i="0" u="none">
                          <a:solidFill>
                            <a:srgbClr val="282D32"/>
                          </a:solidFill>
                          <a:latin typeface="Times New Roman"/>
                          <a:ea typeface="Times New Roman"/>
                          <a:cs typeface="Times New Roman"/>
                        </a:rPr>
                        <a:t>40.000</a:t>
                      </a:r>
                      <a:endParaRPr sz="2200"/>
                    </a:p>
                  </a:txBody>
                  <a:tcPr marL="9524" marR="9524" marT="9524" marB="9524" anchor="ctr">
                    <a:lnL w="12667" algn="ctr">
                      <a:solidFill>
                        <a:srgbClr val="FFFFFF"/>
                      </a:solidFill>
                    </a:lnL>
                    <a:lnR w="12667" algn="ctr">
                      <a:solidFill>
                        <a:srgbClr val="FFFFFF"/>
                      </a:solidFill>
                    </a:lnR>
                    <a:lnT w="12667" algn="ctr">
                      <a:solidFill>
                        <a:srgbClr val="FFFFFF"/>
                      </a:solidFill>
                    </a:lnT>
                    <a:lnB w="12667" algn="ctr">
                      <a:solidFill>
                        <a:srgbClr val="FFFFFF"/>
                      </a:solidFill>
                    </a:lnB>
                    <a:solidFill>
                      <a:srgbClr val="F2F6FA"/>
                    </a:solidFill>
                  </a:tcPr>
                </a:tc>
                <a:extLst>
                  <a:ext uri="{0D108BD9-81ED-4DB2-BD59-A6C34878D82A}">
                    <a16:rowId xmlns:a16="http://schemas.microsoft.com/office/drawing/2014/main" val="10006"/>
                  </a:ext>
                </a:extLst>
              </a:tr>
              <a:tr h="713562">
                <a:tc>
                  <a:txBody>
                    <a:bodyPr/>
                    <a:lstStyle/>
                    <a:p>
                      <a:pPr algn="ctr">
                        <a:defRPr/>
                      </a:pPr>
                      <a:r>
                        <a:rPr sz="2800" b="0" i="0" u="none">
                          <a:solidFill>
                            <a:srgbClr val="282D32"/>
                          </a:solidFill>
                          <a:latin typeface="Times New Roman"/>
                          <a:ea typeface="Times New Roman"/>
                          <a:cs typeface="Times New Roman"/>
                        </a:rPr>
                        <a:t>7</a:t>
                      </a:r>
                      <a:endParaRPr sz="2200"/>
                    </a:p>
                  </a:txBody>
                  <a:tcPr marL="9524" marR="9524" marT="9524" marB="9524" anchor="ctr">
                    <a:lnL w="12667" algn="ctr">
                      <a:solidFill>
                        <a:srgbClr val="FFFFFF"/>
                      </a:solidFill>
                    </a:lnL>
                    <a:lnR w="12667" algn="ctr">
                      <a:solidFill>
                        <a:srgbClr val="FFFFFF"/>
                      </a:solidFill>
                    </a:lnR>
                    <a:lnT w="12667" algn="ctr">
                      <a:solidFill>
                        <a:srgbClr val="FFFFFF"/>
                      </a:solidFill>
                    </a:lnT>
                    <a:lnB w="12667" algn="ctr">
                      <a:solidFill>
                        <a:srgbClr val="FFFFFF"/>
                      </a:solidFill>
                    </a:lnB>
                    <a:solidFill>
                      <a:srgbClr val="D0D8E8"/>
                    </a:solidFill>
                  </a:tcPr>
                </a:tc>
                <a:tc>
                  <a:txBody>
                    <a:bodyPr/>
                    <a:lstStyle/>
                    <a:p>
                      <a:pPr algn="ctr">
                        <a:defRPr/>
                      </a:pPr>
                      <a:r>
                        <a:rPr sz="2800" b="0" i="0" u="none">
                          <a:solidFill>
                            <a:srgbClr val="282D32"/>
                          </a:solidFill>
                          <a:latin typeface="Times New Roman"/>
                          <a:ea typeface="Times New Roman"/>
                          <a:cs typeface="Times New Roman"/>
                        </a:rPr>
                        <a:t>Màn hình HDMI 5 inch</a:t>
                      </a:r>
                      <a:endParaRPr sz="2200"/>
                    </a:p>
                  </a:txBody>
                  <a:tcPr marL="9524" marR="9524" marT="9524" marB="9524" anchor="ctr">
                    <a:lnL w="12667" algn="ctr">
                      <a:solidFill>
                        <a:srgbClr val="FFFFFF"/>
                      </a:solidFill>
                    </a:lnL>
                    <a:lnR w="12667" algn="ctr">
                      <a:solidFill>
                        <a:srgbClr val="FFFFFF"/>
                      </a:solidFill>
                    </a:lnR>
                    <a:lnT w="12667" algn="ctr">
                      <a:solidFill>
                        <a:srgbClr val="FFFFFF"/>
                      </a:solidFill>
                    </a:lnT>
                    <a:lnB w="12667" algn="ctr">
                      <a:solidFill>
                        <a:srgbClr val="FFFFFF"/>
                      </a:solidFill>
                    </a:lnB>
                    <a:solidFill>
                      <a:srgbClr val="D0D8E8"/>
                    </a:solidFill>
                  </a:tcPr>
                </a:tc>
                <a:tc>
                  <a:txBody>
                    <a:bodyPr/>
                    <a:lstStyle/>
                    <a:p>
                      <a:pPr algn="ctr">
                        <a:defRPr/>
                      </a:pPr>
                      <a:r>
                        <a:rPr sz="2800" b="0" i="0" u="none">
                          <a:solidFill>
                            <a:srgbClr val="282D32"/>
                          </a:solidFill>
                          <a:latin typeface="Times New Roman"/>
                          <a:ea typeface="Times New Roman"/>
                          <a:cs typeface="Times New Roman"/>
                        </a:rPr>
                        <a:t>1</a:t>
                      </a:r>
                      <a:endParaRPr sz="2200"/>
                    </a:p>
                  </a:txBody>
                  <a:tcPr marL="9524" marR="9524" marT="9524" marB="9524" anchor="ctr">
                    <a:lnL w="12667" algn="ctr">
                      <a:solidFill>
                        <a:srgbClr val="FFFFFF"/>
                      </a:solidFill>
                    </a:lnL>
                    <a:lnR w="12667" algn="ctr">
                      <a:solidFill>
                        <a:srgbClr val="FFFFFF"/>
                      </a:solidFill>
                    </a:lnR>
                    <a:lnT w="12667" algn="ctr">
                      <a:solidFill>
                        <a:srgbClr val="FFFFFF"/>
                      </a:solidFill>
                    </a:lnT>
                    <a:lnB w="12667" algn="ctr">
                      <a:solidFill>
                        <a:srgbClr val="FFFFFF"/>
                      </a:solidFill>
                    </a:lnB>
                    <a:solidFill>
                      <a:srgbClr val="D0D8E8"/>
                    </a:solidFill>
                  </a:tcPr>
                </a:tc>
                <a:tc>
                  <a:txBody>
                    <a:bodyPr/>
                    <a:lstStyle/>
                    <a:p>
                      <a:pPr algn="ctr">
                        <a:defRPr/>
                      </a:pPr>
                      <a:r>
                        <a:rPr sz="2800" b="0" i="0" u="none">
                          <a:solidFill>
                            <a:srgbClr val="282D32"/>
                          </a:solidFill>
                          <a:latin typeface="Times New Roman"/>
                          <a:ea typeface="Times New Roman"/>
                          <a:cs typeface="Times New Roman"/>
                        </a:rPr>
                        <a:t>1.300.000</a:t>
                      </a:r>
                      <a:endParaRPr sz="2200"/>
                    </a:p>
                  </a:txBody>
                  <a:tcPr marL="9524" marR="9524" marT="9524" marB="9524" anchor="ctr">
                    <a:lnL w="12667" algn="ctr">
                      <a:solidFill>
                        <a:srgbClr val="FFFFFF"/>
                      </a:solidFill>
                    </a:lnL>
                    <a:lnR w="12667" algn="ctr">
                      <a:solidFill>
                        <a:srgbClr val="FFFFFF"/>
                      </a:solidFill>
                    </a:lnR>
                    <a:lnT w="12667" algn="ctr">
                      <a:solidFill>
                        <a:srgbClr val="FFFFFF"/>
                      </a:solidFill>
                    </a:lnT>
                    <a:lnB w="12667" algn="ctr">
                      <a:solidFill>
                        <a:srgbClr val="FFFFFF"/>
                      </a:solidFill>
                    </a:lnB>
                    <a:solidFill>
                      <a:srgbClr val="D0D8E8"/>
                    </a:solidFill>
                  </a:tcPr>
                </a:tc>
                <a:tc>
                  <a:txBody>
                    <a:bodyPr/>
                    <a:lstStyle/>
                    <a:p>
                      <a:pPr algn="ctr">
                        <a:defRPr/>
                      </a:pPr>
                      <a:r>
                        <a:rPr sz="2800" b="0" i="0" u="none">
                          <a:solidFill>
                            <a:srgbClr val="282D32"/>
                          </a:solidFill>
                          <a:latin typeface="Times New Roman"/>
                          <a:ea typeface="Times New Roman"/>
                          <a:cs typeface="Times New Roman"/>
                        </a:rPr>
                        <a:t>1.300.000</a:t>
                      </a:r>
                      <a:endParaRPr sz="2200"/>
                    </a:p>
                  </a:txBody>
                  <a:tcPr marL="9524" marR="9524" marT="9524" marB="9524" anchor="ctr">
                    <a:lnL w="12667" algn="ctr">
                      <a:solidFill>
                        <a:srgbClr val="FFFFFF"/>
                      </a:solidFill>
                    </a:lnL>
                    <a:lnR w="12667" algn="ctr">
                      <a:solidFill>
                        <a:srgbClr val="FFFFFF"/>
                      </a:solidFill>
                    </a:lnR>
                    <a:lnT w="12667" algn="ctr">
                      <a:solidFill>
                        <a:srgbClr val="FFFFFF"/>
                      </a:solidFill>
                    </a:lnT>
                    <a:lnB w="12667" algn="ctr">
                      <a:solidFill>
                        <a:srgbClr val="FFFFFF"/>
                      </a:solidFill>
                    </a:lnB>
                    <a:solidFill>
                      <a:srgbClr val="D0D8E8"/>
                    </a:solidFill>
                  </a:tcPr>
                </a:tc>
                <a:extLst>
                  <a:ext uri="{0D108BD9-81ED-4DB2-BD59-A6C34878D82A}">
                    <a16:rowId xmlns:a16="http://schemas.microsoft.com/office/drawing/2014/main" val="10007"/>
                  </a:ext>
                </a:extLst>
              </a:tr>
              <a:tr h="713562">
                <a:tc>
                  <a:txBody>
                    <a:bodyPr/>
                    <a:lstStyle/>
                    <a:p>
                      <a:pPr algn="ctr">
                        <a:defRPr/>
                      </a:pPr>
                      <a:r>
                        <a:rPr sz="2800" b="0" i="0" u="none">
                          <a:solidFill>
                            <a:srgbClr val="282D32"/>
                          </a:solidFill>
                          <a:latin typeface="Times New Roman"/>
                          <a:ea typeface="Times New Roman"/>
                          <a:cs typeface="Times New Roman"/>
                        </a:rPr>
                        <a:t>8</a:t>
                      </a:r>
                      <a:endParaRPr sz="2200"/>
                    </a:p>
                  </a:txBody>
                  <a:tcPr marL="9524" marR="9524" marT="9524" marB="9524" anchor="ctr">
                    <a:lnL w="12667" algn="ctr">
                      <a:solidFill>
                        <a:srgbClr val="FFFFFF"/>
                      </a:solidFill>
                    </a:lnL>
                    <a:lnR w="12667" algn="ctr">
                      <a:solidFill>
                        <a:srgbClr val="FFFFFF"/>
                      </a:solidFill>
                    </a:lnR>
                    <a:lnT w="12667" algn="ctr">
                      <a:solidFill>
                        <a:srgbClr val="FFFFFF"/>
                      </a:solidFill>
                    </a:lnT>
                    <a:lnB w="12667" algn="ctr">
                      <a:solidFill>
                        <a:srgbClr val="FFFFFF"/>
                      </a:solidFill>
                    </a:lnB>
                    <a:solidFill>
                      <a:srgbClr val="E9EDF4"/>
                    </a:solidFill>
                  </a:tcPr>
                </a:tc>
                <a:tc>
                  <a:txBody>
                    <a:bodyPr/>
                    <a:lstStyle/>
                    <a:p>
                      <a:pPr algn="ctr">
                        <a:defRPr/>
                      </a:pPr>
                      <a:r>
                        <a:rPr sz="2800" b="0" i="0" u="none">
                          <a:solidFill>
                            <a:srgbClr val="282D32"/>
                          </a:solidFill>
                          <a:latin typeface="Times New Roman"/>
                          <a:ea typeface="Times New Roman"/>
                          <a:cs typeface="Times New Roman"/>
                        </a:rPr>
                        <a:t>Loa + mạch khuếch đại</a:t>
                      </a:r>
                      <a:endParaRPr sz="2200"/>
                    </a:p>
                  </a:txBody>
                  <a:tcPr marL="9524" marR="9524" marT="9524" marB="9524" anchor="ctr">
                    <a:lnL w="12667" algn="ctr">
                      <a:solidFill>
                        <a:srgbClr val="FFFFFF"/>
                      </a:solidFill>
                    </a:lnL>
                    <a:lnR w="12667" algn="ctr">
                      <a:solidFill>
                        <a:srgbClr val="FFFFFF"/>
                      </a:solidFill>
                    </a:lnR>
                    <a:lnT w="12667" algn="ctr">
                      <a:solidFill>
                        <a:srgbClr val="FFFFFF"/>
                      </a:solidFill>
                    </a:lnT>
                    <a:lnB w="12667" algn="ctr">
                      <a:solidFill>
                        <a:srgbClr val="FFFFFF"/>
                      </a:solidFill>
                    </a:lnB>
                    <a:solidFill>
                      <a:srgbClr val="E9EDF4"/>
                    </a:solidFill>
                  </a:tcPr>
                </a:tc>
                <a:tc>
                  <a:txBody>
                    <a:bodyPr/>
                    <a:lstStyle/>
                    <a:p>
                      <a:pPr algn="ctr">
                        <a:defRPr/>
                      </a:pPr>
                      <a:r>
                        <a:rPr sz="2800" b="0" i="0" u="none">
                          <a:solidFill>
                            <a:srgbClr val="282D32"/>
                          </a:solidFill>
                          <a:latin typeface="Times New Roman"/>
                          <a:ea typeface="Times New Roman"/>
                          <a:cs typeface="Times New Roman"/>
                        </a:rPr>
                        <a:t>1 bộ</a:t>
                      </a:r>
                      <a:endParaRPr sz="2200"/>
                    </a:p>
                  </a:txBody>
                  <a:tcPr marL="9524" marR="9524" marT="9524" marB="9524" anchor="ctr">
                    <a:lnL w="12667" algn="ctr">
                      <a:solidFill>
                        <a:srgbClr val="FFFFFF"/>
                      </a:solidFill>
                    </a:lnL>
                    <a:lnR w="12667" algn="ctr">
                      <a:solidFill>
                        <a:srgbClr val="FFFFFF"/>
                      </a:solidFill>
                    </a:lnR>
                    <a:lnT w="12667" algn="ctr">
                      <a:solidFill>
                        <a:srgbClr val="FFFFFF"/>
                      </a:solidFill>
                    </a:lnT>
                    <a:lnB w="12667" algn="ctr">
                      <a:solidFill>
                        <a:srgbClr val="FFFFFF"/>
                      </a:solidFill>
                    </a:lnB>
                    <a:solidFill>
                      <a:srgbClr val="E9EDF4"/>
                    </a:solidFill>
                  </a:tcPr>
                </a:tc>
                <a:tc>
                  <a:txBody>
                    <a:bodyPr/>
                    <a:lstStyle/>
                    <a:p>
                      <a:pPr algn="ctr">
                        <a:defRPr/>
                      </a:pPr>
                      <a:r>
                        <a:rPr sz="2800" b="0" i="0" u="none">
                          <a:solidFill>
                            <a:srgbClr val="282D32"/>
                          </a:solidFill>
                          <a:latin typeface="Times New Roman"/>
                          <a:ea typeface="Times New Roman"/>
                          <a:cs typeface="Times New Roman"/>
                        </a:rPr>
                        <a:t>100.000</a:t>
                      </a:r>
                      <a:endParaRPr sz="2200"/>
                    </a:p>
                  </a:txBody>
                  <a:tcPr marL="9524" marR="9524" marT="9524" marB="9524" anchor="ctr">
                    <a:lnL w="12667" algn="ctr">
                      <a:solidFill>
                        <a:srgbClr val="FFFFFF"/>
                      </a:solidFill>
                    </a:lnL>
                    <a:lnR w="12667" algn="ctr">
                      <a:solidFill>
                        <a:srgbClr val="FFFFFF"/>
                      </a:solidFill>
                    </a:lnR>
                    <a:lnT w="12667" algn="ctr">
                      <a:solidFill>
                        <a:srgbClr val="FFFFFF"/>
                      </a:solidFill>
                    </a:lnT>
                    <a:lnB w="12667" algn="ctr">
                      <a:solidFill>
                        <a:srgbClr val="FFFFFF"/>
                      </a:solidFill>
                    </a:lnB>
                    <a:solidFill>
                      <a:srgbClr val="E9EDF4"/>
                    </a:solidFill>
                  </a:tcPr>
                </a:tc>
                <a:tc>
                  <a:txBody>
                    <a:bodyPr/>
                    <a:lstStyle/>
                    <a:p>
                      <a:pPr algn="ctr">
                        <a:defRPr/>
                      </a:pPr>
                      <a:r>
                        <a:rPr sz="2800" b="0" i="0" u="none">
                          <a:solidFill>
                            <a:srgbClr val="282D32"/>
                          </a:solidFill>
                          <a:latin typeface="Times New Roman"/>
                          <a:ea typeface="Times New Roman"/>
                          <a:cs typeface="Times New Roman"/>
                        </a:rPr>
                        <a:t>100.000</a:t>
                      </a:r>
                      <a:endParaRPr sz="2200"/>
                    </a:p>
                  </a:txBody>
                  <a:tcPr marL="9524" marR="9524" marT="9524" marB="9524" anchor="ctr">
                    <a:lnL w="12667" algn="ctr">
                      <a:solidFill>
                        <a:srgbClr val="FFFFFF"/>
                      </a:solidFill>
                    </a:lnL>
                    <a:lnR w="12667" algn="ctr">
                      <a:solidFill>
                        <a:srgbClr val="FFFFFF"/>
                      </a:solidFill>
                    </a:lnR>
                    <a:lnT w="12667" algn="ctr">
                      <a:solidFill>
                        <a:srgbClr val="FFFFFF"/>
                      </a:solidFill>
                    </a:lnT>
                    <a:lnB w="12667" algn="ctr">
                      <a:solidFill>
                        <a:srgbClr val="FFFFFF"/>
                      </a:solidFill>
                    </a:lnB>
                    <a:solidFill>
                      <a:srgbClr val="E9EDF4"/>
                    </a:solidFill>
                  </a:tcPr>
                </a:tc>
                <a:extLst>
                  <a:ext uri="{0D108BD9-81ED-4DB2-BD59-A6C34878D82A}">
                    <a16:rowId xmlns:a16="http://schemas.microsoft.com/office/drawing/2014/main" val="10008"/>
                  </a:ext>
                </a:extLst>
              </a:tr>
              <a:tr h="713562">
                <a:tc>
                  <a:txBody>
                    <a:bodyPr/>
                    <a:lstStyle/>
                    <a:p>
                      <a:pPr algn="ctr">
                        <a:defRPr/>
                      </a:pPr>
                      <a:r>
                        <a:rPr sz="2800" b="0" i="0" u="none">
                          <a:solidFill>
                            <a:srgbClr val="282D32"/>
                          </a:solidFill>
                          <a:latin typeface="Times New Roman"/>
                          <a:ea typeface="Times New Roman"/>
                          <a:cs typeface="Times New Roman"/>
                        </a:rPr>
                        <a:t>9</a:t>
                      </a:r>
                      <a:endParaRPr sz="2200"/>
                    </a:p>
                  </a:txBody>
                  <a:tcPr marL="9524" marR="9524" marT="9524" marB="9524" anchor="ctr">
                    <a:lnL w="12667" algn="ctr">
                      <a:solidFill>
                        <a:srgbClr val="FFFFFF"/>
                      </a:solidFill>
                    </a:lnL>
                    <a:lnR w="12667" algn="ctr">
                      <a:solidFill>
                        <a:srgbClr val="FFFFFF"/>
                      </a:solidFill>
                    </a:lnR>
                    <a:lnT w="12667" algn="ctr">
                      <a:solidFill>
                        <a:srgbClr val="FFFFFF"/>
                      </a:solidFill>
                    </a:lnT>
                    <a:lnB w="12667" algn="ctr">
                      <a:solidFill>
                        <a:srgbClr val="FFFFFF"/>
                      </a:solidFill>
                    </a:lnB>
                    <a:solidFill>
                      <a:srgbClr val="F2F6FA"/>
                    </a:solidFill>
                  </a:tcPr>
                </a:tc>
                <a:tc>
                  <a:txBody>
                    <a:bodyPr/>
                    <a:lstStyle/>
                    <a:p>
                      <a:pPr algn="ctr">
                        <a:defRPr/>
                      </a:pPr>
                      <a:r>
                        <a:rPr sz="2800" b="0" i="0" u="none">
                          <a:solidFill>
                            <a:srgbClr val="282D32"/>
                          </a:solidFill>
                          <a:latin typeface="Times New Roman"/>
                          <a:ea typeface="Times New Roman"/>
                          <a:cs typeface="Times New Roman"/>
                        </a:rPr>
                        <a:t>Nguồn + dây + PCB + linh kiện phụ</a:t>
                      </a:r>
                      <a:endParaRPr sz="2200"/>
                    </a:p>
                  </a:txBody>
                  <a:tcPr marL="9524" marR="9524" marT="9524" marB="9524" anchor="ctr">
                    <a:lnL w="12667" algn="ctr">
                      <a:solidFill>
                        <a:srgbClr val="FFFFFF"/>
                      </a:solidFill>
                    </a:lnL>
                    <a:lnR w="12667" algn="ctr">
                      <a:solidFill>
                        <a:srgbClr val="FFFFFF"/>
                      </a:solidFill>
                    </a:lnR>
                    <a:lnT w="12667" algn="ctr">
                      <a:solidFill>
                        <a:srgbClr val="FFFFFF"/>
                      </a:solidFill>
                    </a:lnT>
                    <a:lnB w="12667" algn="ctr">
                      <a:solidFill>
                        <a:srgbClr val="FFFFFF"/>
                      </a:solidFill>
                    </a:lnB>
                    <a:solidFill>
                      <a:srgbClr val="F2F6FA"/>
                    </a:solidFill>
                  </a:tcPr>
                </a:tc>
                <a:tc>
                  <a:txBody>
                    <a:bodyPr/>
                    <a:lstStyle/>
                    <a:p>
                      <a:pPr algn="ctr">
                        <a:defRPr/>
                      </a:pPr>
                      <a:r>
                        <a:rPr sz="2800" b="0" i="0" u="none">
                          <a:solidFill>
                            <a:srgbClr val="282D32"/>
                          </a:solidFill>
                          <a:latin typeface="Times New Roman"/>
                          <a:ea typeface="Times New Roman"/>
                          <a:cs typeface="Times New Roman"/>
                        </a:rPr>
                        <a:t>1 bộ</a:t>
                      </a:r>
                      <a:endParaRPr sz="2200"/>
                    </a:p>
                  </a:txBody>
                  <a:tcPr marL="9524" marR="9524" marT="9524" marB="9524" anchor="ctr">
                    <a:lnL w="12667" algn="ctr">
                      <a:solidFill>
                        <a:srgbClr val="FFFFFF"/>
                      </a:solidFill>
                    </a:lnL>
                    <a:lnR w="12667" algn="ctr">
                      <a:solidFill>
                        <a:srgbClr val="FFFFFF"/>
                      </a:solidFill>
                    </a:lnR>
                    <a:lnT w="12667" algn="ctr">
                      <a:solidFill>
                        <a:srgbClr val="FFFFFF"/>
                      </a:solidFill>
                    </a:lnT>
                    <a:lnB w="12667" algn="ctr">
                      <a:solidFill>
                        <a:srgbClr val="FFFFFF"/>
                      </a:solidFill>
                    </a:lnB>
                    <a:solidFill>
                      <a:srgbClr val="F2F6FA"/>
                    </a:solidFill>
                  </a:tcPr>
                </a:tc>
                <a:tc>
                  <a:txBody>
                    <a:bodyPr/>
                    <a:lstStyle/>
                    <a:p>
                      <a:pPr algn="ctr">
                        <a:defRPr/>
                      </a:pPr>
                      <a:r>
                        <a:rPr sz="2800" b="0" i="0" u="none">
                          <a:solidFill>
                            <a:srgbClr val="282D32"/>
                          </a:solidFill>
                          <a:latin typeface="Times New Roman"/>
                          <a:ea typeface="Times New Roman"/>
                          <a:cs typeface="Times New Roman"/>
                        </a:rPr>
                        <a:t>300.000</a:t>
                      </a:r>
                      <a:endParaRPr sz="2200"/>
                    </a:p>
                  </a:txBody>
                  <a:tcPr marL="9524" marR="9524" marT="9524" marB="9524" anchor="ctr">
                    <a:lnL w="12667" algn="ctr">
                      <a:solidFill>
                        <a:srgbClr val="FFFFFF"/>
                      </a:solidFill>
                    </a:lnL>
                    <a:lnR w="12667" algn="ctr">
                      <a:solidFill>
                        <a:srgbClr val="FFFFFF"/>
                      </a:solidFill>
                    </a:lnR>
                    <a:lnT w="12667" algn="ctr">
                      <a:solidFill>
                        <a:srgbClr val="FFFFFF"/>
                      </a:solidFill>
                    </a:lnT>
                    <a:lnB w="12667" algn="ctr">
                      <a:solidFill>
                        <a:srgbClr val="FFFFFF"/>
                      </a:solidFill>
                    </a:lnB>
                    <a:solidFill>
                      <a:srgbClr val="F2F6FA"/>
                    </a:solidFill>
                  </a:tcPr>
                </a:tc>
                <a:tc>
                  <a:txBody>
                    <a:bodyPr/>
                    <a:lstStyle/>
                    <a:p>
                      <a:pPr algn="ctr">
                        <a:defRPr/>
                      </a:pPr>
                      <a:r>
                        <a:rPr sz="2800" b="0" i="0" u="none">
                          <a:solidFill>
                            <a:srgbClr val="282D32"/>
                          </a:solidFill>
                          <a:latin typeface="Times New Roman"/>
                          <a:ea typeface="Times New Roman"/>
                          <a:cs typeface="Times New Roman"/>
                        </a:rPr>
                        <a:t>300.000</a:t>
                      </a:r>
                      <a:endParaRPr sz="2200"/>
                    </a:p>
                  </a:txBody>
                  <a:tcPr marL="9524" marR="9524" marT="9524" marB="9524" anchor="ctr">
                    <a:lnL w="12667" algn="ctr">
                      <a:solidFill>
                        <a:srgbClr val="FFFFFF"/>
                      </a:solidFill>
                    </a:lnL>
                    <a:lnR w="12667" algn="ctr">
                      <a:solidFill>
                        <a:srgbClr val="FFFFFF"/>
                      </a:solidFill>
                    </a:lnR>
                    <a:lnT w="12667" algn="ctr">
                      <a:solidFill>
                        <a:srgbClr val="FFFFFF"/>
                      </a:solidFill>
                    </a:lnT>
                    <a:lnB w="12667" algn="ctr">
                      <a:solidFill>
                        <a:srgbClr val="FFFFFF"/>
                      </a:solidFill>
                    </a:lnB>
                    <a:solidFill>
                      <a:srgbClr val="F2F6FA"/>
                    </a:solidFill>
                  </a:tcPr>
                </a:tc>
                <a:extLst>
                  <a:ext uri="{0D108BD9-81ED-4DB2-BD59-A6C34878D82A}">
                    <a16:rowId xmlns:a16="http://schemas.microsoft.com/office/drawing/2014/main" val="10009"/>
                  </a:ext>
                </a:extLst>
              </a:tr>
              <a:tr h="713562">
                <a:tc>
                  <a:txBody>
                    <a:bodyPr/>
                    <a:lstStyle/>
                    <a:p>
                      <a:pPr algn="ctr">
                        <a:defRPr/>
                      </a:pPr>
                      <a:r>
                        <a:rPr sz="2800" b="0" i="0" u="none">
                          <a:solidFill>
                            <a:srgbClr val="282D32"/>
                          </a:solidFill>
                          <a:latin typeface="Times New Roman"/>
                          <a:ea typeface="Times New Roman"/>
                          <a:cs typeface="Times New Roman"/>
                        </a:rPr>
                        <a:t>10</a:t>
                      </a:r>
                      <a:endParaRPr sz="2200"/>
                    </a:p>
                  </a:txBody>
                  <a:tcPr marL="9524" marR="9524" marT="9524" marB="9524" anchor="ctr">
                    <a:lnL w="12667" algn="ctr">
                      <a:solidFill>
                        <a:srgbClr val="FFFFFF"/>
                      </a:solidFill>
                    </a:lnL>
                    <a:lnR w="12667" algn="ctr">
                      <a:solidFill>
                        <a:srgbClr val="FFFFFF"/>
                      </a:solidFill>
                    </a:lnR>
                    <a:lnT w="12667" algn="ctr">
                      <a:solidFill>
                        <a:srgbClr val="FFFFFF"/>
                      </a:solidFill>
                    </a:lnT>
                    <a:lnB w="12667" algn="ctr">
                      <a:solidFill>
                        <a:srgbClr val="FFFFFF"/>
                      </a:solidFill>
                    </a:lnB>
                    <a:solidFill>
                      <a:srgbClr val="E9EDF4"/>
                    </a:solidFill>
                  </a:tcPr>
                </a:tc>
                <a:tc>
                  <a:txBody>
                    <a:bodyPr/>
                    <a:lstStyle/>
                    <a:p>
                      <a:pPr algn="ctr">
                        <a:defRPr/>
                      </a:pPr>
                      <a:r>
                        <a:rPr sz="2800" b="0" i="0" u="none">
                          <a:solidFill>
                            <a:srgbClr val="282D32"/>
                          </a:solidFill>
                          <a:latin typeface="Times New Roman"/>
                          <a:ea typeface="Times New Roman"/>
                          <a:cs typeface="Times New Roman"/>
                        </a:rPr>
                        <a:t>Vỏ mô hình Kiosk</a:t>
                      </a:r>
                      <a:endParaRPr sz="2200"/>
                    </a:p>
                  </a:txBody>
                  <a:tcPr marL="9524" marR="9524" marT="9524" marB="9524" anchor="ctr">
                    <a:lnL w="12667" algn="ctr">
                      <a:solidFill>
                        <a:srgbClr val="FFFFFF"/>
                      </a:solidFill>
                    </a:lnL>
                    <a:lnR w="12667" algn="ctr">
                      <a:solidFill>
                        <a:srgbClr val="FFFFFF"/>
                      </a:solidFill>
                    </a:lnR>
                    <a:lnT w="12667" algn="ctr">
                      <a:solidFill>
                        <a:srgbClr val="FFFFFF"/>
                      </a:solidFill>
                    </a:lnT>
                    <a:lnB w="12667" algn="ctr">
                      <a:solidFill>
                        <a:srgbClr val="FFFFFF"/>
                      </a:solidFill>
                    </a:lnB>
                    <a:solidFill>
                      <a:srgbClr val="E9EDF4"/>
                    </a:solidFill>
                  </a:tcPr>
                </a:tc>
                <a:tc>
                  <a:txBody>
                    <a:bodyPr/>
                    <a:lstStyle/>
                    <a:p>
                      <a:pPr algn="ctr">
                        <a:defRPr/>
                      </a:pPr>
                      <a:r>
                        <a:rPr sz="2800" b="0" i="0" u="none">
                          <a:solidFill>
                            <a:srgbClr val="282D32"/>
                          </a:solidFill>
                          <a:latin typeface="Times New Roman"/>
                          <a:ea typeface="Times New Roman"/>
                          <a:cs typeface="Times New Roman"/>
                        </a:rPr>
                        <a:t>1</a:t>
                      </a:r>
                      <a:endParaRPr sz="2200"/>
                    </a:p>
                  </a:txBody>
                  <a:tcPr marL="9524" marR="9524" marT="9524" marB="9524" anchor="ctr">
                    <a:lnL w="12667" algn="ctr">
                      <a:solidFill>
                        <a:srgbClr val="FFFFFF"/>
                      </a:solidFill>
                    </a:lnL>
                    <a:lnR w="12667" algn="ctr">
                      <a:solidFill>
                        <a:srgbClr val="FFFFFF"/>
                      </a:solidFill>
                    </a:lnR>
                    <a:lnT w="12667" algn="ctr">
                      <a:solidFill>
                        <a:srgbClr val="FFFFFF"/>
                      </a:solidFill>
                    </a:lnT>
                    <a:lnB w="12667" algn="ctr">
                      <a:solidFill>
                        <a:srgbClr val="FFFFFF"/>
                      </a:solidFill>
                    </a:lnB>
                    <a:solidFill>
                      <a:srgbClr val="E9EDF4"/>
                    </a:solidFill>
                  </a:tcPr>
                </a:tc>
                <a:tc>
                  <a:txBody>
                    <a:bodyPr/>
                    <a:lstStyle/>
                    <a:p>
                      <a:pPr algn="ctr">
                        <a:defRPr/>
                      </a:pPr>
                      <a:r>
                        <a:rPr sz="2800" b="0" i="0" u="none">
                          <a:solidFill>
                            <a:srgbClr val="282D32"/>
                          </a:solidFill>
                          <a:latin typeface="Times New Roman"/>
                          <a:ea typeface="Times New Roman"/>
                          <a:cs typeface="Times New Roman"/>
                        </a:rPr>
                        <a:t>500.000</a:t>
                      </a:r>
                      <a:endParaRPr sz="2200"/>
                    </a:p>
                  </a:txBody>
                  <a:tcPr marL="9524" marR="9524" marT="9524" marB="9524" anchor="ctr">
                    <a:lnL w="12667" algn="ctr">
                      <a:solidFill>
                        <a:srgbClr val="FFFFFF"/>
                      </a:solidFill>
                    </a:lnL>
                    <a:lnR w="12667" algn="ctr">
                      <a:solidFill>
                        <a:srgbClr val="FFFFFF"/>
                      </a:solidFill>
                    </a:lnR>
                    <a:lnT w="12667" algn="ctr">
                      <a:solidFill>
                        <a:srgbClr val="FFFFFF"/>
                      </a:solidFill>
                    </a:lnT>
                    <a:lnB w="12667" algn="ctr">
                      <a:solidFill>
                        <a:srgbClr val="FFFFFF"/>
                      </a:solidFill>
                    </a:lnB>
                    <a:solidFill>
                      <a:srgbClr val="E9EDF4"/>
                    </a:solidFill>
                  </a:tcPr>
                </a:tc>
                <a:tc>
                  <a:txBody>
                    <a:bodyPr/>
                    <a:lstStyle/>
                    <a:p>
                      <a:pPr algn="ctr">
                        <a:defRPr/>
                      </a:pPr>
                      <a:r>
                        <a:rPr sz="2800" b="0" i="0" u="none">
                          <a:solidFill>
                            <a:srgbClr val="282D32"/>
                          </a:solidFill>
                          <a:latin typeface="Times New Roman"/>
                          <a:ea typeface="Times New Roman"/>
                          <a:cs typeface="Times New Roman"/>
                        </a:rPr>
                        <a:t>500.000</a:t>
                      </a:r>
                      <a:endParaRPr sz="2200"/>
                    </a:p>
                  </a:txBody>
                  <a:tcPr marL="9524" marR="9524" marT="9524" marB="9524" anchor="ctr">
                    <a:lnL w="12667" algn="ctr">
                      <a:solidFill>
                        <a:srgbClr val="FFFFFF"/>
                      </a:solidFill>
                    </a:lnL>
                    <a:lnR w="12667" algn="ctr">
                      <a:solidFill>
                        <a:srgbClr val="FFFFFF"/>
                      </a:solidFill>
                    </a:lnR>
                    <a:lnT w="12667" algn="ctr">
                      <a:solidFill>
                        <a:srgbClr val="FFFFFF"/>
                      </a:solidFill>
                    </a:lnT>
                    <a:lnB w="12667" algn="ctr">
                      <a:solidFill>
                        <a:srgbClr val="FFFFFF"/>
                      </a:solidFill>
                    </a:lnB>
                    <a:solidFill>
                      <a:srgbClr val="E9EDF4"/>
                    </a:solidFill>
                  </a:tcPr>
                </a:tc>
                <a:extLst>
                  <a:ext uri="{0D108BD9-81ED-4DB2-BD59-A6C34878D82A}">
                    <a16:rowId xmlns:a16="http://schemas.microsoft.com/office/drawing/2014/main" val="10010"/>
                  </a:ext>
                </a:extLst>
              </a:tr>
              <a:tr h="713562">
                <a:tc gridSpan="3">
                  <a:txBody>
                    <a:bodyPr/>
                    <a:lstStyle/>
                    <a:p>
                      <a:pPr algn="ctr">
                        <a:defRPr/>
                      </a:pPr>
                      <a:r>
                        <a:rPr sz="2800" b="1" i="0" u="none">
                          <a:solidFill>
                            <a:srgbClr val="282D32"/>
                          </a:solidFill>
                          <a:latin typeface="Times New Roman"/>
                          <a:ea typeface="Times New Roman"/>
                          <a:cs typeface="Times New Roman"/>
                        </a:rPr>
                        <a:t>Tổng</a:t>
                      </a:r>
                      <a:endParaRPr sz="2200"/>
                    </a:p>
                  </a:txBody>
                  <a:tcPr marL="9524" marR="9524" marT="9524" marB="9524" anchor="ctr">
                    <a:lnL w="12667" algn="ctr">
                      <a:solidFill>
                        <a:srgbClr val="FFFFFF"/>
                      </a:solidFill>
                    </a:lnL>
                    <a:lnR w="12667" algn="ctr">
                      <a:solidFill>
                        <a:srgbClr val="FFFFFF"/>
                      </a:solidFill>
                    </a:lnR>
                    <a:lnT w="12667" algn="ctr">
                      <a:solidFill>
                        <a:srgbClr val="FFFFFF"/>
                      </a:solidFill>
                    </a:lnT>
                    <a:lnB w="12667" algn="ctr">
                      <a:solidFill>
                        <a:srgbClr val="FFFFFF"/>
                      </a:solidFill>
                    </a:lnB>
                    <a:solidFill>
                      <a:srgbClr val="E9EDF4"/>
                    </a:solidFill>
                  </a:tcPr>
                </a:tc>
                <a:tc hMerge="1">
                  <a:txBody>
                    <a:bodyPr/>
                    <a:lstStyle/>
                    <a:p>
                      <a:endParaRPr/>
                    </a:p>
                  </a:txBody>
                  <a:tcPr/>
                </a:tc>
                <a:tc hMerge="1">
                  <a:txBody>
                    <a:bodyPr/>
                    <a:lstStyle/>
                    <a:p>
                      <a:endParaRPr/>
                    </a:p>
                  </a:txBody>
                  <a:tcPr/>
                </a:tc>
                <a:tc gridSpan="2">
                  <a:txBody>
                    <a:bodyPr/>
                    <a:lstStyle/>
                    <a:p>
                      <a:pPr algn="ctr">
                        <a:defRPr/>
                      </a:pPr>
                      <a:r>
                        <a:rPr sz="2800" b="1" i="0" u="none">
                          <a:solidFill>
                            <a:srgbClr val="282D32"/>
                          </a:solidFill>
                          <a:latin typeface="Times New Roman"/>
                          <a:ea typeface="Times New Roman"/>
                          <a:cs typeface="Times New Roman"/>
                        </a:rPr>
                        <a:t>9.960.000</a:t>
                      </a:r>
                      <a:endParaRPr sz="2200"/>
                    </a:p>
                  </a:txBody>
                  <a:tcPr marL="9524" marR="9524" marT="9524" marB="9524" anchor="ctr">
                    <a:lnL w="12667" algn="ctr">
                      <a:solidFill>
                        <a:srgbClr val="FFFFFF"/>
                      </a:solidFill>
                    </a:lnL>
                    <a:lnR w="12667" algn="ctr">
                      <a:solidFill>
                        <a:srgbClr val="FFFFFF"/>
                      </a:solidFill>
                    </a:lnR>
                    <a:lnT w="12667" algn="ctr">
                      <a:solidFill>
                        <a:srgbClr val="FFFFFF"/>
                      </a:solidFill>
                    </a:lnT>
                    <a:lnB w="12667" algn="ctr">
                      <a:solidFill>
                        <a:srgbClr val="FFFFFF"/>
                      </a:solidFill>
                    </a:lnB>
                    <a:solidFill>
                      <a:srgbClr val="E9EDF4"/>
                    </a:solidFill>
                  </a:tcPr>
                </a:tc>
                <a:tc hMerge="1">
                  <a:txBody>
                    <a:bodyPr/>
                    <a:lstStyle/>
                    <a:p>
                      <a:endParaRPr/>
                    </a:p>
                  </a:txBody>
                  <a:tcPr/>
                </a:tc>
                <a:extLst>
                  <a:ext uri="{0D108BD9-81ED-4DB2-BD59-A6C34878D82A}">
                    <a16:rowId xmlns:a16="http://schemas.microsoft.com/office/drawing/2014/main" val="10011"/>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p:fade/>
      </p:transition>
    </mc:Choice>
    <mc:Fallback xmlns="" xmlns:m="http://schemas.openxmlformats.org/officeDocument/2006/math" xmlns:w="http://schemas.openxmlformats.org/wordprocessingml/2006/main">
      <p:transition spd="fast" advClick="1">
        <p:fade thruBlk="0"/>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grpSp>
        <p:nvGrpSpPr>
          <p:cNvPr id="1538298329" name="Group 2"/>
          <p:cNvGrpSpPr/>
          <p:nvPr/>
        </p:nvGrpSpPr>
        <p:grpSpPr bwMode="auto">
          <a:xfrm>
            <a:off x="612383" y="595872"/>
            <a:ext cx="11387820" cy="1203702"/>
            <a:chOff x="0" y="0"/>
            <a:chExt cx="15183761" cy="1604936"/>
          </a:xfrm>
        </p:grpSpPr>
        <p:sp>
          <p:nvSpPr>
            <p:cNvPr id="3" name="Freeform 3"/>
            <p:cNvSpPr/>
            <p:nvPr/>
          </p:nvSpPr>
          <p:spPr bwMode="auto">
            <a:xfrm>
              <a:off x="0" y="0"/>
              <a:ext cx="15183760" cy="1604930"/>
            </a:xfrm>
            <a:custGeom>
              <a:avLst/>
              <a:gdLst/>
              <a:ahLst/>
              <a:cxnLst/>
              <a:rect l="l" t="t" r="r" b="b"/>
              <a:pathLst>
                <a:path w="15183760" h="1604930" extrusionOk="0">
                  <a:moveTo>
                    <a:pt x="0" y="0"/>
                  </a:moveTo>
                  <a:lnTo>
                    <a:pt x="15183760" y="0"/>
                  </a:lnTo>
                  <a:lnTo>
                    <a:pt x="15183760" y="1604930"/>
                  </a:lnTo>
                  <a:lnTo>
                    <a:pt x="0" y="1604930"/>
                  </a:lnTo>
                  <a:close/>
                </a:path>
              </a:pathLst>
            </a:custGeom>
            <a:blipFill rotWithShape="1">
              <a:blip r:embed="rId3">
                <a:alphaModFix amt="0"/>
              </a:blip>
              <a:stretch>
                <a:fillRect t="-201864" r="-38509" b="-208803"/>
              </a:stretch>
            </a:blipFill>
          </p:spPr>
          <p:txBody>
            <a:bodyPr anchor="ctr"/>
            <a:lstStyle/>
            <a:p>
              <a:pPr algn="ctr">
                <a:defRPr/>
              </a:pPr>
              <a:endParaRPr>
                <a:latin typeface="Times New Roman"/>
                <a:cs typeface="Times New Roman"/>
              </a:endParaRPr>
            </a:p>
          </p:txBody>
        </p:sp>
        <p:sp>
          <p:nvSpPr>
            <p:cNvPr id="4" name="TextBox 4"/>
            <p:cNvSpPr txBox="1"/>
            <p:nvPr/>
          </p:nvSpPr>
          <p:spPr bwMode="auto">
            <a:xfrm>
              <a:off x="0" y="-85725"/>
              <a:ext cx="15183761" cy="1690661"/>
            </a:xfrm>
            <a:prstGeom prst="rect">
              <a:avLst/>
            </a:prstGeom>
            <a:grpFill/>
          </p:spPr>
          <p:txBody>
            <a:bodyPr lIns="0" tIns="0" rIns="0" bIns="0" rtlCol="0" anchor="ctr"/>
            <a:lstStyle/>
            <a:p>
              <a:pPr algn="ctr">
                <a:lnSpc>
                  <a:spcPts val="7038"/>
                </a:lnSpc>
                <a:defRPr/>
              </a:pPr>
              <a:r>
                <a:rPr lang="en-US" sz="5100" b="1">
                  <a:solidFill>
                    <a:srgbClr val="153898"/>
                  </a:solidFill>
                  <a:latin typeface="Times New Roman"/>
                  <a:ea typeface="Times New Roman"/>
                  <a:cs typeface="Times New Roman"/>
                </a:rPr>
                <a:t>Kiểm tra tính khả thi về chi phí</a:t>
              </a:r>
              <a:endParaRPr>
                <a:latin typeface="Times New Roman"/>
                <a:cs typeface="Times New Roman"/>
              </a:endParaRPr>
            </a:p>
          </p:txBody>
        </p:sp>
      </p:grpSp>
      <p:sp>
        <p:nvSpPr>
          <p:cNvPr id="1833516223" name="TextBox 5"/>
          <p:cNvSpPr txBox="1"/>
          <p:nvPr/>
        </p:nvSpPr>
        <p:spPr bwMode="auto">
          <a:xfrm>
            <a:off x="1375814" y="2166445"/>
            <a:ext cx="6426373" cy="701399"/>
          </a:xfrm>
          <a:prstGeom prst="rect">
            <a:avLst/>
          </a:prstGeom>
        </p:spPr>
        <p:txBody>
          <a:bodyPr lIns="0" tIns="0" rIns="0" bIns="0" rtlCol="0" anchor="t">
            <a:spAutoFit/>
          </a:bodyPr>
          <a:lstStyle/>
          <a:p>
            <a:pPr algn="l">
              <a:lnSpc>
                <a:spcPts val="5520"/>
              </a:lnSpc>
              <a:spcBef>
                <a:spcPts val="0"/>
              </a:spcBef>
              <a:defRPr/>
            </a:pPr>
            <a:r>
              <a:rPr lang="en-US" sz="4000" b="1">
                <a:solidFill>
                  <a:srgbClr val="000000"/>
                </a:solidFill>
                <a:latin typeface="Times New Roman"/>
                <a:ea typeface="Times New Roman"/>
                <a:cs typeface="Times New Roman"/>
              </a:rPr>
              <a:t>Tổng chi phí 9.960.000</a:t>
            </a:r>
            <a:endParaRPr>
              <a:latin typeface="Times New Roman"/>
              <a:cs typeface="Times New Roman"/>
            </a:endParaRPr>
          </a:p>
        </p:txBody>
      </p:sp>
      <p:sp>
        <p:nvSpPr>
          <p:cNvPr id="155556417" name="TextBox 6"/>
          <p:cNvSpPr txBox="1"/>
          <p:nvPr/>
        </p:nvSpPr>
        <p:spPr bwMode="auto">
          <a:xfrm>
            <a:off x="841924" y="3004985"/>
            <a:ext cx="7495952" cy="3505559"/>
          </a:xfrm>
          <a:prstGeom prst="rect">
            <a:avLst/>
          </a:prstGeom>
        </p:spPr>
        <p:txBody>
          <a:bodyPr lIns="0" tIns="0" rIns="0" bIns="0" rtlCol="0" anchor="t">
            <a:spAutoFit/>
          </a:bodyPr>
          <a:lstStyle/>
          <a:p>
            <a:pPr algn="l">
              <a:lnSpc>
                <a:spcPts val="5520"/>
              </a:lnSpc>
              <a:spcBef>
                <a:spcPts val="0"/>
              </a:spcBef>
              <a:defRPr/>
            </a:pPr>
            <a:r>
              <a:rPr lang="en-US" sz="4000" b="1">
                <a:solidFill>
                  <a:srgbClr val="000000"/>
                </a:solidFill>
                <a:latin typeface="Times New Roman"/>
                <a:ea typeface="Times New Roman"/>
                <a:cs typeface="Times New Roman"/>
              </a:rPr>
              <a:t>Thuận lợi</a:t>
            </a:r>
            <a:endParaRPr>
              <a:latin typeface="Times New Roman"/>
              <a:cs typeface="Times New Roman"/>
            </a:endParaRPr>
          </a:p>
          <a:p>
            <a:pPr algn="l">
              <a:lnSpc>
                <a:spcPts val="5520"/>
              </a:lnSpc>
              <a:spcBef>
                <a:spcPts val="0"/>
              </a:spcBef>
              <a:defRPr/>
            </a:pPr>
            <a:r>
              <a:rPr lang="en-US" sz="4000">
                <a:solidFill>
                  <a:srgbClr val="000000"/>
                </a:solidFill>
                <a:latin typeface="Times New Roman"/>
                <a:ea typeface="Times New Roman"/>
                <a:cs typeface="Times New Roman"/>
              </a:rPr>
              <a:t>• Chi phí cảm biến thấp.</a:t>
            </a:r>
            <a:endParaRPr>
              <a:latin typeface="Times New Roman"/>
              <a:cs typeface="Times New Roman"/>
            </a:endParaRPr>
          </a:p>
          <a:p>
            <a:pPr algn="l">
              <a:lnSpc>
                <a:spcPts val="5520"/>
              </a:lnSpc>
              <a:spcBef>
                <a:spcPts val="0"/>
              </a:spcBef>
              <a:defRPr/>
            </a:pPr>
            <a:r>
              <a:rPr lang="en-US" sz="4000">
                <a:solidFill>
                  <a:srgbClr val="000000"/>
                </a:solidFill>
                <a:latin typeface="Times New Roman"/>
                <a:ea typeface="Times New Roman"/>
                <a:cs typeface="Times New Roman"/>
              </a:rPr>
              <a:t>• Có thể tận dụng thiết bị sẵn có.</a:t>
            </a:r>
            <a:endParaRPr>
              <a:latin typeface="Times New Roman"/>
              <a:cs typeface="Times New Roman"/>
            </a:endParaRPr>
          </a:p>
          <a:p>
            <a:pPr algn="l">
              <a:lnSpc>
                <a:spcPts val="5520"/>
              </a:lnSpc>
              <a:spcBef>
                <a:spcPts val="0"/>
              </a:spcBef>
              <a:defRPr/>
            </a:pPr>
            <a:r>
              <a:rPr lang="en-US" sz="4000">
                <a:solidFill>
                  <a:srgbClr val="000000"/>
                </a:solidFill>
                <a:latin typeface="Times New Roman"/>
                <a:ea typeface="Times New Roman"/>
                <a:cs typeface="Times New Roman"/>
              </a:rPr>
              <a:t>• Kiến trúc có thể mở rộng.</a:t>
            </a:r>
            <a:endParaRPr>
              <a:latin typeface="Times New Roman"/>
              <a:cs typeface="Times New Roman"/>
            </a:endParaRPr>
          </a:p>
          <a:p>
            <a:pPr algn="l">
              <a:lnSpc>
                <a:spcPts val="5520"/>
              </a:lnSpc>
              <a:spcBef>
                <a:spcPts val="0"/>
              </a:spcBef>
              <a:defRPr/>
            </a:pPr>
            <a:r>
              <a:rPr lang="en-US" sz="4000">
                <a:solidFill>
                  <a:srgbClr val="000000"/>
                </a:solidFill>
                <a:latin typeface="Times New Roman"/>
                <a:ea typeface="Times New Roman"/>
                <a:cs typeface="Times New Roman"/>
              </a:rPr>
              <a:t>• Giảm áp lực đầu tư ban đầu.</a:t>
            </a:r>
            <a:endParaRPr>
              <a:latin typeface="Times New Roman"/>
              <a:cs typeface="Times New Roman"/>
            </a:endParaRPr>
          </a:p>
        </p:txBody>
      </p:sp>
      <p:sp>
        <p:nvSpPr>
          <p:cNvPr id="668232472" name="TextBox 7"/>
          <p:cNvSpPr txBox="1"/>
          <p:nvPr/>
        </p:nvSpPr>
        <p:spPr bwMode="auto">
          <a:xfrm>
            <a:off x="9144000" y="2314048"/>
            <a:ext cx="9501277" cy="4206600"/>
          </a:xfrm>
          <a:prstGeom prst="rect">
            <a:avLst/>
          </a:prstGeom>
        </p:spPr>
        <p:txBody>
          <a:bodyPr lIns="0" tIns="0" rIns="0" bIns="0" rtlCol="0" anchor="t">
            <a:spAutoFit/>
          </a:bodyPr>
          <a:lstStyle/>
          <a:p>
            <a:pPr algn="ctr">
              <a:lnSpc>
                <a:spcPts val="5520"/>
              </a:lnSpc>
              <a:spcBef>
                <a:spcPts val="0"/>
              </a:spcBef>
              <a:defRPr/>
            </a:pPr>
            <a:r>
              <a:rPr lang="en-US" sz="4000" b="1">
                <a:solidFill>
                  <a:srgbClr val="000000"/>
                </a:solidFill>
                <a:latin typeface="Times New Roman"/>
                <a:ea typeface="Times New Roman"/>
                <a:cs typeface="Times New Roman"/>
              </a:rPr>
              <a:t>Rủi ro cần kiểm soát</a:t>
            </a:r>
            <a:endParaRPr>
              <a:latin typeface="Times New Roman"/>
              <a:cs typeface="Times New Roman"/>
            </a:endParaRPr>
          </a:p>
          <a:p>
            <a:pPr algn="l">
              <a:lnSpc>
                <a:spcPts val="5520"/>
              </a:lnSpc>
              <a:spcBef>
                <a:spcPts val="0"/>
              </a:spcBef>
              <a:defRPr/>
            </a:pPr>
            <a:r>
              <a:rPr lang="en-US" sz="4000">
                <a:solidFill>
                  <a:srgbClr val="000000"/>
                </a:solidFill>
                <a:latin typeface="Times New Roman"/>
                <a:ea typeface="Times New Roman"/>
                <a:cs typeface="Times New Roman"/>
              </a:rPr>
              <a:t>• Raspberry Pi và màn hình chiếm ngân sách lớn.</a:t>
            </a:r>
            <a:endParaRPr>
              <a:latin typeface="Times New Roman"/>
              <a:cs typeface="Times New Roman"/>
            </a:endParaRPr>
          </a:p>
          <a:p>
            <a:pPr algn="l">
              <a:lnSpc>
                <a:spcPts val="5520"/>
              </a:lnSpc>
              <a:spcBef>
                <a:spcPts val="0"/>
              </a:spcBef>
              <a:defRPr/>
            </a:pPr>
            <a:r>
              <a:rPr lang="en-US" sz="4000">
                <a:solidFill>
                  <a:srgbClr val="000000"/>
                </a:solidFill>
                <a:latin typeface="Times New Roman"/>
                <a:ea typeface="Times New Roman"/>
                <a:cs typeface="Times New Roman"/>
              </a:rPr>
              <a:t>• Giá linh kiện có thể thay đổi.</a:t>
            </a:r>
            <a:endParaRPr>
              <a:latin typeface="Times New Roman"/>
              <a:cs typeface="Times New Roman"/>
            </a:endParaRPr>
          </a:p>
          <a:p>
            <a:pPr algn="l">
              <a:lnSpc>
                <a:spcPts val="5520"/>
              </a:lnSpc>
              <a:spcBef>
                <a:spcPts val="0"/>
              </a:spcBef>
              <a:defRPr/>
            </a:pPr>
            <a:r>
              <a:rPr lang="en-US" sz="4000">
                <a:solidFill>
                  <a:srgbClr val="000000"/>
                </a:solidFill>
                <a:latin typeface="Times New Roman"/>
                <a:ea typeface="Times New Roman"/>
                <a:cs typeface="Times New Roman"/>
              </a:rPr>
              <a:t>• Cần dự phòng phát sinh.</a:t>
            </a:r>
            <a:endParaRPr>
              <a:latin typeface="Times New Roman"/>
              <a:cs typeface="Times New Roman"/>
            </a:endParaRPr>
          </a:p>
          <a:p>
            <a:pPr algn="l">
              <a:lnSpc>
                <a:spcPts val="5520"/>
              </a:lnSpc>
              <a:spcBef>
                <a:spcPts val="0"/>
              </a:spcBef>
              <a:defRPr/>
            </a:pPr>
            <a:r>
              <a:rPr lang="en-US" sz="4000">
                <a:solidFill>
                  <a:srgbClr val="000000"/>
                </a:solidFill>
                <a:latin typeface="Times New Roman"/>
                <a:ea typeface="Times New Roman"/>
                <a:cs typeface="Times New Roman"/>
              </a:rPr>
              <a:t>• Cập nhật giá thực tế trước khi mua.</a:t>
            </a:r>
            <a:endParaRPr>
              <a:latin typeface="Times New Roman"/>
              <a:cs typeface="Times New Roman"/>
            </a:endParaRPr>
          </a:p>
        </p:txBody>
      </p:sp>
      <p:sp>
        <p:nvSpPr>
          <p:cNvPr id="2004965621" name="TextBox 8"/>
          <p:cNvSpPr txBox="1"/>
          <p:nvPr/>
        </p:nvSpPr>
        <p:spPr bwMode="auto">
          <a:xfrm>
            <a:off x="841924" y="6975582"/>
            <a:ext cx="10971138" cy="2804519"/>
          </a:xfrm>
          <a:prstGeom prst="rect">
            <a:avLst/>
          </a:prstGeom>
        </p:spPr>
        <p:txBody>
          <a:bodyPr lIns="0" tIns="0" rIns="0" bIns="0" rtlCol="0" anchor="t">
            <a:spAutoFit/>
          </a:bodyPr>
          <a:lstStyle/>
          <a:p>
            <a:pPr algn="l">
              <a:lnSpc>
                <a:spcPts val="5520"/>
              </a:lnSpc>
              <a:spcBef>
                <a:spcPts val="0"/>
              </a:spcBef>
              <a:defRPr/>
            </a:pPr>
            <a:r>
              <a:rPr lang="en-US" sz="4000" b="1">
                <a:solidFill>
                  <a:srgbClr val="000000"/>
                </a:solidFill>
                <a:latin typeface="Times New Roman"/>
                <a:ea typeface="Times New Roman"/>
                <a:cs typeface="Times New Roman"/>
              </a:rPr>
              <a:t>Đánh giá</a:t>
            </a:r>
            <a:endParaRPr>
              <a:latin typeface="Times New Roman"/>
              <a:cs typeface="Times New Roman"/>
            </a:endParaRPr>
          </a:p>
          <a:p>
            <a:pPr algn="l">
              <a:lnSpc>
                <a:spcPts val="5520"/>
              </a:lnSpc>
              <a:spcBef>
                <a:spcPts val="0"/>
              </a:spcBef>
              <a:defRPr/>
            </a:pPr>
            <a:r>
              <a:rPr lang="en-US" sz="4000">
                <a:solidFill>
                  <a:srgbClr val="000000"/>
                </a:solidFill>
                <a:latin typeface="Times New Roman"/>
                <a:ea typeface="Times New Roman"/>
                <a:cs typeface="Times New Roman"/>
              </a:rPr>
              <a:t>• ESP32-S3 N16R8 đã có sẵn.</a:t>
            </a:r>
            <a:endParaRPr>
              <a:latin typeface="Times New Roman"/>
              <a:cs typeface="Times New Roman"/>
            </a:endParaRPr>
          </a:p>
          <a:p>
            <a:pPr algn="l">
              <a:lnSpc>
                <a:spcPts val="5520"/>
              </a:lnSpc>
              <a:spcBef>
                <a:spcPts val="0"/>
              </a:spcBef>
              <a:defRPr/>
            </a:pPr>
            <a:r>
              <a:rPr lang="en-US" sz="4000">
                <a:solidFill>
                  <a:srgbClr val="000000"/>
                </a:solidFill>
                <a:latin typeface="Times New Roman"/>
                <a:ea typeface="Times New Roman"/>
                <a:cs typeface="Times New Roman"/>
              </a:rPr>
              <a:t>• Có thể mua theo từng đợt.</a:t>
            </a:r>
            <a:endParaRPr>
              <a:latin typeface="Times New Roman"/>
              <a:cs typeface="Times New Roman"/>
            </a:endParaRPr>
          </a:p>
          <a:p>
            <a:pPr algn="l">
              <a:lnSpc>
                <a:spcPts val="5520"/>
              </a:lnSpc>
              <a:spcBef>
                <a:spcPts val="0"/>
              </a:spcBef>
              <a:defRPr/>
            </a:pPr>
            <a:r>
              <a:rPr lang="en-US" sz="4000">
                <a:solidFill>
                  <a:srgbClr val="000000"/>
                </a:solidFill>
                <a:latin typeface="Times New Roman"/>
                <a:ea typeface="Times New Roman"/>
                <a:cs typeface="Times New Roman"/>
              </a:rPr>
              <a:t>• Ưu tiên prototype trước, hoàn thiện sau.</a:t>
            </a:r>
            <a:endParaRPr>
              <a:latin typeface="Times New Roman"/>
              <a:cs typeface="Times New Roman"/>
            </a:endParaRPr>
          </a:p>
        </p:txBody>
      </p:sp>
    </p:spTree>
  </p:cSld>
  <p:clrMapOvr>
    <a:masterClrMapping/>
  </p:clrMapOvr>
  <mc:AlternateContent xmlns:mc="http://schemas.openxmlformats.org/markup-compatibility/2006" xmlns:p159="http://schemas.microsoft.com/office/powerpoint/2015/09/main">
    <mc:Choice Requires="p159">
      <p:transition>
        <p:fade/>
      </p:transition>
    </mc:Choice>
    <mc:Fallback xmlns="" xmlns:m="http://schemas.openxmlformats.org/officeDocument/2006/math" xmlns:w="http://schemas.openxmlformats.org/wordprocessingml/2006/main">
      <p:transition spd="fast" advClick="1">
        <p:fade thruBlk="0"/>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08746359" name="Freeform 2"/>
          <p:cNvSpPr/>
          <p:nvPr/>
        </p:nvSpPr>
        <p:spPr bwMode="auto">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stretch>
              <a:fillRect l="-3571" r="-3569"/>
            </a:stretch>
          </a:blipFill>
        </p:spPr>
        <p:txBody>
          <a:bodyPr/>
          <a:lstStyle/>
          <a:p>
            <a:endParaRPr lang="en-US"/>
          </a:p>
        </p:txBody>
      </p:sp>
    </p:spTree>
  </p:cSld>
  <p:clrMapOvr>
    <a:masterClrMapping/>
  </p:clrMapOvr>
  <mc:AlternateContent xmlns:mc="http://schemas.openxmlformats.org/markup-compatibility/2006" xmlns:p159="http://schemas.microsoft.com/office/powerpoint/2015/09/main">
    <mc:Choice Requires="p159">
      <p:transition>
        <p:fade/>
      </p:transition>
    </mc:Choice>
    <mc:Fallback xmlns="" xmlns:m="http://schemas.openxmlformats.org/officeDocument/2006/math" xmlns:w="http://schemas.openxmlformats.org/wordprocessingml/2006/main">
      <p:transition spd="fast" advClick="1">
        <p:fade thruBlk="0"/>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115</TotalTime>
  <Words>3264</Words>
  <Application>Microsoft Office PowerPoint</Application>
  <PresentationFormat>Custom</PresentationFormat>
  <Paragraphs>605</Paragraphs>
  <Slides>25</Slides>
  <Notes>25</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25</vt:i4>
      </vt:variant>
    </vt:vector>
  </HeadingPairs>
  <TitlesOfParts>
    <vt:vector size="33" baseType="lpstr">
      <vt:lpstr>Calibri</vt:lpstr>
      <vt:lpstr>Arial</vt:lpstr>
      <vt:lpstr>Tahoma</vt:lpstr>
      <vt:lpstr>Times New Roman Bold</vt:lpstr>
      <vt:lpstr>Tahoma Bold</vt:lpstr>
      <vt:lpstr>Times New Roman</vt:lpstr>
      <vt:lpstr>Office Theme</vt:lpstr>
      <vt:lpstr>oleObj</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22.pptx</dc:title>
  <cp:lastModifiedBy>Tuấn Anh Trần Lê</cp:lastModifiedBy>
  <cp:revision>11</cp:revision>
  <dcterms:created xsi:type="dcterms:W3CDTF">2006-08-16T00:00:00Z</dcterms:created>
  <dcterms:modified xsi:type="dcterms:W3CDTF">2026-09-10T16:40:17Z</dcterms:modified>
  <dc:identifier>DAHG1zWaRWk</dc:identifier>
</cp:coreProperties>
</file>