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8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89" r:id="rId12"/>
    <p:sldId id="273" r:id="rId13"/>
    <p:sldId id="280" r:id="rId14"/>
    <p:sldId id="286" r:id="rId15"/>
    <p:sldId id="287" r:id="rId16"/>
    <p:sldId id="285" r:id="rId17"/>
    <p:sldId id="272" r:id="rId18"/>
    <p:sldId id="282" r:id="rId19"/>
    <p:sldId id="283" r:id="rId20"/>
    <p:sldId id="284" r:id="rId21"/>
  </p:sldIdLst>
  <p:sldSz cx="18288000" cy="10287000"/>
  <p:notesSz cx="6858000" cy="9144000"/>
  <p:embeddedFontLst>
    <p:embeddedFont>
      <p:font typeface="Tahoma" panose="020B0604030504040204" pitchFamily="34" charset="0"/>
      <p:regular r:id="rId23"/>
      <p:bold r:id="rId24"/>
    </p:embeddedFont>
    <p:embeddedFont>
      <p:font typeface="Tahoma Bold" panose="020B0804030504040204" pitchFamily="34" charset="0"/>
      <p:bold r:id="rId25"/>
    </p:embeddedFont>
    <p:embeddedFont>
      <p:font typeface="Times New Roman Bold" panose="02020803070505020304" pitchFamily="18" charset="0"/>
      <p:bold r:id="rId26"/>
    </p:embeddedFont>
  </p:embeddedFontLst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>
      <p:cViewPr varScale="1">
        <p:scale>
          <a:sx n="54" d="100"/>
          <a:sy n="54" d="100"/>
        </p:scale>
        <p:origin x="778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37766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5008104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4305193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2275893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40630450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7824054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15629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866080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2434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7D0786-6386-2551-F768-3C916BDC3B29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763640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83252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7769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532EAE-0260-C9FC-64AC-BF5D9CA17938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37707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536523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245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3B1820-FEF8-39AD-2AEB-7B26FD71665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403196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72525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28326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A1B92E-8A54-D704-03A3-9362224A2625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9971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846833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31321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11814C-A6D2-5B33-38BE-EA74B77BC53A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818380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881458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0007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3244C0-A494-D845-B64D-022DAAB2FB44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31239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14597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13596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07C5AE-093F-E4C3-3404-354214320FC0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39391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486207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160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555F37-7AA5-3B8F-3562-AF3836CD620A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70439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518608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5890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050345-1A2C-AA7D-B864-D59F03822E43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63815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323040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421264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3219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75F44C-9235-EBFB-528B-738A532C53EA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89725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17351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4269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257A07-F70A-25D8-51C6-4272CAF13A1F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B5723-5BF7-BE84-2895-A618862F59D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897257" name="Slide Image Placeholder 1">
            <a:extLst>
              <a:ext uri="{FF2B5EF4-FFF2-40B4-BE49-F238E27FC236}">
                <a16:creationId xmlns:a16="http://schemas.microsoft.com/office/drawing/2014/main" id="{13A82671-F441-761F-EF35-F3F11718EB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17351567" name="Notes Placeholder 2">
            <a:extLst>
              <a:ext uri="{FF2B5EF4-FFF2-40B4-BE49-F238E27FC236}">
                <a16:creationId xmlns:a16="http://schemas.microsoft.com/office/drawing/2014/main" id="{6076EAA9-E14A-131B-2910-E3E5DA1F1FB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426971" name="Slide Number Placeholder 3">
            <a:extLst>
              <a:ext uri="{FF2B5EF4-FFF2-40B4-BE49-F238E27FC236}">
                <a16:creationId xmlns:a16="http://schemas.microsoft.com/office/drawing/2014/main" id="{7C54A874-84AD-9364-39DA-56EC6C711D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257A07-F70A-25D8-51C6-4272CAF13A1F}" type="slidenum">
              <a:rPr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853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50986-9D94-8F06-57A8-80F9774704A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897257" name="Slide Image Placeholder 1">
            <a:extLst>
              <a:ext uri="{FF2B5EF4-FFF2-40B4-BE49-F238E27FC236}">
                <a16:creationId xmlns:a16="http://schemas.microsoft.com/office/drawing/2014/main" id="{2B2D529C-8F8C-4536-B744-8DDE2DAADF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17351567" name="Notes Placeholder 2">
            <a:extLst>
              <a:ext uri="{FF2B5EF4-FFF2-40B4-BE49-F238E27FC236}">
                <a16:creationId xmlns:a16="http://schemas.microsoft.com/office/drawing/2014/main" id="{B08019B8-FE7D-680C-854F-C5BE0AEB581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426971" name="Slide Number Placeholder 3">
            <a:extLst>
              <a:ext uri="{FF2B5EF4-FFF2-40B4-BE49-F238E27FC236}">
                <a16:creationId xmlns:a16="http://schemas.microsoft.com/office/drawing/2014/main" id="{E028BC65-0248-1B11-938B-FBAB1CD36F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257A07-F70A-25D8-51C6-4272CAF13A1F}" type="slidenum">
              <a:rPr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98865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9CF40-3EC7-52A0-FC65-AF0C007D618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897257" name="Slide Image Placeholder 1">
            <a:extLst>
              <a:ext uri="{FF2B5EF4-FFF2-40B4-BE49-F238E27FC236}">
                <a16:creationId xmlns:a16="http://schemas.microsoft.com/office/drawing/2014/main" id="{02A2E2FD-9A4E-D434-2931-5D4661D528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17351567" name="Notes Placeholder 2">
            <a:extLst>
              <a:ext uri="{FF2B5EF4-FFF2-40B4-BE49-F238E27FC236}">
                <a16:creationId xmlns:a16="http://schemas.microsoft.com/office/drawing/2014/main" id="{45E3B9E8-9333-F52E-E87C-07CF40B97D2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426971" name="Slide Number Placeholder 3">
            <a:extLst>
              <a:ext uri="{FF2B5EF4-FFF2-40B4-BE49-F238E27FC236}">
                <a16:creationId xmlns:a16="http://schemas.microsoft.com/office/drawing/2014/main" id="{13DE5D1B-5C00-3CE9-7806-93B9CA1671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257A07-F70A-25D8-51C6-4272CAF13A1F}" type="slidenum">
              <a:rPr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6740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4867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10668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348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DCC7F1-9C79-CC4D-C023-920F14AF4941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8735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149007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1990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91F0B2-2FDA-EC3B-EF0E-EC3372D22792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28694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726895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05867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7EB563-6DDD-C7FD-2D95-A9A9C14118F4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81442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35587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414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AA8B66-F14B-FFCB-4AFC-9F8F0E089CBC}" type="slidenum">
              <a:rPr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851698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39694768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16348393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7483525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302742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37039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201680709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6529837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15800805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039990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053271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7119002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7076798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18265557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27538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4820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26585305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23293317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49537195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183742602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6652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0144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78347634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420699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33551820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9246035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27694652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50660015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4918763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5838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203473717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8002111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698535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93404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170701243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627950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961339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78803872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22603718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55196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166606527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168935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5816557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878326850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7769069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3638867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21754064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0250435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25202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59502093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8294976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14101649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96858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55440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33840281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205928439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14496107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52131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30792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718372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05477081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1794095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000967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package" Target="../embeddings/Microsoft_Excel_Worksheet.xlsx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802421" name="Freeform 2"/>
          <p:cNvSpPr/>
          <p:nvPr/>
        </p:nvSpPr>
        <p:spPr bwMode="auto"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1426272" name="Group 3"/>
          <p:cNvGrpSpPr/>
          <p:nvPr/>
        </p:nvGrpSpPr>
        <p:grpSpPr bwMode="auto">
          <a:xfrm>
            <a:off x="666207" y="500005"/>
            <a:ext cx="3379527" cy="963035"/>
            <a:chOff x="0" y="0"/>
            <a:chExt cx="4506036" cy="1284046"/>
          </a:xfrm>
        </p:grpSpPr>
        <p:sp>
          <p:nvSpPr>
            <p:cNvPr id="4" name="Freeform 4" descr="White text on a black background  AI-generated content may be incorrect."/>
            <p:cNvSpPr/>
            <p:nvPr/>
          </p:nvSpPr>
          <p:spPr bwMode="auto">
            <a:xfrm>
              <a:off x="0" y="0"/>
              <a:ext cx="4506087" cy="1284097"/>
            </a:xfrm>
            <a:custGeom>
              <a:avLst/>
              <a:gdLst/>
              <a:ahLst/>
              <a:cxnLst/>
              <a:rect l="l" t="t" r="r" b="b"/>
              <a:pathLst>
                <a:path w="4506087" h="1284097" extrusionOk="0">
                  <a:moveTo>
                    <a:pt x="0" y="0"/>
                  </a:moveTo>
                  <a:lnTo>
                    <a:pt x="4506087" y="0"/>
                  </a:lnTo>
                  <a:lnTo>
                    <a:pt x="4506087" y="1284097"/>
                  </a:lnTo>
                  <a:lnTo>
                    <a:pt x="0" y="12840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/>
              <a:stretch>
                <a:fillRect t="-4" r="1"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5439412" name="Group 5"/>
          <p:cNvGrpSpPr/>
          <p:nvPr/>
        </p:nvGrpSpPr>
        <p:grpSpPr bwMode="auto">
          <a:xfrm>
            <a:off x="2433714" y="1484698"/>
            <a:ext cx="13420573" cy="3537811"/>
            <a:chOff x="0" y="0"/>
            <a:chExt cx="17894097" cy="4717081"/>
          </a:xfrm>
        </p:grpSpPr>
        <p:sp>
          <p:nvSpPr>
            <p:cNvPr id="6" name="Freeform 6"/>
            <p:cNvSpPr/>
            <p:nvPr/>
          </p:nvSpPr>
          <p:spPr bwMode="auto">
            <a:xfrm>
              <a:off x="0" y="0"/>
              <a:ext cx="17894092" cy="4717081"/>
            </a:xfrm>
            <a:custGeom>
              <a:avLst/>
              <a:gdLst/>
              <a:ahLst/>
              <a:cxnLst/>
              <a:rect l="l" t="t" r="r" b="b"/>
              <a:pathLst>
                <a:path w="17894092" h="4717081" extrusionOk="0">
                  <a:moveTo>
                    <a:pt x="0" y="0"/>
                  </a:moveTo>
                  <a:lnTo>
                    <a:pt x="17894092" y="0"/>
                  </a:lnTo>
                  <a:lnTo>
                    <a:pt x="17894092" y="4717081"/>
                  </a:lnTo>
                  <a:lnTo>
                    <a:pt x="0" y="4717081"/>
                  </a:lnTo>
                  <a:close/>
                </a:path>
              </a:pathLst>
            </a:custGeom>
            <a:blipFill rotWithShape="1">
              <a:blip r:embed="rId5">
                <a:alphaModFix amt="0"/>
              </a:blip>
              <a:stretch>
                <a:fillRect t="-23299" b="-2453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 bwMode="auto">
            <a:xfrm>
              <a:off x="0" y="-38100"/>
              <a:ext cx="17894097" cy="4755181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7920"/>
                </a:lnSpc>
                <a:defRPr/>
              </a:pPr>
              <a:r>
                <a:rPr lang="en-US" sz="66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</a:rPr>
                <a:t>ĐỀ TÀI: HỆ THỐNG KIOSK - SÀNG LỌC Y TẾ TỰ ĐỘNG</a:t>
              </a:r>
              <a:endParaRPr/>
            </a:p>
            <a:p>
              <a:pPr algn="ctr">
                <a:lnSpc>
                  <a:spcPts val="7920"/>
                </a:lnSpc>
                <a:defRPr/>
              </a:pPr>
              <a:endParaRPr lang="en-US" sz="66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endParaRPr>
            </a:p>
          </p:txBody>
        </p:sp>
      </p:grpSp>
      <p:grpSp>
        <p:nvGrpSpPr>
          <p:cNvPr id="1536497475" name="Group 8"/>
          <p:cNvGrpSpPr/>
          <p:nvPr/>
        </p:nvGrpSpPr>
        <p:grpSpPr bwMode="auto">
          <a:xfrm>
            <a:off x="8572436" y="3740078"/>
            <a:ext cx="8686864" cy="1641366"/>
            <a:chOff x="0" y="0"/>
            <a:chExt cx="15256771" cy="2882737"/>
          </a:xfrm>
        </p:grpSpPr>
        <p:sp>
          <p:nvSpPr>
            <p:cNvPr id="9" name="Freeform 9"/>
            <p:cNvSpPr/>
            <p:nvPr/>
          </p:nvSpPr>
          <p:spPr bwMode="auto">
            <a:xfrm>
              <a:off x="0" y="0"/>
              <a:ext cx="15256770" cy="2882730"/>
            </a:xfrm>
            <a:custGeom>
              <a:avLst/>
              <a:gdLst/>
              <a:ahLst/>
              <a:cxnLst/>
              <a:rect l="l" t="t" r="r" b="b"/>
              <a:pathLst>
                <a:path w="15256770" h="2882730" extrusionOk="0">
                  <a:moveTo>
                    <a:pt x="0" y="0"/>
                  </a:moveTo>
                  <a:lnTo>
                    <a:pt x="15256770" y="0"/>
                  </a:lnTo>
                  <a:lnTo>
                    <a:pt x="15256770" y="2882730"/>
                  </a:lnTo>
                  <a:lnTo>
                    <a:pt x="0" y="2882730"/>
                  </a:lnTo>
                  <a:close/>
                </a:path>
              </a:pathLst>
            </a:custGeom>
            <a:blipFill rotWithShape="1">
              <a:blip r:embed="rId5">
                <a:alphaModFix amt="0"/>
              </a:blip>
              <a:stretch>
                <a:fillRect t="-51528" r="14087" b="-2566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 bwMode="auto">
            <a:xfrm>
              <a:off x="0" y="19050"/>
              <a:ext cx="15256771" cy="2863687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3888"/>
                </a:lnSpc>
                <a:defRPr/>
              </a:pPr>
              <a:r>
                <a:rPr lang="en-US" sz="36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</a:rPr>
                <a:t>MÔN HỌC: </a:t>
              </a:r>
              <a:endParaRPr/>
            </a:p>
            <a:p>
              <a:pPr algn="ctr">
                <a:lnSpc>
                  <a:spcPts val="4211"/>
                </a:lnSpc>
                <a:defRPr/>
              </a:pPr>
              <a:r>
                <a:rPr lang="en-US" sz="39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</a:rPr>
                <a:t>DỰ ÁN KĨ THUẬT NÂNG CAO</a:t>
              </a:r>
              <a:endParaRPr/>
            </a:p>
          </p:txBody>
        </p:sp>
      </p:grpSp>
      <p:grpSp>
        <p:nvGrpSpPr>
          <p:cNvPr id="965363225" name="Group 11"/>
          <p:cNvGrpSpPr/>
          <p:nvPr/>
        </p:nvGrpSpPr>
        <p:grpSpPr bwMode="auto">
          <a:xfrm>
            <a:off x="8680953" y="6029167"/>
            <a:ext cx="7973536" cy="3350473"/>
            <a:chOff x="0" y="0"/>
            <a:chExt cx="11685499" cy="4910237"/>
          </a:xfrm>
        </p:grpSpPr>
        <p:sp>
          <p:nvSpPr>
            <p:cNvPr id="12" name="Freeform 12"/>
            <p:cNvSpPr/>
            <p:nvPr/>
          </p:nvSpPr>
          <p:spPr bwMode="auto">
            <a:xfrm>
              <a:off x="0" y="0"/>
              <a:ext cx="11685493" cy="4910236"/>
            </a:xfrm>
            <a:custGeom>
              <a:avLst/>
              <a:gdLst/>
              <a:ahLst/>
              <a:cxnLst/>
              <a:rect l="l" t="t" r="r" b="b"/>
              <a:pathLst>
                <a:path w="11685494" h="4910236" extrusionOk="0">
                  <a:moveTo>
                    <a:pt x="0" y="0"/>
                  </a:moveTo>
                  <a:lnTo>
                    <a:pt x="11685494" y="0"/>
                  </a:lnTo>
                  <a:lnTo>
                    <a:pt x="11685494" y="4910236"/>
                  </a:lnTo>
                  <a:lnTo>
                    <a:pt x="0" y="4910236"/>
                  </a:lnTo>
                  <a:close/>
                </a:path>
              </a:pathLst>
            </a:custGeom>
            <a:blipFill rotWithShape="1">
              <a:blip r:embed="rId5">
                <a:alphaModFix amt="0"/>
              </a:blip>
              <a:stretch>
                <a:fillRect l="-2590" r="29870" b="3255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 bwMode="auto">
            <a:xfrm>
              <a:off x="0" y="-123825"/>
              <a:ext cx="11685499" cy="5034062"/>
            </a:xfrm>
            <a:prstGeom prst="rect">
              <a:avLst/>
            </a:prstGeom>
            <a:grpFill/>
          </p:spPr>
          <p:txBody>
            <a:bodyPr lIns="228600" tIns="228600" rIns="228600" bIns="228600" rtlCol="0" anchor="ctr"/>
            <a:lstStyle/>
            <a:p>
              <a:pPr algn="ctr">
                <a:lnSpc>
                  <a:spcPts val="4848"/>
                </a:lnSpc>
                <a:defRPr/>
              </a:pPr>
              <a:r>
                <a:rPr lang="en-US" sz="32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</a:rPr>
                <a:t>Thành viên nhóm 6: </a:t>
              </a:r>
              <a:endParaRPr/>
            </a:p>
            <a:p>
              <a:pPr algn="l">
                <a:lnSpc>
                  <a:spcPts val="4689"/>
                </a:lnSpc>
                <a:defRPr/>
              </a:pPr>
              <a:r>
                <a:rPr lang="en-US" sz="32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</a:rPr>
                <a:t>Nguyễn Đức Đại                       23632531</a:t>
              </a:r>
              <a:endParaRPr/>
            </a:p>
            <a:p>
              <a:pPr algn="l">
                <a:lnSpc>
                  <a:spcPts val="4689"/>
                </a:lnSpc>
                <a:defRPr/>
              </a:pPr>
              <a:r>
                <a:rPr lang="en-US" sz="32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</a:rPr>
                <a:t>Dương Lê Hoàng Phương       23637111</a:t>
              </a:r>
              <a:endParaRPr/>
            </a:p>
            <a:p>
              <a:pPr algn="l">
                <a:lnSpc>
                  <a:spcPts val="4689"/>
                </a:lnSpc>
                <a:defRPr/>
              </a:pPr>
              <a:r>
                <a:rPr lang="en-US" sz="32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</a:rPr>
                <a:t>Trần Lê Tuấn Anh                  23652051</a:t>
              </a:r>
              <a:endParaRPr/>
            </a:p>
            <a:p>
              <a:pPr algn="l">
                <a:lnSpc>
                  <a:spcPts val="4689"/>
                </a:lnSpc>
                <a:defRPr/>
              </a:pPr>
              <a:r>
                <a:rPr lang="en-US" sz="32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</a:rPr>
                <a:t>Vòng Thế Kiệt                          23727781</a:t>
              </a:r>
              <a:endParaRPr/>
            </a:p>
          </p:txBody>
        </p:sp>
      </p:grpSp>
      <p:sp>
        <p:nvSpPr>
          <p:cNvPr id="1741987808" name="TextBox 14"/>
          <p:cNvSpPr txBox="1"/>
          <p:nvPr/>
        </p:nvSpPr>
        <p:spPr bwMode="auto">
          <a:xfrm>
            <a:off x="8525602" y="5462694"/>
            <a:ext cx="10893292" cy="538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7"/>
              </a:lnSpc>
              <a:defRPr/>
            </a:pPr>
            <a:r>
              <a:rPr lang="en-US" sz="3200" b="1" spc="204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</a:rPr>
              <a:t>Giảng viên hướng dẫn: TS Nguyễn Anh Vinh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14362" y="2552700"/>
            <a:ext cx="4162425" cy="6122490"/>
          </a:xfrm>
          <a:prstGeom prst="roundRect">
            <a:avLst>
              <a:gd name="adj" fmla="val 7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3" name="Rounded Rectangle 2"/>
          <p:cNvSpPr/>
          <p:nvPr/>
        </p:nvSpPr>
        <p:spPr>
          <a:xfrm>
            <a:off x="5092065" y="2552700"/>
            <a:ext cx="4162425" cy="6122490"/>
          </a:xfrm>
          <a:prstGeom prst="roundRect">
            <a:avLst>
              <a:gd name="adj" fmla="val 7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4" name="Rounded Rectangle 3"/>
          <p:cNvSpPr/>
          <p:nvPr/>
        </p:nvSpPr>
        <p:spPr>
          <a:xfrm>
            <a:off x="9520713" y="2552700"/>
            <a:ext cx="4162425" cy="6122490"/>
          </a:xfrm>
          <a:prstGeom prst="roundRect">
            <a:avLst>
              <a:gd name="adj" fmla="val 7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5" name="Rounded Rectangle 4"/>
          <p:cNvSpPr/>
          <p:nvPr/>
        </p:nvSpPr>
        <p:spPr>
          <a:xfrm>
            <a:off x="13935075" y="2552700"/>
            <a:ext cx="4162425" cy="6122490"/>
          </a:xfrm>
          <a:prstGeom prst="roundRect">
            <a:avLst>
              <a:gd name="adj" fmla="val 7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7" y="4241452"/>
            <a:ext cx="5855988" cy="90966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412" y="4241452"/>
            <a:ext cx="5855988" cy="90966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6937" y="4241452"/>
            <a:ext cx="5855988" cy="90966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49362" y="4314065"/>
            <a:ext cx="5855988" cy="9096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45407" y="890191"/>
            <a:ext cx="4885953" cy="883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7451"/>
              </a:lnSpc>
              <a:defRPr/>
            </a:pPr>
            <a:r>
              <a:rPr sz="5400" b="1">
                <a:solidFill>
                  <a:srgbClr val="10439A"/>
                </a:solidFill>
                <a:latin typeface="Times New Roman" panose="02020603050405020304" pitchFamily="18" charset="0"/>
                <a:ea typeface="Tahoma Bold"/>
                <a:cs typeface="Times New Roman" panose="02020603050405020304" pitchFamily="18" charset="0"/>
              </a:rPr>
              <a:t>Mục Tiêu Chính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1" y="5529723"/>
            <a:ext cx="2926079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 Độ Xử Lý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5887" y="6133626"/>
            <a:ext cx="3329940" cy="723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834"/>
              </a:lnSpc>
            </a:pPr>
            <a:r>
              <a:rPr sz="280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10-15 giây mỗi bệnh nhân.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2126" y="5529723"/>
            <a:ext cx="2809874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 Chạm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2125" y="6108759"/>
            <a:ext cx="3329940" cy="7181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834"/>
              </a:lnSpc>
            </a:pPr>
            <a:r>
              <a:rPr sz="280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 động kích hoạt toàn bộ quy trình.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2650" y="5529723"/>
            <a:ext cx="2878674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 Năng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6108759"/>
            <a:ext cx="3329940" cy="7181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834"/>
              </a:lnSpc>
            </a:pPr>
            <a:r>
              <a:rPr sz="280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Lập luận AI phân luồng chính xác.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73176" y="5529723"/>
            <a:ext cx="2790824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 Chính Xác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73175" y="6108759"/>
            <a:ext cx="3329940" cy="7181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834"/>
              </a:lnSpc>
            </a:pPr>
            <a:r>
              <a:rPr sz="280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 thập sinh hiệu thời gian thực.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76852638" name="Group 2"/>
          <p:cNvGrpSpPr/>
          <p:nvPr/>
        </p:nvGrpSpPr>
        <p:grpSpPr bwMode="auto">
          <a:xfrm>
            <a:off x="11649142" y="921287"/>
            <a:ext cx="5610158" cy="381495"/>
            <a:chOff x="0" y="0"/>
            <a:chExt cx="7175411" cy="487934"/>
          </a:xfrm>
        </p:grpSpPr>
        <p:sp>
          <p:nvSpPr>
            <p:cNvPr id="3" name="Freeform 3"/>
            <p:cNvSpPr/>
            <p:nvPr/>
          </p:nvSpPr>
          <p:spPr bwMode="auto">
            <a:xfrm flipV="1">
              <a:off x="0" y="0"/>
              <a:ext cx="7175373" cy="487934"/>
            </a:xfrm>
            <a:custGeom>
              <a:avLst/>
              <a:gdLst/>
              <a:ahLst/>
              <a:cxnLst/>
              <a:rect l="l" t="t" r="r" b="b"/>
              <a:pathLst>
                <a:path w="7175373" h="487934" extrusionOk="0">
                  <a:moveTo>
                    <a:pt x="0" y="487934"/>
                  </a:moveTo>
                  <a:lnTo>
                    <a:pt x="7175373" y="487934"/>
                  </a:lnTo>
                  <a:lnTo>
                    <a:pt x="7175373" y="0"/>
                  </a:lnTo>
                  <a:lnTo>
                    <a:pt x="0" y="0"/>
                  </a:lnTo>
                  <a:lnTo>
                    <a:pt x="0" y="487934"/>
                  </a:lnTo>
                  <a:close/>
                </a:path>
              </a:pathLst>
            </a:custGeom>
            <a:blipFill rotWithShape="1">
              <a:blip r:embed="rId3"/>
              <a:stretch>
                <a:fillRect b="-57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74594731" name="Group 4"/>
          <p:cNvGrpSpPr/>
          <p:nvPr/>
        </p:nvGrpSpPr>
        <p:grpSpPr bwMode="auto">
          <a:xfrm>
            <a:off x="-142218" y="151069"/>
            <a:ext cx="10990878" cy="1151713"/>
            <a:chOff x="0" y="0"/>
            <a:chExt cx="16851568" cy="1765844"/>
          </a:xfrm>
        </p:grpSpPr>
        <p:sp>
          <p:nvSpPr>
            <p:cNvPr id="5" name="Freeform 5"/>
            <p:cNvSpPr/>
            <p:nvPr/>
          </p:nvSpPr>
          <p:spPr bwMode="auto">
            <a:xfrm>
              <a:off x="0" y="0"/>
              <a:ext cx="16851568" cy="1765837"/>
            </a:xfrm>
            <a:custGeom>
              <a:avLst/>
              <a:gdLst/>
              <a:ahLst/>
              <a:cxnLst/>
              <a:rect l="l" t="t" r="r" b="b"/>
              <a:pathLst>
                <a:path w="16851568" h="1765837" extrusionOk="0">
                  <a:moveTo>
                    <a:pt x="0" y="0"/>
                  </a:moveTo>
                  <a:lnTo>
                    <a:pt x="16851568" y="0"/>
                  </a:lnTo>
                  <a:lnTo>
                    <a:pt x="16851568" y="1765837"/>
                  </a:lnTo>
                  <a:lnTo>
                    <a:pt x="0" y="176583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183469" r="-24801" b="-18066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 bwMode="auto">
            <a:xfrm>
              <a:off x="0" y="-85725"/>
              <a:ext cx="16851568" cy="1851569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7451"/>
                </a:lnSpc>
                <a:defRPr/>
              </a:pPr>
              <a:r>
                <a:rPr lang="en-US" sz="5400" b="1">
                  <a:solidFill>
                    <a:srgbClr val="10439A"/>
                  </a:solidFill>
                  <a:latin typeface="Times New Roman" panose="02020603050405020304" pitchFamily="18" charset="0"/>
                  <a:ea typeface="Tahoma Bold"/>
                  <a:cs typeface="Times New Roman" panose="02020603050405020304" pitchFamily="18" charset="0"/>
                </a:rPr>
                <a:t>SƠ ĐỒ KHỐI HỆ THỐNG</a:t>
              </a: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BE40819-6EA0-64AB-48E9-5496A072BA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7000" y="1112033"/>
            <a:ext cx="12268200" cy="85889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fade/>
      </p:transition>
    </mc:Choice>
    <mc:Fallback xmlns="" xmlns:m="http://schemas.openxmlformats.org/officeDocument/2006/math" xmlns:w="http://schemas.openxmlformats.org/wordprocessingml/2006/main">
      <p:transition spd="fast" advClick="1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58240372" name="Group 2"/>
          <p:cNvGrpSpPr/>
          <p:nvPr/>
        </p:nvGrpSpPr>
        <p:grpSpPr bwMode="auto">
          <a:xfrm>
            <a:off x="11649142" y="921287"/>
            <a:ext cx="5610158" cy="381495"/>
            <a:chOff x="0" y="0"/>
            <a:chExt cx="7175411" cy="487934"/>
          </a:xfrm>
        </p:grpSpPr>
        <p:sp>
          <p:nvSpPr>
            <p:cNvPr id="3" name="Freeform 3"/>
            <p:cNvSpPr/>
            <p:nvPr/>
          </p:nvSpPr>
          <p:spPr bwMode="auto">
            <a:xfrm flipV="1">
              <a:off x="0" y="0"/>
              <a:ext cx="7175373" cy="487934"/>
            </a:xfrm>
            <a:custGeom>
              <a:avLst/>
              <a:gdLst/>
              <a:ahLst/>
              <a:cxnLst/>
              <a:rect l="l" t="t" r="r" b="b"/>
              <a:pathLst>
                <a:path w="7175373" h="487934" extrusionOk="0">
                  <a:moveTo>
                    <a:pt x="0" y="487934"/>
                  </a:moveTo>
                  <a:lnTo>
                    <a:pt x="7175373" y="487934"/>
                  </a:lnTo>
                  <a:lnTo>
                    <a:pt x="7175373" y="0"/>
                  </a:lnTo>
                  <a:lnTo>
                    <a:pt x="0" y="0"/>
                  </a:lnTo>
                  <a:lnTo>
                    <a:pt x="0" y="487934"/>
                  </a:lnTo>
                  <a:close/>
                </a:path>
              </a:pathLst>
            </a:custGeom>
            <a:blipFill rotWithShape="1">
              <a:blip r:embed="rId3"/>
              <a:stretch>
                <a:fillRect b="-57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9759894" name="Freeform 7"/>
          <p:cNvSpPr/>
          <p:nvPr/>
        </p:nvSpPr>
        <p:spPr bwMode="auto">
          <a:xfrm>
            <a:off x="1061290" y="891631"/>
            <a:ext cx="6987910" cy="9174966"/>
          </a:xfrm>
          <a:custGeom>
            <a:avLst/>
            <a:gdLst/>
            <a:ahLst/>
            <a:cxnLst/>
            <a:rect l="l" t="t" r="r" b="b"/>
            <a:pathLst>
              <a:path w="6987910" h="9174966" extrusionOk="0">
                <a:moveTo>
                  <a:pt x="0" y="0"/>
                </a:moveTo>
                <a:lnTo>
                  <a:pt x="6987910" y="0"/>
                </a:lnTo>
                <a:lnTo>
                  <a:pt x="6987910" y="9174966"/>
                </a:lnTo>
                <a:lnTo>
                  <a:pt x="0" y="91749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29366181" name="TextBox 8"/>
          <p:cNvSpPr txBox="1"/>
          <p:nvPr/>
        </p:nvSpPr>
        <p:spPr bwMode="auto">
          <a:xfrm>
            <a:off x="4869232" y="2359194"/>
            <a:ext cx="1432383" cy="36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0"/>
              </a:lnSpc>
              <a:spcBef>
                <a:spcPts val="0"/>
              </a:spcBef>
              <a:defRPr/>
            </a:pPr>
            <a:r>
              <a:rPr lang="en-US" sz="215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S</a:t>
            </a:r>
            <a:endParaRPr/>
          </a:p>
        </p:txBody>
      </p:sp>
      <p:sp>
        <p:nvSpPr>
          <p:cNvPr id="1844711171" name="TextBox 9"/>
          <p:cNvSpPr txBox="1"/>
          <p:nvPr/>
        </p:nvSpPr>
        <p:spPr bwMode="auto">
          <a:xfrm>
            <a:off x="4755588" y="5763245"/>
            <a:ext cx="1432383" cy="36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0"/>
              </a:lnSpc>
              <a:spcBef>
                <a:spcPts val="0"/>
              </a:spcBef>
              <a:defRPr/>
            </a:pPr>
            <a:r>
              <a:rPr lang="en-US" sz="215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S</a:t>
            </a:r>
            <a:endParaRPr/>
          </a:p>
        </p:txBody>
      </p:sp>
      <p:sp>
        <p:nvSpPr>
          <p:cNvPr id="1622813525" name="TextBox 10"/>
          <p:cNvSpPr txBox="1"/>
          <p:nvPr/>
        </p:nvSpPr>
        <p:spPr bwMode="auto">
          <a:xfrm>
            <a:off x="3577767" y="3546210"/>
            <a:ext cx="1432383" cy="36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0"/>
              </a:lnSpc>
              <a:spcBef>
                <a:spcPts val="0"/>
              </a:spcBef>
              <a:defRPr/>
            </a:pPr>
            <a:r>
              <a:rPr lang="en-US" sz="215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Đ</a:t>
            </a:r>
            <a:endParaRPr/>
          </a:p>
        </p:txBody>
      </p:sp>
      <p:sp>
        <p:nvSpPr>
          <p:cNvPr id="1717745312" name="TextBox 11"/>
          <p:cNvSpPr txBox="1"/>
          <p:nvPr/>
        </p:nvSpPr>
        <p:spPr bwMode="auto">
          <a:xfrm>
            <a:off x="3577767" y="6790027"/>
            <a:ext cx="1432383" cy="36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0"/>
              </a:lnSpc>
              <a:spcBef>
                <a:spcPts val="0"/>
              </a:spcBef>
              <a:defRPr/>
            </a:pPr>
            <a:r>
              <a:rPr lang="en-US" sz="215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Đ</a:t>
            </a:r>
            <a:endParaRPr/>
          </a:p>
        </p:txBody>
      </p:sp>
      <p:sp>
        <p:nvSpPr>
          <p:cNvPr id="617914653" name="Freeform 7"/>
          <p:cNvSpPr/>
          <p:nvPr/>
        </p:nvSpPr>
        <p:spPr bwMode="auto">
          <a:xfrm>
            <a:off x="9319478" y="946495"/>
            <a:ext cx="6801454" cy="9065238"/>
          </a:xfrm>
          <a:custGeom>
            <a:avLst/>
            <a:gdLst/>
            <a:ahLst/>
            <a:cxnLst/>
            <a:rect l="l" t="t" r="r" b="b"/>
            <a:pathLst>
              <a:path w="6801455" h="9065239" extrusionOk="0">
                <a:moveTo>
                  <a:pt x="0" y="0"/>
                </a:moveTo>
                <a:lnTo>
                  <a:pt x="6801455" y="0"/>
                </a:lnTo>
                <a:lnTo>
                  <a:pt x="6801455" y="9065239"/>
                </a:lnTo>
                <a:lnTo>
                  <a:pt x="0" y="90652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89600423" name="TextBox 6"/>
          <p:cNvSpPr txBox="1"/>
          <p:nvPr/>
        </p:nvSpPr>
        <p:spPr bwMode="auto">
          <a:xfrm>
            <a:off x="-1021695" y="-76291"/>
            <a:ext cx="9640707" cy="63176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7451"/>
              </a:lnSpc>
              <a:defRPr/>
            </a:pPr>
            <a:r>
              <a:rPr lang="en-US" sz="2800" b="1">
                <a:solidFill>
                  <a:srgbClr val="10439A"/>
                </a:solidFill>
                <a:latin typeface="Times New Roman"/>
                <a:ea typeface="Times New Roman"/>
                <a:cs typeface="Times New Roman"/>
              </a:rPr>
              <a:t>LƯU ĐỒ HOẠT ĐỘNG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15A89E-7646-21DE-312B-B2204D52D1D1}"/>
              </a:ext>
            </a:extLst>
          </p:cNvPr>
          <p:cNvSpPr/>
          <p:nvPr/>
        </p:nvSpPr>
        <p:spPr>
          <a:xfrm>
            <a:off x="7486650" y="891631"/>
            <a:ext cx="457200" cy="7466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AF5E1D-C303-51C5-71ED-103ECD0ECE2B}"/>
              </a:ext>
            </a:extLst>
          </p:cNvPr>
          <p:cNvSpPr/>
          <p:nvPr/>
        </p:nvSpPr>
        <p:spPr>
          <a:xfrm>
            <a:off x="15763744" y="921287"/>
            <a:ext cx="457200" cy="7466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fade/>
      </p:transition>
    </mc:Choice>
    <mc:Fallback xmlns="" xmlns:m="http://schemas.openxmlformats.org/officeDocument/2006/math" xmlns:w="http://schemas.openxmlformats.org/wordprocessingml/2006/main">
      <p:transition spd="fast" advClick="1">
        <p:fade thruBlk="0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02904363" name="Group 2"/>
          <p:cNvGrpSpPr/>
          <p:nvPr/>
        </p:nvGrpSpPr>
        <p:grpSpPr bwMode="auto">
          <a:xfrm>
            <a:off x="11649142" y="921287"/>
            <a:ext cx="5610158" cy="381495"/>
            <a:chOff x="0" y="0"/>
            <a:chExt cx="7175411" cy="487934"/>
          </a:xfrm>
        </p:grpSpPr>
        <p:sp>
          <p:nvSpPr>
            <p:cNvPr id="3" name="Freeform 3"/>
            <p:cNvSpPr/>
            <p:nvPr/>
          </p:nvSpPr>
          <p:spPr bwMode="auto">
            <a:xfrm flipV="1">
              <a:off x="0" y="0"/>
              <a:ext cx="7175373" cy="487934"/>
            </a:xfrm>
            <a:custGeom>
              <a:avLst/>
              <a:gdLst/>
              <a:ahLst/>
              <a:cxnLst/>
              <a:rect l="l" t="t" r="r" b="b"/>
              <a:pathLst>
                <a:path w="7175373" h="487934" extrusionOk="0">
                  <a:moveTo>
                    <a:pt x="0" y="487934"/>
                  </a:moveTo>
                  <a:lnTo>
                    <a:pt x="7175373" y="487934"/>
                  </a:lnTo>
                  <a:lnTo>
                    <a:pt x="7175373" y="0"/>
                  </a:lnTo>
                  <a:lnTo>
                    <a:pt x="0" y="0"/>
                  </a:lnTo>
                  <a:lnTo>
                    <a:pt x="0" y="487934"/>
                  </a:lnTo>
                  <a:close/>
                </a:path>
              </a:pathLst>
            </a:custGeom>
            <a:blipFill rotWithShape="1">
              <a:blip r:embed="rId3"/>
              <a:stretch>
                <a:fillRect b="-57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9606164" name="Group 4"/>
          <p:cNvGrpSpPr/>
          <p:nvPr/>
        </p:nvGrpSpPr>
        <p:grpSpPr bwMode="auto">
          <a:xfrm>
            <a:off x="481177" y="173748"/>
            <a:ext cx="8243405" cy="1151713"/>
            <a:chOff x="0" y="0"/>
            <a:chExt cx="12639054" cy="1765844"/>
          </a:xfrm>
        </p:grpSpPr>
        <p:sp>
          <p:nvSpPr>
            <p:cNvPr id="5" name="Freeform 5"/>
            <p:cNvSpPr/>
            <p:nvPr/>
          </p:nvSpPr>
          <p:spPr bwMode="auto">
            <a:xfrm>
              <a:off x="0" y="0"/>
              <a:ext cx="12639054" cy="1765837"/>
            </a:xfrm>
            <a:custGeom>
              <a:avLst/>
              <a:gdLst/>
              <a:ahLst/>
              <a:cxnLst/>
              <a:rect l="l" t="t" r="r" b="b"/>
              <a:pathLst>
                <a:path w="12639054" h="1765837" extrusionOk="0">
                  <a:moveTo>
                    <a:pt x="0" y="0"/>
                  </a:moveTo>
                  <a:lnTo>
                    <a:pt x="12639054" y="0"/>
                  </a:lnTo>
                  <a:lnTo>
                    <a:pt x="12639054" y="1765837"/>
                  </a:lnTo>
                  <a:lnTo>
                    <a:pt x="0" y="176583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183469" r="-66398" b="-18066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 bwMode="auto">
            <a:xfrm>
              <a:off x="0" y="-85725"/>
              <a:ext cx="12639054" cy="1851569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7451"/>
                </a:lnSpc>
                <a:defRPr/>
              </a:pPr>
              <a:r>
                <a:rPr lang="en-US" sz="5400" b="1">
                  <a:solidFill>
                    <a:srgbClr val="10439A"/>
                  </a:solidFill>
                  <a:latin typeface="Tahoma Bold"/>
                  <a:ea typeface="Tahoma Bold"/>
                  <a:cs typeface="Tahoma Bold"/>
                </a:rPr>
                <a:t>SƠ ĐỒ GANTT</a:t>
              </a:r>
              <a:endParaRPr/>
            </a:p>
          </p:txBody>
        </p:sp>
      </p:grpSp>
      <p:graphicFrame>
        <p:nvGraphicFramePr>
          <p:cNvPr id="72029999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3259825"/>
              </p:ext>
            </p:extLst>
          </p:nvPr>
        </p:nvGraphicFramePr>
        <p:xfrm>
          <a:off x="-1371600" y="-743661"/>
          <a:ext cx="21450301" cy="1085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21120100" imgH="8966200" progId="Excel.Sheet.12">
                  <p:embed/>
                </p:oleObj>
              </mc:Choice>
              <mc:Fallback>
                <p:oleObj name="Worksheet" r:id="rId5" imgW="21120100" imgH="8966200" progId="Excel.Sheet.12">
                  <p:embed/>
                  <p:pic>
                    <p:nvPicPr>
                      <p:cNvPr id="720299997" name="Object 7"/>
                      <p:cNvPicPr/>
                      <p:nvPr/>
                    </p:nvPicPr>
                    <p:blipFill rotWithShape="1">
                      <a:blip r:embed="rId6"/>
                      <a:stretch>
                        <a:fillRect/>
                      </a:stretch>
                    </p:blipFill>
                    <p:spPr bwMode="auto">
                      <a:xfrm>
                        <a:off x="-1371600" y="-743661"/>
                        <a:ext cx="21450301" cy="10856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fade/>
      </p:transition>
    </mc:Choice>
    <mc:Fallback xmlns="" xmlns:m="http://schemas.openxmlformats.org/officeDocument/2006/math" xmlns:w="http://schemas.openxmlformats.org/wordprocessingml/2006/main">
      <p:transition spd="fast" advClick="1">
        <p:fade thruBlk="0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24760741" name="Group 2"/>
          <p:cNvGrpSpPr/>
          <p:nvPr/>
        </p:nvGrpSpPr>
        <p:grpSpPr bwMode="auto">
          <a:xfrm>
            <a:off x="11649142" y="921287"/>
            <a:ext cx="5610158" cy="381495"/>
            <a:chOff x="0" y="0"/>
            <a:chExt cx="7175411" cy="487934"/>
          </a:xfrm>
        </p:grpSpPr>
        <p:sp>
          <p:nvSpPr>
            <p:cNvPr id="3" name="Freeform 3"/>
            <p:cNvSpPr/>
            <p:nvPr/>
          </p:nvSpPr>
          <p:spPr bwMode="auto">
            <a:xfrm flipV="1">
              <a:off x="0" y="0"/>
              <a:ext cx="7175373" cy="487934"/>
            </a:xfrm>
            <a:custGeom>
              <a:avLst/>
              <a:gdLst/>
              <a:ahLst/>
              <a:cxnLst/>
              <a:rect l="l" t="t" r="r" b="b"/>
              <a:pathLst>
                <a:path w="7175373" h="487934" extrusionOk="0">
                  <a:moveTo>
                    <a:pt x="0" y="487934"/>
                  </a:moveTo>
                  <a:lnTo>
                    <a:pt x="7175373" y="487934"/>
                  </a:lnTo>
                  <a:lnTo>
                    <a:pt x="7175373" y="0"/>
                  </a:lnTo>
                  <a:lnTo>
                    <a:pt x="0" y="0"/>
                  </a:lnTo>
                  <a:lnTo>
                    <a:pt x="0" y="487934"/>
                  </a:lnTo>
                  <a:close/>
                </a:path>
              </a:pathLst>
            </a:custGeom>
            <a:blipFill rotWithShape="1">
              <a:blip r:embed="rId3"/>
              <a:stretch>
                <a:fillRect b="-57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42002013" name="Group 4"/>
          <p:cNvGrpSpPr/>
          <p:nvPr/>
        </p:nvGrpSpPr>
        <p:grpSpPr bwMode="auto">
          <a:xfrm>
            <a:off x="481177" y="173748"/>
            <a:ext cx="8243405" cy="1151713"/>
            <a:chOff x="0" y="0"/>
            <a:chExt cx="12639054" cy="1765844"/>
          </a:xfrm>
        </p:grpSpPr>
        <p:sp>
          <p:nvSpPr>
            <p:cNvPr id="5" name="Freeform 5"/>
            <p:cNvSpPr/>
            <p:nvPr/>
          </p:nvSpPr>
          <p:spPr bwMode="auto">
            <a:xfrm>
              <a:off x="0" y="0"/>
              <a:ext cx="12639054" cy="1765837"/>
            </a:xfrm>
            <a:custGeom>
              <a:avLst/>
              <a:gdLst/>
              <a:ahLst/>
              <a:cxnLst/>
              <a:rect l="l" t="t" r="r" b="b"/>
              <a:pathLst>
                <a:path w="12639054" h="1765837" extrusionOk="0">
                  <a:moveTo>
                    <a:pt x="0" y="0"/>
                  </a:moveTo>
                  <a:lnTo>
                    <a:pt x="12639054" y="0"/>
                  </a:lnTo>
                  <a:lnTo>
                    <a:pt x="12639054" y="1765837"/>
                  </a:lnTo>
                  <a:lnTo>
                    <a:pt x="0" y="176583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183469" r="-66398" b="-18066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 bwMode="auto">
            <a:xfrm>
              <a:off x="0" y="-85725"/>
              <a:ext cx="12639054" cy="1851569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7451"/>
                </a:lnSpc>
                <a:defRPr/>
              </a:pPr>
              <a:r>
                <a:rPr lang="en-US" sz="5400" b="1">
                  <a:solidFill>
                    <a:srgbClr val="10439A"/>
                  </a:solidFill>
                  <a:latin typeface="Tahoma Bold"/>
                  <a:ea typeface="Tahoma Bold"/>
                  <a:cs typeface="Tahoma Bold"/>
                </a:rPr>
                <a:t>SƠ ĐỒ GANTT</a:t>
              </a:r>
              <a:endParaRPr/>
            </a:p>
          </p:txBody>
        </p:sp>
      </p:grpSp>
      <p:graphicFrame>
        <p:nvGraphicFramePr>
          <p:cNvPr id="135297791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2869964"/>
              </p:ext>
            </p:extLst>
          </p:nvPr>
        </p:nvGraphicFramePr>
        <p:xfrm>
          <a:off x="-1524000" y="228599"/>
          <a:ext cx="21488399" cy="13144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5" imgW="21120100" imgH="13995400" progId="Excel.Sheet.12">
                  <p:embed/>
                </p:oleObj>
              </mc:Choice>
              <mc:Fallback>
                <p:oleObj name="oleObj" r:id="rId5" imgW="21120100" imgH="13995400" progId="Excel.Sheet.12">
                  <p:embed/>
                  <p:pic>
                    <p:nvPicPr>
                      <p:cNvPr id="1352977913" name="Object 7"/>
                      <p:cNvPicPr/>
                      <p:nvPr/>
                    </p:nvPicPr>
                    <p:blipFill rotWithShape="1">
                      <a:blip r:embed="rId6"/>
                      <a:stretch/>
                    </p:blipFill>
                    <p:spPr bwMode="auto">
                      <a:xfrm>
                        <a:off x="-1524000" y="228599"/>
                        <a:ext cx="21488399" cy="131445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fade/>
      </p:transition>
    </mc:Choice>
    <mc:Fallback xmlns="" xmlns:m="http://schemas.openxmlformats.org/officeDocument/2006/math" xmlns:w="http://schemas.openxmlformats.org/wordprocessingml/2006/main">
      <p:transition spd="fast" advClick="1">
        <p:fade thruBlk="0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48949987" name="Group 2"/>
          <p:cNvGrpSpPr/>
          <p:nvPr/>
        </p:nvGrpSpPr>
        <p:grpSpPr bwMode="auto">
          <a:xfrm>
            <a:off x="11649142" y="921287"/>
            <a:ext cx="5610158" cy="381495"/>
            <a:chOff x="0" y="0"/>
            <a:chExt cx="7175411" cy="487934"/>
          </a:xfrm>
        </p:grpSpPr>
        <p:sp>
          <p:nvSpPr>
            <p:cNvPr id="3" name="Freeform 3"/>
            <p:cNvSpPr/>
            <p:nvPr/>
          </p:nvSpPr>
          <p:spPr bwMode="auto">
            <a:xfrm flipV="1">
              <a:off x="0" y="0"/>
              <a:ext cx="7175373" cy="487934"/>
            </a:xfrm>
            <a:custGeom>
              <a:avLst/>
              <a:gdLst/>
              <a:ahLst/>
              <a:cxnLst/>
              <a:rect l="l" t="t" r="r" b="b"/>
              <a:pathLst>
                <a:path w="7175373" h="487934" extrusionOk="0">
                  <a:moveTo>
                    <a:pt x="0" y="487934"/>
                  </a:moveTo>
                  <a:lnTo>
                    <a:pt x="7175373" y="487934"/>
                  </a:lnTo>
                  <a:lnTo>
                    <a:pt x="7175373" y="0"/>
                  </a:lnTo>
                  <a:lnTo>
                    <a:pt x="0" y="0"/>
                  </a:lnTo>
                  <a:lnTo>
                    <a:pt x="0" y="487934"/>
                  </a:lnTo>
                  <a:close/>
                </a:path>
              </a:pathLst>
            </a:custGeom>
            <a:blipFill rotWithShape="1">
              <a:blip r:embed="rId3"/>
              <a:stretch>
                <a:fillRect b="-57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2515720" name="Group 4"/>
          <p:cNvGrpSpPr/>
          <p:nvPr/>
        </p:nvGrpSpPr>
        <p:grpSpPr bwMode="auto">
          <a:xfrm>
            <a:off x="129846" y="151069"/>
            <a:ext cx="12136163" cy="1151713"/>
            <a:chOff x="0" y="0"/>
            <a:chExt cx="18607556" cy="1765844"/>
          </a:xfrm>
        </p:grpSpPr>
        <p:sp>
          <p:nvSpPr>
            <p:cNvPr id="5" name="Freeform 5"/>
            <p:cNvSpPr/>
            <p:nvPr/>
          </p:nvSpPr>
          <p:spPr bwMode="auto">
            <a:xfrm>
              <a:off x="0" y="0"/>
              <a:ext cx="18607556" cy="1765837"/>
            </a:xfrm>
            <a:custGeom>
              <a:avLst/>
              <a:gdLst/>
              <a:ahLst/>
              <a:cxnLst/>
              <a:rect l="l" t="t" r="r" b="b"/>
              <a:pathLst>
                <a:path w="18607556" h="1765837" extrusionOk="0">
                  <a:moveTo>
                    <a:pt x="0" y="0"/>
                  </a:moveTo>
                  <a:lnTo>
                    <a:pt x="18607556" y="0"/>
                  </a:lnTo>
                  <a:lnTo>
                    <a:pt x="18607556" y="1765837"/>
                  </a:lnTo>
                  <a:lnTo>
                    <a:pt x="0" y="176583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183469" r="-13025" b="-18066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 bwMode="auto">
            <a:xfrm>
              <a:off x="0" y="-85725"/>
              <a:ext cx="18607556" cy="1851569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7451"/>
                </a:lnSpc>
                <a:defRPr/>
              </a:pPr>
              <a:r>
                <a:rPr lang="en-US" sz="5400" b="1">
                  <a:solidFill>
                    <a:srgbClr val="10439A"/>
                  </a:solidFill>
                  <a:latin typeface="Tahoma Bold"/>
                  <a:ea typeface="Tahoma Bold"/>
                  <a:cs typeface="Tahoma Bold"/>
                </a:rPr>
                <a:t>CHIA NHIỆM VỤ THEO TODOLIST</a:t>
              </a:r>
              <a:endParaRPr/>
            </a:p>
          </p:txBody>
        </p:sp>
      </p:grpSp>
      <p:graphicFrame>
        <p:nvGraphicFramePr>
          <p:cNvPr id="2018153597" name="Table 201815359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0872171"/>
              </p:ext>
            </p:extLst>
          </p:nvPr>
        </p:nvGraphicFramePr>
        <p:xfrm>
          <a:off x="97199" y="1314450"/>
          <a:ext cx="18059398" cy="8743946"/>
        </p:xfrm>
        <a:graphic>
          <a:graphicData uri="http://schemas.openxmlformats.org/drawingml/2006/table">
            <a:tbl>
              <a:tblPr firstRow="1" firstCol="1" bandRow="1"/>
              <a:tblGrid>
                <a:gridCol w="5805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74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78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697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Nội dung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Mô tả nội dung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Tuần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Ngưởi đảm nhận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21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Giao tiếp I2C cảm biến nhiệt độ MLX90614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Đọc dữ liệu nhiệt độ qua I2C, kiểm tra độ chính xác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Tuần 2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Dương Lê Hoàng Phương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21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Giao tiếp I2C cảm biến nhịp tim MAX30102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Đọc dữ liệu nhịp tim, lọc nhiễu cơ bản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Tuần 3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Dương Lê Hoàng Phương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49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Hiển thị dữ liệu lên LCD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Hiển thị kết quả đo trực tiếp trên kiosk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Tuần 4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Dương Lê Hoàng Phương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49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 dữ liệu qua UART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Debug/log dữ liệu qua UART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Tuần 5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Dương Lê Hoàng Phương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825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Chốt schema dữ liệu cảm biến JSON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Định dạng JSON chuẩn để B xây API lưu DB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Tuần 4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Dương Lê Hoàng Phương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21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Dựng MQTT broker Mosquitto  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Cấu hình broker, test publish/subscribe cơ bản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Tuần 2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Vòng Thế Kiệt 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764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Xây backend</a:t>
                      </a:r>
                      <a:r>
                        <a:rPr lang="en-US"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FastAPI</a:t>
                      </a: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subscribe MQTT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Nhận dữ liệu từ A, xử lý và chuẩn hóa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Tuần 4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Vòng Thế Kiệt 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521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Thiết kế và dựng database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Schema lưu trữ dữ liệu bệnh nhân/đo lường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Tuần 4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Vòng Thế Kiệt 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764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Xây dashboard React/Vite cho bác sĩ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Hiển thị dữ liệu real-time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Tuần 7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Vòng Thế Kiệt 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85216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Xuất contract API cho Workstream D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Định nghĩa endpoint/format dữ liệu cho Agent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Tuần 6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Vòng Thế Kiệt 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6764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Tiền xử lý video OpenCV/NumPy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Chuẩn hóa khung hình đầu vào cho YOLO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Tuần 3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Trần Lê Tuấn Anh 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fade/>
      </p:transition>
    </mc:Choice>
    <mc:Fallback xmlns="" xmlns:m="http://schemas.openxmlformats.org/officeDocument/2006/math" xmlns:w="http://schemas.openxmlformats.org/wordprocessingml/2006/main">
      <p:transition spd="fast" advClick="1">
        <p:fade thruBlk="0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1708231" name="Group 2"/>
          <p:cNvGrpSpPr/>
          <p:nvPr/>
        </p:nvGrpSpPr>
        <p:grpSpPr bwMode="auto">
          <a:xfrm>
            <a:off x="11649142" y="921287"/>
            <a:ext cx="5610158" cy="381495"/>
            <a:chOff x="0" y="0"/>
            <a:chExt cx="7175411" cy="487934"/>
          </a:xfrm>
        </p:grpSpPr>
        <p:sp>
          <p:nvSpPr>
            <p:cNvPr id="3" name="Freeform 3"/>
            <p:cNvSpPr/>
            <p:nvPr/>
          </p:nvSpPr>
          <p:spPr bwMode="auto">
            <a:xfrm flipV="1">
              <a:off x="0" y="0"/>
              <a:ext cx="7175373" cy="487934"/>
            </a:xfrm>
            <a:custGeom>
              <a:avLst/>
              <a:gdLst/>
              <a:ahLst/>
              <a:cxnLst/>
              <a:rect l="l" t="t" r="r" b="b"/>
              <a:pathLst>
                <a:path w="7175373" h="487934" extrusionOk="0">
                  <a:moveTo>
                    <a:pt x="0" y="487934"/>
                  </a:moveTo>
                  <a:lnTo>
                    <a:pt x="7175373" y="487934"/>
                  </a:lnTo>
                  <a:lnTo>
                    <a:pt x="7175373" y="0"/>
                  </a:lnTo>
                  <a:lnTo>
                    <a:pt x="0" y="0"/>
                  </a:lnTo>
                  <a:lnTo>
                    <a:pt x="0" y="487934"/>
                  </a:lnTo>
                  <a:close/>
                </a:path>
              </a:pathLst>
            </a:custGeom>
            <a:blipFill rotWithShape="1">
              <a:blip r:embed="rId3"/>
              <a:stretch>
                <a:fillRect b="-57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7120427" name="Group 4"/>
          <p:cNvGrpSpPr/>
          <p:nvPr/>
        </p:nvGrpSpPr>
        <p:grpSpPr bwMode="auto">
          <a:xfrm>
            <a:off x="199116" y="-156414"/>
            <a:ext cx="12711858" cy="1151713"/>
            <a:chOff x="0" y="0"/>
            <a:chExt cx="19490231" cy="1765844"/>
          </a:xfrm>
        </p:grpSpPr>
        <p:sp>
          <p:nvSpPr>
            <p:cNvPr id="5" name="Freeform 5"/>
            <p:cNvSpPr/>
            <p:nvPr/>
          </p:nvSpPr>
          <p:spPr bwMode="auto">
            <a:xfrm>
              <a:off x="0" y="0"/>
              <a:ext cx="19490230" cy="1765837"/>
            </a:xfrm>
            <a:custGeom>
              <a:avLst/>
              <a:gdLst/>
              <a:ahLst/>
              <a:cxnLst/>
              <a:rect l="l" t="t" r="r" b="b"/>
              <a:pathLst>
                <a:path w="19490230" h="1765837" extrusionOk="0">
                  <a:moveTo>
                    <a:pt x="0" y="0"/>
                  </a:moveTo>
                  <a:lnTo>
                    <a:pt x="19490230" y="0"/>
                  </a:lnTo>
                  <a:lnTo>
                    <a:pt x="19490230" y="1765837"/>
                  </a:lnTo>
                  <a:lnTo>
                    <a:pt x="0" y="176583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183469" r="-7906" b="-18066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 bwMode="auto">
            <a:xfrm>
              <a:off x="0" y="-85725"/>
              <a:ext cx="19490231" cy="1851569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7451"/>
                </a:lnSpc>
                <a:defRPr/>
              </a:pPr>
              <a:r>
                <a:rPr lang="en-US" sz="5400" b="1">
                  <a:solidFill>
                    <a:srgbClr val="10439A"/>
                  </a:solidFill>
                  <a:latin typeface="Tahoma Bold"/>
                  <a:ea typeface="Tahoma Bold"/>
                  <a:cs typeface="Tahoma Bold"/>
                </a:rPr>
                <a:t>CHIA NHIỆM VỤ THEO TODOLIST</a:t>
              </a:r>
              <a:endParaRPr/>
            </a:p>
          </p:txBody>
        </p:sp>
      </p:grpSp>
      <p:graphicFrame>
        <p:nvGraphicFramePr>
          <p:cNvPr id="1004585256" name="Table 100458525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4489854"/>
              </p:ext>
            </p:extLst>
          </p:nvPr>
        </p:nvGraphicFramePr>
        <p:xfrm>
          <a:off x="478199" y="1219199"/>
          <a:ext cx="17525996" cy="8591548"/>
        </p:xfrm>
        <a:graphic>
          <a:graphicData uri="http://schemas.openxmlformats.org/drawingml/2006/table">
            <a:tbl>
              <a:tblPr firstRow="1" firstCol="1" bandRow="1"/>
              <a:tblGrid>
                <a:gridCol w="5091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0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26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1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686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Huấn luyện/tinh chỉnh YOLOv11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9524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Nhận diện khuôn mặt/tư thế đúng vị trí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9524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Tuần 5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9524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Trần Lê Tuấn Anh 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9524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461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Tích hợp OCR đọc CCCD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Đọc thông tin CCCD tự động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Tuần 6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Trần Lê Tuấn Anh 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544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Trigger đo không chạm qua MQTT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Gửi tín hiệu bắt đầu đo khi CV xác nhận đúng vị trí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Tuần 7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Nguyễn Đức Đại 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544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Xuất contract dữ liệu OCR cho Workstream D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Định nghĩa format dữ liệu CCCD cho Agent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Tuần 6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Nguyễn Đức Đại 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4544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Dựng khung Agent + RAG trên mock data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Khởi động phát triển song song không chờ B/C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Tuần 3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Nguyễn Đức Đại 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686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Xây vector store cho sổ tay y tế nội bộ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Chuẩn bị dữ liệu tra cứu RAG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Tuần 5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Nguyễn Đức Đại 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16868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Thiết kế Tool Calling phân khoa/ưu tiên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Logic ra quyết định điều hướng bệnh nhân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Tuần 6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Nguyễn Đức Đại 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fade/>
      </p:transition>
    </mc:Choice>
    <mc:Fallback xmlns="" xmlns:m="http://schemas.openxmlformats.org/officeDocument/2006/math" xmlns:w="http://schemas.openxmlformats.org/wordprocessingml/2006/main">
      <p:transition spd="fast" advClick="1">
        <p:fade thruBlk="0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40846567" name="Group 2"/>
          <p:cNvGrpSpPr/>
          <p:nvPr/>
        </p:nvGrpSpPr>
        <p:grpSpPr bwMode="auto">
          <a:xfrm>
            <a:off x="11649142" y="921287"/>
            <a:ext cx="5610158" cy="381495"/>
            <a:chOff x="0" y="0"/>
            <a:chExt cx="7175411" cy="487934"/>
          </a:xfrm>
        </p:grpSpPr>
        <p:sp>
          <p:nvSpPr>
            <p:cNvPr id="3" name="Freeform 3"/>
            <p:cNvSpPr/>
            <p:nvPr/>
          </p:nvSpPr>
          <p:spPr bwMode="auto">
            <a:xfrm flipV="1">
              <a:off x="0" y="0"/>
              <a:ext cx="7175373" cy="487934"/>
            </a:xfrm>
            <a:custGeom>
              <a:avLst/>
              <a:gdLst/>
              <a:ahLst/>
              <a:cxnLst/>
              <a:rect l="l" t="t" r="r" b="b"/>
              <a:pathLst>
                <a:path w="7175373" h="487934" extrusionOk="0">
                  <a:moveTo>
                    <a:pt x="0" y="487934"/>
                  </a:moveTo>
                  <a:lnTo>
                    <a:pt x="7175373" y="487934"/>
                  </a:lnTo>
                  <a:lnTo>
                    <a:pt x="7175373" y="0"/>
                  </a:lnTo>
                  <a:lnTo>
                    <a:pt x="0" y="0"/>
                  </a:lnTo>
                  <a:lnTo>
                    <a:pt x="0" y="487934"/>
                  </a:lnTo>
                  <a:close/>
                </a:path>
              </a:pathLst>
            </a:custGeom>
            <a:blipFill rotWithShape="1">
              <a:blip r:embed="rId3"/>
              <a:stretch>
                <a:fillRect b="-57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89047583" name="Group 4"/>
          <p:cNvGrpSpPr/>
          <p:nvPr/>
        </p:nvGrpSpPr>
        <p:grpSpPr bwMode="auto">
          <a:xfrm>
            <a:off x="199116" y="-156414"/>
            <a:ext cx="12711858" cy="1151713"/>
            <a:chOff x="0" y="0"/>
            <a:chExt cx="19490231" cy="1765844"/>
          </a:xfrm>
        </p:grpSpPr>
        <p:sp>
          <p:nvSpPr>
            <p:cNvPr id="5" name="Freeform 5"/>
            <p:cNvSpPr/>
            <p:nvPr/>
          </p:nvSpPr>
          <p:spPr bwMode="auto">
            <a:xfrm>
              <a:off x="0" y="0"/>
              <a:ext cx="19490230" cy="1765837"/>
            </a:xfrm>
            <a:custGeom>
              <a:avLst/>
              <a:gdLst/>
              <a:ahLst/>
              <a:cxnLst/>
              <a:rect l="l" t="t" r="r" b="b"/>
              <a:pathLst>
                <a:path w="19490230" h="1765837" extrusionOk="0">
                  <a:moveTo>
                    <a:pt x="0" y="0"/>
                  </a:moveTo>
                  <a:lnTo>
                    <a:pt x="19490230" y="0"/>
                  </a:lnTo>
                  <a:lnTo>
                    <a:pt x="19490230" y="1765837"/>
                  </a:lnTo>
                  <a:lnTo>
                    <a:pt x="0" y="176583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183469" r="-7906" b="-18066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 bwMode="auto">
            <a:xfrm>
              <a:off x="0" y="-85725"/>
              <a:ext cx="19490231" cy="1851569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7451"/>
                </a:lnSpc>
                <a:defRPr/>
              </a:pPr>
              <a:r>
                <a:rPr lang="en-US" sz="5400" b="1">
                  <a:solidFill>
                    <a:srgbClr val="10439A"/>
                  </a:solidFill>
                  <a:latin typeface="Tahoma Bold"/>
                  <a:ea typeface="Tahoma Bold"/>
                  <a:cs typeface="Tahoma Bold"/>
                </a:rPr>
                <a:t>CHIA NHIỆM VỤ THEO TODOLIST</a:t>
              </a:r>
              <a:endParaRPr/>
            </a:p>
          </p:txBody>
        </p:sp>
      </p:grpSp>
      <p:graphicFrame>
        <p:nvGraphicFramePr>
          <p:cNvPr id="2102300846" name="Table 210230084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233442"/>
              </p:ext>
            </p:extLst>
          </p:nvPr>
        </p:nvGraphicFramePr>
        <p:xfrm>
          <a:off x="859199" y="1657349"/>
          <a:ext cx="16611598" cy="7439250"/>
        </p:xfrm>
        <a:graphic>
          <a:graphicData uri="http://schemas.openxmlformats.org/drawingml/2006/table">
            <a:tbl>
              <a:tblPr firstRow="1" firstCol="1" bandRow="1"/>
              <a:tblGrid>
                <a:gridCol w="5277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7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5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03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3987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Nối dữ liệu thật từ B/C thay mock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9524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Chuyển adapter dữ liệu từ mock sang thật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9524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Tuần 7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9524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Nguyễn Đức Đại 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9524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987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Ẩn danh hóa PII trong pipeline Agent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Đảm bảo dữ liệu cá nhân được ẩn danh trước xử lý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Tuần 8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Nguyễn Đức Đại 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987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Thống nhất contract API giữa B và D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Chốt định dạng/tần suất dữ liệu chuyển giao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Tuần 6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Cả nhóm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987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Bàn giao mock data cho Workstream D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 cung cấp mock JSON để D phát triển song song từ đầu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Tuần 1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Cả nhóm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987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Bàn giao mock data OCR cho Workstream D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 cung cấp mock dữ liệu CCCD để D phát triển song song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Tuần 1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Cả nhóm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3987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Test end-to-end toàn hệ thống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Chạy thử toàn bộ luồng bệnh nhân từ đầu đến cuối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Tuần 10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Cả nhóm</a:t>
                      </a:r>
                      <a:endParaRPr/>
                    </a:p>
                  </a:txBody>
                  <a:tcPr marL="9524" marR="9524" marT="9524" marB="9524" anchor="ctr">
                    <a:lnL w="12667" algn="ctr">
                      <a:solidFill>
                        <a:srgbClr val="000000"/>
                      </a:solidFill>
                    </a:lnL>
                    <a:lnR w="12667" algn="ctr">
                      <a:solidFill>
                        <a:srgbClr val="000000"/>
                      </a:solidFill>
                    </a:lnR>
                    <a:lnT w="12667" algn="ctr">
                      <a:solidFill>
                        <a:srgbClr val="000000"/>
                      </a:solidFill>
                    </a:lnT>
                    <a:lnB w="12667" algn="ctr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fade/>
      </p:transition>
    </mc:Choice>
    <mc:Fallback xmlns="" xmlns:m="http://schemas.openxmlformats.org/officeDocument/2006/math" xmlns:w="http://schemas.openxmlformats.org/wordprocessingml/2006/main">
      <p:transition spd="fast" advClick="1">
        <p:fade thruBlk="0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97022180" name="Group 2"/>
          <p:cNvGrpSpPr/>
          <p:nvPr/>
        </p:nvGrpSpPr>
        <p:grpSpPr bwMode="auto">
          <a:xfrm>
            <a:off x="11649142" y="921287"/>
            <a:ext cx="5610158" cy="381495"/>
            <a:chOff x="0" y="0"/>
            <a:chExt cx="7175411" cy="487934"/>
          </a:xfrm>
        </p:grpSpPr>
        <p:sp>
          <p:nvSpPr>
            <p:cNvPr id="3" name="Freeform 3"/>
            <p:cNvSpPr/>
            <p:nvPr/>
          </p:nvSpPr>
          <p:spPr bwMode="auto">
            <a:xfrm flipV="1">
              <a:off x="0" y="0"/>
              <a:ext cx="7175373" cy="487934"/>
            </a:xfrm>
            <a:custGeom>
              <a:avLst/>
              <a:gdLst/>
              <a:ahLst/>
              <a:cxnLst/>
              <a:rect l="l" t="t" r="r" b="b"/>
              <a:pathLst>
                <a:path w="7175373" h="487934" extrusionOk="0">
                  <a:moveTo>
                    <a:pt x="0" y="487934"/>
                  </a:moveTo>
                  <a:lnTo>
                    <a:pt x="7175373" y="487934"/>
                  </a:lnTo>
                  <a:lnTo>
                    <a:pt x="7175373" y="0"/>
                  </a:lnTo>
                  <a:lnTo>
                    <a:pt x="0" y="0"/>
                  </a:lnTo>
                  <a:lnTo>
                    <a:pt x="0" y="487934"/>
                  </a:lnTo>
                  <a:close/>
                </a:path>
              </a:pathLst>
            </a:custGeom>
            <a:blipFill rotWithShape="1">
              <a:blip r:embed="rId3"/>
              <a:stretch>
                <a:fillRect b="-575"/>
              </a:stretch>
            </a:blipFill>
          </p:spPr>
          <p:txBody>
            <a:bodyPr anchor="ctr"/>
            <a:lstStyle/>
            <a:p>
              <a:pPr algn="ctr">
                <a:defRPr/>
              </a:pPr>
              <a:endParaRPr sz="2200">
                <a:latin typeface="Times New Roman"/>
                <a:cs typeface="Times New Roman"/>
              </a:endParaRPr>
            </a:p>
          </p:txBody>
        </p:sp>
      </p:grpSp>
      <p:grpSp>
        <p:nvGrpSpPr>
          <p:cNvPr id="2029399140" name="Group 4"/>
          <p:cNvGrpSpPr/>
          <p:nvPr/>
        </p:nvGrpSpPr>
        <p:grpSpPr bwMode="auto">
          <a:xfrm>
            <a:off x="630265" y="468997"/>
            <a:ext cx="3770775" cy="1256765"/>
            <a:chOff x="0" y="0"/>
            <a:chExt cx="5781473" cy="1926912"/>
          </a:xfrm>
        </p:grpSpPr>
        <p:sp>
          <p:nvSpPr>
            <p:cNvPr id="5" name="Freeform 5"/>
            <p:cNvSpPr/>
            <p:nvPr/>
          </p:nvSpPr>
          <p:spPr bwMode="auto">
            <a:xfrm>
              <a:off x="0" y="0"/>
              <a:ext cx="5781473" cy="1926905"/>
            </a:xfrm>
            <a:custGeom>
              <a:avLst/>
              <a:gdLst/>
              <a:ahLst/>
              <a:cxnLst/>
              <a:rect l="l" t="t" r="r" b="b"/>
              <a:pathLst>
                <a:path w="5781473" h="1926905" extrusionOk="0">
                  <a:moveTo>
                    <a:pt x="0" y="0"/>
                  </a:moveTo>
                  <a:lnTo>
                    <a:pt x="5781473" y="0"/>
                  </a:lnTo>
                  <a:lnTo>
                    <a:pt x="5781473" y="1926905"/>
                  </a:lnTo>
                  <a:lnTo>
                    <a:pt x="0" y="192690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168133" r="-263768" b="-157204"/>
              </a:stretch>
            </a:blipFill>
          </p:spPr>
          <p:txBody>
            <a:bodyPr anchor="ctr"/>
            <a:lstStyle/>
            <a:p>
              <a:pPr algn="ctr">
                <a:defRPr/>
              </a:pPr>
              <a:endParaRPr sz="2200">
                <a:latin typeface="Times New Roman"/>
                <a:cs typeface="Times New Roman"/>
              </a:endParaRPr>
            </a:p>
          </p:txBody>
        </p:sp>
        <p:sp>
          <p:nvSpPr>
            <p:cNvPr id="6" name="TextBox 6"/>
            <p:cNvSpPr txBox="1"/>
            <p:nvPr/>
          </p:nvSpPr>
          <p:spPr bwMode="auto">
            <a:xfrm>
              <a:off x="0" y="-95250"/>
              <a:ext cx="5781473" cy="2022162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8141"/>
                </a:lnSpc>
                <a:defRPr/>
              </a:pPr>
              <a:r>
                <a:rPr lang="en-US" sz="8000" b="1">
                  <a:solidFill>
                    <a:srgbClr val="10439A"/>
                  </a:solidFill>
                  <a:latin typeface="Times New Roman"/>
                  <a:ea typeface="Times New Roman"/>
                  <a:cs typeface="Times New Roman"/>
                </a:rPr>
                <a:t>SWOT</a:t>
              </a:r>
              <a:endParaRPr sz="2200">
                <a:latin typeface="Times New Roman"/>
                <a:cs typeface="Times New Roman"/>
              </a:endParaRPr>
            </a:p>
          </p:txBody>
        </p:sp>
      </p:grpSp>
      <p:graphicFrame>
        <p:nvGraphicFramePr>
          <p:cNvPr id="1724227975" name="Table 7"/>
          <p:cNvGraphicFramePr>
            <a:graphicFrameLocks noGrp="1"/>
          </p:cNvGraphicFramePr>
          <p:nvPr/>
        </p:nvGraphicFramePr>
        <p:xfrm>
          <a:off x="636855" y="1725762"/>
          <a:ext cx="17014292" cy="7753350"/>
        </p:xfrm>
        <a:graphic>
          <a:graphicData uri="http://schemas.openxmlformats.org/drawingml/2006/table">
            <a:tbl>
              <a:tblPr/>
              <a:tblGrid>
                <a:gridCol w="4103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3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3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4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53482">
                <a:tc>
                  <a:txBody>
                    <a:bodyPr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4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Điểm mạnh (Strengths)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190500" marR="190500" marT="190500" marB="190500" anchor="ctr">
                    <a:lnL w="0" algn="ctr">
                      <a:solidFill>
                        <a:srgbClr val="FF9999"/>
                      </a:solidFill>
                    </a:lnL>
                    <a:lnR w="0" algn="ctr">
                      <a:solidFill>
                        <a:srgbClr val="FF9999"/>
                      </a:solidFill>
                    </a:lnR>
                    <a:lnT w="0" algn="ctr">
                      <a:solidFill>
                        <a:srgbClr val="FF9999"/>
                      </a:solidFill>
                    </a:lnT>
                    <a:lnB w="0" algn="ctr">
                      <a:solidFill>
                        <a:srgbClr val="FF9999"/>
                      </a:solidFill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4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Điểm yếu (Weaknesses)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190500" marR="190500" marT="190500" marB="190500" anchor="ctr">
                    <a:lnL w="0" algn="ctr">
                      <a:solidFill>
                        <a:srgbClr val="FF9999"/>
                      </a:solidFill>
                    </a:lnL>
                    <a:lnR w="0" algn="ctr">
                      <a:solidFill>
                        <a:srgbClr val="FF9999"/>
                      </a:solidFill>
                    </a:lnR>
                    <a:lnT w="0" algn="ctr">
                      <a:solidFill>
                        <a:srgbClr val="FF9999"/>
                      </a:solidFill>
                    </a:lnT>
                    <a:lnB w="0" algn="ctr">
                      <a:solidFill>
                        <a:srgbClr val="FF9999"/>
                      </a:solidFill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4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Thách thức (Threats)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190500" marR="190500" marT="190500" marB="190500" anchor="ctr">
                    <a:lnL w="0" algn="ctr">
                      <a:solidFill>
                        <a:srgbClr val="FF9999"/>
                      </a:solidFill>
                    </a:lnL>
                    <a:lnR w="0" algn="ctr">
                      <a:solidFill>
                        <a:srgbClr val="FF9999"/>
                      </a:solidFill>
                    </a:lnR>
                    <a:lnT w="0" algn="ctr">
                      <a:solidFill>
                        <a:srgbClr val="FF9999"/>
                      </a:solidFill>
                    </a:lnT>
                    <a:lnB w="0" algn="ctr">
                      <a:solidFill>
                        <a:srgbClr val="FF9999"/>
                      </a:solidFill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4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Cơ hội (Opportunities)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190500" marR="190500" marT="190500" marB="190500" anchor="ctr">
                    <a:lnL w="0" algn="ctr">
                      <a:solidFill>
                        <a:srgbClr val="FF9999"/>
                      </a:solidFill>
                    </a:lnL>
                    <a:lnR w="0" algn="ctr">
                      <a:solidFill>
                        <a:srgbClr val="FF9999"/>
                      </a:solidFill>
                    </a:lnR>
                    <a:lnT w="0" algn="ctr">
                      <a:solidFill>
                        <a:srgbClr val="FF9999"/>
                      </a:solidFill>
                    </a:lnT>
                    <a:lnB w="0" algn="ctr">
                      <a:solidFill>
                        <a:srgbClr val="FF9999"/>
                      </a:solidFill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9967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Thu thập dữ liệu đa giác quan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190500" marR="190500" marT="190500" marB="190500" anchor="ctr">
                    <a:lnL w="0" algn="ctr">
                      <a:solidFill>
                        <a:srgbClr val="FF9999"/>
                      </a:solidFill>
                    </a:lnL>
                    <a:lnR w="0" algn="ctr">
                      <a:solidFill>
                        <a:srgbClr val="FF9999"/>
                      </a:solidFill>
                    </a:lnR>
                    <a:lnT w="0" algn="ctr">
                      <a:solidFill>
                        <a:srgbClr val="FF9999"/>
                      </a:solidFill>
                    </a:lnT>
                    <a:lnB w="0" algn="ctr">
                      <a:solidFill>
                        <a:srgbClr val="FF9999"/>
                      </a:solidFill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Độ trễ chuỗi xử lý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190500" marR="190500" marT="190500" marB="190500" anchor="ctr">
                    <a:lnL w="0" algn="ctr">
                      <a:solidFill>
                        <a:srgbClr val="FF9999"/>
                      </a:solidFill>
                    </a:lnL>
                    <a:lnR w="0" algn="ctr">
                      <a:solidFill>
                        <a:srgbClr val="FF9999"/>
                      </a:solidFill>
                    </a:lnR>
                    <a:lnT w="0" algn="ctr">
                      <a:solidFill>
                        <a:srgbClr val="FF9999"/>
                      </a:solidFill>
                    </a:lnT>
                    <a:lnB w="0" algn="ctr">
                      <a:solidFill>
                        <a:srgbClr val="FF9999"/>
                      </a:solidFill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Tiêu chuẩn pháp lý &amp; An toàn y tế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190500" marR="190500" marT="190500" marB="190500" anchor="ctr">
                    <a:lnL w="0" algn="ctr">
                      <a:solidFill>
                        <a:srgbClr val="FF9999"/>
                      </a:solidFill>
                    </a:lnL>
                    <a:lnR w="0" algn="ctr">
                      <a:solidFill>
                        <a:srgbClr val="FF9999"/>
                      </a:solidFill>
                    </a:lnR>
                    <a:lnT w="0" algn="ctr">
                      <a:solidFill>
                        <a:srgbClr val="FF9999"/>
                      </a:solidFill>
                    </a:lnT>
                    <a:lnB w="0" algn="ctr">
                      <a:solidFill>
                        <a:srgbClr val="FF9999"/>
                      </a:solidFill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Chính sách chuyển đổi số y tế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190500" marR="190500" marT="190500" marB="190500" anchor="ctr">
                    <a:lnL w="0" algn="ctr">
                      <a:solidFill>
                        <a:srgbClr val="FF9999"/>
                      </a:solidFill>
                    </a:lnL>
                    <a:lnR w="0" algn="ctr">
                      <a:solidFill>
                        <a:srgbClr val="FF9999"/>
                      </a:solidFill>
                    </a:lnR>
                    <a:lnT w="0" algn="ctr">
                      <a:solidFill>
                        <a:srgbClr val="FF9999"/>
                      </a:solidFill>
                    </a:lnT>
                    <a:lnB w="0" algn="ctr">
                      <a:solidFill>
                        <a:srgbClr val="FF9999"/>
                      </a:solidFill>
                    </a:lnB>
                    <a:solidFill>
                      <a:srgbClr val="FF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9967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Bộ não AI Agent tự hành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190500" marR="190500" marT="190500" marB="190500" anchor="ctr">
                    <a:lnL w="0" algn="ctr">
                      <a:solidFill>
                        <a:srgbClr val="FF9999"/>
                      </a:solidFill>
                    </a:lnL>
                    <a:lnR w="0" algn="ctr">
                      <a:solidFill>
                        <a:srgbClr val="FF9999"/>
                      </a:solidFill>
                    </a:lnR>
                    <a:lnT w="0" algn="ctr">
                      <a:solidFill>
                        <a:srgbClr val="FF9999"/>
                      </a:solidFill>
                    </a:lnT>
                    <a:lnB w="0" algn="ctr">
                      <a:solidFill>
                        <a:srgbClr val="FF9999"/>
                      </a:solidFill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Rủi ro ảo giác 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190500" marR="190500" marT="190500" marB="190500" anchor="ctr">
                    <a:lnL w="0" algn="ctr">
                      <a:solidFill>
                        <a:srgbClr val="FF9999"/>
                      </a:solidFill>
                    </a:lnL>
                    <a:lnR w="0" algn="ctr">
                      <a:solidFill>
                        <a:srgbClr val="FF9999"/>
                      </a:solidFill>
                    </a:lnR>
                    <a:lnT w="0" algn="ctr">
                      <a:solidFill>
                        <a:srgbClr val="FF9999"/>
                      </a:solidFill>
                    </a:lnT>
                    <a:lnB w="0" algn="ctr">
                      <a:solidFill>
                        <a:srgbClr val="FF9999"/>
                      </a:solidFill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Bảo mật dữ liệu cá nhân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190500" marR="190500" marT="190500" marB="190500" anchor="ctr">
                    <a:lnL w="0" algn="ctr">
                      <a:solidFill>
                        <a:srgbClr val="FF9999"/>
                      </a:solidFill>
                    </a:lnL>
                    <a:lnR w="0" algn="ctr">
                      <a:solidFill>
                        <a:srgbClr val="FF9999"/>
                      </a:solidFill>
                    </a:lnR>
                    <a:lnT w="0" algn="ctr">
                      <a:solidFill>
                        <a:srgbClr val="FF9999"/>
                      </a:solidFill>
                    </a:lnT>
                    <a:lnB w="0" algn="ctr">
                      <a:solidFill>
                        <a:srgbClr val="FF9999"/>
                      </a:solidFill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Nhu cầu giải tỏa quá tải phòng cấp cứu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190500" marR="190500" marT="190500" marB="190500" anchor="ctr">
                    <a:lnL w="0" algn="ctr">
                      <a:solidFill>
                        <a:srgbClr val="FF9999"/>
                      </a:solidFill>
                    </a:lnL>
                    <a:lnR w="0" algn="ctr">
                      <a:solidFill>
                        <a:srgbClr val="FF9999"/>
                      </a:solidFill>
                    </a:lnR>
                    <a:lnT w="0" algn="ctr">
                      <a:solidFill>
                        <a:srgbClr val="FF9999"/>
                      </a:solidFill>
                    </a:lnT>
                    <a:lnB w="0" algn="ctr">
                      <a:solidFill>
                        <a:srgbClr val="FF9999"/>
                      </a:solidFill>
                    </a:lnB>
                    <a:solidFill>
                      <a:srgbClr val="FF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9967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Liên kết Cyber-Physical hoàn chỉnh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190500" marR="190500" marT="190500" marB="190500" anchor="ctr">
                    <a:lnL w="0" algn="ctr">
                      <a:solidFill>
                        <a:srgbClr val="FF9999"/>
                      </a:solidFill>
                    </a:lnL>
                    <a:lnR w="0" algn="ctr">
                      <a:solidFill>
                        <a:srgbClr val="FF9999"/>
                      </a:solidFill>
                    </a:lnR>
                    <a:lnT w="0" algn="ctr">
                      <a:solidFill>
                        <a:srgbClr val="FF9999"/>
                      </a:solidFill>
                    </a:lnT>
                    <a:lnB w="0" algn="ctr">
                      <a:solidFill>
                        <a:srgbClr val="FF9999"/>
                      </a:solidFill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Độ nhạy cảm biến tiếp xúc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190500" marR="190500" marT="190500" marB="190500" anchor="ctr">
                    <a:lnL w="0" algn="ctr">
                      <a:solidFill>
                        <a:srgbClr val="FF9999"/>
                      </a:solidFill>
                    </a:lnL>
                    <a:lnR w="0" algn="ctr">
                      <a:solidFill>
                        <a:srgbClr val="FF9999"/>
                      </a:solidFill>
                    </a:lnR>
                    <a:lnT w="0" algn="ctr">
                      <a:solidFill>
                        <a:srgbClr val="FF9999"/>
                      </a:solidFill>
                    </a:lnT>
                    <a:lnB w="0" algn="ctr">
                      <a:solidFill>
                        <a:srgbClr val="FF9999"/>
                      </a:solidFill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Rào cản tâm lý người bệnh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190500" marR="190500" marT="190500" marB="190500" anchor="ctr">
                    <a:lnL w="0" algn="ctr">
                      <a:solidFill>
                        <a:srgbClr val="FF9999"/>
                      </a:solidFill>
                    </a:lnL>
                    <a:lnR w="0" algn="ctr">
                      <a:solidFill>
                        <a:srgbClr val="FF9999"/>
                      </a:solidFill>
                    </a:lnR>
                    <a:lnT w="0" algn="ctr">
                      <a:solidFill>
                        <a:srgbClr val="FF9999"/>
                      </a:solidFill>
                    </a:lnT>
                    <a:lnB w="0" algn="ctr">
                      <a:solidFill>
                        <a:srgbClr val="FF9999"/>
                      </a:solidFill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Khả năng mở rộng không giới hạn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190500" marR="190500" marT="190500" marB="190500" anchor="ctr">
                    <a:lnL w="0" algn="ctr">
                      <a:solidFill>
                        <a:srgbClr val="FF9999"/>
                      </a:solidFill>
                    </a:lnL>
                    <a:lnR w="0" algn="ctr">
                      <a:solidFill>
                        <a:srgbClr val="FF9999"/>
                      </a:solidFill>
                    </a:lnR>
                    <a:lnT w="0" algn="ctr">
                      <a:solidFill>
                        <a:srgbClr val="FF9999"/>
                      </a:solidFill>
                    </a:lnT>
                    <a:lnB w="0" algn="ctr">
                      <a:solidFill>
                        <a:srgbClr val="FF9999"/>
                      </a:solidFill>
                    </a:lnB>
                    <a:solidFill>
                      <a:srgbClr val="FF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99967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Lộ trình phát triển 4 cấp độ rõ ràng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190500" marR="190500" marT="190500" marB="190500" anchor="ctr">
                    <a:lnL w="0" algn="ctr">
                      <a:solidFill>
                        <a:srgbClr val="FF9999"/>
                      </a:solidFill>
                    </a:lnL>
                    <a:lnR w="0" algn="ctr">
                      <a:solidFill>
                        <a:srgbClr val="FF9999"/>
                      </a:solidFill>
                    </a:lnR>
                    <a:lnT w="0" algn="ctr">
                      <a:solidFill>
                        <a:srgbClr val="FF9999"/>
                      </a:solidFill>
                    </a:lnT>
                    <a:lnB w="0" algn="ctr">
                      <a:solidFill>
                        <a:srgbClr val="FF9999"/>
                      </a:solidFill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Yêu cầu hạ tầng tính toán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190500" marR="190500" marT="190500" marB="190500" anchor="ctr">
                    <a:lnL w="0" algn="ctr">
                      <a:solidFill>
                        <a:srgbClr val="FF9999"/>
                      </a:solidFill>
                    </a:lnL>
                    <a:lnR w="0" algn="ctr">
                      <a:solidFill>
                        <a:srgbClr val="FF9999"/>
                      </a:solidFill>
                    </a:lnR>
                    <a:lnT w="0" algn="ctr">
                      <a:solidFill>
                        <a:srgbClr val="FF9999"/>
                      </a:solidFill>
                    </a:lnT>
                    <a:lnB w="0" algn="ctr">
                      <a:solidFill>
                        <a:srgbClr val="FF9999"/>
                      </a:solidFill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Môi trường sảnh chờ nhiều tạp âm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190500" marR="190500" marT="190500" marB="190500" anchor="ctr">
                    <a:lnL w="0" algn="ctr">
                      <a:solidFill>
                        <a:srgbClr val="FF9999"/>
                      </a:solidFill>
                    </a:lnL>
                    <a:lnR w="0" algn="ctr">
                      <a:solidFill>
                        <a:srgbClr val="FF9999"/>
                      </a:solidFill>
                    </a:lnR>
                    <a:lnT w="0" algn="ctr">
                      <a:solidFill>
                        <a:srgbClr val="FF9999"/>
                      </a:solidFill>
                    </a:lnT>
                    <a:lnB w="0" algn="ctr">
                      <a:solidFill>
                        <a:srgbClr val="FF9999"/>
                      </a:solidFill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Xu hướng thiết bị y tế không chạm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190500" marR="190500" marT="190500" marB="190500" anchor="ctr">
                    <a:lnL w="0" algn="ctr">
                      <a:solidFill>
                        <a:srgbClr val="FF9999"/>
                      </a:solidFill>
                    </a:lnL>
                    <a:lnR w="0" algn="ctr">
                      <a:solidFill>
                        <a:srgbClr val="FF9999"/>
                      </a:solidFill>
                    </a:lnR>
                    <a:lnT w="0" algn="ctr">
                      <a:solidFill>
                        <a:srgbClr val="FF9999"/>
                      </a:solidFill>
                    </a:lnT>
                    <a:lnB w="0" algn="ctr">
                      <a:solidFill>
                        <a:srgbClr val="FF9999"/>
                      </a:solidFill>
                    </a:lnB>
                    <a:solidFill>
                      <a:srgbClr val="FF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fade/>
      </p:transition>
    </mc:Choice>
    <mc:Fallback xmlns="" xmlns:m="http://schemas.openxmlformats.org/officeDocument/2006/math" xmlns:w="http://schemas.openxmlformats.org/wordprocessingml/2006/main">
      <p:transition spd="fast" advClick="1">
        <p:fade thruBlk="0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55031" y="1164117"/>
            <a:ext cx="4951677" cy="3791006"/>
          </a:xfrm>
          <a:prstGeom prst="roundRect">
            <a:avLst>
              <a:gd name="adj" fmla="val 123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355731" y="1164117"/>
            <a:ext cx="4951677" cy="3791006"/>
          </a:xfrm>
          <a:prstGeom prst="roundRect">
            <a:avLst>
              <a:gd name="adj" fmla="val 123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1919778" y="1164117"/>
            <a:ext cx="4951677" cy="3791006"/>
          </a:xfrm>
          <a:prstGeom prst="roundRect">
            <a:avLst>
              <a:gd name="adj" fmla="val 123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4830" y="2328128"/>
            <a:ext cx="4951677" cy="7234971"/>
          </a:xfrm>
          <a:prstGeom prst="roundRect">
            <a:avLst>
              <a:gd name="adj" fmla="val 123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5529" y="2720965"/>
            <a:ext cx="4951677" cy="6842133"/>
          </a:xfrm>
          <a:prstGeom prst="roundRect">
            <a:avLst>
              <a:gd name="adj" fmla="val 123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2144463" y="3739091"/>
            <a:ext cx="4951677" cy="5824007"/>
          </a:xfrm>
          <a:prstGeom prst="roundRect">
            <a:avLst>
              <a:gd name="adj" fmla="val 123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78640" y="1791293"/>
            <a:ext cx="538226" cy="853389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79340" y="1791293"/>
            <a:ext cx="538226" cy="853389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2280040" y="1791293"/>
            <a:ext cx="538226" cy="853389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241800" y="5542827"/>
            <a:ext cx="538226" cy="853389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721247" y="5557636"/>
            <a:ext cx="538226" cy="853389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2321947" y="5557636"/>
            <a:ext cx="538226" cy="853389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3405" y="455980"/>
            <a:ext cx="3539430" cy="10387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8141"/>
              </a:lnSpc>
              <a:defRPr/>
            </a:pPr>
            <a:r>
              <a:rPr sz="7200" b="1">
                <a:solidFill>
                  <a:srgbClr val="1043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PESTLE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4898" y="2678100"/>
            <a:ext cx="4425777" cy="21544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Phù hợp với định hướng đẩy mạnh xác thực định danh điện tử của Bộ Công an qua việc tích hợp tính năng đọc CCCD gắn chip.</a:t>
            </a:r>
            <a:endParaRPr sz="2800">
              <a:solidFill>
                <a:srgbClr val="47556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99912" y="2749320"/>
            <a:ext cx="4418319" cy="2585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/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Tiết kiệm chi phí vận hành và tối ưu hóa chi phí đầu tư dài hạn cho các cơ sở y tế.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iúp bệnh viện đủ điều kiện giải ngân ngân sách nhà nước cho chuyển đổi số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321341" y="2690632"/>
            <a:ext cx="4435690" cy="2585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/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Hỗ trợ tối đa nhóm yếu thế không thể thao tác trên màn hình cảm ứng hay giao tiếp rõ ràng. </a:t>
            </a:r>
          </a:p>
          <a:p>
            <a:pPr lvl="0"/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Giải quyết tình trạng quá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tải ở bệnh viện</a:t>
            </a:r>
            <a:endParaRPr lang="vi-V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56803" y="6725378"/>
            <a:ext cx="4056051" cy="1292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/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hệ thống AI Agent và cảm biến đo sinh hiệu hoàn toàn không chạm.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1247" y="6640396"/>
            <a:ext cx="4206608" cy="21544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/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Tuân thủ nghiêm ngặt Luật Khám bệnh, chữa bệnh về trách nhiệm chuyên môn khi dùng AI hỗ trợ quyết định y khoa.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89204" y="6565820"/>
            <a:ext cx="4482251" cy="1723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/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Số hóa toàn bộ hồ sơ tiếp đón ban đầu lên Web Dashboard, giảm thiểu tối đa rác thải giấy thủ tục.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328" y="2003352"/>
            <a:ext cx="941895" cy="3462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5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8740" y="1713873"/>
            <a:ext cx="1209248" cy="907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sz="27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5028" y="2003352"/>
            <a:ext cx="941895" cy="3462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5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9440" y="1713873"/>
            <a:ext cx="1008461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Tế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65728" y="2003352"/>
            <a:ext cx="941895" cy="3462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5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080140" y="1713873"/>
            <a:ext cx="87561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Xã Hội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751" y="5711224"/>
            <a:ext cx="941895" cy="3462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5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09342" y="5480216"/>
            <a:ext cx="1458343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Nghệ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6935" y="5769695"/>
            <a:ext cx="941895" cy="3462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5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1347" y="5480216"/>
            <a:ext cx="1050732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 Lý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07635" y="5769695"/>
            <a:ext cx="941895" cy="3462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5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122048" y="5480216"/>
            <a:ext cx="1639503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Môi Trường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43984" name="Freeform 2"/>
          <p:cNvSpPr/>
          <p:nvPr/>
        </p:nvSpPr>
        <p:spPr bwMode="auto"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2310234" name="Group 3"/>
          <p:cNvGrpSpPr/>
          <p:nvPr/>
        </p:nvGrpSpPr>
        <p:grpSpPr bwMode="auto">
          <a:xfrm>
            <a:off x="11649142" y="921287"/>
            <a:ext cx="5381558" cy="365950"/>
            <a:chOff x="0" y="0"/>
            <a:chExt cx="7175411" cy="487934"/>
          </a:xfrm>
        </p:grpSpPr>
        <p:sp>
          <p:nvSpPr>
            <p:cNvPr id="4" name="Freeform 4"/>
            <p:cNvSpPr/>
            <p:nvPr/>
          </p:nvSpPr>
          <p:spPr bwMode="auto">
            <a:xfrm flipV="1">
              <a:off x="0" y="0"/>
              <a:ext cx="7175373" cy="487934"/>
            </a:xfrm>
            <a:custGeom>
              <a:avLst/>
              <a:gdLst/>
              <a:ahLst/>
              <a:cxnLst/>
              <a:rect l="l" t="t" r="r" b="b"/>
              <a:pathLst>
                <a:path w="7175373" h="487934" extrusionOk="0">
                  <a:moveTo>
                    <a:pt x="0" y="487934"/>
                  </a:moveTo>
                  <a:lnTo>
                    <a:pt x="7175373" y="487934"/>
                  </a:lnTo>
                  <a:lnTo>
                    <a:pt x="7175373" y="0"/>
                  </a:lnTo>
                  <a:lnTo>
                    <a:pt x="0" y="0"/>
                  </a:lnTo>
                  <a:lnTo>
                    <a:pt x="0" y="487934"/>
                  </a:lnTo>
                  <a:close/>
                </a:path>
              </a:pathLst>
            </a:custGeom>
            <a:blipFill rotWithShape="1">
              <a:blip r:embed="rId4"/>
              <a:stretch>
                <a:fillRect b="-57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08899097" name="TextBox 6"/>
          <p:cNvSpPr txBox="1"/>
          <p:nvPr/>
        </p:nvSpPr>
        <p:spPr bwMode="auto">
          <a:xfrm>
            <a:off x="233360" y="216851"/>
            <a:ext cx="10975417" cy="701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0"/>
              </a:lnSpc>
              <a:spcBef>
                <a:spcPts val="0"/>
              </a:spcBef>
              <a:defRPr/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BENCHMARK (SO SÁNH SẢN PHẨM HIỆN CÓ)</a:t>
            </a:r>
            <a:endParaRPr>
              <a:latin typeface="Times New Roman"/>
              <a:cs typeface="Times New Roman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1CAB828-FE97-D2DF-468A-DFEEB4C0D0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674217"/>
              </p:ext>
            </p:extLst>
          </p:nvPr>
        </p:nvGraphicFramePr>
        <p:xfrm>
          <a:off x="233360" y="878790"/>
          <a:ext cx="17830803" cy="9284467"/>
        </p:xfrm>
        <a:graphic>
          <a:graphicData uri="http://schemas.openxmlformats.org/drawingml/2006/table">
            <a:tbl>
              <a:tblPr/>
              <a:tblGrid>
                <a:gridCol w="722870">
                  <a:extLst>
                    <a:ext uri="{9D8B030D-6E8A-4147-A177-3AD203B41FA5}">
                      <a16:colId xmlns:a16="http://schemas.microsoft.com/office/drawing/2014/main" val="2527708296"/>
                    </a:ext>
                  </a:extLst>
                </a:gridCol>
                <a:gridCol w="3338377">
                  <a:extLst>
                    <a:ext uri="{9D8B030D-6E8A-4147-A177-3AD203B41FA5}">
                      <a16:colId xmlns:a16="http://schemas.microsoft.com/office/drawing/2014/main" val="1308661646"/>
                    </a:ext>
                  </a:extLst>
                </a:gridCol>
                <a:gridCol w="3016925">
                  <a:extLst>
                    <a:ext uri="{9D8B030D-6E8A-4147-A177-3AD203B41FA5}">
                      <a16:colId xmlns:a16="http://schemas.microsoft.com/office/drawing/2014/main" val="2815682349"/>
                    </a:ext>
                  </a:extLst>
                </a:gridCol>
                <a:gridCol w="3171639">
                  <a:extLst>
                    <a:ext uri="{9D8B030D-6E8A-4147-A177-3AD203B41FA5}">
                      <a16:colId xmlns:a16="http://schemas.microsoft.com/office/drawing/2014/main" val="4255489319"/>
                    </a:ext>
                  </a:extLst>
                </a:gridCol>
                <a:gridCol w="3094282">
                  <a:extLst>
                    <a:ext uri="{9D8B030D-6E8A-4147-A177-3AD203B41FA5}">
                      <a16:colId xmlns:a16="http://schemas.microsoft.com/office/drawing/2014/main" val="4189511574"/>
                    </a:ext>
                  </a:extLst>
                </a:gridCol>
                <a:gridCol w="4486710">
                  <a:extLst>
                    <a:ext uri="{9D8B030D-6E8A-4147-A177-3AD203B41FA5}">
                      <a16:colId xmlns:a16="http://schemas.microsoft.com/office/drawing/2014/main" val="4082833744"/>
                    </a:ext>
                  </a:extLst>
                </a:gridCol>
              </a:tblGrid>
              <a:tr h="88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STT</a:t>
                      </a:r>
                    </a:p>
                  </a:txBody>
                  <a:tcPr marL="4362" marR="4362" marT="43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Tiêu chí so sánh</a:t>
                      </a:r>
                    </a:p>
                  </a:txBody>
                  <a:tcPr marL="4362" marR="4362" marT="43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TL1: AIoTM-1</a:t>
                      </a:r>
                      <a:br>
                        <a:rPr lang="vi-VN" sz="20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vi-VN" sz="20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(Pham Trung Kien, 2025)</a:t>
                      </a:r>
                    </a:p>
                  </a:txBody>
                  <a:tcPr marL="4362" marR="4362" marT="43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TL2: Non-Invasive NCD Kiosk</a:t>
                      </a:r>
                      <a:br>
                        <a:rPr lang="vi-VN" sz="20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vi-VN" sz="20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(Srichan et al., 2024)</a:t>
                      </a:r>
                    </a:p>
                  </a:txBody>
                  <a:tcPr marL="4362" marR="4362" marT="43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TL3: AICS-K</a:t>
                      </a:r>
                      <a:br>
                        <a:rPr lang="vi-VN" sz="20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vi-VN" sz="20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(Beray et al., 2026)</a:t>
                      </a:r>
                    </a:p>
                  </a:txBody>
                  <a:tcPr marL="4362" marR="4362" marT="43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Hệ thống Nhóm 6</a:t>
                      </a:r>
                      <a:br>
                        <a:rPr lang="vi-VN" sz="20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vi-VN" sz="20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(Kiosk Sàng Lọc Y Tế Tự Động)</a:t>
                      </a:r>
                    </a:p>
                  </a:txBody>
                  <a:tcPr marL="4362" marR="4362" marT="436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43189"/>
                  </a:ext>
                </a:extLst>
              </a:tr>
              <a:tr h="88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Phương thức kích hoạt đo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Thao tác thủ công qua màn hình cảm ứng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Thao tác thủ công tại kiosk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Không đề cập cơ chế trigger tự động bằng thị giác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Tự động kích hoạt không chạm: YOLOv11 nhận diện đúng tư thế/vị trí rồi gửi lệnh đo qua MQTT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033214"/>
                  </a:ext>
                </a:extLst>
              </a:tr>
              <a:tr h="7543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Thu thập sinh hiệu (cảm biến)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Cảm biến đo chỉ số sinh tồn (không nêu loại chip cụ thể)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Cảm biến không xâm lấn đo đường huyết, huyết áp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Cảm biến đa phương thức + nhiệt độ (Raspberry Pi)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MLX90614 (nhiệt độ) + MAX30102 (SpO2/nhịp tim) qua giao tiếp I2C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279984"/>
                  </a:ext>
                </a:extLst>
              </a:tr>
              <a:tr h="7543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Xác thực danh tính / đọc CCCD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Không có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Không có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Không có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Camera OCR đọc trực tiếp từ CCCD gắn chip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552671"/>
                  </a:ext>
                </a:extLst>
              </a:tr>
              <a:tr h="88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Computer Vision phát hiện bất thường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Không có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Không có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Chỉ dùng ML để phân loại triệu chứng, không phát hiện tư thế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YOLOv11 nhận diện tư thế ôm ngực / mệt mỏi gục đầu để ưu tiên cấp cứu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502332"/>
                  </a:ext>
                </a:extLst>
              </a:tr>
              <a:tr h="88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Mô hình ra quyết định / phân loại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XGBoost (phân loại bệnh hô hấp)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LSTM + thuật toán Apriori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Mô hình Machine Learning (không nêu cụ thể loại)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 Agent + RAG tra cứu sổ tay y tế nội bộ, lập luận ngữ cảnh và tự ra quyết định phân luồng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374996"/>
                  </a:ext>
                </a:extLst>
              </a:tr>
              <a:tr h="88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Bảo mật / ẩn danh hóa dữ liệu cá nhân (PII)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Không đề cập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Không đề cập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Không đề cập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Module PII Anonymizer tuân thủ Nghị định 13/2023/NĐ-CP trước khi đưa dữ liệu vào mô hình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78161"/>
                  </a:ext>
                </a:extLst>
              </a:tr>
              <a:tr h="7543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Giao thức truyền thông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RESTful (chuẩn dữ liệu HL7)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LoRa + MQTT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Không nêu rõ giao thức mạng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MQTT (Mosquitto) mã nguồn mở, giao tiếp 2 chiều, kết nối Node.js Backend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0229984"/>
                  </a:ext>
                </a:extLst>
              </a:tr>
              <a:tr h="885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Giám sát thời gian thực (Dashboard bác sĩ)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Không đề cập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Ứng dụng di động + trạm dược tích hợp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Không đề cập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Dashboard React/Vite thời gian thực cho bác sĩ theo dõi và quản lý luồng bệnh nhân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6801963"/>
                  </a:ext>
                </a:extLst>
              </a:tr>
              <a:tr h="7543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Độ chính xác công bố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94% (phân loại bệnh hô hấp)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Tương đương tiêu chuẩn lâm sàng (đường huyết)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Nhiệt độ lệch 0.1–0.2°C so với thiết bị y tế thương mại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Chưa có số liệu thực nghiệm (đang ở giai đoạn thiết kế)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027371"/>
                  </a:ext>
                </a:extLst>
              </a:tr>
              <a:tr h="7543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Tốc độ xử lý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Không nêu cụ thể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Không nêu cụ thể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Xử lý cốt lõi &lt;5 giây, toàn chu trình 14.09 giây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Mục tiêu 10–15 giây/bệnh nhân (theo benchmark Tuần 2)</a:t>
                      </a:r>
                    </a:p>
                  </a:txBody>
                  <a:tcPr marL="4362" marR="4362" marT="4362" marB="0" anchor="ctr">
                    <a:lnL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14753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54109980" name="Group 2"/>
          <p:cNvGrpSpPr/>
          <p:nvPr/>
        </p:nvGrpSpPr>
        <p:grpSpPr bwMode="auto">
          <a:xfrm>
            <a:off x="-12290" y="114300"/>
            <a:ext cx="11580938" cy="1791213"/>
            <a:chOff x="-58993" y="0"/>
            <a:chExt cx="9349869" cy="2388284"/>
          </a:xfrm>
        </p:grpSpPr>
        <p:sp>
          <p:nvSpPr>
            <p:cNvPr id="3" name="Freeform 3"/>
            <p:cNvSpPr/>
            <p:nvPr/>
          </p:nvSpPr>
          <p:spPr bwMode="auto">
            <a:xfrm>
              <a:off x="-58993" y="0"/>
              <a:ext cx="8294106" cy="1794554"/>
            </a:xfrm>
            <a:custGeom>
              <a:avLst/>
              <a:gdLst/>
              <a:ahLst/>
              <a:cxnLst/>
              <a:rect l="l" t="t" r="r" b="b"/>
              <a:pathLst>
                <a:path w="8294107" h="1794553" extrusionOk="0">
                  <a:moveTo>
                    <a:pt x="0" y="0"/>
                  </a:moveTo>
                  <a:lnTo>
                    <a:pt x="8294107" y="0"/>
                  </a:lnTo>
                  <a:lnTo>
                    <a:pt x="8294107" y="1794553"/>
                  </a:lnTo>
                  <a:lnTo>
                    <a:pt x="0" y="179455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80534" r="-153567" b="-176173"/>
              </a:stretch>
            </a:blipFill>
          </p:spPr>
          <p:txBody>
            <a:bodyPr anchor="ctr"/>
            <a:lstStyle/>
            <a:p>
              <a:pPr algn="ctr">
                <a:defRPr/>
              </a:pPr>
              <a:r>
                <a:rPr lang="vi-VN" dirty="0">
                  <a:latin typeface="Times New Roman"/>
                  <a:cs typeface="Times New Roman"/>
                </a:rPr>
                <a:t> </a:t>
              </a:r>
              <a:endParaRPr dirty="0">
                <a:latin typeface="Times New Roman"/>
                <a:cs typeface="Times New Roman"/>
              </a:endParaRPr>
            </a:p>
          </p:txBody>
        </p:sp>
        <p:sp>
          <p:nvSpPr>
            <p:cNvPr id="4" name="TextBox 4"/>
            <p:cNvSpPr txBox="1"/>
            <p:nvPr/>
          </p:nvSpPr>
          <p:spPr bwMode="auto">
            <a:xfrm>
              <a:off x="996770" y="508000"/>
              <a:ext cx="8294106" cy="1880284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7038"/>
                </a:lnSpc>
                <a:defRPr/>
              </a:pPr>
              <a:r>
                <a:rPr lang="vi-VN" sz="5100" b="1" dirty="0" err="1">
                  <a:solidFill>
                    <a:srgbClr val="153898"/>
                  </a:solidFill>
                  <a:latin typeface="Times New Roman"/>
                  <a:ea typeface="Times New Roman"/>
                  <a:cs typeface="Times New Roman"/>
                </a:rPr>
                <a:t>Analytic</a:t>
              </a:r>
              <a:r>
                <a:rPr lang="vi-VN" sz="5100" b="1" dirty="0">
                  <a:solidFill>
                    <a:srgbClr val="153898"/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lang="vi-VN" sz="5100" b="1" dirty="0" err="1">
                  <a:solidFill>
                    <a:srgbClr val="153898"/>
                  </a:solidFill>
                  <a:latin typeface="Times New Roman"/>
                  <a:ea typeface="Times New Roman"/>
                  <a:cs typeface="Times New Roman"/>
                </a:rPr>
                <a:t>Hierarchy</a:t>
              </a:r>
              <a:r>
                <a:rPr lang="vi-VN" sz="5100" b="1" dirty="0">
                  <a:solidFill>
                    <a:srgbClr val="153898"/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lang="vi-VN" sz="5100" b="1" dirty="0" err="1">
                  <a:solidFill>
                    <a:srgbClr val="153898"/>
                  </a:solidFill>
                  <a:latin typeface="Times New Roman"/>
                  <a:ea typeface="Times New Roman"/>
                  <a:cs typeface="Times New Roman"/>
                </a:rPr>
                <a:t>Process</a:t>
              </a:r>
              <a:r>
                <a:rPr lang="vi-VN" sz="5100" b="1" dirty="0">
                  <a:solidFill>
                    <a:srgbClr val="153898"/>
                  </a:solidFill>
                  <a:latin typeface="Times New Roman"/>
                  <a:ea typeface="Times New Roman"/>
                  <a:cs typeface="Times New Roman"/>
                </a:rPr>
                <a:t> (AHP):</a:t>
              </a:r>
            </a:p>
            <a:p>
              <a:pPr algn="ctr">
                <a:lnSpc>
                  <a:spcPts val="7038"/>
                </a:lnSpc>
                <a:defRPr/>
              </a:pPr>
              <a:endParaRPr lang="en-US" dirty="0">
                <a:latin typeface="Times New Roman"/>
                <a:cs typeface="Times New Roman"/>
              </a:endParaRPr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B987FB3-C7B6-042D-3AB6-953FF7BEE2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726340"/>
              </p:ext>
            </p:extLst>
          </p:nvPr>
        </p:nvGraphicFramePr>
        <p:xfrm>
          <a:off x="1524002" y="1701658"/>
          <a:ext cx="15468598" cy="6883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3637">
                  <a:extLst>
                    <a:ext uri="{9D8B030D-6E8A-4147-A177-3AD203B41FA5}">
                      <a16:colId xmlns:a16="http://schemas.microsoft.com/office/drawing/2014/main" val="4149827110"/>
                    </a:ext>
                  </a:extLst>
                </a:gridCol>
                <a:gridCol w="2062354">
                  <a:extLst>
                    <a:ext uri="{9D8B030D-6E8A-4147-A177-3AD203B41FA5}">
                      <a16:colId xmlns:a16="http://schemas.microsoft.com/office/drawing/2014/main" val="285382813"/>
                    </a:ext>
                  </a:extLst>
                </a:gridCol>
                <a:gridCol w="2062354">
                  <a:extLst>
                    <a:ext uri="{9D8B030D-6E8A-4147-A177-3AD203B41FA5}">
                      <a16:colId xmlns:a16="http://schemas.microsoft.com/office/drawing/2014/main" val="146624704"/>
                    </a:ext>
                  </a:extLst>
                </a:gridCol>
                <a:gridCol w="2062354">
                  <a:extLst>
                    <a:ext uri="{9D8B030D-6E8A-4147-A177-3AD203B41FA5}">
                      <a16:colId xmlns:a16="http://schemas.microsoft.com/office/drawing/2014/main" val="1195758487"/>
                    </a:ext>
                  </a:extLst>
                </a:gridCol>
                <a:gridCol w="2062354">
                  <a:extLst>
                    <a:ext uri="{9D8B030D-6E8A-4147-A177-3AD203B41FA5}">
                      <a16:colId xmlns:a16="http://schemas.microsoft.com/office/drawing/2014/main" val="3480855388"/>
                    </a:ext>
                  </a:extLst>
                </a:gridCol>
                <a:gridCol w="2062354">
                  <a:extLst>
                    <a:ext uri="{9D8B030D-6E8A-4147-A177-3AD203B41FA5}">
                      <a16:colId xmlns:a16="http://schemas.microsoft.com/office/drawing/2014/main" val="3885604714"/>
                    </a:ext>
                  </a:extLst>
                </a:gridCol>
                <a:gridCol w="2063191">
                  <a:extLst>
                    <a:ext uri="{9D8B030D-6E8A-4147-A177-3AD203B41FA5}">
                      <a16:colId xmlns:a16="http://schemas.microsoft.com/office/drawing/2014/main" val="3321695019"/>
                    </a:ext>
                  </a:extLst>
                </a:gridCol>
              </a:tblGrid>
              <a:tr h="1633979">
                <a:tc>
                  <a:txBody>
                    <a:bodyPr/>
                    <a:lstStyle/>
                    <a:p>
                      <a:pPr algn="ctr"/>
                      <a:r>
                        <a:rPr sz="2800" b="1" i="0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Tiêu</a:t>
                      </a:r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800" b="1" i="0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chí</a:t>
                      </a:r>
                      <a:endParaRPr sz="2800" b="1" i="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i="0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Khả</a:t>
                      </a:r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800" b="1" i="0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năng</a:t>
                      </a:r>
                      <a:r>
                        <a:rPr sz="2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
</a:t>
                      </a:r>
                      <a:r>
                        <a:rPr sz="2800" b="1" i="0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800" b="1" i="0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diện</a:t>
                      </a:r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AI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i="0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Giá thành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i="0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Tốc</a:t>
                      </a:r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800" b="1" i="0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</a:t>
                      </a:r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800" b="1" i="0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xử</a:t>
                      </a:r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800" b="1" i="0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r>
                        <a:rPr sz="2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
</a:t>
                      </a:r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 </a:t>
                      </a:r>
                      <a:r>
                        <a:rPr sz="2800" b="1" i="0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Phản</a:t>
                      </a:r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800" b="1" i="0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hồi</a:t>
                      </a:r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I/O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i="0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Bộ</a:t>
                      </a:r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800" b="1" i="0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nhớ</a:t>
                      </a:r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800" b="1" i="0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lưu</a:t>
                      </a:r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800" b="1" i="0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trữ</a:t>
                      </a:r>
                      <a:r>
                        <a:rPr lang="vi-VN"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 RAG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i="0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Trọng</a:t>
                      </a:r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800" b="1" i="0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endParaRPr sz="2800" b="1" i="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029950"/>
                  </a:ext>
                </a:extLst>
              </a:tr>
              <a:tr h="1049941">
                <a:tc>
                  <a:txBody>
                    <a:bodyPr/>
                    <a:lstStyle/>
                    <a:p>
                      <a:pPr algn="l"/>
                      <a:r>
                        <a:rPr sz="2800" b="1" i="0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Khả</a:t>
                      </a:r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800" b="1" i="0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năng</a:t>
                      </a:r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800" b="1" i="0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800" b="1" i="0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diện</a:t>
                      </a:r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AI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sz="2800" b="1" i="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sz="2800" b="1" i="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sz="2800" b="1" i="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vi-VN"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</a:t>
                      </a:r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vi-VN"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</a:t>
                      </a:r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%)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0470199"/>
                  </a:ext>
                </a:extLst>
              </a:tr>
              <a:tr h="1049941">
                <a:tc>
                  <a:txBody>
                    <a:bodyPr/>
                    <a:lstStyle/>
                    <a:p>
                      <a:pPr algn="l"/>
                      <a:r>
                        <a:rPr sz="2800" b="1" i="0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Giá thành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sz="2800" b="1" i="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7.33</a:t>
                      </a:r>
                      <a:endParaRPr sz="2800" b="1" i="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vi-VN"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vi-VN"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%)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423181"/>
                  </a:ext>
                </a:extLst>
              </a:tr>
              <a:tr h="1049941">
                <a:tc>
                  <a:txBody>
                    <a:bodyPr/>
                    <a:lstStyle/>
                    <a:p>
                      <a:pPr algn="l"/>
                      <a:r>
                        <a:rPr sz="2800" b="1" i="0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Tốc</a:t>
                      </a:r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800" b="1" i="0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</a:t>
                      </a:r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800" b="1" i="0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xử</a:t>
                      </a:r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800" b="1" i="0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</a:t>
                      </a:r>
                      <a:r>
                        <a:rPr sz="2800" b="1" i="0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Phản</a:t>
                      </a:r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800" b="1" i="0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hồi</a:t>
                      </a:r>
                      <a:endParaRPr sz="2800" b="1" i="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</a:t>
                      </a:r>
                      <a:r>
                        <a:rPr lang="vi-VN"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sz="2800" b="1" i="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1/2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r>
                        <a:rPr lang="vi-VN"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sz="2800" b="1" i="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vi-VN"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vi-VN"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%)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227214"/>
                  </a:ext>
                </a:extLst>
              </a:tr>
              <a:tr h="1049941">
                <a:tc>
                  <a:txBody>
                    <a:bodyPr/>
                    <a:lstStyle/>
                    <a:p>
                      <a:pPr algn="l"/>
                      <a:r>
                        <a:rPr sz="2800" b="1" i="0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Bộ nhớ lưu trữ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</a:t>
                      </a:r>
                      <a:r>
                        <a:rPr lang="vi-VN"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sz="2800" b="1" i="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</a:t>
                      </a:r>
                      <a:r>
                        <a:rPr lang="vi-VN"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sz="2800" b="1" i="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1/2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i="0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1.89</a:t>
                      </a:r>
                      <a:endParaRPr sz="2800" b="1" i="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vi-VN"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07</a:t>
                      </a:r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vi-VN"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%)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1003771"/>
                  </a:ext>
                </a:extLst>
              </a:tr>
              <a:tr h="1049941">
                <a:tc>
                  <a:txBody>
                    <a:bodyPr/>
                    <a:lstStyle/>
                    <a:p>
                      <a:pPr algn="ctr"/>
                      <a:r>
                        <a:rPr sz="2800" b="1" i="0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Tổng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28.92</a:t>
                      </a:r>
                      <a:endParaRPr sz="2800" b="1" i="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 i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 (100%)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885510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fade/>
      </p:transition>
    </mc:Choice>
    <mc:Fallback xmlns="" xmlns:m="http://schemas.openxmlformats.org/officeDocument/2006/math" xmlns:w="http://schemas.openxmlformats.org/wordprocessingml/2006/main">
      <p:transition spd="fast" advClick="1">
        <p:fade thruBlk="0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E337AE1-B559-40C6-A332-11BD04B885F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54109980" name="Group 2">
            <a:extLst>
              <a:ext uri="{FF2B5EF4-FFF2-40B4-BE49-F238E27FC236}">
                <a16:creationId xmlns:a16="http://schemas.microsoft.com/office/drawing/2014/main" id="{48C43A4C-130B-43F1-CF0E-4979057D5F7D}"/>
              </a:ext>
            </a:extLst>
          </p:cNvPr>
          <p:cNvGrpSpPr/>
          <p:nvPr/>
        </p:nvGrpSpPr>
        <p:grpSpPr bwMode="auto">
          <a:xfrm>
            <a:off x="-2133600" y="-429691"/>
            <a:ext cx="11111447" cy="2051022"/>
            <a:chOff x="-1833152" y="-104877"/>
            <a:chExt cx="8970826" cy="273469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A9B9A51-70A6-FA1E-D6F0-F810B956801D}"/>
                </a:ext>
              </a:extLst>
            </p:cNvPr>
            <p:cNvSpPr/>
            <p:nvPr/>
          </p:nvSpPr>
          <p:spPr bwMode="auto">
            <a:xfrm>
              <a:off x="-1833152" y="-104877"/>
              <a:ext cx="8294106" cy="1794555"/>
            </a:xfrm>
            <a:custGeom>
              <a:avLst/>
              <a:gdLst/>
              <a:ahLst/>
              <a:cxnLst/>
              <a:rect l="l" t="t" r="r" b="b"/>
              <a:pathLst>
                <a:path w="8294107" h="1794553" extrusionOk="0">
                  <a:moveTo>
                    <a:pt x="0" y="0"/>
                  </a:moveTo>
                  <a:lnTo>
                    <a:pt x="8294107" y="0"/>
                  </a:lnTo>
                  <a:lnTo>
                    <a:pt x="8294107" y="1794553"/>
                  </a:lnTo>
                  <a:lnTo>
                    <a:pt x="0" y="179455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80534" r="-153567" b="-176173"/>
              </a:stretch>
            </a:blipFill>
          </p:spPr>
          <p:txBody>
            <a:bodyPr anchor="ctr"/>
            <a:lstStyle/>
            <a:p>
              <a:pPr algn="ctr">
                <a:defRPr/>
              </a:pPr>
              <a:r>
                <a:rPr lang="vi-VN" dirty="0">
                  <a:latin typeface="Times New Roman"/>
                  <a:cs typeface="Times New Roman"/>
                </a:rPr>
                <a:t> </a:t>
              </a:r>
              <a:endParaRPr dirty="0">
                <a:latin typeface="Times New Roman"/>
                <a:cs typeface="Times New Roman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61E4317-C77D-B7AB-AF82-A13931DC0354}"/>
                </a:ext>
              </a:extLst>
            </p:cNvPr>
            <p:cNvSpPr txBox="1"/>
            <p:nvPr/>
          </p:nvSpPr>
          <p:spPr bwMode="auto">
            <a:xfrm>
              <a:off x="-1156432" y="749535"/>
              <a:ext cx="8294106" cy="1880284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7038"/>
                </a:lnSpc>
                <a:defRPr/>
              </a:pPr>
              <a:r>
                <a:rPr lang="vi-VN" sz="5100" b="1" dirty="0" err="1">
                  <a:solidFill>
                    <a:srgbClr val="153898"/>
                  </a:solidFill>
                  <a:latin typeface="Times New Roman"/>
                  <a:ea typeface="Times New Roman"/>
                  <a:cs typeface="Times New Roman"/>
                </a:rPr>
                <a:t>Decision</a:t>
              </a:r>
              <a:r>
                <a:rPr lang="vi-VN" sz="5100" b="1" dirty="0">
                  <a:solidFill>
                    <a:srgbClr val="153898"/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lang="vi-VN" sz="5100" b="1" dirty="0" err="1">
                  <a:solidFill>
                    <a:srgbClr val="153898"/>
                  </a:solidFill>
                  <a:latin typeface="Times New Roman"/>
                  <a:ea typeface="Times New Roman"/>
                  <a:cs typeface="Times New Roman"/>
                </a:rPr>
                <a:t>Matrix</a:t>
              </a:r>
              <a:endParaRPr lang="vi-VN" sz="5100" b="1" dirty="0">
                <a:solidFill>
                  <a:srgbClr val="153898"/>
                </a:solidFill>
                <a:latin typeface="Times New Roman"/>
                <a:ea typeface="Times New Roman"/>
                <a:cs typeface="Times New Roman"/>
              </a:endParaRPr>
            </a:p>
            <a:p>
              <a:pPr algn="ctr">
                <a:lnSpc>
                  <a:spcPts val="7038"/>
                </a:lnSpc>
                <a:defRPr/>
              </a:pPr>
              <a:endParaRPr lang="en-US" dirty="0">
                <a:latin typeface="Times New Roman"/>
                <a:cs typeface="Times New Roman"/>
              </a:endParaRP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D57A931-808D-FD7E-0F5E-BEC95EE78F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615613"/>
              </p:ext>
            </p:extLst>
          </p:nvPr>
        </p:nvGraphicFramePr>
        <p:xfrm>
          <a:off x="457200" y="1600200"/>
          <a:ext cx="17373600" cy="8264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5060">
                  <a:extLst>
                    <a:ext uri="{9D8B030D-6E8A-4147-A177-3AD203B41FA5}">
                      <a16:colId xmlns:a16="http://schemas.microsoft.com/office/drawing/2014/main" val="4016398995"/>
                    </a:ext>
                  </a:extLst>
                </a:gridCol>
                <a:gridCol w="4560441">
                  <a:extLst>
                    <a:ext uri="{9D8B030D-6E8A-4147-A177-3AD203B41FA5}">
                      <a16:colId xmlns:a16="http://schemas.microsoft.com/office/drawing/2014/main" val="165154099"/>
                    </a:ext>
                  </a:extLst>
                </a:gridCol>
                <a:gridCol w="5765579">
                  <a:extLst>
                    <a:ext uri="{9D8B030D-6E8A-4147-A177-3AD203B41FA5}">
                      <a16:colId xmlns:a16="http://schemas.microsoft.com/office/drawing/2014/main" val="1854178002"/>
                    </a:ext>
                  </a:extLst>
                </a:gridCol>
                <a:gridCol w="5212520">
                  <a:extLst>
                    <a:ext uri="{9D8B030D-6E8A-4147-A177-3AD203B41FA5}">
                      <a16:colId xmlns:a16="http://schemas.microsoft.com/office/drawing/2014/main" val="3287107014"/>
                    </a:ext>
                  </a:extLst>
                </a:gridCol>
              </a:tblGrid>
              <a:tr h="11329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Tiêu</a:t>
                      </a:r>
                      <a:r>
                        <a:rPr 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chí</a:t>
                      </a:r>
                      <a:endParaRPr lang="vi-VN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6" marR="5546" marT="55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Thiết kế 1: </a:t>
                      </a:r>
                      <a:r>
                        <a:rPr lang="vi-VN" sz="28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</a:t>
                      </a:r>
                      <a:r>
                        <a:rPr lang="vi-VN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5 Đơn lẻ</a:t>
                      </a:r>
                      <a:br>
                        <a:rPr 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(SCORE 8,8,6,9)</a:t>
                      </a:r>
                      <a:endParaRPr lang="vi-VN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6" marR="5546" marT="55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Thiết kế 2: </a:t>
                      </a:r>
                      <a:r>
                        <a:rPr lang="vi-V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Pi5 + ESP32-S3</a:t>
                      </a:r>
                      <a:br>
                        <a:rPr 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(SCORE 9,7,9,9)</a:t>
                      </a:r>
                      <a:endParaRPr lang="vi-VN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6" marR="5546" marT="55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Thiết kế 3: </a:t>
                      </a:r>
                      <a:r>
                        <a:rPr lang="vi-V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ESP32-S3 + CAM</a:t>
                      </a:r>
                      <a:br>
                        <a:rPr 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(SCORE 2,9,7,3)</a:t>
                      </a:r>
                      <a:endParaRPr lang="vi-VN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6" marR="5546" marT="55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33813"/>
                  </a:ext>
                </a:extLst>
              </a:tr>
              <a:tr h="31846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Khả năng nhận diện &amp; AI</a:t>
                      </a:r>
                    </a:p>
                  </a:txBody>
                  <a:tcPr marL="5546" marR="5546" marT="55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(Score: 8)</a:t>
                      </a:r>
                    </a:p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Pi 5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NPU/CPU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đủ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mạnh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để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chạy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YOLOv11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AI Agent.</a:t>
                      </a:r>
                    </a:p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Tuy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nhiên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việc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phải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chia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sẻ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tài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nguyên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tính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toán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để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xử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phần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cứng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đọc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cảm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biến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làm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giảm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nhẹ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hiệu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năng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AI.</a:t>
                      </a:r>
                    </a:p>
                    <a:p>
                      <a:pPr algn="ctr" fontAlgn="ctr">
                        <a:buNone/>
                      </a:pPr>
                      <a:endParaRPr lang="vi-V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6" marR="5546" marT="55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(Score: 9)</a:t>
                      </a:r>
                    </a:p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Pi 5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được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giải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phóng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hoàn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toàn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khỏi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tác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vụ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đọc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phần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cứng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Dồn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100%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tài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nguyên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Computer Vision (OCR CCCD),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diện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tư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thế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xử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RAG,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chính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xác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ổn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định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cao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nhất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algn="ctr" fontAlgn="ctr">
                        <a:buNone/>
                      </a:pPr>
                      <a:endParaRPr lang="vi-V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6" marR="5546" marT="55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(Score: 2)</a:t>
                      </a:r>
                      <a:endParaRPr lang="vi-VN" sz="2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Dòng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vi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điều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khiển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khả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năng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chạy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hình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sâu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phức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tạp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(YOLOv11, AI Agent RAG)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trên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thiết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bị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biên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algn="ctr" fontAlgn="ctr">
                        <a:buNone/>
                      </a:pPr>
                      <a:endParaRPr lang="vi-V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6" marR="5546" marT="55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092172"/>
                  </a:ext>
                </a:extLst>
              </a:tr>
              <a:tr h="37119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Giá thành</a:t>
                      </a:r>
                    </a:p>
                  </a:txBody>
                  <a:tcPr marL="5546" marR="5546" marT="55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(Score: </a:t>
                      </a:r>
                      <a:r>
                        <a:rPr lang="vi-VN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b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2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2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tốn</a:t>
                      </a:r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chi </a:t>
                      </a:r>
                      <a:r>
                        <a:rPr lang="en-US" sz="2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phí</a:t>
                      </a:r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mua</a:t>
                      </a:r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một</a:t>
                      </a:r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</a:t>
                      </a:r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mạch</a:t>
                      </a:r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xử</a:t>
                      </a:r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trung</a:t>
                      </a:r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tâm</a:t>
                      </a:r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là</a:t>
                      </a:r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Raspberry Pi 5.</a:t>
                      </a:r>
                    </a:p>
                    <a:p>
                      <a:pPr algn="ctr" fontAlgn="ctr">
                        <a:buNone/>
                      </a:pPr>
                      <a:endParaRPr lang="vi-V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6" marR="5546" marT="55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(Score: 7)</a:t>
                      </a:r>
                      <a:endParaRPr lang="vi-VN" sz="2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Mua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thêm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ESP32-S3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tốn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thêm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một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chút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chi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phí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nhưng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tổng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thành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phần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cứng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vẫn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ở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mức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tương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đương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rất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tối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ưu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đều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điểm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7).</a:t>
                      </a:r>
                    </a:p>
                    <a:p>
                      <a:pPr algn="ctr" fontAlgn="ctr">
                        <a:buNone/>
                      </a:pPr>
                      <a:br>
                        <a:rPr lang="vi-VN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vi-V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6" marR="5546" marT="55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(Score: 9)</a:t>
                      </a:r>
                      <a:b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Mạch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ESP32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cực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kỳ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rẻ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tối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ưu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tuyệt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đối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về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mặt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chi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phí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đầu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tư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algn="ctr" fontAlgn="ctr">
                        <a:buNone/>
                      </a:pPr>
                      <a:endParaRPr lang="vi-V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6" marR="5546" marT="55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719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804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fade/>
      </p:transition>
    </mc:Choice>
    <mc:Fallback xmlns="" xmlns:m="http://schemas.openxmlformats.org/officeDocument/2006/math" xmlns:w="http://schemas.openxmlformats.org/wordprocessingml/2006/main">
      <p:transition spd="fast" advClick="1">
        <p:fade thruBlk="0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A50498E-8E09-AA15-1710-3F129DF0835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54109980" name="Group 2">
            <a:extLst>
              <a:ext uri="{FF2B5EF4-FFF2-40B4-BE49-F238E27FC236}">
                <a16:creationId xmlns:a16="http://schemas.microsoft.com/office/drawing/2014/main" id="{50430A78-0F85-A740-1D55-B1A42F15D03E}"/>
              </a:ext>
            </a:extLst>
          </p:cNvPr>
          <p:cNvGrpSpPr/>
          <p:nvPr/>
        </p:nvGrpSpPr>
        <p:grpSpPr bwMode="auto">
          <a:xfrm>
            <a:off x="-2209799" y="35642"/>
            <a:ext cx="11111447" cy="2051022"/>
            <a:chOff x="-1833152" y="-104877"/>
            <a:chExt cx="8970826" cy="273469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0E82749-AA06-3867-C5EA-07671F73190C}"/>
                </a:ext>
              </a:extLst>
            </p:cNvPr>
            <p:cNvSpPr/>
            <p:nvPr/>
          </p:nvSpPr>
          <p:spPr bwMode="auto">
            <a:xfrm>
              <a:off x="-1833152" y="-104877"/>
              <a:ext cx="8294106" cy="1794555"/>
            </a:xfrm>
            <a:custGeom>
              <a:avLst/>
              <a:gdLst/>
              <a:ahLst/>
              <a:cxnLst/>
              <a:rect l="l" t="t" r="r" b="b"/>
              <a:pathLst>
                <a:path w="8294107" h="1794553" extrusionOk="0">
                  <a:moveTo>
                    <a:pt x="0" y="0"/>
                  </a:moveTo>
                  <a:lnTo>
                    <a:pt x="8294107" y="0"/>
                  </a:lnTo>
                  <a:lnTo>
                    <a:pt x="8294107" y="1794553"/>
                  </a:lnTo>
                  <a:lnTo>
                    <a:pt x="0" y="179455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80534" r="-153567" b="-176173"/>
              </a:stretch>
            </a:blipFill>
          </p:spPr>
          <p:txBody>
            <a:bodyPr anchor="ctr"/>
            <a:lstStyle/>
            <a:p>
              <a:pPr algn="ctr">
                <a:defRPr/>
              </a:pPr>
              <a:r>
                <a:rPr lang="vi-VN" dirty="0">
                  <a:latin typeface="Times New Roman"/>
                  <a:cs typeface="Times New Roman"/>
                </a:rPr>
                <a:t> </a:t>
              </a:r>
              <a:endParaRPr dirty="0">
                <a:latin typeface="Times New Roman"/>
                <a:cs typeface="Times New Roman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3F68500-06D3-A28F-E0FC-61B66901FBEB}"/>
                </a:ext>
              </a:extLst>
            </p:cNvPr>
            <p:cNvSpPr txBox="1"/>
            <p:nvPr/>
          </p:nvSpPr>
          <p:spPr bwMode="auto">
            <a:xfrm>
              <a:off x="-1156432" y="749535"/>
              <a:ext cx="8294106" cy="1880284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7038"/>
                </a:lnSpc>
                <a:defRPr/>
              </a:pPr>
              <a:r>
                <a:rPr lang="vi-VN" sz="5100" b="1" dirty="0" err="1">
                  <a:solidFill>
                    <a:srgbClr val="153898"/>
                  </a:solidFill>
                  <a:latin typeface="Times New Roman"/>
                  <a:ea typeface="Times New Roman"/>
                  <a:cs typeface="Times New Roman"/>
                </a:rPr>
                <a:t>Decision</a:t>
              </a:r>
              <a:r>
                <a:rPr lang="vi-VN" sz="5100" b="1" dirty="0">
                  <a:solidFill>
                    <a:srgbClr val="153898"/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lang="vi-VN" sz="5100" b="1" dirty="0" err="1">
                  <a:solidFill>
                    <a:srgbClr val="153898"/>
                  </a:solidFill>
                  <a:latin typeface="Times New Roman"/>
                  <a:ea typeface="Times New Roman"/>
                  <a:cs typeface="Times New Roman"/>
                </a:rPr>
                <a:t>Matrix</a:t>
              </a:r>
              <a:endParaRPr lang="vi-VN" sz="5100" b="1" dirty="0">
                <a:solidFill>
                  <a:srgbClr val="153898"/>
                </a:solidFill>
                <a:latin typeface="Times New Roman"/>
                <a:ea typeface="Times New Roman"/>
                <a:cs typeface="Times New Roman"/>
              </a:endParaRPr>
            </a:p>
            <a:p>
              <a:pPr algn="ctr">
                <a:lnSpc>
                  <a:spcPts val="7038"/>
                </a:lnSpc>
                <a:defRPr/>
              </a:pPr>
              <a:endParaRPr lang="en-US" dirty="0">
                <a:latin typeface="Times New Roman"/>
                <a:cs typeface="Times New Roman"/>
              </a:endParaRPr>
            </a:p>
          </p:txBody>
        </p:sp>
      </p:grp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E7C479F-1A4D-5296-5267-EE70DA0AE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344176"/>
              </p:ext>
            </p:extLst>
          </p:nvPr>
        </p:nvGraphicFramePr>
        <p:xfrm>
          <a:off x="457200" y="1600200"/>
          <a:ext cx="17373600" cy="80295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5060">
                  <a:extLst>
                    <a:ext uri="{9D8B030D-6E8A-4147-A177-3AD203B41FA5}">
                      <a16:colId xmlns:a16="http://schemas.microsoft.com/office/drawing/2014/main" val="4016398995"/>
                    </a:ext>
                  </a:extLst>
                </a:gridCol>
                <a:gridCol w="4560441">
                  <a:extLst>
                    <a:ext uri="{9D8B030D-6E8A-4147-A177-3AD203B41FA5}">
                      <a16:colId xmlns:a16="http://schemas.microsoft.com/office/drawing/2014/main" val="165154099"/>
                    </a:ext>
                  </a:extLst>
                </a:gridCol>
                <a:gridCol w="5765579">
                  <a:extLst>
                    <a:ext uri="{9D8B030D-6E8A-4147-A177-3AD203B41FA5}">
                      <a16:colId xmlns:a16="http://schemas.microsoft.com/office/drawing/2014/main" val="1854178002"/>
                    </a:ext>
                  </a:extLst>
                </a:gridCol>
                <a:gridCol w="5212520">
                  <a:extLst>
                    <a:ext uri="{9D8B030D-6E8A-4147-A177-3AD203B41FA5}">
                      <a16:colId xmlns:a16="http://schemas.microsoft.com/office/drawing/2014/main" val="3287107014"/>
                    </a:ext>
                  </a:extLst>
                </a:gridCol>
              </a:tblGrid>
              <a:tr h="11329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Tiêu</a:t>
                      </a:r>
                      <a:r>
                        <a:rPr 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chí</a:t>
                      </a:r>
                      <a:endParaRPr lang="vi-VN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6" marR="5546" marT="55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Thiết kế 1: </a:t>
                      </a:r>
                      <a:r>
                        <a:rPr lang="vi-VN" sz="28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</a:t>
                      </a:r>
                      <a:r>
                        <a:rPr lang="vi-VN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5 Đơn lẻ</a:t>
                      </a:r>
                      <a:br>
                        <a:rPr 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(SCORE 8,8,6,9)</a:t>
                      </a:r>
                      <a:endParaRPr lang="vi-VN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6" marR="5546" marT="55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Thiết kế 2: </a:t>
                      </a:r>
                      <a:r>
                        <a:rPr lang="vi-V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Pi5 + ESP32-S3</a:t>
                      </a:r>
                      <a:br>
                        <a:rPr 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(SCORE 9,7,9,9)</a:t>
                      </a:r>
                      <a:endParaRPr lang="vi-VN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6" marR="5546" marT="55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Thiết kế 3: </a:t>
                      </a:r>
                      <a:r>
                        <a:rPr lang="vi-V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ESP32-S3 + CAM</a:t>
                      </a:r>
                      <a:br>
                        <a:rPr 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(SCORE 2,9,7,3)</a:t>
                      </a:r>
                      <a:endParaRPr lang="vi-VN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6" marR="5546" marT="55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33813"/>
                  </a:ext>
                </a:extLst>
              </a:tr>
              <a:tr h="31846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Tốc độ xử lý &amp; phản hồi</a:t>
                      </a:r>
                      <a:endParaRPr lang="vi-VN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6" marR="5546" marT="55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(Score: 6)</a:t>
                      </a:r>
                    </a:p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Rất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dễ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phát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sinh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trễ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(delay)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khi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Pi 5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đang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chạy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nặng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phần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AI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mà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bị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ngắt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quãng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để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đọc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dữ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liệu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I2C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từ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MLX90614 (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nhiệt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MAX30102 (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nhịp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).</a:t>
                      </a:r>
                    </a:p>
                    <a:p>
                      <a:pPr algn="ctr" fontAlgn="ctr">
                        <a:buNone/>
                      </a:pPr>
                      <a:endParaRPr lang="vi-V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6" marR="5546" marT="55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(Score: 9)</a:t>
                      </a:r>
                    </a:p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Phối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hợp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phân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tầng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tối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ưu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ESP32-S3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chuyên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trách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đọc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I2C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theo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thời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gian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thực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trễ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Truyền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gói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tin qua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giao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thức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MQTT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lên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Node.js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ngay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lập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tức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algn="ctr" fontAlgn="ctr">
                        <a:buNone/>
                      </a:pPr>
                      <a:endParaRPr lang="vi-V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6" marR="5546" marT="55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(Score: 7)</a:t>
                      </a:r>
                    </a:p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Đọc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cảm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biến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nhanh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nhưng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tốc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tổng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thể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toàn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hệ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thống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tế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bị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nghẽn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do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thể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xử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đa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luồng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mạnh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mẽ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algn="ctr" fontAlgn="ctr">
                        <a:buNone/>
                      </a:pPr>
                      <a:endParaRPr lang="vi-V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6" marR="5546" marT="55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092172"/>
                  </a:ext>
                </a:extLst>
              </a:tr>
              <a:tr h="37119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Bộ nhớ lưu trữ</a:t>
                      </a:r>
                    </a:p>
                  </a:txBody>
                  <a:tcPr marL="5546" marR="5546" marT="55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(Score: 9)</a:t>
                      </a:r>
                    </a:p>
                    <a:p>
                      <a:pPr algn="ctr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RAM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lớn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hỗ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trợ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thẻ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nhớ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tốc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cao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thoải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mái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lưu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trữ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Local Vector Store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cơ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sở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dữ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liệu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bệnh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nhân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algn="ctr" fontAlgn="ctr">
                        <a:buNone/>
                      </a:pPr>
                      <a:endParaRPr lang="vi-V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6" marR="5546" marT="55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(Score: 9)</a:t>
                      </a:r>
                      <a:endParaRPr lang="vi-V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Tận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dụng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hoàn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toàn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khả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năng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lưu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trữ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mạnh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mẽ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Pi 5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CSDL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hệ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điều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hành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Agent.</a:t>
                      </a:r>
                    </a:p>
                    <a:p>
                      <a:pPr algn="ctr" fontAlgn="ctr">
                        <a:buNone/>
                      </a:pPr>
                      <a:br>
                        <a:rPr lang="vi-VN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vi-V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6" marR="5546" marT="55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(Score: 3)</a:t>
                      </a:r>
                      <a:b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Dung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lượng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Flash/SRAM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vi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điều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khiển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quá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nhỏ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thể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lưu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trữ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Vector Store y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tế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algn="ctr" fontAlgn="ctr">
                        <a:buNone/>
                      </a:pPr>
                      <a:endParaRPr lang="vi-V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46" marR="5546" marT="55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719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9195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fade/>
      </p:transition>
    </mc:Choice>
    <mc:Fallback xmlns="" xmlns:m="http://schemas.openxmlformats.org/officeDocument/2006/math" xmlns:w="http://schemas.openxmlformats.org/wordprocessingml/2006/main">
      <p:transition spd="fast" advClick="1">
        <p:fade thruBlk="0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1ADFF6D-484A-E3A8-9D12-83864E800F7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54109980" name="Group 2">
            <a:extLst>
              <a:ext uri="{FF2B5EF4-FFF2-40B4-BE49-F238E27FC236}">
                <a16:creationId xmlns:a16="http://schemas.microsoft.com/office/drawing/2014/main" id="{255E5773-4FFD-B13A-398A-C886A7755215}"/>
              </a:ext>
            </a:extLst>
          </p:cNvPr>
          <p:cNvGrpSpPr/>
          <p:nvPr/>
        </p:nvGrpSpPr>
        <p:grpSpPr bwMode="auto">
          <a:xfrm>
            <a:off x="-2209799" y="35642"/>
            <a:ext cx="11111447" cy="2051022"/>
            <a:chOff x="-1833152" y="-104877"/>
            <a:chExt cx="8970826" cy="273469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2B6F828-ABB6-7095-79CC-5B785E49D93B}"/>
                </a:ext>
              </a:extLst>
            </p:cNvPr>
            <p:cNvSpPr/>
            <p:nvPr/>
          </p:nvSpPr>
          <p:spPr bwMode="auto">
            <a:xfrm>
              <a:off x="-1833152" y="-104877"/>
              <a:ext cx="8294106" cy="1794555"/>
            </a:xfrm>
            <a:custGeom>
              <a:avLst/>
              <a:gdLst/>
              <a:ahLst/>
              <a:cxnLst/>
              <a:rect l="l" t="t" r="r" b="b"/>
              <a:pathLst>
                <a:path w="8294107" h="1794553" extrusionOk="0">
                  <a:moveTo>
                    <a:pt x="0" y="0"/>
                  </a:moveTo>
                  <a:lnTo>
                    <a:pt x="8294107" y="0"/>
                  </a:lnTo>
                  <a:lnTo>
                    <a:pt x="8294107" y="1794553"/>
                  </a:lnTo>
                  <a:lnTo>
                    <a:pt x="0" y="179455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80534" r="-153567" b="-176173"/>
              </a:stretch>
            </a:blipFill>
          </p:spPr>
          <p:txBody>
            <a:bodyPr anchor="ctr"/>
            <a:lstStyle/>
            <a:p>
              <a:pPr algn="ctr">
                <a:defRPr/>
              </a:pPr>
              <a:r>
                <a:rPr lang="vi-VN" dirty="0">
                  <a:latin typeface="Times New Roman"/>
                  <a:cs typeface="Times New Roman"/>
                </a:rPr>
                <a:t> </a:t>
              </a:r>
              <a:endParaRPr dirty="0">
                <a:latin typeface="Times New Roman"/>
                <a:cs typeface="Times New Roman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A3F1300-139C-97CE-2ECC-68067FE6A5E7}"/>
                </a:ext>
              </a:extLst>
            </p:cNvPr>
            <p:cNvSpPr txBox="1"/>
            <p:nvPr/>
          </p:nvSpPr>
          <p:spPr bwMode="auto">
            <a:xfrm>
              <a:off x="-1156432" y="749535"/>
              <a:ext cx="8294106" cy="1880284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7038"/>
                </a:lnSpc>
                <a:defRPr/>
              </a:pPr>
              <a:r>
                <a:rPr lang="vi-VN" sz="5100" b="1" dirty="0" err="1">
                  <a:solidFill>
                    <a:srgbClr val="153898"/>
                  </a:solidFill>
                  <a:latin typeface="Times New Roman"/>
                  <a:ea typeface="Times New Roman"/>
                  <a:cs typeface="Times New Roman"/>
                </a:rPr>
                <a:t>Decision</a:t>
              </a:r>
              <a:r>
                <a:rPr lang="vi-VN" sz="5100" b="1" dirty="0">
                  <a:solidFill>
                    <a:srgbClr val="153898"/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lang="vi-VN" sz="5100" b="1" dirty="0" err="1">
                  <a:solidFill>
                    <a:srgbClr val="153898"/>
                  </a:solidFill>
                  <a:latin typeface="Times New Roman"/>
                  <a:ea typeface="Times New Roman"/>
                  <a:cs typeface="Times New Roman"/>
                </a:rPr>
                <a:t>Matrix</a:t>
              </a:r>
              <a:endParaRPr lang="vi-VN" sz="5100" b="1" dirty="0">
                <a:solidFill>
                  <a:srgbClr val="153898"/>
                </a:solidFill>
                <a:latin typeface="Times New Roman"/>
                <a:ea typeface="Times New Roman"/>
                <a:cs typeface="Times New Roman"/>
              </a:endParaRPr>
            </a:p>
            <a:p>
              <a:pPr algn="ctr">
                <a:lnSpc>
                  <a:spcPts val="7038"/>
                </a:lnSpc>
                <a:defRPr/>
              </a:pPr>
              <a:endParaRPr lang="en-US" dirty="0">
                <a:latin typeface="Times New Roman"/>
                <a:cs typeface="Times New Roman"/>
              </a:endParaRPr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3660065-0427-461E-BE45-A0219B887C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000839"/>
              </p:ext>
            </p:extLst>
          </p:nvPr>
        </p:nvGraphicFramePr>
        <p:xfrm>
          <a:off x="457200" y="1600200"/>
          <a:ext cx="16844208" cy="74001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5526">
                  <a:extLst>
                    <a:ext uri="{9D8B030D-6E8A-4147-A177-3AD203B41FA5}">
                      <a16:colId xmlns:a16="http://schemas.microsoft.com/office/drawing/2014/main" val="4086452655"/>
                    </a:ext>
                  </a:extLst>
                </a:gridCol>
                <a:gridCol w="2105526">
                  <a:extLst>
                    <a:ext uri="{9D8B030D-6E8A-4147-A177-3AD203B41FA5}">
                      <a16:colId xmlns:a16="http://schemas.microsoft.com/office/drawing/2014/main" val="717060250"/>
                    </a:ext>
                  </a:extLst>
                </a:gridCol>
                <a:gridCol w="2105526">
                  <a:extLst>
                    <a:ext uri="{9D8B030D-6E8A-4147-A177-3AD203B41FA5}">
                      <a16:colId xmlns:a16="http://schemas.microsoft.com/office/drawing/2014/main" val="2533319958"/>
                    </a:ext>
                  </a:extLst>
                </a:gridCol>
                <a:gridCol w="2105526">
                  <a:extLst>
                    <a:ext uri="{9D8B030D-6E8A-4147-A177-3AD203B41FA5}">
                      <a16:colId xmlns:a16="http://schemas.microsoft.com/office/drawing/2014/main" val="3631957192"/>
                    </a:ext>
                  </a:extLst>
                </a:gridCol>
                <a:gridCol w="2398296">
                  <a:extLst>
                    <a:ext uri="{9D8B030D-6E8A-4147-A177-3AD203B41FA5}">
                      <a16:colId xmlns:a16="http://schemas.microsoft.com/office/drawing/2014/main" val="3693209267"/>
                    </a:ext>
                  </a:extLst>
                </a:gridCol>
                <a:gridCol w="1812756">
                  <a:extLst>
                    <a:ext uri="{9D8B030D-6E8A-4147-A177-3AD203B41FA5}">
                      <a16:colId xmlns:a16="http://schemas.microsoft.com/office/drawing/2014/main" val="2550783094"/>
                    </a:ext>
                  </a:extLst>
                </a:gridCol>
                <a:gridCol w="2105526">
                  <a:extLst>
                    <a:ext uri="{9D8B030D-6E8A-4147-A177-3AD203B41FA5}">
                      <a16:colId xmlns:a16="http://schemas.microsoft.com/office/drawing/2014/main" val="2095872640"/>
                    </a:ext>
                  </a:extLst>
                </a:gridCol>
                <a:gridCol w="2105526">
                  <a:extLst>
                    <a:ext uri="{9D8B030D-6E8A-4147-A177-3AD203B41FA5}">
                      <a16:colId xmlns:a16="http://schemas.microsoft.com/office/drawing/2014/main" val="655543771"/>
                    </a:ext>
                  </a:extLst>
                </a:gridCol>
              </a:tblGrid>
              <a:tr h="647387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Tiêu</a:t>
                      </a:r>
                      <a:r>
                        <a:rPr 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chí</a:t>
                      </a:r>
                      <a:endParaRPr lang="vi-VN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Trọng</a:t>
                      </a:r>
                      <a:r>
                        <a:rPr 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1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endParaRPr lang="vi-VN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1</a:t>
                      </a:r>
                      <a:endParaRPr lang="vi-VN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1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1</a:t>
                      </a:r>
                      <a:endParaRPr lang="vi-VN" sz="2800" b="1" i="0" u="none" strike="noStrik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2</a:t>
                      </a:r>
                      <a:endParaRPr lang="vi-VN" sz="2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1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2</a:t>
                      </a:r>
                      <a:endParaRPr lang="vi-VN" sz="2800" b="1" i="0" u="none" strike="noStrike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3</a:t>
                      </a:r>
                      <a:endParaRPr lang="vi-VN" sz="2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1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3</a:t>
                      </a:r>
                      <a:endParaRPr lang="vi-VN" sz="2800" b="1" i="0" u="none" strike="noStrike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468465"/>
                  </a:ext>
                </a:extLst>
              </a:tr>
              <a:tr h="1307723"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</a:t>
                      </a:r>
                      <a:r>
                        <a:rPr lang="vi-V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5 đơn lẻ</a:t>
                      </a: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800" b="1" u="none" strike="noStrike" dirty="0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</a:t>
                      </a:r>
                      <a:r>
                        <a:rPr lang="vi-VN" sz="2800" b="1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2800" b="1" u="none" strike="noStrike" dirty="0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Score</a:t>
                      </a:r>
                      <a:endParaRPr lang="vi-VN" sz="2800" b="1" i="0" u="none" strike="noStrik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Pi5 + ESP32-S3</a:t>
                      </a: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800" b="1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Score</a:t>
                      </a:r>
                      <a:endParaRPr lang="vi-VN" sz="2800" b="1" i="0" u="none" strike="noStrike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ESP32-S3 + CAM</a:t>
                      </a: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800" b="1" u="none" strike="noStrike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</a:t>
                      </a:r>
                      <a:r>
                        <a:rPr lang="vi-VN" sz="2800" b="1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2800" b="1" u="none" strike="noStrike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Score</a:t>
                      </a:r>
                      <a:endParaRPr lang="vi-VN" sz="2800" b="1" i="0" u="none" strike="noStrike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318546"/>
                  </a:ext>
                </a:extLst>
              </a:tr>
              <a:tr h="13077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Khả</a:t>
                      </a:r>
                      <a:r>
                        <a:rPr lang="en-US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năng AI (nhận diện)</a:t>
                      </a:r>
                      <a:endParaRPr lang="vi-V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0.58</a:t>
                      </a:r>
                      <a:endParaRPr lang="vi-V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vi-V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80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4.64</a:t>
                      </a:r>
                      <a:endParaRPr lang="vi-VN" sz="2800" b="0" i="0" u="none" strike="noStrik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vi-V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800" b="0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5.22</a:t>
                      </a: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800" b="0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1.16</a:t>
                      </a: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350906"/>
                  </a:ext>
                </a:extLst>
              </a:tr>
              <a:tr h="6603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Giá thành</a:t>
                      </a:r>
                      <a:endParaRPr lang="vi-VN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vi-VN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endParaRPr lang="vi-V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80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1.84</a:t>
                      </a:r>
                      <a:endParaRPr lang="vi-VN" sz="2800" b="0" i="0" u="none" strike="noStrik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800" b="0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1.61</a:t>
                      </a: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vi-V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800" b="0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2.07</a:t>
                      </a: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961920"/>
                  </a:ext>
                </a:extLst>
              </a:tr>
              <a:tr h="13077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Tốc</a:t>
                      </a:r>
                      <a:r>
                        <a:rPr lang="en-US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</a:t>
                      </a:r>
                      <a:r>
                        <a:rPr lang="en-US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xử</a:t>
                      </a:r>
                      <a:r>
                        <a:rPr lang="en-US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r>
                        <a:rPr lang="en-US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</a:t>
                      </a:r>
                      <a:r>
                        <a:rPr lang="en-US" sz="2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phản</a:t>
                      </a:r>
                      <a:r>
                        <a:rPr lang="en-US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hồi</a:t>
                      </a:r>
                      <a:r>
                        <a:rPr lang="vi-VN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(I/O)</a:t>
                      </a:r>
                      <a:endParaRPr lang="vi-V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vi-VN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vi-V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vi-V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vi-VN" sz="280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vi-VN" sz="2800" b="0" i="0" u="none" strike="noStrik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vi-V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80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1.08</a:t>
                      </a:r>
                      <a:endParaRPr lang="vi-VN" sz="2800" b="0" i="0" u="none" strike="noStrik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vi-VN" sz="280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</a:t>
                      </a:r>
                      <a:endParaRPr lang="vi-VN" sz="2800" b="0" i="0" u="none" strike="noStrik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582987"/>
                  </a:ext>
                </a:extLst>
              </a:tr>
              <a:tr h="6603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Bộ nhớ lưu trữ</a:t>
                      </a:r>
                      <a:endParaRPr lang="vi-VN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vi-VN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07</a:t>
                      </a:r>
                      <a:endParaRPr lang="vi-V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vi-VN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80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0.63</a:t>
                      </a:r>
                      <a:endParaRPr lang="vi-VN" sz="2800" b="0" i="0" u="none" strike="noStrik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vi-V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800" b="0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0.63</a:t>
                      </a: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vi-V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vi-VN" sz="280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vi-VN" sz="2800" b="0" i="0" u="none" strike="noStrik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434227"/>
                  </a:ext>
                </a:extLst>
              </a:tr>
              <a:tr h="13077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SCORES</a:t>
                      </a:r>
                      <a:endParaRPr lang="vi-VN" sz="2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Should Sum to 1.0 (1.00)</a:t>
                      </a:r>
                      <a:endParaRPr lang="vi-VN" sz="2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  <a:endParaRPr lang="vi-VN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80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7.83</a:t>
                      </a:r>
                      <a:endParaRPr lang="vi-VN" sz="2800" b="1" i="0" u="none" strike="noStrik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</a:t>
                      </a:r>
                      <a:endParaRPr lang="vi-VN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800" b="1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8.54</a:t>
                      </a: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endParaRPr lang="vi-VN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2800" b="0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4.28</a:t>
                      </a:r>
                    </a:p>
                  </a:txBody>
                  <a:tcPr marL="8140" marR="8140" marT="81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455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9468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fade/>
      </p:transition>
    </mc:Choice>
    <mc:Fallback xmlns="" xmlns:m="http://schemas.openxmlformats.org/officeDocument/2006/math" xmlns:w="http://schemas.openxmlformats.org/wordprocessingml/2006/main">
      <p:transition spd="fast" advClick="1">
        <p:fade thruBlk="0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037961" name="TextBox 2"/>
          <p:cNvSpPr txBox="1"/>
          <p:nvPr/>
        </p:nvSpPr>
        <p:spPr bwMode="auto">
          <a:xfrm>
            <a:off x="4230173" y="94739"/>
            <a:ext cx="9549625" cy="1365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0"/>
              </a:lnSpc>
              <a:defRPr/>
            </a:pPr>
            <a:r>
              <a:rPr lang="en-US" sz="400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SƠ ĐỒ KHỐI HỆ THỐNG DẠNG LINH KIỆN</a:t>
            </a:r>
            <a:endParaRPr/>
          </a:p>
          <a:p>
            <a:pPr algn="ctr">
              <a:lnSpc>
                <a:spcPts val="5520"/>
              </a:lnSpc>
              <a:spcBef>
                <a:spcPts val="0"/>
              </a:spcBef>
              <a:defRPr/>
            </a:pPr>
            <a:endParaRPr lang="en-US" sz="4000">
              <a:solidFill>
                <a:srgbClr val="000000"/>
              </a:solidFill>
              <a:latin typeface="Tahoma"/>
              <a:ea typeface="Tahoma"/>
              <a:cs typeface="Tahoma"/>
            </a:endParaRPr>
          </a:p>
        </p:txBody>
      </p:sp>
      <p:grpSp>
        <p:nvGrpSpPr>
          <p:cNvPr id="1122979354" name="Group 3"/>
          <p:cNvGrpSpPr/>
          <p:nvPr/>
        </p:nvGrpSpPr>
        <p:grpSpPr bwMode="auto">
          <a:xfrm>
            <a:off x="2811816" y="1920012"/>
            <a:ext cx="3195314" cy="1801629"/>
            <a:chOff x="0" y="0"/>
            <a:chExt cx="841564" cy="474503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841564" cy="474503"/>
            </a:xfrm>
            <a:custGeom>
              <a:avLst/>
              <a:gdLst/>
              <a:ahLst/>
              <a:cxnLst/>
              <a:rect l="l" t="t" r="r" b="b"/>
              <a:pathLst>
                <a:path w="841564" h="474503" extrusionOk="0">
                  <a:moveTo>
                    <a:pt x="123568" y="0"/>
                  </a:moveTo>
                  <a:lnTo>
                    <a:pt x="717996" y="0"/>
                  </a:lnTo>
                  <a:cubicBezTo>
                    <a:pt x="786241" y="0"/>
                    <a:pt x="841564" y="55323"/>
                    <a:pt x="841564" y="123568"/>
                  </a:cubicBezTo>
                  <a:lnTo>
                    <a:pt x="841564" y="350935"/>
                  </a:lnTo>
                  <a:cubicBezTo>
                    <a:pt x="841564" y="419180"/>
                    <a:pt x="786241" y="474503"/>
                    <a:pt x="717996" y="474503"/>
                  </a:cubicBezTo>
                  <a:lnTo>
                    <a:pt x="123568" y="474503"/>
                  </a:lnTo>
                  <a:cubicBezTo>
                    <a:pt x="55323" y="474503"/>
                    <a:pt x="0" y="419180"/>
                    <a:pt x="0" y="350935"/>
                  </a:cubicBezTo>
                  <a:lnTo>
                    <a:pt x="0" y="123568"/>
                  </a:lnTo>
                  <a:cubicBezTo>
                    <a:pt x="0" y="55323"/>
                    <a:pt x="55323" y="0"/>
                    <a:pt x="123568" y="0"/>
                  </a:cubicBezTo>
                  <a:close/>
                </a:path>
              </a:pathLst>
            </a:custGeom>
            <a:solidFill>
              <a:srgbClr val="AEFF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841564" cy="52212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0"/>
                </a:lnSpc>
                <a:defRPr/>
              </a:pPr>
              <a:endParaRPr/>
            </a:p>
          </p:txBody>
        </p:sp>
      </p:grpSp>
      <p:grpSp>
        <p:nvGrpSpPr>
          <p:cNvPr id="1367304636" name="Group 6"/>
          <p:cNvGrpSpPr/>
          <p:nvPr/>
        </p:nvGrpSpPr>
        <p:grpSpPr bwMode="auto">
          <a:xfrm>
            <a:off x="13035286" y="6534664"/>
            <a:ext cx="3195314" cy="1801629"/>
            <a:chOff x="0" y="0"/>
            <a:chExt cx="841564" cy="474503"/>
          </a:xfrm>
        </p:grpSpPr>
        <p:sp>
          <p:nvSpPr>
            <p:cNvPr id="7" name="Freeform 7"/>
            <p:cNvSpPr/>
            <p:nvPr/>
          </p:nvSpPr>
          <p:spPr bwMode="auto">
            <a:xfrm>
              <a:off x="0" y="0"/>
              <a:ext cx="841564" cy="474503"/>
            </a:xfrm>
            <a:custGeom>
              <a:avLst/>
              <a:gdLst/>
              <a:ahLst/>
              <a:cxnLst/>
              <a:rect l="l" t="t" r="r" b="b"/>
              <a:pathLst>
                <a:path w="841564" h="474503" extrusionOk="0">
                  <a:moveTo>
                    <a:pt x="123568" y="0"/>
                  </a:moveTo>
                  <a:lnTo>
                    <a:pt x="717996" y="0"/>
                  </a:lnTo>
                  <a:cubicBezTo>
                    <a:pt x="786241" y="0"/>
                    <a:pt x="841564" y="55323"/>
                    <a:pt x="841564" y="123568"/>
                  </a:cubicBezTo>
                  <a:lnTo>
                    <a:pt x="841564" y="350935"/>
                  </a:lnTo>
                  <a:cubicBezTo>
                    <a:pt x="841564" y="419180"/>
                    <a:pt x="786241" y="474503"/>
                    <a:pt x="717996" y="474503"/>
                  </a:cubicBezTo>
                  <a:lnTo>
                    <a:pt x="123568" y="474503"/>
                  </a:lnTo>
                  <a:cubicBezTo>
                    <a:pt x="55323" y="474503"/>
                    <a:pt x="0" y="419180"/>
                    <a:pt x="0" y="350935"/>
                  </a:cubicBezTo>
                  <a:lnTo>
                    <a:pt x="0" y="123568"/>
                  </a:lnTo>
                  <a:cubicBezTo>
                    <a:pt x="0" y="55323"/>
                    <a:pt x="55323" y="0"/>
                    <a:pt x="123568" y="0"/>
                  </a:cubicBezTo>
                  <a:close/>
                </a:path>
              </a:pathLst>
            </a:custGeom>
            <a:solidFill>
              <a:srgbClr val="FFBD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0" y="-47625"/>
              <a:ext cx="841564" cy="52212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0"/>
                </a:lnSpc>
                <a:defRPr/>
              </a:pPr>
              <a:endParaRPr/>
            </a:p>
          </p:txBody>
        </p:sp>
      </p:grpSp>
      <p:grpSp>
        <p:nvGrpSpPr>
          <p:cNvPr id="1099377366" name="Group 9"/>
          <p:cNvGrpSpPr/>
          <p:nvPr/>
        </p:nvGrpSpPr>
        <p:grpSpPr bwMode="auto">
          <a:xfrm>
            <a:off x="2964216" y="6534664"/>
            <a:ext cx="3195314" cy="1801629"/>
            <a:chOff x="0" y="0"/>
            <a:chExt cx="841564" cy="474503"/>
          </a:xfrm>
        </p:grpSpPr>
        <p:sp>
          <p:nvSpPr>
            <p:cNvPr id="10" name="Freeform 10"/>
            <p:cNvSpPr/>
            <p:nvPr/>
          </p:nvSpPr>
          <p:spPr bwMode="auto">
            <a:xfrm>
              <a:off x="0" y="0"/>
              <a:ext cx="841564" cy="474503"/>
            </a:xfrm>
            <a:custGeom>
              <a:avLst/>
              <a:gdLst/>
              <a:ahLst/>
              <a:cxnLst/>
              <a:rect l="l" t="t" r="r" b="b"/>
              <a:pathLst>
                <a:path w="841564" h="474503" extrusionOk="0">
                  <a:moveTo>
                    <a:pt x="123568" y="0"/>
                  </a:moveTo>
                  <a:lnTo>
                    <a:pt x="717996" y="0"/>
                  </a:lnTo>
                  <a:cubicBezTo>
                    <a:pt x="786241" y="0"/>
                    <a:pt x="841564" y="55323"/>
                    <a:pt x="841564" y="123568"/>
                  </a:cubicBezTo>
                  <a:lnTo>
                    <a:pt x="841564" y="350935"/>
                  </a:lnTo>
                  <a:cubicBezTo>
                    <a:pt x="841564" y="419180"/>
                    <a:pt x="786241" y="474503"/>
                    <a:pt x="717996" y="474503"/>
                  </a:cubicBezTo>
                  <a:lnTo>
                    <a:pt x="123568" y="474503"/>
                  </a:lnTo>
                  <a:cubicBezTo>
                    <a:pt x="55323" y="474503"/>
                    <a:pt x="0" y="419180"/>
                    <a:pt x="0" y="350935"/>
                  </a:cubicBezTo>
                  <a:lnTo>
                    <a:pt x="0" y="123568"/>
                  </a:lnTo>
                  <a:cubicBezTo>
                    <a:pt x="0" y="55323"/>
                    <a:pt x="55323" y="0"/>
                    <a:pt x="123568" y="0"/>
                  </a:cubicBezTo>
                  <a:close/>
                </a:path>
              </a:pathLst>
            </a:custGeom>
            <a:solidFill>
              <a:srgbClr val="F4B72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47625"/>
              <a:ext cx="841564" cy="52212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0"/>
                </a:lnSpc>
                <a:defRPr/>
              </a:pPr>
              <a:endParaRPr/>
            </a:p>
          </p:txBody>
        </p:sp>
      </p:grpSp>
      <p:grpSp>
        <p:nvGrpSpPr>
          <p:cNvPr id="828481368" name="Group 12"/>
          <p:cNvGrpSpPr/>
          <p:nvPr/>
        </p:nvGrpSpPr>
        <p:grpSpPr bwMode="auto">
          <a:xfrm>
            <a:off x="8258103" y="3928717"/>
            <a:ext cx="3195314" cy="1801629"/>
            <a:chOff x="0" y="0"/>
            <a:chExt cx="841564" cy="474503"/>
          </a:xfrm>
        </p:grpSpPr>
        <p:sp>
          <p:nvSpPr>
            <p:cNvPr id="13" name="Freeform 13"/>
            <p:cNvSpPr/>
            <p:nvPr/>
          </p:nvSpPr>
          <p:spPr bwMode="auto">
            <a:xfrm>
              <a:off x="0" y="0"/>
              <a:ext cx="841564" cy="474503"/>
            </a:xfrm>
            <a:custGeom>
              <a:avLst/>
              <a:gdLst/>
              <a:ahLst/>
              <a:cxnLst/>
              <a:rect l="l" t="t" r="r" b="b"/>
              <a:pathLst>
                <a:path w="841564" h="474503" extrusionOk="0">
                  <a:moveTo>
                    <a:pt x="123568" y="0"/>
                  </a:moveTo>
                  <a:lnTo>
                    <a:pt x="717996" y="0"/>
                  </a:lnTo>
                  <a:cubicBezTo>
                    <a:pt x="786241" y="0"/>
                    <a:pt x="841564" y="55323"/>
                    <a:pt x="841564" y="123568"/>
                  </a:cubicBezTo>
                  <a:lnTo>
                    <a:pt x="841564" y="350935"/>
                  </a:lnTo>
                  <a:cubicBezTo>
                    <a:pt x="841564" y="419180"/>
                    <a:pt x="786241" y="474503"/>
                    <a:pt x="717996" y="474503"/>
                  </a:cubicBezTo>
                  <a:lnTo>
                    <a:pt x="123568" y="474503"/>
                  </a:lnTo>
                  <a:cubicBezTo>
                    <a:pt x="55323" y="474503"/>
                    <a:pt x="0" y="419180"/>
                    <a:pt x="0" y="350935"/>
                  </a:cubicBezTo>
                  <a:lnTo>
                    <a:pt x="0" y="123568"/>
                  </a:lnTo>
                  <a:cubicBezTo>
                    <a:pt x="0" y="55323"/>
                    <a:pt x="55323" y="0"/>
                    <a:pt x="123568" y="0"/>
                  </a:cubicBez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 bwMode="auto">
            <a:xfrm>
              <a:off x="0" y="-47625"/>
              <a:ext cx="841564" cy="52212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0"/>
                </a:lnSpc>
                <a:defRPr/>
              </a:pPr>
              <a:endParaRPr/>
            </a:p>
          </p:txBody>
        </p:sp>
      </p:grpSp>
      <p:sp>
        <p:nvSpPr>
          <p:cNvPr id="1633007564" name="AutoShape 15"/>
          <p:cNvSpPr/>
          <p:nvPr/>
        </p:nvSpPr>
        <p:spPr bwMode="auto">
          <a:xfrm flipV="1">
            <a:off x="865910" y="7416429"/>
            <a:ext cx="2098307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776153686" name="AutoShape 16"/>
          <p:cNvSpPr/>
          <p:nvPr/>
        </p:nvSpPr>
        <p:spPr bwMode="auto">
          <a:xfrm>
            <a:off x="865910" y="2782727"/>
            <a:ext cx="1945907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5962040" name="AutoShape 17"/>
          <p:cNvSpPr/>
          <p:nvPr/>
        </p:nvSpPr>
        <p:spPr bwMode="auto">
          <a:xfrm>
            <a:off x="14632943" y="4909205"/>
            <a:ext cx="19050" cy="15997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821627411" name="AutoShape 18"/>
          <p:cNvSpPr/>
          <p:nvPr/>
        </p:nvSpPr>
        <p:spPr bwMode="auto">
          <a:xfrm flipV="1">
            <a:off x="6153211" y="7435479"/>
            <a:ext cx="6882076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97772295" name="AutoShape 19"/>
          <p:cNvSpPr/>
          <p:nvPr/>
        </p:nvSpPr>
        <p:spPr bwMode="auto">
          <a:xfrm>
            <a:off x="16230600" y="7397379"/>
            <a:ext cx="20574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762803681" name="AutoShape 20"/>
          <p:cNvSpPr/>
          <p:nvPr/>
        </p:nvSpPr>
        <p:spPr bwMode="auto">
          <a:xfrm>
            <a:off x="9835842" y="2820827"/>
            <a:ext cx="0" cy="118756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992971488" name="AutoShape 21"/>
          <p:cNvSpPr/>
          <p:nvPr/>
        </p:nvSpPr>
        <p:spPr bwMode="auto">
          <a:xfrm>
            <a:off x="7069643" y="4909205"/>
            <a:ext cx="1168542" cy="19050"/>
          </a:xfrm>
          <a:prstGeom prst="line">
            <a:avLst/>
          </a:prstGeom>
          <a:ln w="38100" cap="flat">
            <a:solidFill>
              <a:srgbClr val="000000"/>
            </a:solidFill>
            <a:prstDash val="lgDash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22483701" name="AutoShape 22"/>
          <p:cNvSpPr/>
          <p:nvPr/>
        </p:nvSpPr>
        <p:spPr bwMode="auto">
          <a:xfrm>
            <a:off x="6007130" y="2782727"/>
            <a:ext cx="3828711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5093632" name="AutoShape 23"/>
          <p:cNvSpPr/>
          <p:nvPr/>
        </p:nvSpPr>
        <p:spPr bwMode="auto">
          <a:xfrm flipV="1">
            <a:off x="6153306" y="7019694"/>
            <a:ext cx="916338" cy="0"/>
          </a:xfrm>
          <a:prstGeom prst="line">
            <a:avLst/>
          </a:prstGeom>
          <a:ln w="38100" cap="flat">
            <a:solidFill>
              <a:srgbClr val="000000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66765857" name="AutoShape 24"/>
          <p:cNvSpPr/>
          <p:nvPr/>
        </p:nvSpPr>
        <p:spPr bwMode="auto">
          <a:xfrm flipV="1">
            <a:off x="11433593" y="4928255"/>
            <a:ext cx="32184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91902827" name="AutoShape 25"/>
          <p:cNvSpPr/>
          <p:nvPr/>
        </p:nvSpPr>
        <p:spPr bwMode="auto">
          <a:xfrm flipH="1">
            <a:off x="7050593" y="4909205"/>
            <a:ext cx="19050" cy="2141011"/>
          </a:xfrm>
          <a:prstGeom prst="line">
            <a:avLst/>
          </a:prstGeom>
          <a:ln w="38100" cap="flat">
            <a:solidFill>
              <a:srgbClr val="000000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97585433" name="Freeform 26"/>
          <p:cNvSpPr/>
          <p:nvPr/>
        </p:nvSpPr>
        <p:spPr bwMode="auto">
          <a:xfrm>
            <a:off x="2547673" y="1720608"/>
            <a:ext cx="2461967" cy="1844909"/>
          </a:xfrm>
          <a:custGeom>
            <a:avLst/>
            <a:gdLst/>
            <a:ahLst/>
            <a:cxnLst/>
            <a:rect l="l" t="t" r="r" b="b"/>
            <a:pathLst>
              <a:path w="2461967" h="1844909" extrusionOk="0">
                <a:moveTo>
                  <a:pt x="0" y="0"/>
                </a:moveTo>
                <a:lnTo>
                  <a:pt x="2461968" y="0"/>
                </a:lnTo>
                <a:lnTo>
                  <a:pt x="2461968" y="1844910"/>
                </a:lnTo>
                <a:lnTo>
                  <a:pt x="0" y="1844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74347228" name="Freeform 27"/>
          <p:cNvSpPr/>
          <p:nvPr/>
        </p:nvSpPr>
        <p:spPr bwMode="auto">
          <a:xfrm>
            <a:off x="3741242" y="6603033"/>
            <a:ext cx="1635063" cy="1626792"/>
          </a:xfrm>
          <a:custGeom>
            <a:avLst/>
            <a:gdLst/>
            <a:ahLst/>
            <a:cxnLst/>
            <a:rect l="l" t="t" r="r" b="b"/>
            <a:pathLst>
              <a:path w="1635063" h="1626792" extrusionOk="0">
                <a:moveTo>
                  <a:pt x="0" y="0"/>
                </a:moveTo>
                <a:lnTo>
                  <a:pt x="1635063" y="0"/>
                </a:lnTo>
                <a:lnTo>
                  <a:pt x="1635063" y="1626792"/>
                </a:lnTo>
                <a:lnTo>
                  <a:pt x="0" y="16267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35184373" name="Freeform 28"/>
          <p:cNvSpPr/>
          <p:nvPr/>
        </p:nvSpPr>
        <p:spPr bwMode="auto">
          <a:xfrm>
            <a:off x="13772941" y="6578383"/>
            <a:ext cx="1720004" cy="1714193"/>
          </a:xfrm>
          <a:custGeom>
            <a:avLst/>
            <a:gdLst/>
            <a:ahLst/>
            <a:cxnLst/>
            <a:rect l="l" t="t" r="r" b="b"/>
            <a:pathLst>
              <a:path w="1720004" h="1714193" extrusionOk="0">
                <a:moveTo>
                  <a:pt x="0" y="0"/>
                </a:moveTo>
                <a:lnTo>
                  <a:pt x="1720004" y="0"/>
                </a:lnTo>
                <a:lnTo>
                  <a:pt x="1720004" y="1714193"/>
                </a:lnTo>
                <a:lnTo>
                  <a:pt x="0" y="17141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7414825" name="Freeform 29"/>
          <p:cNvSpPr/>
          <p:nvPr/>
        </p:nvSpPr>
        <p:spPr bwMode="auto">
          <a:xfrm>
            <a:off x="8895554" y="4103520"/>
            <a:ext cx="1880576" cy="1611370"/>
          </a:xfrm>
          <a:custGeom>
            <a:avLst/>
            <a:gdLst/>
            <a:ahLst/>
            <a:cxnLst/>
            <a:rect l="l" t="t" r="r" b="b"/>
            <a:pathLst>
              <a:path w="1880576" h="1611370" extrusionOk="0">
                <a:moveTo>
                  <a:pt x="0" y="0"/>
                </a:moveTo>
                <a:lnTo>
                  <a:pt x="1880575" y="0"/>
                </a:lnTo>
                <a:lnTo>
                  <a:pt x="1880575" y="1611369"/>
                </a:lnTo>
                <a:lnTo>
                  <a:pt x="0" y="16113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3347332" name="Freeform 30"/>
          <p:cNvSpPr/>
          <p:nvPr/>
        </p:nvSpPr>
        <p:spPr bwMode="auto">
          <a:xfrm rot="631680">
            <a:off x="4122168" y="2245199"/>
            <a:ext cx="1634018" cy="1445100"/>
          </a:xfrm>
          <a:custGeom>
            <a:avLst/>
            <a:gdLst/>
            <a:ahLst/>
            <a:cxnLst/>
            <a:rect l="l" t="t" r="r" b="b"/>
            <a:pathLst>
              <a:path w="1634018" h="1445100" extrusionOk="0">
                <a:moveTo>
                  <a:pt x="0" y="0"/>
                </a:moveTo>
                <a:lnTo>
                  <a:pt x="1634017" y="0"/>
                </a:lnTo>
                <a:lnTo>
                  <a:pt x="1634017" y="1445100"/>
                </a:lnTo>
                <a:lnTo>
                  <a:pt x="0" y="1445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6148191" name="Freeform 31"/>
          <p:cNvSpPr/>
          <p:nvPr/>
        </p:nvSpPr>
        <p:spPr bwMode="auto">
          <a:xfrm>
            <a:off x="505753" y="5730346"/>
            <a:ext cx="993271" cy="942170"/>
          </a:xfrm>
          <a:custGeom>
            <a:avLst/>
            <a:gdLst/>
            <a:ahLst/>
            <a:cxnLst/>
            <a:rect l="l" t="t" r="r" b="b"/>
            <a:pathLst>
              <a:path w="993271" h="942170" extrusionOk="0">
                <a:moveTo>
                  <a:pt x="0" y="0"/>
                </a:moveTo>
                <a:lnTo>
                  <a:pt x="993272" y="0"/>
                </a:lnTo>
                <a:lnTo>
                  <a:pt x="993272" y="942170"/>
                </a:lnTo>
                <a:lnTo>
                  <a:pt x="0" y="9421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56571973" name="Freeform 32"/>
          <p:cNvSpPr/>
          <p:nvPr/>
        </p:nvSpPr>
        <p:spPr bwMode="auto">
          <a:xfrm>
            <a:off x="203230" y="7654553"/>
            <a:ext cx="1325359" cy="819136"/>
          </a:xfrm>
          <a:custGeom>
            <a:avLst/>
            <a:gdLst/>
            <a:ahLst/>
            <a:cxnLst/>
            <a:rect l="l" t="t" r="r" b="b"/>
            <a:pathLst>
              <a:path w="1325359" h="819136" extrusionOk="0">
                <a:moveTo>
                  <a:pt x="0" y="0"/>
                </a:moveTo>
                <a:lnTo>
                  <a:pt x="1325359" y="0"/>
                </a:lnTo>
                <a:lnTo>
                  <a:pt x="1325359" y="819136"/>
                </a:lnTo>
                <a:lnTo>
                  <a:pt x="0" y="819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627922" name="Freeform 33"/>
          <p:cNvSpPr/>
          <p:nvPr/>
        </p:nvSpPr>
        <p:spPr bwMode="auto">
          <a:xfrm>
            <a:off x="1674699" y="5808331"/>
            <a:ext cx="872974" cy="864186"/>
          </a:xfrm>
          <a:custGeom>
            <a:avLst/>
            <a:gdLst/>
            <a:ahLst/>
            <a:cxnLst/>
            <a:rect l="l" t="t" r="r" b="b"/>
            <a:pathLst>
              <a:path w="872974" h="864186" extrusionOk="0">
                <a:moveTo>
                  <a:pt x="0" y="0"/>
                </a:moveTo>
                <a:lnTo>
                  <a:pt x="872974" y="0"/>
                </a:lnTo>
                <a:lnTo>
                  <a:pt x="872974" y="864185"/>
                </a:lnTo>
                <a:lnTo>
                  <a:pt x="0" y="8641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19811967" name="Freeform 34"/>
          <p:cNvSpPr/>
          <p:nvPr/>
        </p:nvSpPr>
        <p:spPr bwMode="auto">
          <a:xfrm>
            <a:off x="17103010" y="7509161"/>
            <a:ext cx="1184990" cy="865954"/>
          </a:xfrm>
          <a:custGeom>
            <a:avLst/>
            <a:gdLst/>
            <a:ahLst/>
            <a:cxnLst/>
            <a:rect l="l" t="t" r="r" b="b"/>
            <a:pathLst>
              <a:path w="1184990" h="865954" extrusionOk="0">
                <a:moveTo>
                  <a:pt x="0" y="0"/>
                </a:moveTo>
                <a:lnTo>
                  <a:pt x="1184990" y="0"/>
                </a:lnTo>
                <a:lnTo>
                  <a:pt x="1184990" y="865955"/>
                </a:lnTo>
                <a:lnTo>
                  <a:pt x="0" y="8659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7808422" name="Freeform 35"/>
          <p:cNvSpPr/>
          <p:nvPr/>
        </p:nvSpPr>
        <p:spPr bwMode="auto">
          <a:xfrm>
            <a:off x="16317466" y="7509161"/>
            <a:ext cx="698677" cy="720663"/>
          </a:xfrm>
          <a:custGeom>
            <a:avLst/>
            <a:gdLst/>
            <a:ahLst/>
            <a:cxnLst/>
            <a:rect l="l" t="t" r="r" b="b"/>
            <a:pathLst>
              <a:path w="698677" h="720663" extrusionOk="0">
                <a:moveTo>
                  <a:pt x="0" y="0"/>
                </a:moveTo>
                <a:lnTo>
                  <a:pt x="698678" y="0"/>
                </a:lnTo>
                <a:lnTo>
                  <a:pt x="698678" y="720664"/>
                </a:lnTo>
                <a:lnTo>
                  <a:pt x="0" y="7206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28556326" name="TextBox 36"/>
          <p:cNvSpPr txBox="1"/>
          <p:nvPr/>
        </p:nvSpPr>
        <p:spPr bwMode="auto">
          <a:xfrm>
            <a:off x="314549" y="2302509"/>
            <a:ext cx="2368951" cy="340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spcBef>
                <a:spcPts val="0"/>
              </a:spcBef>
              <a:defRPr/>
            </a:pPr>
            <a:r>
              <a:rPr lang="en-US" sz="205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dữ liệu cảm biến I2C</a:t>
            </a:r>
            <a:endParaRPr/>
          </a:p>
        </p:txBody>
      </p:sp>
      <p:sp>
        <p:nvSpPr>
          <p:cNvPr id="1263610375" name="TextBox 37"/>
          <p:cNvSpPr txBox="1"/>
          <p:nvPr/>
        </p:nvSpPr>
        <p:spPr bwMode="auto">
          <a:xfrm>
            <a:off x="7314439" y="2241721"/>
            <a:ext cx="1815941" cy="36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0"/>
              </a:lnSpc>
              <a:spcBef>
                <a:spcPts val="0"/>
              </a:spcBef>
              <a:defRPr/>
            </a:pPr>
            <a:r>
              <a:rPr lang="en-US" sz="215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JSON đo lường</a:t>
            </a:r>
            <a:endParaRPr/>
          </a:p>
        </p:txBody>
      </p:sp>
      <p:sp>
        <p:nvSpPr>
          <p:cNvPr id="689763939" name="TextBox 38"/>
          <p:cNvSpPr txBox="1"/>
          <p:nvPr/>
        </p:nvSpPr>
        <p:spPr bwMode="auto">
          <a:xfrm>
            <a:off x="11703195" y="4322349"/>
            <a:ext cx="3363873" cy="36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0"/>
              </a:lnSpc>
              <a:spcBef>
                <a:spcPts val="0"/>
              </a:spcBef>
              <a:defRPr/>
            </a:pPr>
            <a:r>
              <a:rPr lang="en-US" sz="215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dữ liệu đã lưu + Dashboard</a:t>
            </a:r>
            <a:endParaRPr/>
          </a:p>
        </p:txBody>
      </p:sp>
      <p:sp>
        <p:nvSpPr>
          <p:cNvPr id="404147525" name="TextBox 39"/>
          <p:cNvSpPr txBox="1"/>
          <p:nvPr/>
        </p:nvSpPr>
        <p:spPr bwMode="auto">
          <a:xfrm>
            <a:off x="178722" y="6629931"/>
            <a:ext cx="2640605" cy="731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0"/>
              </a:lnSpc>
              <a:spcBef>
                <a:spcPts val="0"/>
              </a:spcBef>
              <a:defRPr/>
            </a:pPr>
            <a:r>
              <a:rPr lang="en-US" sz="215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video stream, ảnh CCCD</a:t>
            </a:r>
            <a:endParaRPr/>
          </a:p>
        </p:txBody>
      </p:sp>
      <p:sp>
        <p:nvSpPr>
          <p:cNvPr id="1405952146" name="TextBox 40"/>
          <p:cNvSpPr txBox="1"/>
          <p:nvPr/>
        </p:nvSpPr>
        <p:spPr bwMode="auto">
          <a:xfrm>
            <a:off x="5087908" y="5692246"/>
            <a:ext cx="1838444" cy="36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0"/>
              </a:lnSpc>
              <a:spcBef>
                <a:spcPts val="0"/>
              </a:spcBef>
              <a:defRPr/>
            </a:pPr>
            <a:r>
              <a:rPr lang="en-US" sz="215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JSON kích hoạt</a:t>
            </a:r>
            <a:endParaRPr/>
          </a:p>
        </p:txBody>
      </p:sp>
      <p:sp>
        <p:nvSpPr>
          <p:cNvPr id="1907416699" name="TextBox 41"/>
          <p:cNvSpPr txBox="1"/>
          <p:nvPr/>
        </p:nvSpPr>
        <p:spPr bwMode="auto">
          <a:xfrm>
            <a:off x="8089849" y="7597404"/>
            <a:ext cx="3491984" cy="36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0"/>
              </a:lnSpc>
              <a:spcBef>
                <a:spcPts val="0"/>
              </a:spcBef>
              <a:defRPr/>
            </a:pPr>
            <a:r>
              <a:rPr lang="en-US" sz="215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vị trí xác nhận, dữ liệu CCCD</a:t>
            </a:r>
            <a:endParaRPr/>
          </a:p>
        </p:txBody>
      </p:sp>
      <p:sp>
        <p:nvSpPr>
          <p:cNvPr id="2022529701" name="TextBox 42"/>
          <p:cNvSpPr txBox="1"/>
          <p:nvPr/>
        </p:nvSpPr>
        <p:spPr bwMode="auto">
          <a:xfrm>
            <a:off x="16230600" y="6258456"/>
            <a:ext cx="2057400" cy="110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0"/>
              </a:lnSpc>
              <a:spcBef>
                <a:spcPts val="0"/>
              </a:spcBef>
              <a:defRPr/>
            </a:pPr>
            <a:r>
              <a:rPr lang="en-US" sz="215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JSON điều hướng + phiếu khám</a:t>
            </a:r>
            <a:endParaRPr/>
          </a:p>
        </p:txBody>
      </p:sp>
      <p:sp>
        <p:nvSpPr>
          <p:cNvPr id="1280706196" name="TextBox 43"/>
          <p:cNvSpPr txBox="1"/>
          <p:nvPr/>
        </p:nvSpPr>
        <p:spPr bwMode="auto">
          <a:xfrm>
            <a:off x="8863386" y="5920846"/>
            <a:ext cx="2040255" cy="731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0"/>
              </a:lnSpc>
              <a:defRPr/>
            </a:pPr>
            <a:r>
              <a:rPr lang="en-US" sz="215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WORKSTREAM B</a:t>
            </a:r>
            <a:endParaRPr/>
          </a:p>
          <a:p>
            <a:pPr algn="ctr">
              <a:lnSpc>
                <a:spcPts val="2990"/>
              </a:lnSpc>
              <a:spcBef>
                <a:spcPts val="0"/>
              </a:spcBef>
              <a:defRPr/>
            </a:pPr>
            <a:r>
              <a:rPr lang="en-US" sz="215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KẾT NỐI/IoT</a:t>
            </a:r>
            <a:endParaRPr/>
          </a:p>
        </p:txBody>
      </p:sp>
      <p:sp>
        <p:nvSpPr>
          <p:cNvPr id="359723460" name="TextBox 44"/>
          <p:cNvSpPr txBox="1"/>
          <p:nvPr/>
        </p:nvSpPr>
        <p:spPr bwMode="auto">
          <a:xfrm>
            <a:off x="13476190" y="8526794"/>
            <a:ext cx="2064663" cy="731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0"/>
              </a:lnSpc>
              <a:defRPr/>
            </a:pPr>
            <a:r>
              <a:rPr lang="en-US" sz="215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WORKSTREAM D</a:t>
            </a:r>
            <a:endParaRPr/>
          </a:p>
          <a:p>
            <a:pPr algn="ctr">
              <a:lnSpc>
                <a:spcPts val="2990"/>
              </a:lnSpc>
              <a:spcBef>
                <a:spcPts val="0"/>
              </a:spcBef>
              <a:defRPr/>
            </a:pPr>
            <a:r>
              <a:rPr lang="en-US" sz="215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AI AGENT/RAG</a:t>
            </a:r>
            <a:endParaRPr/>
          </a:p>
        </p:txBody>
      </p:sp>
      <p:sp>
        <p:nvSpPr>
          <p:cNvPr id="1410048253" name="TextBox 45"/>
          <p:cNvSpPr txBox="1"/>
          <p:nvPr/>
        </p:nvSpPr>
        <p:spPr bwMode="auto">
          <a:xfrm>
            <a:off x="3470348" y="8422019"/>
            <a:ext cx="2043351" cy="731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0"/>
              </a:lnSpc>
              <a:defRPr/>
            </a:pPr>
            <a:r>
              <a:rPr lang="en-US" sz="215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WORKSTREAM C</a:t>
            </a:r>
            <a:endParaRPr/>
          </a:p>
          <a:p>
            <a:pPr algn="ctr">
              <a:lnSpc>
                <a:spcPts val="2990"/>
              </a:lnSpc>
              <a:spcBef>
                <a:spcPts val="0"/>
              </a:spcBef>
              <a:defRPr/>
            </a:pPr>
            <a:r>
              <a:rPr lang="en-US" sz="215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EDGE CV</a:t>
            </a:r>
            <a:endParaRPr/>
          </a:p>
        </p:txBody>
      </p:sp>
      <p:sp>
        <p:nvSpPr>
          <p:cNvPr id="2070327179" name="TextBox 46"/>
          <p:cNvSpPr txBox="1"/>
          <p:nvPr/>
        </p:nvSpPr>
        <p:spPr bwMode="auto">
          <a:xfrm>
            <a:off x="3470467" y="3809324"/>
            <a:ext cx="2043112" cy="731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0"/>
              </a:lnSpc>
              <a:defRPr/>
            </a:pPr>
            <a:r>
              <a:rPr lang="en-US" sz="215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WORKSTREAM A</a:t>
            </a:r>
            <a:endParaRPr/>
          </a:p>
          <a:p>
            <a:pPr algn="ctr">
              <a:lnSpc>
                <a:spcPts val="2990"/>
              </a:lnSpc>
              <a:spcBef>
                <a:spcPts val="0"/>
              </a:spcBef>
              <a:defRPr/>
            </a:pPr>
            <a:r>
              <a:rPr lang="en-US" sz="215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NHÚNG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fade/>
      </p:transition>
    </mc:Choice>
    <mc:Fallback xmlns="" xmlns:m="http://schemas.openxmlformats.org/officeDocument/2006/math" xmlns:w="http://schemas.openxmlformats.org/wordprocessingml/2006/main">
      <p:transition spd="fast" advClick="1">
        <p:fade thruBlk="0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42583752" name="Group 2"/>
          <p:cNvGrpSpPr/>
          <p:nvPr/>
        </p:nvGrpSpPr>
        <p:grpSpPr bwMode="auto">
          <a:xfrm>
            <a:off x="-381000" y="-190500"/>
            <a:ext cx="9655367" cy="1607524"/>
            <a:chOff x="-1324511" y="-538435"/>
            <a:chExt cx="12873822" cy="2143365"/>
          </a:xfrm>
        </p:grpSpPr>
        <p:sp>
          <p:nvSpPr>
            <p:cNvPr id="3" name="Freeform 3"/>
            <p:cNvSpPr/>
            <p:nvPr/>
          </p:nvSpPr>
          <p:spPr bwMode="auto">
            <a:xfrm>
              <a:off x="0" y="0"/>
              <a:ext cx="11549311" cy="1604930"/>
            </a:xfrm>
            <a:custGeom>
              <a:avLst/>
              <a:gdLst/>
              <a:ahLst/>
              <a:cxnLst/>
              <a:rect l="l" t="t" r="r" b="b"/>
              <a:pathLst>
                <a:path w="11549311" h="1604930" extrusionOk="0">
                  <a:moveTo>
                    <a:pt x="0" y="0"/>
                  </a:moveTo>
                  <a:lnTo>
                    <a:pt x="11549311" y="0"/>
                  </a:lnTo>
                  <a:lnTo>
                    <a:pt x="11549311" y="1604930"/>
                  </a:lnTo>
                  <a:lnTo>
                    <a:pt x="0" y="160493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01864" r="-82098" b="-2088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 bwMode="auto">
            <a:xfrm>
              <a:off x="-1324511" y="-538435"/>
              <a:ext cx="11549310" cy="1690661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7038"/>
                </a:lnSpc>
                <a:defRPr/>
              </a:pPr>
              <a:r>
                <a:rPr lang="en-US" sz="5100" b="1">
                  <a:solidFill>
                    <a:srgbClr val="153898"/>
                  </a:solidFill>
                  <a:latin typeface="Times New Roman"/>
                  <a:ea typeface="Times New Roman"/>
                  <a:cs typeface="Times New Roman"/>
                </a:rPr>
                <a:t>Bảng dự trù kinh phí</a:t>
              </a:r>
              <a:endParaRPr>
                <a:latin typeface="Times New Roman"/>
                <a:cs typeface="Times New Roman"/>
              </a:endParaRPr>
            </a:p>
          </p:txBody>
        </p:sp>
      </p:grpSp>
      <p:graphicFrame>
        <p:nvGraphicFramePr>
          <p:cNvPr id="2013640005" name="Table 201364000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8638355"/>
              </p:ext>
            </p:extLst>
          </p:nvPr>
        </p:nvGraphicFramePr>
        <p:xfrm>
          <a:off x="-76200" y="815174"/>
          <a:ext cx="18364201" cy="9471825"/>
        </p:xfrm>
        <a:graphic>
          <a:graphicData uri="http://schemas.openxmlformats.org/drawingml/2006/table">
            <a:tbl>
              <a:tblPr firstRow="1" firstCol="1" bandRow="1"/>
              <a:tblGrid>
                <a:gridCol w="1571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0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75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07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4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00255">
                  <a:extLst>
                    <a:ext uri="{9D8B030D-6E8A-4147-A177-3AD203B41FA5}">
                      <a16:colId xmlns:a16="http://schemas.microsoft.com/office/drawing/2014/main" val="241495376"/>
                    </a:ext>
                  </a:extLst>
                </a:gridCol>
              </a:tblGrid>
              <a:tr h="72229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1" i="0" u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STT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38099" algn="ctr">
                      <a:solidFill>
                        <a:srgbClr val="FFFFFF"/>
                      </a:solidFill>
                    </a:lnB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1" i="0" u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Thiết bị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38099" algn="ctr">
                      <a:solidFill>
                        <a:srgbClr val="FFFFFF"/>
                      </a:solidFill>
                    </a:lnB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1" i="0" u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SL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38099" algn="ctr">
                      <a:solidFill>
                        <a:srgbClr val="FFFFFF"/>
                      </a:solidFill>
                    </a:lnB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1" i="0" u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Đơn giá (đ)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38099" algn="ctr">
                      <a:solidFill>
                        <a:srgbClr val="FFFFFF"/>
                      </a:solidFill>
                    </a:lnB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1" i="0" u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Thành tiền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7" algn="ctr">
                      <a:solidFill>
                        <a:srgbClr val="FFFFFF"/>
                      </a:solidFill>
                    </a:lnT>
                    <a:lnB w="38099" algn="ctr">
                      <a:solidFill>
                        <a:srgbClr val="FFFFFF"/>
                      </a:solidFill>
                    </a:lnB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defRPr/>
                      </a:pPr>
                      <a:r>
                        <a:rPr lang="en-US" sz="2800" b="1" i="0" u="none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Nơi mua tham khảo</a:t>
                      </a:r>
                      <a:endParaRPr sz="2800" b="1" i="0" u="none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7" algn="ctr">
                      <a:solidFill>
                        <a:srgbClr val="FFFFFF"/>
                      </a:solidFill>
                    </a:lnT>
                    <a:lnB w="380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29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38099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Raspberry Pi 5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38099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38099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6.480.000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38099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6.480.000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099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vi-V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Hshop.vn (Linh kiện điện tử Hshop)</a:t>
                      </a:r>
                      <a:endParaRPr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0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315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Raspberry Pi Camera Module 3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900.000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900.000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vi-V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Thế Giới IC (Thegioiic)</a:t>
                      </a:r>
                      <a:endParaRPr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29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ESP32-S3 N16R8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0*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Hshop.vn (Linh kiện điện tử Hshop)</a:t>
                      </a:r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315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MLX90614 / GY-906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300.000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300.000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vi-V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Linh kiện điện tử Đức Huy / Điện tử Tuyết Nga</a:t>
                      </a:r>
                      <a:endParaRPr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315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MAX30102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40.000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40.000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vi-V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Linh kiện điện tử Đức Huy / Điện tử Tuyết Nga</a:t>
                      </a:r>
                      <a:endParaRPr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229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INMP441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40.000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40.000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vi-V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Điện tử Tuyết Nga</a:t>
                      </a:r>
                      <a:endParaRPr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229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Màn hình HDMI 5 inch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1.300.000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1.300.000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vi-V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Điện tử Tuyết Nga</a:t>
                      </a:r>
                      <a:endParaRPr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8315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Loa + mạch khuếch đại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 bộ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100.000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100.000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vi-V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Linh kiện điện tử Đức Huy / Điện tử Tuyết Nga</a:t>
                      </a:r>
                      <a:endParaRPr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8315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Nguồn + dây + PCB + linh kiện phụ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 bộ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300.000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300.000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vi-V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Điện tử Tuyết Nga</a:t>
                      </a:r>
                      <a:endParaRPr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2229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Vỏ mô hình Kiosk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500.000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0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500.000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>
                        <a:defRPr/>
                      </a:pPr>
                      <a:r>
                        <a:rPr lang="vi-VN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Mica Thành Bửu</a:t>
                      </a:r>
                      <a:r>
                        <a:rPr lang="en-US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vi-VN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HaloTech 3D</a:t>
                      </a:r>
                      <a:endPara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22290">
                <a:tc gridSpan="3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1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Tổng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algn="ctr">
                      <a:solidFill>
                        <a:srgbClr val="FFFFFF"/>
                      </a:solidFill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800" b="1" i="0" u="none">
                          <a:solidFill>
                            <a:srgbClr val="282D3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9.960.000</a:t>
                      </a: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7" algn="ctr">
                      <a:solidFill>
                        <a:srgbClr val="FFFFFF"/>
                      </a:solidFill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sz="2200"/>
                    </a:p>
                  </a:txBody>
                  <a:tcPr marL="9524" marR="9524" marT="9524" marB="9524" anchor="ctr">
                    <a:lnL w="12667" algn="ctr">
                      <a:solidFill>
                        <a:srgbClr val="FFFFFF"/>
                      </a:solidFill>
                    </a:lnL>
                    <a:lnR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7" algn="ctr">
                      <a:solidFill>
                        <a:srgbClr val="FFFFFF"/>
                      </a:solidFill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fade/>
      </p:transition>
    </mc:Choice>
    <mc:Fallback xmlns="" xmlns:m="http://schemas.openxmlformats.org/officeDocument/2006/math" xmlns:w="http://schemas.openxmlformats.org/wordprocessingml/2006/main">
      <p:transition spd="fast" advClick="1">
        <p:fade thruBlk="0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38298329" name="Group 2"/>
          <p:cNvGrpSpPr/>
          <p:nvPr/>
        </p:nvGrpSpPr>
        <p:grpSpPr bwMode="auto">
          <a:xfrm>
            <a:off x="612383" y="595872"/>
            <a:ext cx="11387820" cy="1203702"/>
            <a:chOff x="0" y="0"/>
            <a:chExt cx="15183761" cy="1604936"/>
          </a:xfrm>
        </p:grpSpPr>
        <p:sp>
          <p:nvSpPr>
            <p:cNvPr id="3" name="Freeform 3"/>
            <p:cNvSpPr/>
            <p:nvPr/>
          </p:nvSpPr>
          <p:spPr bwMode="auto">
            <a:xfrm>
              <a:off x="0" y="0"/>
              <a:ext cx="15183760" cy="1604930"/>
            </a:xfrm>
            <a:custGeom>
              <a:avLst/>
              <a:gdLst/>
              <a:ahLst/>
              <a:cxnLst/>
              <a:rect l="l" t="t" r="r" b="b"/>
              <a:pathLst>
                <a:path w="15183760" h="1604930" extrusionOk="0">
                  <a:moveTo>
                    <a:pt x="0" y="0"/>
                  </a:moveTo>
                  <a:lnTo>
                    <a:pt x="15183760" y="0"/>
                  </a:lnTo>
                  <a:lnTo>
                    <a:pt x="15183760" y="1604930"/>
                  </a:lnTo>
                  <a:lnTo>
                    <a:pt x="0" y="160493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201864" r="-38509" b="-208803"/>
              </a:stretch>
            </a:blipFill>
          </p:spPr>
          <p:txBody>
            <a:bodyPr anchor="ctr"/>
            <a:lstStyle/>
            <a:p>
              <a:pPr algn="ctr">
                <a:defRPr/>
              </a:pPr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4" name="TextBox 4"/>
            <p:cNvSpPr txBox="1"/>
            <p:nvPr/>
          </p:nvSpPr>
          <p:spPr bwMode="auto">
            <a:xfrm>
              <a:off x="0" y="-85725"/>
              <a:ext cx="15183761" cy="1690661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7038"/>
                </a:lnSpc>
                <a:defRPr/>
              </a:pPr>
              <a:r>
                <a:rPr lang="en-US" sz="5100" b="1">
                  <a:solidFill>
                    <a:srgbClr val="153898"/>
                  </a:solidFill>
                  <a:latin typeface="Times New Roman"/>
                  <a:ea typeface="Times New Roman"/>
                  <a:cs typeface="Times New Roman"/>
                </a:rPr>
                <a:t>Kiểm tra tính khả thi về chi phí</a:t>
              </a:r>
              <a:endParaRPr>
                <a:latin typeface="Times New Roman"/>
                <a:cs typeface="Times New Roman"/>
              </a:endParaRPr>
            </a:p>
          </p:txBody>
        </p:sp>
      </p:grpSp>
      <p:sp>
        <p:nvSpPr>
          <p:cNvPr id="1833516223" name="TextBox 5"/>
          <p:cNvSpPr txBox="1"/>
          <p:nvPr/>
        </p:nvSpPr>
        <p:spPr bwMode="auto">
          <a:xfrm>
            <a:off x="1375814" y="2166445"/>
            <a:ext cx="6426373" cy="701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0"/>
              </a:lnSpc>
              <a:spcBef>
                <a:spcPts val="0"/>
              </a:spcBef>
              <a:defRPr/>
            </a:pPr>
            <a:r>
              <a:rPr lang="en-US" sz="4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Tổng chi phí 9.960.000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55556417" name="TextBox 6"/>
          <p:cNvSpPr txBox="1"/>
          <p:nvPr/>
        </p:nvSpPr>
        <p:spPr bwMode="auto">
          <a:xfrm>
            <a:off x="841924" y="3004985"/>
            <a:ext cx="7495952" cy="3505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0"/>
              </a:lnSpc>
              <a:spcBef>
                <a:spcPts val="0"/>
              </a:spcBef>
              <a:defRPr/>
            </a:pPr>
            <a:r>
              <a:rPr lang="en-US" sz="4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Thuận lợi</a:t>
            </a:r>
            <a:endParaRPr>
              <a:latin typeface="Times New Roman"/>
              <a:cs typeface="Times New Roman"/>
            </a:endParaRPr>
          </a:p>
          <a:p>
            <a:pPr algn="l">
              <a:lnSpc>
                <a:spcPts val="5520"/>
              </a:lnSpc>
              <a:spcBef>
                <a:spcPts val="0"/>
              </a:spcBef>
              <a:defRPr/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Chi phí cảm biến thấp.</a:t>
            </a:r>
            <a:endParaRPr>
              <a:latin typeface="Times New Roman"/>
              <a:cs typeface="Times New Roman"/>
            </a:endParaRPr>
          </a:p>
          <a:p>
            <a:pPr algn="l">
              <a:lnSpc>
                <a:spcPts val="5520"/>
              </a:lnSpc>
              <a:spcBef>
                <a:spcPts val="0"/>
              </a:spcBef>
              <a:defRPr/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Có thể tận dụng thiết bị sẵn có.</a:t>
            </a:r>
            <a:endParaRPr>
              <a:latin typeface="Times New Roman"/>
              <a:cs typeface="Times New Roman"/>
            </a:endParaRPr>
          </a:p>
          <a:p>
            <a:pPr algn="l">
              <a:lnSpc>
                <a:spcPts val="5520"/>
              </a:lnSpc>
              <a:spcBef>
                <a:spcPts val="0"/>
              </a:spcBef>
              <a:defRPr/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Kiến trúc có thể mở rộng.</a:t>
            </a:r>
            <a:endParaRPr>
              <a:latin typeface="Times New Roman"/>
              <a:cs typeface="Times New Roman"/>
            </a:endParaRPr>
          </a:p>
          <a:p>
            <a:pPr algn="l">
              <a:lnSpc>
                <a:spcPts val="5520"/>
              </a:lnSpc>
              <a:spcBef>
                <a:spcPts val="0"/>
              </a:spcBef>
              <a:defRPr/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Giảm áp lực đầu tư ban đầu.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668232472" name="TextBox 7"/>
          <p:cNvSpPr txBox="1"/>
          <p:nvPr/>
        </p:nvSpPr>
        <p:spPr bwMode="auto">
          <a:xfrm>
            <a:off x="9144000" y="2314048"/>
            <a:ext cx="9501277" cy="420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0"/>
              </a:lnSpc>
              <a:spcBef>
                <a:spcPts val="0"/>
              </a:spcBef>
              <a:defRPr/>
            </a:pPr>
            <a:r>
              <a:rPr lang="en-US" sz="4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Rủi ro cần kiểm soát</a:t>
            </a:r>
            <a:endParaRPr>
              <a:latin typeface="Times New Roman"/>
              <a:cs typeface="Times New Roman"/>
            </a:endParaRPr>
          </a:p>
          <a:p>
            <a:pPr algn="l">
              <a:lnSpc>
                <a:spcPts val="5520"/>
              </a:lnSpc>
              <a:spcBef>
                <a:spcPts val="0"/>
              </a:spcBef>
              <a:defRPr/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Raspberry Pi và màn hình chiếm ngân sách lớn.</a:t>
            </a:r>
            <a:endParaRPr>
              <a:latin typeface="Times New Roman"/>
              <a:cs typeface="Times New Roman"/>
            </a:endParaRPr>
          </a:p>
          <a:p>
            <a:pPr algn="l">
              <a:lnSpc>
                <a:spcPts val="5520"/>
              </a:lnSpc>
              <a:spcBef>
                <a:spcPts val="0"/>
              </a:spcBef>
              <a:defRPr/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Giá linh kiện có thể thay đổi.</a:t>
            </a:r>
            <a:endParaRPr>
              <a:latin typeface="Times New Roman"/>
              <a:cs typeface="Times New Roman"/>
            </a:endParaRPr>
          </a:p>
          <a:p>
            <a:pPr algn="l">
              <a:lnSpc>
                <a:spcPts val="5520"/>
              </a:lnSpc>
              <a:spcBef>
                <a:spcPts val="0"/>
              </a:spcBef>
              <a:defRPr/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Cần dự phòng phát sinh.</a:t>
            </a:r>
            <a:endParaRPr>
              <a:latin typeface="Times New Roman"/>
              <a:cs typeface="Times New Roman"/>
            </a:endParaRPr>
          </a:p>
          <a:p>
            <a:pPr algn="l">
              <a:lnSpc>
                <a:spcPts val="5520"/>
              </a:lnSpc>
              <a:spcBef>
                <a:spcPts val="0"/>
              </a:spcBef>
              <a:defRPr/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Cập nhật giá thực tế trước khi mua.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2004965621" name="TextBox 8"/>
          <p:cNvSpPr txBox="1"/>
          <p:nvPr/>
        </p:nvSpPr>
        <p:spPr bwMode="auto">
          <a:xfrm>
            <a:off x="841924" y="6975582"/>
            <a:ext cx="10971138" cy="2804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0"/>
              </a:lnSpc>
              <a:spcBef>
                <a:spcPts val="0"/>
              </a:spcBef>
              <a:defRPr/>
            </a:pPr>
            <a:r>
              <a:rPr lang="en-US" sz="4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Đánh giá</a:t>
            </a:r>
            <a:endParaRPr>
              <a:latin typeface="Times New Roman"/>
              <a:cs typeface="Times New Roman"/>
            </a:endParaRPr>
          </a:p>
          <a:p>
            <a:pPr algn="l">
              <a:lnSpc>
                <a:spcPts val="5520"/>
              </a:lnSpc>
              <a:spcBef>
                <a:spcPts val="0"/>
              </a:spcBef>
              <a:defRPr/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ESP32-S3 N16R8 đã có sẵn.</a:t>
            </a:r>
            <a:endParaRPr>
              <a:latin typeface="Times New Roman"/>
              <a:cs typeface="Times New Roman"/>
            </a:endParaRPr>
          </a:p>
          <a:p>
            <a:pPr algn="l">
              <a:lnSpc>
                <a:spcPts val="5520"/>
              </a:lnSpc>
              <a:spcBef>
                <a:spcPts val="0"/>
              </a:spcBef>
              <a:defRPr/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Có thể mua theo từng đợt.</a:t>
            </a:r>
            <a:endParaRPr>
              <a:latin typeface="Times New Roman"/>
              <a:cs typeface="Times New Roman"/>
            </a:endParaRPr>
          </a:p>
          <a:p>
            <a:pPr algn="l">
              <a:lnSpc>
                <a:spcPts val="5520"/>
              </a:lnSpc>
              <a:spcBef>
                <a:spcPts val="0"/>
              </a:spcBef>
              <a:defRPr/>
            </a:pPr>
            <a:r>
              <a:rPr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Ưu tiên prototype trước, hoàn thiện sau.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fade/>
      </p:transition>
    </mc:Choice>
    <mc:Fallback xmlns="" xmlns:m="http://schemas.openxmlformats.org/officeDocument/2006/math" xmlns:w="http://schemas.openxmlformats.org/wordprocessingml/2006/main">
      <p:transition spd="fast" advClick="1">
        <p:fade thruBlk="0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746359" name="Freeform 2"/>
          <p:cNvSpPr/>
          <p:nvPr/>
        </p:nvSpPr>
        <p:spPr bwMode="auto"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-3571" r="-3569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:fade/>
      </p:transition>
    </mc:Choice>
    <mc:Fallback xmlns="" xmlns:m="http://schemas.openxmlformats.org/officeDocument/2006/math" xmlns:w="http://schemas.openxmlformats.org/wordprocessingml/2006/main">
      <p:transition spd="fast" advClick="1">
        <p:fade thruBlk="0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2637</Words>
  <Application>Microsoft Office PowerPoint</Application>
  <PresentationFormat>Custom</PresentationFormat>
  <Paragraphs>501</Paragraphs>
  <Slides>20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Times New Roman</vt:lpstr>
      <vt:lpstr>Arial</vt:lpstr>
      <vt:lpstr>Times New Roman Bold</vt:lpstr>
      <vt:lpstr>Calibri</vt:lpstr>
      <vt:lpstr>Tahoma</vt:lpstr>
      <vt:lpstr>Tahoma Bold</vt:lpstr>
      <vt:lpstr>Office Theme</vt:lpstr>
      <vt:lpstr>oleObj</vt:lpstr>
      <vt:lpstr>Microsoft Excel 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22.pptx</dc:title>
  <dc:creator>ADMIN-PC</dc:creator>
  <cp:lastModifiedBy>Dương Lê Hoàng Phương</cp:lastModifiedBy>
  <cp:revision>24</cp:revision>
  <dcterms:created xsi:type="dcterms:W3CDTF">2006-08-16T00:00:00Z</dcterms:created>
  <dcterms:modified xsi:type="dcterms:W3CDTF">2026-09-22T11:03:04Z</dcterms:modified>
  <dc:identifier>DAHG1zWaRWk</dc:identifier>
</cp:coreProperties>
</file>