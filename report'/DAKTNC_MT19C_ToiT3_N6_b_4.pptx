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67" r:id="rId4"/>
    <p:sldId id="268" r:id="rId5"/>
    <p:sldId id="270" r:id="rId6"/>
    <p:sldId id="271" r:id="rId7"/>
  </p:sldIdLst>
  <p:sldSz cx="18288000" cy="10287000"/>
  <p:notesSz cx="6858000" cy="9144000"/>
  <p:embeddedFontLst>
    <p:embeddedFont>
      <p:font typeface="Times New Roman Bold" panose="02020803070505020304" pitchFamily="18" charset="0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749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9E948-119C-469A-B574-ACADE55D34A6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95EFD-EC62-4E2D-9A3C-725B008708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492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1562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86608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243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7D0786-6386-2551-F768-3C916BDC3B29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8C17-BC40-49D8-AF55-0DEA2D20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56AEF-9DCF-EB81-C2D9-63446FED2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12522-D93C-10CB-8359-B830FF2E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FC80F-8435-84BE-2710-534D3D232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5EFD-EC62-4E2D-9A3C-725B00870820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9319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8C17-BC40-49D8-AF55-0DEA2D20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56AEF-9DCF-EB81-C2D9-63446FED2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12522-D93C-10CB-8359-B830FF2E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FC80F-8435-84BE-2710-534D3D232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5EFD-EC62-4E2D-9A3C-725B00870820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74597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7E3E-2A49-0066-892A-3E2AC86D0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DB16F-4D11-D9D4-6D63-955CB3289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AEE3A-F1F3-57EC-6EE9-C25F02014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5708C-7785-B985-D566-5E170AE74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5EFD-EC62-4E2D-9A3C-725B00870820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1949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19EC-FF91-251E-AAE3-1C02C899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34D2C-9ACE-8BBB-D0CA-A2D177A76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39613-7CB5-7E1A-96CA-CE4E60B87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EB32B-10E2-965C-E1AE-CE984AE07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5EFD-EC62-4E2D-9A3C-725B00870820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5731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AC7FF-E7ED-1AA5-5F81-092FCA8D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F74CE-7AC1-6C95-6FB9-869AEA738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3E861-8348-1E01-8F55-7E548A4F9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535FC-58E4-0402-C930-760DE433B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5EFD-EC62-4E2D-9A3C-725B00870820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3083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802421" name="Freeform 2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1426272" name="Group 3"/>
          <p:cNvGrpSpPr/>
          <p:nvPr/>
        </p:nvGrpSpPr>
        <p:grpSpPr bwMode="auto">
          <a:xfrm>
            <a:off x="666207" y="500005"/>
            <a:ext cx="3379527" cy="963035"/>
            <a:chOff x="0" y="0"/>
            <a:chExt cx="4506036" cy="1284046"/>
          </a:xfrm>
        </p:grpSpPr>
        <p:sp>
          <p:nvSpPr>
            <p:cNvPr id="4" name="Freeform 4" descr="White text on a black background  AI-generated content may be incorrect."/>
            <p:cNvSpPr/>
            <p:nvPr/>
          </p:nvSpPr>
          <p:spPr bwMode="auto">
            <a:xfrm>
              <a:off x="0" y="0"/>
              <a:ext cx="4506087" cy="1284097"/>
            </a:xfrm>
            <a:custGeom>
              <a:avLst/>
              <a:gdLst/>
              <a:ahLst/>
              <a:cxnLst/>
              <a:rect l="l" t="t" r="r" b="b"/>
              <a:pathLst>
                <a:path w="4506087" h="1284097" extrusionOk="0">
                  <a:moveTo>
                    <a:pt x="0" y="0"/>
                  </a:moveTo>
                  <a:lnTo>
                    <a:pt x="4506087" y="0"/>
                  </a:lnTo>
                  <a:lnTo>
                    <a:pt x="4506087" y="1284097"/>
                  </a:lnTo>
                  <a:lnTo>
                    <a:pt x="0" y="12840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t="-4" r="1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5439412" name="Group 5"/>
          <p:cNvGrpSpPr/>
          <p:nvPr/>
        </p:nvGrpSpPr>
        <p:grpSpPr bwMode="auto">
          <a:xfrm>
            <a:off x="2433714" y="1484698"/>
            <a:ext cx="13420573" cy="3537811"/>
            <a:chOff x="0" y="0"/>
            <a:chExt cx="17894097" cy="4717081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17894092" cy="4717081"/>
            </a:xfrm>
            <a:custGeom>
              <a:avLst/>
              <a:gdLst/>
              <a:ahLst/>
              <a:cxnLst/>
              <a:rect l="l" t="t" r="r" b="b"/>
              <a:pathLst>
                <a:path w="17894092" h="4717081" extrusionOk="0">
                  <a:moveTo>
                    <a:pt x="0" y="0"/>
                  </a:moveTo>
                  <a:lnTo>
                    <a:pt x="17894092" y="0"/>
                  </a:lnTo>
                  <a:lnTo>
                    <a:pt x="17894092" y="4717081"/>
                  </a:lnTo>
                  <a:lnTo>
                    <a:pt x="0" y="4717081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t="-23299" b="-245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17894097" cy="4755181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  <a:defRPr/>
              </a:pPr>
              <a:r>
                <a:rPr lang="en-US" sz="6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ĐỀ TÀI: HỆ THỐNG KIOSK - SÀNG LỌC Y TẾ TỰ ĐỘNG</a:t>
              </a:r>
              <a:endParaRPr/>
            </a:p>
            <a:p>
              <a:pPr algn="ctr">
                <a:lnSpc>
                  <a:spcPts val="7920"/>
                </a:lnSpc>
                <a:defRPr/>
              </a:pPr>
              <a:endParaRPr lang="en-US" sz="6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endParaRPr>
            </a:p>
          </p:txBody>
        </p:sp>
      </p:grpSp>
      <p:grpSp>
        <p:nvGrpSpPr>
          <p:cNvPr id="1536497475" name="Group 8"/>
          <p:cNvGrpSpPr/>
          <p:nvPr/>
        </p:nvGrpSpPr>
        <p:grpSpPr bwMode="auto">
          <a:xfrm>
            <a:off x="8572436" y="3740078"/>
            <a:ext cx="8686864" cy="1641366"/>
            <a:chOff x="0" y="0"/>
            <a:chExt cx="15256771" cy="2882737"/>
          </a:xfrm>
        </p:grpSpPr>
        <p:sp>
          <p:nvSpPr>
            <p:cNvPr id="9" name="Freeform 9"/>
            <p:cNvSpPr/>
            <p:nvPr/>
          </p:nvSpPr>
          <p:spPr bwMode="auto">
            <a:xfrm>
              <a:off x="0" y="0"/>
              <a:ext cx="15256770" cy="2882730"/>
            </a:xfrm>
            <a:custGeom>
              <a:avLst/>
              <a:gdLst/>
              <a:ahLst/>
              <a:cxnLst/>
              <a:rect l="l" t="t" r="r" b="b"/>
              <a:pathLst>
                <a:path w="15256770" h="2882730" extrusionOk="0">
                  <a:moveTo>
                    <a:pt x="0" y="0"/>
                  </a:moveTo>
                  <a:lnTo>
                    <a:pt x="15256770" y="0"/>
                  </a:lnTo>
                  <a:lnTo>
                    <a:pt x="15256770" y="2882730"/>
                  </a:lnTo>
                  <a:lnTo>
                    <a:pt x="0" y="2882730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t="-51528" r="14087" b="-256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 bwMode="auto">
            <a:xfrm>
              <a:off x="0" y="19050"/>
              <a:ext cx="15256771" cy="2863687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888"/>
                </a:lnSpc>
                <a:defRPr/>
              </a:pPr>
              <a:r>
                <a:rPr lang="en-US" sz="3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MÔN HỌC: </a:t>
              </a:r>
              <a:endParaRPr/>
            </a:p>
            <a:p>
              <a:pPr algn="ctr">
                <a:lnSpc>
                  <a:spcPts val="4211"/>
                </a:lnSpc>
                <a:defRPr/>
              </a:pPr>
              <a:r>
                <a:rPr lang="en-US" sz="39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DỰ ÁN KĨ THUẬT NÂNG CAO</a:t>
              </a:r>
              <a:endParaRPr/>
            </a:p>
          </p:txBody>
        </p:sp>
      </p:grpSp>
      <p:grpSp>
        <p:nvGrpSpPr>
          <p:cNvPr id="965363225" name="Group 11"/>
          <p:cNvGrpSpPr/>
          <p:nvPr/>
        </p:nvGrpSpPr>
        <p:grpSpPr bwMode="auto">
          <a:xfrm>
            <a:off x="8680953" y="6029167"/>
            <a:ext cx="7973536" cy="3350473"/>
            <a:chOff x="0" y="0"/>
            <a:chExt cx="11685499" cy="4910237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685493" cy="4910236"/>
            </a:xfrm>
            <a:custGeom>
              <a:avLst/>
              <a:gdLst/>
              <a:ahLst/>
              <a:cxnLst/>
              <a:rect l="l" t="t" r="r" b="b"/>
              <a:pathLst>
                <a:path w="11685494" h="4910236" extrusionOk="0">
                  <a:moveTo>
                    <a:pt x="0" y="0"/>
                  </a:moveTo>
                  <a:lnTo>
                    <a:pt x="11685494" y="0"/>
                  </a:lnTo>
                  <a:lnTo>
                    <a:pt x="11685494" y="4910236"/>
                  </a:lnTo>
                  <a:lnTo>
                    <a:pt x="0" y="4910236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l="-2590" r="29870" b="325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0" y="-123825"/>
              <a:ext cx="11685499" cy="5034062"/>
            </a:xfrm>
            <a:prstGeom prst="rect">
              <a:avLst/>
            </a:prstGeom>
            <a:grpFill/>
          </p:spPr>
          <p:txBody>
            <a:bodyPr lIns="228600" tIns="228600" rIns="228600" bIns="228600" rtlCol="0" anchor="ctr"/>
            <a:lstStyle/>
            <a:p>
              <a:pPr algn="ctr">
                <a:lnSpc>
                  <a:spcPts val="4848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Thành viên nhóm 6: </a:t>
              </a:r>
              <a:endParaRPr/>
            </a:p>
            <a:p>
              <a:pPr algn="l">
                <a:lnSpc>
                  <a:spcPts val="4689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Nguyễn Đức Đại                       23632531</a:t>
              </a:r>
              <a:endParaRPr/>
            </a:p>
            <a:p>
              <a:pPr algn="l">
                <a:lnSpc>
                  <a:spcPts val="4689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Dương Lê Hoàng Phương       23637111</a:t>
              </a:r>
              <a:endParaRPr/>
            </a:p>
            <a:p>
              <a:pPr algn="l">
                <a:lnSpc>
                  <a:spcPts val="4689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Trần Lê Tuấn Anh                  23652051</a:t>
              </a:r>
              <a:endParaRPr/>
            </a:p>
            <a:p>
              <a:pPr algn="l">
                <a:lnSpc>
                  <a:spcPts val="4689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Vòng Thế Kiệt                          23727781</a:t>
              </a:r>
              <a:endParaRPr/>
            </a:p>
          </p:txBody>
        </p:sp>
      </p:grpSp>
      <p:sp>
        <p:nvSpPr>
          <p:cNvPr id="1741987808" name="TextBox 14"/>
          <p:cNvSpPr txBox="1"/>
          <p:nvPr/>
        </p:nvSpPr>
        <p:spPr bwMode="auto">
          <a:xfrm>
            <a:off x="8525602" y="5462694"/>
            <a:ext cx="10893292" cy="538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7"/>
              </a:lnSpc>
              <a:defRPr/>
            </a:pPr>
            <a:r>
              <a:rPr lang="en-US" sz="3200" b="1" spc="20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>Giảng viên hướng dẫn: TS Nguyễn Anh Vinh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E6B8A-8252-85FD-64F8-0FF905585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75D223A-09C4-7716-69A4-8C4095242F5C}"/>
              </a:ext>
            </a:extLst>
          </p:cNvPr>
          <p:cNvSpPr txBox="1"/>
          <p:nvPr/>
        </p:nvSpPr>
        <p:spPr>
          <a:xfrm>
            <a:off x="-2813194" y="7313"/>
            <a:ext cx="14624194" cy="97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51"/>
              </a:lnSpc>
              <a:defRPr/>
            </a:pPr>
            <a:r>
              <a:rPr lang="en-US" sz="5400" b="1">
                <a:solidFill>
                  <a:srgbClr val="10439A"/>
                </a:solidFill>
                <a:latin typeface="Times New Roman" panose="02020603050405020304" pitchFamily="18" charset="0"/>
                <a:ea typeface="Tahoma Bold"/>
                <a:cs typeface="Times New Roman" panose="02020603050405020304" pitchFamily="18" charset="0"/>
              </a:rPr>
              <a:t>MÔ PHỎNG SCHEMATIC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7FFB5-9577-B4AC-F691-B4670D467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983286"/>
            <a:ext cx="11582400" cy="895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4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E6B8A-8252-85FD-64F8-0FF905585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75D223A-09C4-7716-69A4-8C4095242F5C}"/>
              </a:ext>
            </a:extLst>
          </p:cNvPr>
          <p:cNvSpPr txBox="1"/>
          <p:nvPr/>
        </p:nvSpPr>
        <p:spPr>
          <a:xfrm>
            <a:off x="-3810000" y="184886"/>
            <a:ext cx="14624194" cy="97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51"/>
              </a:lnSpc>
              <a:defRPr/>
            </a:pPr>
            <a:r>
              <a:rPr lang="en-US" sz="5400" b="1">
                <a:solidFill>
                  <a:srgbClr val="10439A"/>
                </a:solidFill>
                <a:latin typeface="Times New Roman" panose="02020603050405020304" pitchFamily="18" charset="0"/>
                <a:ea typeface="Tahoma Bold"/>
                <a:cs typeface="Times New Roman" panose="02020603050405020304" pitchFamily="18" charset="0"/>
              </a:rPr>
              <a:t>GIAO DIỆN WEB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860467-E3CD-9C3C-8AA4-3CB3B3B8B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31" y="2171700"/>
            <a:ext cx="17892537" cy="69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6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6DB5C-F9CB-AD5C-79F7-2FB37BDA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8206D1A-FD51-1D0B-C478-C7C948D7EEDB}"/>
              </a:ext>
            </a:extLst>
          </p:cNvPr>
          <p:cNvSpPr txBox="1"/>
          <p:nvPr/>
        </p:nvSpPr>
        <p:spPr>
          <a:xfrm>
            <a:off x="-4495800" y="185026"/>
            <a:ext cx="14624194" cy="97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51"/>
              </a:lnSpc>
              <a:defRPr/>
            </a:pPr>
            <a:r>
              <a:rPr lang="en-US" sz="5400" b="1">
                <a:solidFill>
                  <a:srgbClr val="10439A"/>
                </a:solidFill>
                <a:latin typeface="Times New Roman" panose="02020603050405020304" pitchFamily="18" charset="0"/>
                <a:ea typeface="Tahoma Bold"/>
                <a:cs typeface="Times New Roman" panose="02020603050405020304" pitchFamily="18" charset="0"/>
              </a:rPr>
              <a:t>3D SẢN PHẨM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B610C-8F72-9898-445A-8BE6E8DF6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696716"/>
            <a:ext cx="7315200" cy="940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014C7-BBA7-470E-215A-9C68E920B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BEB1DEB-903B-3956-93AE-A122AA401CBF}"/>
              </a:ext>
            </a:extLst>
          </p:cNvPr>
          <p:cNvSpPr txBox="1"/>
          <p:nvPr/>
        </p:nvSpPr>
        <p:spPr>
          <a:xfrm>
            <a:off x="-2286000" y="7620"/>
            <a:ext cx="14624194" cy="97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51"/>
              </a:lnSpc>
              <a:defRPr/>
            </a:pPr>
            <a:r>
              <a:rPr lang="en-US" sz="5400" b="1">
                <a:solidFill>
                  <a:srgbClr val="10439A"/>
                </a:solidFill>
                <a:latin typeface="Times New Roman" panose="02020603050405020304" pitchFamily="18" charset="0"/>
                <a:ea typeface="Tahoma Bold"/>
                <a:cs typeface="Times New Roman" panose="02020603050405020304" pitchFamily="18" charset="0"/>
              </a:rPr>
              <a:t> APP GIAO TIẾP MÔ PHỎNG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Video Project (3)">
            <a:hlinkClick r:id="" action="ppaction://media"/>
            <a:extLst>
              <a:ext uri="{FF2B5EF4-FFF2-40B4-BE49-F238E27FC236}">
                <a16:creationId xmlns:a16="http://schemas.microsoft.com/office/drawing/2014/main" id="{C195D4D3-973B-E883-874C-7F4FA0185C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95400" y="1257300"/>
            <a:ext cx="15697200" cy="882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8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1C03F-57B7-754E-8CAC-4DB8397E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2BB48CE-E2AE-6BF4-E429-7827186280BA}"/>
              </a:ext>
            </a:extLst>
          </p:cNvPr>
          <p:cNvSpPr txBox="1"/>
          <p:nvPr/>
        </p:nvSpPr>
        <p:spPr>
          <a:xfrm>
            <a:off x="-2286000" y="7620"/>
            <a:ext cx="14624194" cy="97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51"/>
              </a:lnSpc>
              <a:defRPr/>
            </a:pPr>
            <a:r>
              <a:rPr lang="en-US" sz="5400" b="1">
                <a:solidFill>
                  <a:srgbClr val="10439A"/>
                </a:solidFill>
                <a:latin typeface="Times New Roman" panose="02020603050405020304" pitchFamily="18" charset="0"/>
                <a:ea typeface="Tahoma Bold"/>
                <a:cs typeface="Times New Roman" panose="02020603050405020304" pitchFamily="18" charset="0"/>
              </a:rPr>
              <a:t> NHẬN DIỆN TRIỆU CHỨNG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2026-09-29 17-51-08">
            <a:hlinkClick r:id="" action="ppaction://media"/>
            <a:extLst>
              <a:ext uri="{FF2B5EF4-FFF2-40B4-BE49-F238E27FC236}">
                <a16:creationId xmlns:a16="http://schemas.microsoft.com/office/drawing/2014/main" id="{AF4C7D8D-E6E8-9AE1-824F-3E2AA117D7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0600" y="983593"/>
            <a:ext cx="16306800" cy="916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77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80</Words>
  <Application>Microsoft Office PowerPoint</Application>
  <PresentationFormat>Custom</PresentationFormat>
  <Paragraphs>20</Paragraphs>
  <Slides>6</Slides>
  <Notes>6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Aptos</vt:lpstr>
      <vt:lpstr>Times New Roman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Blue Bold Marketing Strategy Presentation</dc:title>
  <dc:creator>ADMIN-PC</dc:creator>
  <cp:lastModifiedBy>Dương Lê Hoàng Phương</cp:lastModifiedBy>
  <cp:revision>14</cp:revision>
  <dcterms:created xsi:type="dcterms:W3CDTF">2006-08-16T00:00:00Z</dcterms:created>
  <dcterms:modified xsi:type="dcterms:W3CDTF">2026-09-29T11:06:50Z</dcterms:modified>
  <dc:identifier>DAHWgCbcZ94</dc:identifier>
</cp:coreProperties>
</file>